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 id="2147483726" r:id="rId5"/>
    <p:sldMasterId id="2147483738" r:id="rId6"/>
  </p:sldMasterIdLst>
  <p:notesMasterIdLst>
    <p:notesMasterId r:id="rId90"/>
  </p:notesMasterIdLst>
  <p:sldIdLst>
    <p:sldId id="1299" r:id="rId7"/>
    <p:sldId id="1300" r:id="rId8"/>
    <p:sldId id="1301" r:id="rId9"/>
    <p:sldId id="1302" r:id="rId10"/>
    <p:sldId id="1303" r:id="rId11"/>
    <p:sldId id="1304" r:id="rId12"/>
    <p:sldId id="1305" r:id="rId13"/>
    <p:sldId id="1306" r:id="rId14"/>
    <p:sldId id="1307" r:id="rId15"/>
    <p:sldId id="1308" r:id="rId16"/>
    <p:sldId id="1309" r:id="rId17"/>
    <p:sldId id="256" r:id="rId18"/>
    <p:sldId id="1197" r:id="rId19"/>
    <p:sldId id="1195" r:id="rId20"/>
    <p:sldId id="1250" r:id="rId21"/>
    <p:sldId id="1201" r:id="rId22"/>
    <p:sldId id="1214" r:id="rId23"/>
    <p:sldId id="1215" r:id="rId24"/>
    <p:sldId id="1216" r:id="rId25"/>
    <p:sldId id="1217" r:id="rId26"/>
    <p:sldId id="1218" r:id="rId27"/>
    <p:sldId id="1219" r:id="rId28"/>
    <p:sldId id="1198" r:id="rId29"/>
    <p:sldId id="1266" r:id="rId30"/>
    <p:sldId id="1267" r:id="rId31"/>
    <p:sldId id="1249" r:id="rId32"/>
    <p:sldId id="1212" r:id="rId33"/>
    <p:sldId id="1268" r:id="rId34"/>
    <p:sldId id="1199" r:id="rId35"/>
    <p:sldId id="1221" r:id="rId36"/>
    <p:sldId id="1222" r:id="rId37"/>
    <p:sldId id="1223" r:id="rId38"/>
    <p:sldId id="1310" r:id="rId39"/>
    <p:sldId id="1311" r:id="rId40"/>
    <p:sldId id="1312" r:id="rId41"/>
    <p:sldId id="1227" r:id="rId42"/>
    <p:sldId id="1228" r:id="rId43"/>
    <p:sldId id="1251" r:id="rId44"/>
    <p:sldId id="1280" r:id="rId45"/>
    <p:sldId id="1288" r:id="rId46"/>
    <p:sldId id="1281" r:id="rId47"/>
    <p:sldId id="1269" r:id="rId48"/>
    <p:sldId id="1284" r:id="rId49"/>
    <p:sldId id="1229" r:id="rId50"/>
    <p:sldId id="1282" r:id="rId51"/>
    <p:sldId id="259" r:id="rId52"/>
    <p:sldId id="1231" r:id="rId53"/>
    <p:sldId id="1237" r:id="rId54"/>
    <p:sldId id="261" r:id="rId55"/>
    <p:sldId id="1240" r:id="rId56"/>
    <p:sldId id="1241" r:id="rId57"/>
    <p:sldId id="1242" r:id="rId58"/>
    <p:sldId id="1286" r:id="rId59"/>
    <p:sldId id="1243" r:id="rId60"/>
    <p:sldId id="270" r:id="rId61"/>
    <p:sldId id="1270" r:id="rId62"/>
    <p:sldId id="265" r:id="rId63"/>
    <p:sldId id="272" r:id="rId64"/>
    <p:sldId id="1257" r:id="rId65"/>
    <p:sldId id="274" r:id="rId66"/>
    <p:sldId id="1232" r:id="rId67"/>
    <p:sldId id="1233" r:id="rId68"/>
    <p:sldId id="1292" r:id="rId69"/>
    <p:sldId id="1293" r:id="rId70"/>
    <p:sldId id="1244" r:id="rId71"/>
    <p:sldId id="1277" r:id="rId72"/>
    <p:sldId id="1275" r:id="rId73"/>
    <p:sldId id="1276" r:id="rId74"/>
    <p:sldId id="1278" r:id="rId75"/>
    <p:sldId id="1279" r:id="rId76"/>
    <p:sldId id="1246" r:id="rId77"/>
    <p:sldId id="1245" r:id="rId78"/>
    <p:sldId id="1247" r:id="rId79"/>
    <p:sldId id="1294" r:id="rId80"/>
    <p:sldId id="1274" r:id="rId81"/>
    <p:sldId id="1295" r:id="rId82"/>
    <p:sldId id="1296" r:id="rId83"/>
    <p:sldId id="1297" r:id="rId84"/>
    <p:sldId id="1298" r:id="rId85"/>
    <p:sldId id="1273" r:id="rId86"/>
    <p:sldId id="1272" r:id="rId87"/>
    <p:sldId id="1271" r:id="rId88"/>
    <p:sldId id="1285"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a Barboza" initials="GB" lastIdx="3" clrIdx="0">
    <p:extLst>
      <p:ext uri="{19B8F6BF-5375-455C-9EA6-DF929625EA0E}">
        <p15:presenceInfo xmlns:p15="http://schemas.microsoft.com/office/powerpoint/2012/main" userId="S::gbarboza@uccs.edu::9307f127-aeda-4625-8294-3425b4072387" providerId="AD"/>
      </p:ext>
    </p:extLst>
  </p:cmAuthor>
  <p:cmAuthor id="2" name="Gia Barboza" initials="GB [2]" lastIdx="1" clrIdx="1">
    <p:extLst>
      <p:ext uri="{19B8F6BF-5375-455C-9EA6-DF929625EA0E}">
        <p15:presenceInfo xmlns:p15="http://schemas.microsoft.com/office/powerpoint/2012/main" userId="Gia Barboz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01" autoAdjust="0"/>
    <p:restoredTop sz="81170" autoAdjust="0"/>
  </p:normalViewPr>
  <p:slideViewPr>
    <p:cSldViewPr snapToGrid="0" snapToObjects="1">
      <p:cViewPr varScale="1">
        <p:scale>
          <a:sx n="98" d="100"/>
          <a:sy n="98" d="100"/>
        </p:scale>
        <p:origin x="6276" y="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04DB63-9D86-684F-A9E3-E3196FF1FBD0}" type="datetimeFigureOut">
              <a:rPr lang="en-US" smtClean="0"/>
              <a:t>2/14/2026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DF63CE-93CB-D64C-B697-0053631666FA}" type="slidenum">
              <a:rPr lang="en-US" smtClean="0"/>
              <a:t>‹#›</a:t>
            </a:fld>
            <a:endParaRPr lang="en-US"/>
          </a:p>
        </p:txBody>
      </p:sp>
    </p:spTree>
    <p:extLst>
      <p:ext uri="{BB962C8B-B14F-4D97-AF65-F5344CB8AC3E}">
        <p14:creationId xmlns:p14="http://schemas.microsoft.com/office/powerpoint/2010/main" val="2719375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1743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109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DF63CE-93CB-D64C-B697-0053631666FA}" type="slidenum">
              <a:rPr lang="en-US" smtClean="0"/>
              <a:t>12</a:t>
            </a:fld>
            <a:endParaRPr lang="en-US"/>
          </a:p>
        </p:txBody>
      </p:sp>
    </p:spTree>
    <p:extLst>
      <p:ext uri="{BB962C8B-B14F-4D97-AF65-F5344CB8AC3E}">
        <p14:creationId xmlns:p14="http://schemas.microsoft.com/office/powerpoint/2010/main" val="878138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DF63CE-93CB-D64C-B697-0053631666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0430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DF63CE-93CB-D64C-B697-0053631666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8198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DF63CE-93CB-D64C-B697-0053631666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5191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outcome is developing coronavirus</a:t>
            </a:r>
          </a:p>
          <a:p>
            <a:r>
              <a:rPr lang="en-US" dirty="0"/>
              <a:t>Percent of vaccinated developing corona = 18/(18+134) = 18/152 = .118 or 11.8%</a:t>
            </a:r>
          </a:p>
          <a:p>
            <a:r>
              <a:rPr lang="en-US" dirty="0"/>
              <a:t>Percent of unvaccinated developing </a:t>
            </a:r>
            <a:r>
              <a:rPr lang="en-US" dirty="0" err="1"/>
              <a:t>coron</a:t>
            </a:r>
            <a:r>
              <a:rPr lang="en-US" dirty="0"/>
              <a:t> = 3/(3+4) = 3/7 = .429 = 42.9%</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DF63CE-93CB-D64C-B697-0053631666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198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DF63CE-93CB-D64C-B697-0053631666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5060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a:t>
            </a:r>
          </a:p>
          <a:p>
            <a:pPr lvl="1"/>
            <a:r>
              <a:rPr lang="en-US" dirty="0"/>
              <a:t>The model is nonlinear (aka sigmoidal)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93B654-F051-464E-B9B3-C283C12DF6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383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42424"/>
                </a:solidFill>
                <a:effectLst/>
                <a:latin typeface="source-serif-pro"/>
              </a:rPr>
              <a:t>where π (0≤π≤1) is the probability of an event happening (success) and denoted π=P(success). We find the estimates for β0, β1, …, βp, using the maximum likelihood method. This method is one of several methods used in statistics to estimate parameters of a mathematical model. The goal of the estimator is to estimate the parameters β0, β1, …, βp which maximize the log likelihood function. </a:t>
            </a:r>
            <a:endParaRPr lang="en-US" dirty="0"/>
          </a:p>
          <a:p>
            <a:endParaRPr lang="en-US" dirty="0"/>
          </a:p>
        </p:txBody>
      </p:sp>
      <p:sp>
        <p:nvSpPr>
          <p:cNvPr id="4" name="Slide Number Placeholder 3"/>
          <p:cNvSpPr>
            <a:spLocks noGrp="1"/>
          </p:cNvSpPr>
          <p:nvPr>
            <p:ph type="sldNum" sz="quarter" idx="5"/>
          </p:nvPr>
        </p:nvSpPr>
        <p:spPr/>
        <p:txBody>
          <a:bodyPr/>
          <a:lstStyle/>
          <a:p>
            <a:fld id="{20DF63CE-93CB-D64C-B697-0053631666FA}" type="slidenum">
              <a:rPr lang="en-US" smtClean="0"/>
              <a:t>47</a:t>
            </a:fld>
            <a:endParaRPr lang="en-US"/>
          </a:p>
        </p:txBody>
      </p:sp>
    </p:spTree>
    <p:extLst>
      <p:ext uri="{BB962C8B-B14F-4D97-AF65-F5344CB8AC3E}">
        <p14:creationId xmlns:p14="http://schemas.microsoft.com/office/powerpoint/2010/main" val="382339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DF63CE-93CB-D64C-B697-0053631666FA}" type="slidenum">
              <a:rPr lang="en-US" smtClean="0"/>
              <a:t>50</a:t>
            </a:fld>
            <a:endParaRPr lang="en-US"/>
          </a:p>
        </p:txBody>
      </p:sp>
    </p:spTree>
    <p:extLst>
      <p:ext uri="{BB962C8B-B14F-4D97-AF65-F5344CB8AC3E}">
        <p14:creationId xmlns:p14="http://schemas.microsoft.com/office/powerpoint/2010/main" val="563517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Specificity is the percentage of correct predictions of the cases that are coded as 0 for the dependent variable </a:t>
            </a:r>
            <a:r>
              <a:rPr lang="en-US" b="1" dirty="0"/>
              <a:t>50</a:t>
            </a:r>
          </a:p>
          <a:p>
            <a:r>
              <a:rPr lang="en-US" dirty="0"/>
              <a:t>sensitivity is the percentage of correct predictions of the cases that are coded as 1 for the dependent variable </a:t>
            </a:r>
            <a:r>
              <a:rPr lang="en-US" b="1" dirty="0"/>
              <a:t>66.7</a:t>
            </a:r>
          </a:p>
          <a:p>
            <a:r>
              <a:rPr lang="en-US" dirty="0"/>
              <a:t>false negative rate the percentage of cases in error where the dependent variable is predicted to be 0 </a:t>
            </a:r>
            <a:r>
              <a:rPr lang="en-US" b="1" dirty="0"/>
              <a:t>50</a:t>
            </a:r>
            <a:endParaRPr lang="en-US" dirty="0"/>
          </a:p>
          <a:p>
            <a:r>
              <a:rPr lang="en-US" dirty="0"/>
              <a:t>false positive rate the percentage of cases in error where the dependent variable is predicted to be 1 </a:t>
            </a:r>
            <a:r>
              <a:rPr lang="en-US" b="1" dirty="0"/>
              <a:t>33.3</a:t>
            </a:r>
          </a:p>
          <a:p>
            <a:endParaRPr lang="en-US" b="1" dirty="0"/>
          </a:p>
        </p:txBody>
      </p:sp>
      <p:sp>
        <p:nvSpPr>
          <p:cNvPr id="4" name="Slide Number Placeholder 3"/>
          <p:cNvSpPr>
            <a:spLocks noGrp="1"/>
          </p:cNvSpPr>
          <p:nvPr>
            <p:ph type="sldNum" sz="quarter" idx="5"/>
          </p:nvPr>
        </p:nvSpPr>
        <p:spPr/>
        <p:txBody>
          <a:bodyPr/>
          <a:lstStyle/>
          <a:p>
            <a:fld id="{20DF63CE-93CB-D64C-B697-0053631666FA}" type="slidenum">
              <a:rPr lang="en-US" smtClean="0"/>
              <a:t>65</a:t>
            </a:fld>
            <a:endParaRPr lang="en-US"/>
          </a:p>
        </p:txBody>
      </p:sp>
    </p:spTree>
    <p:extLst>
      <p:ext uri="{BB962C8B-B14F-4D97-AF65-F5344CB8AC3E}">
        <p14:creationId xmlns:p14="http://schemas.microsoft.com/office/powerpoint/2010/main" val="170758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6549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355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825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5118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24361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03688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54670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23848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26546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2/14/2026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82529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2/14/2026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09696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60B86-7DAD-4460-B9E3-8342259ECA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0DD800-5E40-47F1-86E6-09D20E8BA5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2E73E4-9783-484D-91C6-A353C531115D}"/>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5" name="Footer Placeholder 4">
            <a:extLst>
              <a:ext uri="{FF2B5EF4-FFF2-40B4-BE49-F238E27FC236}">
                <a16:creationId xmlns:a16="http://schemas.microsoft.com/office/drawing/2014/main" id="{124BF39B-3802-4F5C-8708-3721BE10D5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698C1-61D7-457F-BE88-B66881D5EDC0}"/>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380392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471DC-CDE4-4A68-B576-050D0716BA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C450E1-7258-4338-A205-263E5063B9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23792-6976-4359-A506-A358965F4E01}"/>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5" name="Footer Placeholder 4">
            <a:extLst>
              <a:ext uri="{FF2B5EF4-FFF2-40B4-BE49-F238E27FC236}">
                <a16:creationId xmlns:a16="http://schemas.microsoft.com/office/drawing/2014/main" id="{4B854B60-F775-42A1-ACC3-9E1362B035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DE454E-A15D-4797-AED4-E12E57673A46}"/>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986540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EB37-8101-4199-B302-C7E6B715E0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83DEFD-6784-4320-90D7-E863E0E586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FEE817-4340-4ED0-A273-44CC8FCE29AA}"/>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5" name="Footer Placeholder 4">
            <a:extLst>
              <a:ext uri="{FF2B5EF4-FFF2-40B4-BE49-F238E27FC236}">
                <a16:creationId xmlns:a16="http://schemas.microsoft.com/office/drawing/2014/main" id="{A65182BA-D128-4C80-8FCE-86B6F96F4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0C214-7ABD-4B06-80D8-A8DE5F8C6D3C}"/>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976756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3FE7A-739C-4426-930F-2C3374A06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4D0D4B-592A-4B70-81E3-59E45D65B1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C52DAE-2BC0-4EDB-8591-DD68DFB49F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85272D-FC1D-4AE7-81CA-48B4931B9F38}"/>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6" name="Footer Placeholder 5">
            <a:extLst>
              <a:ext uri="{FF2B5EF4-FFF2-40B4-BE49-F238E27FC236}">
                <a16:creationId xmlns:a16="http://schemas.microsoft.com/office/drawing/2014/main" id="{58136823-9EC5-4571-80D2-E35EAF1966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528D7-596D-46B6-82DE-6517BE83D3B6}"/>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293385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E3B52-7EA0-49D7-BC47-FF5ACF01E4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F987A9-A848-4E60-8876-6855080993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4AB8AF-2773-4FE9-8B1F-865ECE3B8B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4F3FED-0B19-461F-8688-C5547FA15D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3B9086-372E-4CAE-8826-9F0656A3EC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6BF706-A301-44B3-9543-556F2E5287F8}"/>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8" name="Footer Placeholder 7">
            <a:extLst>
              <a:ext uri="{FF2B5EF4-FFF2-40B4-BE49-F238E27FC236}">
                <a16:creationId xmlns:a16="http://schemas.microsoft.com/office/drawing/2014/main" id="{04BC399B-B918-4384-94FA-70CBC00B16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F3DD3C-EA90-41EB-BF48-3E29773D946B}"/>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4862546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95FAE-E1B1-4BF0-8CE1-DCF45695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20D8CA-FDC7-45B8-9FD2-B6A15E8B96E1}"/>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4" name="Footer Placeholder 3">
            <a:extLst>
              <a:ext uri="{FF2B5EF4-FFF2-40B4-BE49-F238E27FC236}">
                <a16:creationId xmlns:a16="http://schemas.microsoft.com/office/drawing/2014/main" id="{EBAC0A22-F288-4F6A-9761-AA17AD5775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E50559-7E36-4F2A-B247-942269ABC353}"/>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26639591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E340DA-3190-48D2-939A-4A0283D829F0}"/>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3" name="Footer Placeholder 2">
            <a:extLst>
              <a:ext uri="{FF2B5EF4-FFF2-40B4-BE49-F238E27FC236}">
                <a16:creationId xmlns:a16="http://schemas.microsoft.com/office/drawing/2014/main" id="{8CBD7856-3C74-4A24-A499-8167B44DE0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19A51A-F132-435C-8584-B93A67963CBC}"/>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37595405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CD195-C6C9-4B64-A9DB-0FDB00D87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286536-0A00-4184-B235-6A52F6C28C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82F7B8-AFB2-4C1E-A75E-88C486AD84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C36736-0658-4817-B101-7877E37D76C7}"/>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6" name="Footer Placeholder 5">
            <a:extLst>
              <a:ext uri="{FF2B5EF4-FFF2-40B4-BE49-F238E27FC236}">
                <a16:creationId xmlns:a16="http://schemas.microsoft.com/office/drawing/2014/main" id="{C1F6DA71-D9E9-4C70-B351-5B0559B0C5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C0BFEC-526A-48CC-A660-88983A10D5C0}"/>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39558760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7C117-5B44-47A7-914D-EFEB6A216A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0D8A2C-D944-4C38-9270-4BFBEA849D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71210B-7C43-4890-9F67-0B49F19BF9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ECEED2-68FE-4280-8C62-1DFA5510B19B}"/>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6" name="Footer Placeholder 5">
            <a:extLst>
              <a:ext uri="{FF2B5EF4-FFF2-40B4-BE49-F238E27FC236}">
                <a16:creationId xmlns:a16="http://schemas.microsoft.com/office/drawing/2014/main" id="{69D8C127-D6D2-4D07-A69E-E5946C0DA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7D6099-4E79-48DB-8BE9-E5DF33384807}"/>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3735763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3375A-4ED3-43A1-8C6C-784526C696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AD7A0-338C-4604-AB7E-F61D922F65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442105-0EAB-459A-BCEB-0A68BE5FAD9B}"/>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5" name="Footer Placeholder 4">
            <a:extLst>
              <a:ext uri="{FF2B5EF4-FFF2-40B4-BE49-F238E27FC236}">
                <a16:creationId xmlns:a16="http://schemas.microsoft.com/office/drawing/2014/main" id="{DD30B28C-633F-4805-AC49-EBAD82B49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02BA8-DC1F-46C1-96DB-236BC3701877}"/>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30139751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683572-FC4D-4E93-954C-61912D5ED3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7FD491-ECE6-4603-ACA1-F9918DE05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673C3F-DDC6-4887-B535-2777C50524A3}"/>
              </a:ext>
            </a:extLst>
          </p:cNvPr>
          <p:cNvSpPr>
            <a:spLocks noGrp="1"/>
          </p:cNvSpPr>
          <p:nvPr>
            <p:ph type="dt" sz="half" idx="10"/>
          </p:nvPr>
        </p:nvSpPr>
        <p:spPr/>
        <p:txBody>
          <a:bodyPr/>
          <a:lstStyle/>
          <a:p>
            <a:fld id="{C9237346-398A-4EB1-9492-C94B7FD39D26}" type="datetimeFigureOut">
              <a:rPr lang="en-US" smtClean="0"/>
              <a:t>2/14/2026</a:t>
            </a:fld>
            <a:endParaRPr lang="en-US"/>
          </a:p>
        </p:txBody>
      </p:sp>
      <p:sp>
        <p:nvSpPr>
          <p:cNvPr id="5" name="Footer Placeholder 4">
            <a:extLst>
              <a:ext uri="{FF2B5EF4-FFF2-40B4-BE49-F238E27FC236}">
                <a16:creationId xmlns:a16="http://schemas.microsoft.com/office/drawing/2014/main" id="{40B5D599-B434-498A-B8EC-16F06FA999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705D2B-5564-4DAF-B22E-A57A6722676B}"/>
              </a:ext>
            </a:extLst>
          </p:cNvPr>
          <p:cNvSpPr>
            <a:spLocks noGrp="1"/>
          </p:cNvSpPr>
          <p:nvPr>
            <p:ph type="sldNum" sz="quarter" idx="12"/>
          </p:nvPr>
        </p:nvSpPr>
        <p:spPr/>
        <p:txBody>
          <a:bodyPr/>
          <a:lstStyle/>
          <a:p>
            <a:fld id="{7006A57E-7529-4F31-8D40-4BC6993798B6}" type="slidenum">
              <a:rPr lang="en-US" smtClean="0"/>
              <a:t>‹#›</a:t>
            </a:fld>
            <a:endParaRPr lang="en-US"/>
          </a:p>
        </p:txBody>
      </p:sp>
    </p:spTree>
    <p:extLst>
      <p:ext uri="{BB962C8B-B14F-4D97-AF65-F5344CB8AC3E}">
        <p14:creationId xmlns:p14="http://schemas.microsoft.com/office/powerpoint/2010/main" val="1552274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60616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85513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22031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11588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34067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4911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83873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419154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5423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2/14/2026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55035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2/14/2026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1131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2/14/2026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86690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24" r:id="rId6"/>
    <p:sldLayoutId id="2147483719" r:id="rId7"/>
    <p:sldLayoutId id="2147483720" r:id="rId8"/>
    <p:sldLayoutId id="2147483721" r:id="rId9"/>
    <p:sldLayoutId id="2147483723" r:id="rId10"/>
    <p:sldLayoutId id="2147483722"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769776-B814-45CE-A4A7-3881B4840C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BD5E69-8555-4162-87BC-603C55EBCC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24F13-879E-4E4A-B687-E9B6D81DAE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237346-398A-4EB1-9492-C94B7FD39D26}" type="datetimeFigureOut">
              <a:rPr lang="en-US" smtClean="0"/>
              <a:t>2/14/2026</a:t>
            </a:fld>
            <a:endParaRPr lang="en-US"/>
          </a:p>
        </p:txBody>
      </p:sp>
      <p:sp>
        <p:nvSpPr>
          <p:cNvPr id="5" name="Footer Placeholder 4">
            <a:extLst>
              <a:ext uri="{FF2B5EF4-FFF2-40B4-BE49-F238E27FC236}">
                <a16:creationId xmlns:a16="http://schemas.microsoft.com/office/drawing/2014/main" id="{93ACC280-096B-48D6-81CE-C888701C9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B34269B-8B00-471A-9B6B-96C069C96C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06A57E-7529-4F31-8D40-4BC6993798B6}" type="slidenum">
              <a:rPr lang="en-US" smtClean="0"/>
              <a:t>‹#›</a:t>
            </a:fld>
            <a:endParaRPr lang="en-US"/>
          </a:p>
        </p:txBody>
      </p:sp>
    </p:spTree>
    <p:extLst>
      <p:ext uri="{BB962C8B-B14F-4D97-AF65-F5344CB8AC3E}">
        <p14:creationId xmlns:p14="http://schemas.microsoft.com/office/powerpoint/2010/main" val="136285822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2/14/2026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256226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8.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slideLayout" Target="../slideLayouts/slideLayout24.xml"/><Relationship Id="rId4" Type="http://schemas.openxmlformats.org/officeDocument/2006/relationships/tags" Target="../tags/tag12.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tags" Target="../tags/tag15.xml"/><Relationship Id="rId7" Type="http://schemas.openxmlformats.org/officeDocument/2006/relationships/tags" Target="../tags/tag1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1.xml"/><Relationship Id="rId1" Type="http://schemas.openxmlformats.org/officeDocument/2006/relationships/slideLayout" Target="../slideLayouts/slideLayout18.xml"/><Relationship Id="rId5" Type="http://schemas.openxmlformats.org/officeDocument/2006/relationships/image" Target="../media/image110.png"/><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18.xml"/><Relationship Id="rId4" Type="http://schemas.openxmlformats.org/officeDocument/2006/relationships/image" Target="../media/image1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18.xml"/><Relationship Id="rId6" Type="http://schemas.openxmlformats.org/officeDocument/2006/relationships/image" Target="../media/image210.png"/><Relationship Id="rId5" Type="http://schemas.openxmlformats.org/officeDocument/2006/relationships/image" Target="../media/image200.png"/><Relationship Id="rId4" Type="http://schemas.openxmlformats.org/officeDocument/2006/relationships/image" Target="../media/image190.png"/></Relationships>
</file>

<file path=ppt/slides/_rels/slide60.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230.png"/><Relationship Id="rId7" Type="http://schemas.openxmlformats.org/officeDocument/2006/relationships/image" Target="../media/image270.png"/><Relationship Id="rId12" Type="http://schemas.openxmlformats.org/officeDocument/2006/relationships/image" Target="../media/image32.png"/><Relationship Id="rId2" Type="http://schemas.openxmlformats.org/officeDocument/2006/relationships/image" Target="../media/image220.png"/><Relationship Id="rId1" Type="http://schemas.openxmlformats.org/officeDocument/2006/relationships/slideLayout" Target="../slideLayouts/slideLayout18.xml"/><Relationship Id="rId6" Type="http://schemas.openxmlformats.org/officeDocument/2006/relationships/image" Target="../media/image260.png"/><Relationship Id="rId11" Type="http://schemas.openxmlformats.org/officeDocument/2006/relationships/image" Target="../media/image31.png"/><Relationship Id="rId5" Type="http://schemas.openxmlformats.org/officeDocument/2006/relationships/image" Target="../media/image250.png"/><Relationship Id="rId10" Type="http://schemas.openxmlformats.org/officeDocument/2006/relationships/image" Target="../media/image300.png"/><Relationship Id="rId4" Type="http://schemas.openxmlformats.org/officeDocument/2006/relationships/image" Target="../media/image240.png"/><Relationship Id="rId9" Type="http://schemas.openxmlformats.org/officeDocument/2006/relationships/image" Target="../media/image29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8.xml"/><Relationship Id="rId4" Type="http://schemas.openxmlformats.org/officeDocument/2006/relationships/image" Target="../media/image38.png"/></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DDEB9-68FA-C57A-A8F6-12C3B67C0C4F}"/>
              </a:ext>
            </a:extLst>
          </p:cNvPr>
          <p:cNvSpPr>
            <a:spLocks noGrp="1"/>
          </p:cNvSpPr>
          <p:nvPr>
            <p:ph type="title"/>
          </p:nvPr>
        </p:nvSpPr>
        <p:spPr>
          <a:xfrm>
            <a:off x="74649" y="136525"/>
            <a:ext cx="10515600" cy="527419"/>
          </a:xfrm>
        </p:spPr>
        <p:txBody>
          <a:bodyPr>
            <a:noAutofit/>
          </a:bodyPr>
          <a:lstStyle/>
          <a:p>
            <a:r>
              <a:rPr lang="en-US" sz="3600" dirty="0"/>
              <a:t>Advanced Topic: Heterogeneous Variable Types</a:t>
            </a: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BA55FE14-E3BB-2A8C-FC58-097228738C40}"/>
                  </a:ext>
                </a:extLst>
              </p:cNvPr>
              <p:cNvSpPr txBox="1">
                <a:spLocks/>
              </p:cNvSpPr>
              <p:nvPr/>
            </p:nvSpPr>
            <p:spPr>
              <a:xfrm>
                <a:off x="142743" y="663944"/>
                <a:ext cx="1087538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Categorical Variables </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Use dummy coding to encode the categories as 0 and 1</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Shows up as additive corrections for the categorical value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Polynomial Terms </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We can fit the coefficients of a polynomial relationship via raising obs. to powers i.e.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To fit a quadratic:   </a:t>
                </a:r>
                <a14:m>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ctrlPr>
                      </m:acc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𝑦</m:t>
                        </m:r>
                      </m:e>
                    </m:acc>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𝑥</m:t>
                    </m:r>
                    <m:r>
                      <a:rPr kumimoji="0" lang="en-US" sz="1800" b="0" i="1" u="none" strike="noStrike" kern="1200" cap="none" spc="0" normalizeH="0" baseline="0" noProof="0">
                        <a:ln>
                          <a:noFill/>
                        </a:ln>
                        <a:solidFill>
                          <a:srgbClr val="000000"/>
                        </a:solidFill>
                        <a:effectLst/>
                        <a:uLnTx/>
                        <a:uFillTx/>
                        <a:latin typeface="Cambria Math"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2</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𝑥</m:t>
                    </m:r>
                  </m:oMath>
                </a14:m>
                <a:r>
                  <a:rPr kumimoji="0" lang="en-US" sz="1800" b="0" i="0" u="none" strike="noStrike" kern="1200" cap="none" spc="0" normalizeH="0" baseline="30000" noProof="0" dirty="0">
                    <a:ln>
                      <a:noFill/>
                    </a:ln>
                    <a:solidFill>
                      <a:prstClr val="black"/>
                    </a:solidFill>
                    <a:effectLst/>
                    <a:uLnTx/>
                    <a:uFillTx/>
                    <a:latin typeface="Arial" panose="020B0604020202020204" pitchFamily="34" charset="0"/>
                    <a:cs typeface="Arial" panose="020B0604020202020204" pitchFamily="34" charset="0"/>
                  </a:rPr>
                  <a:t>2</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000" b="0"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Interaction Terms </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the Regressions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Effects are not always simply additive, can have multiplicative interactions i.e. </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ctrlPr>
                        </m:acc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𝑦</m:t>
                          </m:r>
                        </m:e>
                      </m:acc>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rPr>
                        <m:t>1</m:t>
                      </m:r>
                      <m:r>
                        <a:rPr kumimoji="0" lang="en-US" sz="1800" b="0" i="1" u="none" strike="noStrike" kern="1200" cap="none" spc="0" normalizeH="0" baseline="0" noProof="0">
                          <a:ln>
                            <a:noFill/>
                          </a:ln>
                          <a:solidFill>
                            <a:srgbClr val="000000"/>
                          </a:solidFill>
                          <a:effectLst/>
                          <a:uLnTx/>
                          <a:uFillTx/>
                          <a:latin typeface="Cambria Math"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2</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rPr>
                        <m:t>2</m:t>
                      </m:r>
                      <m:r>
                        <a:rPr kumimoji="0" lang="en-US" sz="1800" b="0" i="1" u="none" strike="noStrike" kern="1200" cap="none" spc="0" normalizeH="0" baseline="0" noProof="0">
                          <a:ln>
                            <a:noFill/>
                          </a:ln>
                          <a:solidFill>
                            <a:srgbClr val="000000"/>
                          </a:solidFill>
                          <a:effectLst/>
                          <a:uLnTx/>
                          <a:uFillTx/>
                          <a:latin typeface="Cambria Math" charset="0"/>
                        </a:rPr>
                        <m:t>→</m:t>
                      </m:r>
                      <m:acc>
                        <m:accPr>
                          <m:chr m:val="̂"/>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ctrlPr>
                        </m:acc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𝑦</m:t>
                          </m:r>
                        </m:e>
                      </m:acc>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1</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rPr>
                        <m:t>1</m:t>
                      </m:r>
                      <m:r>
                        <a:rPr kumimoji="0" lang="en-US" sz="1800" b="0" i="1" u="none" strike="noStrike" kern="1200" cap="none" spc="0" normalizeH="0" baseline="0" noProof="0">
                          <a:ln>
                            <a:noFill/>
                          </a:ln>
                          <a:solidFill>
                            <a:srgbClr val="000000"/>
                          </a:solidFill>
                          <a:effectLst/>
                          <a:uLnTx/>
                          <a:uFillTx/>
                          <a:latin typeface="Cambria Math"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2</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rPr>
                        <m:t>2</m:t>
                      </m:r>
                      <m:r>
                        <a:rPr kumimoji="0" lang="en-US" sz="1800" b="0" i="1" u="none" strike="noStrike" kern="1200" cap="none" spc="0" normalizeH="0" baseline="0" noProof="0">
                          <a:ln>
                            <a:noFill/>
                          </a:ln>
                          <a:solidFill>
                            <a:srgbClr val="000000"/>
                          </a:solidFill>
                          <a:effectLst/>
                          <a:uLnTx/>
                          <a:uFillTx/>
                          <a:latin typeface="Cambria Math" charset="0"/>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𝑏</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3</m:t>
                          </m:r>
                        </m:sub>
                      </m:sSub>
                      <m:r>
                        <a:rPr kumimoji="0" lang="en-US" sz="1800" b="0" i="1" u="none" strike="noStrike" kern="1200" cap="none" spc="0" normalizeH="0" baseline="0" noProof="0">
                          <a:ln>
                            <a:noFill/>
                          </a:ln>
                          <a:solidFill>
                            <a:srgbClr val="000000"/>
                          </a:solidFill>
                          <a:effectLst/>
                          <a:uLnTx/>
                          <a:uFillTx/>
                          <a:latin typeface="Cambria Math" charset="0"/>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rPr>
                        <m:t>𝑥</m:t>
                      </m:r>
                      <m:r>
                        <a:rPr kumimoji="0" lang="en-US" sz="1800" b="0" i="1" u="none" strike="noStrike" kern="1200" cap="none" spc="0" normalizeH="0" baseline="-25000" noProof="0">
                          <a:ln>
                            <a:noFill/>
                          </a:ln>
                          <a:solidFill>
                            <a:srgbClr val="000000"/>
                          </a:solidFill>
                          <a:effectLst/>
                          <a:uLnTx/>
                          <a:uFillTx/>
                          <a:latin typeface="Cambria Math" panose="02040503050406030204" pitchFamily="18" charset="0"/>
                        </a:rPr>
                        <m:t>2</m:t>
                      </m:r>
                    </m:oMath>
                  </m:oMathPara>
                </a14:m>
                <a:endParaRPr kumimoji="0" lang="en-US" sz="1800" b="0" i="0" u="none" strike="noStrike" kern="1200" cap="none" spc="0" normalizeH="0" baseline="-25000" noProof="0" dirty="0">
                  <a:ln>
                    <a:noFill/>
                  </a:ln>
                  <a:solidFill>
                    <a:prstClr val="black"/>
                  </a:solidFill>
                  <a:effectLst/>
                  <a:uLnTx/>
                  <a:uFillTx/>
                  <a:latin typeface="Arial" panose="020B0604020202020204" pitchFamily="34" charset="0"/>
                  <a:cs typeface="Arial" panose="020B0604020202020204" pitchFamily="34"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Different lines for different levels of a categorical variable</a:t>
                </a:r>
              </a:p>
            </p:txBody>
          </p:sp>
        </mc:Choice>
        <mc:Fallback>
          <p:sp>
            <p:nvSpPr>
              <p:cNvPr id="4" name="Content Placeholder 2">
                <a:extLst>
                  <a:ext uri="{FF2B5EF4-FFF2-40B4-BE49-F238E27FC236}">
                    <a16:creationId xmlns:a16="http://schemas.microsoft.com/office/drawing/2014/main" id="{BA55FE14-E3BB-2A8C-FC58-097228738C40}"/>
                  </a:ext>
                </a:extLst>
              </p:cNvPr>
              <p:cNvSpPr txBox="1">
                <a:spLocks noRot="1" noChangeAspect="1" noMove="1" noResize="1" noEditPoints="1" noAdjustHandles="1" noChangeArrowheads="1" noChangeShapeType="1" noTextEdit="1"/>
              </p:cNvSpPr>
              <p:nvPr/>
            </p:nvSpPr>
            <p:spPr>
              <a:xfrm>
                <a:off x="142743" y="663944"/>
                <a:ext cx="10875381" cy="4351338"/>
              </a:xfrm>
              <a:prstGeom prst="rect">
                <a:avLst/>
              </a:prstGeom>
              <a:blipFill>
                <a:blip r:embed="rId2"/>
                <a:stretch>
                  <a:fillRect l="-504" t="-1401"/>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FDEB0522-150A-6730-D6F4-D266C803332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
        <p:nvSpPr>
          <p:cNvPr id="6" name="Rectangle 5">
            <a:extLst>
              <a:ext uri="{FF2B5EF4-FFF2-40B4-BE49-F238E27FC236}">
                <a16:creationId xmlns:a16="http://schemas.microsoft.com/office/drawing/2014/main" id="{C7DEE4EC-06F7-D961-1E09-28AF79F5DF07}"/>
              </a:ext>
            </a:extLst>
          </p:cNvPr>
          <p:cNvSpPr/>
          <p:nvPr/>
        </p:nvSpPr>
        <p:spPr>
          <a:xfrm>
            <a:off x="4322977" y="2626467"/>
            <a:ext cx="907261" cy="37224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7" name="Straight Arrow Connector 6">
            <a:extLst>
              <a:ext uri="{FF2B5EF4-FFF2-40B4-BE49-F238E27FC236}">
                <a16:creationId xmlns:a16="http://schemas.microsoft.com/office/drawing/2014/main" id="{4CDEEF64-749F-FE38-FAF5-C83E42390326}"/>
              </a:ext>
            </a:extLst>
          </p:cNvPr>
          <p:cNvCxnSpPr>
            <a:cxnSpLocks/>
          </p:cNvCxnSpPr>
          <p:nvPr/>
        </p:nvCxnSpPr>
        <p:spPr>
          <a:xfrm flipH="1" flipV="1">
            <a:off x="5230238" y="2792953"/>
            <a:ext cx="1389506" cy="2616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1EAC4DD-42DD-2090-E906-8E38C11AB96C}"/>
              </a:ext>
            </a:extLst>
          </p:cNvPr>
          <p:cNvSpPr txBox="1"/>
          <p:nvPr/>
        </p:nvSpPr>
        <p:spPr>
          <a:xfrm>
            <a:off x="6631319" y="2748682"/>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simply the square of the x</a:t>
            </a:r>
          </a:p>
        </p:txBody>
      </p:sp>
      <p:sp>
        <p:nvSpPr>
          <p:cNvPr id="9" name="Rectangle 8">
            <a:extLst>
              <a:ext uri="{FF2B5EF4-FFF2-40B4-BE49-F238E27FC236}">
                <a16:creationId xmlns:a16="http://schemas.microsoft.com/office/drawing/2014/main" id="{ABE83B27-1E64-BF82-A36E-BE4BF87E6FDB}"/>
              </a:ext>
            </a:extLst>
          </p:cNvPr>
          <p:cNvSpPr/>
          <p:nvPr/>
        </p:nvSpPr>
        <p:spPr>
          <a:xfrm>
            <a:off x="7300486" y="3932139"/>
            <a:ext cx="907261" cy="32857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10" name="Straight Arrow Connector 9">
            <a:extLst>
              <a:ext uri="{FF2B5EF4-FFF2-40B4-BE49-F238E27FC236}">
                <a16:creationId xmlns:a16="http://schemas.microsoft.com/office/drawing/2014/main" id="{9EC61992-A0DE-A638-730C-1C7A6112CFCC}"/>
              </a:ext>
            </a:extLst>
          </p:cNvPr>
          <p:cNvCxnSpPr>
            <a:cxnSpLocks/>
            <a:stCxn id="11" idx="0"/>
          </p:cNvCxnSpPr>
          <p:nvPr/>
        </p:nvCxnSpPr>
        <p:spPr>
          <a:xfrm flipH="1" flipV="1">
            <a:off x="8207747" y="4107785"/>
            <a:ext cx="1357741" cy="52953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B4DAF82-F00D-9EA1-00C0-5636F9AF5C32}"/>
              </a:ext>
            </a:extLst>
          </p:cNvPr>
          <p:cNvSpPr txBox="1"/>
          <p:nvPr/>
        </p:nvSpPr>
        <p:spPr>
          <a:xfrm>
            <a:off x="7890885" y="4637319"/>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product of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1</a:t>
            </a: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 and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2</a:t>
            </a:r>
          </a:p>
        </p:txBody>
      </p:sp>
    </p:spTree>
    <p:extLst>
      <p:ext uri="{BB962C8B-B14F-4D97-AF65-F5344CB8AC3E}">
        <p14:creationId xmlns:p14="http://schemas.microsoft.com/office/powerpoint/2010/main" val="258385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D8327-7AE5-1925-B256-F287B8FA4C78}"/>
              </a:ext>
            </a:extLst>
          </p:cNvPr>
          <p:cNvSpPr>
            <a:spLocks noGrp="1"/>
          </p:cNvSpPr>
          <p:nvPr>
            <p:ph type="title"/>
          </p:nvPr>
        </p:nvSpPr>
        <p:spPr>
          <a:xfrm>
            <a:off x="235085" y="199754"/>
            <a:ext cx="10515600" cy="734101"/>
          </a:xfrm>
        </p:spPr>
        <p:txBody>
          <a:bodyPr>
            <a:normAutofit/>
          </a:bodyPr>
          <a:lstStyle/>
          <a:p>
            <a:r>
              <a:rPr lang="en-US" sz="3600" dirty="0">
                <a:latin typeface="Arial" panose="020B0604020202020204" pitchFamily="34" charset="0"/>
                <a:cs typeface="Arial" panose="020B0604020202020204" pitchFamily="34" charset="0"/>
              </a:rPr>
              <a:t>Beyond Numeric Features</a:t>
            </a:r>
          </a:p>
        </p:txBody>
      </p:sp>
      <p:sp>
        <p:nvSpPr>
          <p:cNvPr id="3" name="Content Placeholder 2">
            <a:extLst>
              <a:ext uri="{FF2B5EF4-FFF2-40B4-BE49-F238E27FC236}">
                <a16:creationId xmlns:a16="http://schemas.microsoft.com/office/drawing/2014/main" id="{4C28B070-72FE-7C20-E6BB-8B160385877F}"/>
              </a:ext>
            </a:extLst>
          </p:cNvPr>
          <p:cNvSpPr>
            <a:spLocks noGrp="1"/>
          </p:cNvSpPr>
          <p:nvPr>
            <p:ph idx="1"/>
          </p:nvPr>
        </p:nvSpPr>
        <p:spPr>
          <a:xfrm>
            <a:off x="361544" y="862587"/>
            <a:ext cx="10515600" cy="4351338"/>
          </a:xfrm>
        </p:spPr>
        <p:txBody>
          <a:bodyPr>
            <a:normAutofit/>
          </a:bodyPr>
          <a:lstStyle/>
          <a:p>
            <a:pPr marL="0" indent="0">
              <a:buNone/>
            </a:pPr>
            <a:r>
              <a:rPr lang="en-US" sz="2000" dirty="0">
                <a:latin typeface="Arial" panose="020B0604020202020204" pitchFamily="34" charset="0"/>
                <a:cs typeface="Arial" panose="020B0604020202020204" pitchFamily="34" charset="0"/>
              </a:rPr>
              <a:t>Thus far, we’ve seen regressions characterized by:</a:t>
            </a:r>
          </a:p>
          <a:p>
            <a:r>
              <a:rPr lang="en-US" sz="2000" dirty="0">
                <a:latin typeface="Arial" panose="020B0604020202020204" pitchFamily="34" charset="0"/>
                <a:cs typeface="Arial" panose="020B0604020202020204" pitchFamily="34" charset="0"/>
              </a:rPr>
              <a:t>Numeric response (Y) variable </a:t>
            </a:r>
          </a:p>
          <a:p>
            <a:pPr lvl="1"/>
            <a:r>
              <a:rPr lang="en-US" sz="2000" dirty="0">
                <a:latin typeface="Arial" panose="020B0604020202020204" pitchFamily="34" charset="0"/>
                <a:cs typeface="Arial" panose="020B0604020202020204" pitchFamily="34" charset="0"/>
              </a:rPr>
              <a:t>Example: SAT Verbal Score</a:t>
            </a:r>
          </a:p>
          <a:p>
            <a:r>
              <a:rPr lang="en-US" sz="2000" dirty="0">
                <a:latin typeface="Arial" panose="020B0604020202020204" pitchFamily="34" charset="0"/>
                <a:cs typeface="Arial" panose="020B0604020202020204" pitchFamily="34" charset="0"/>
              </a:rPr>
              <a:t>Numeric explanatory (X) variable(s)</a:t>
            </a:r>
          </a:p>
          <a:p>
            <a:pPr lvl="1"/>
            <a:r>
              <a:rPr lang="en-US" sz="2000" dirty="0">
                <a:latin typeface="Arial" panose="020B0604020202020204" pitchFamily="34" charset="0"/>
                <a:cs typeface="Arial" panose="020B0604020202020204" pitchFamily="34" charset="0"/>
              </a:rPr>
              <a:t>Example: SAT Math Score, ACT Score, Class Rank</a:t>
            </a:r>
          </a:p>
          <a:p>
            <a:pPr lvl="1"/>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Idea</a:t>
            </a:r>
            <a:r>
              <a:rPr lang="en-US" sz="2000" dirty="0">
                <a:latin typeface="Arial" panose="020B0604020202020204" pitchFamily="34" charset="0"/>
                <a:cs typeface="Arial" panose="020B0604020202020204" pitchFamily="34" charset="0"/>
              </a:rPr>
              <a:t>: Explanatory variables are not just limited to numeric variables! We can incorporate categorical and higher-order variables into the regression equation with (almost) no additional work.</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5356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6CDB20-394C-4D51-9C5B-8751E2133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ounded Rectangle 3">
            <a:extLst>
              <a:ext uri="{FF2B5EF4-FFF2-40B4-BE49-F238E27FC236}">
                <a16:creationId xmlns:a16="http://schemas.microsoft.com/office/drawing/2014/main" id="{46DFD1E0-DCA7-47E6-B78B-6ECDDF873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8AAB0B1E-BB97-40E0-8DCD-D1197A0E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FCFBC5-88D3-2F05-D1AD-16787D5CCD9D}"/>
              </a:ext>
            </a:extLst>
          </p:cNvPr>
          <p:cNvSpPr>
            <a:spLocks noGrp="1"/>
          </p:cNvSpPr>
          <p:nvPr>
            <p:ph type="title"/>
          </p:nvPr>
        </p:nvSpPr>
        <p:spPr>
          <a:xfrm>
            <a:off x="1288064" y="1284731"/>
            <a:ext cx="9637776" cy="1333066"/>
          </a:xfrm>
        </p:spPr>
        <p:txBody>
          <a:bodyPr>
            <a:normAutofit/>
          </a:bodyPr>
          <a:lstStyle/>
          <a:p>
            <a:r>
              <a:rPr lang="en-US" sz="3600" dirty="0">
                <a:latin typeface="Arial" panose="020B0604020202020204" pitchFamily="34" charset="0"/>
                <a:cs typeface="Arial" panose="020B0604020202020204" pitchFamily="34" charset="0"/>
              </a:rPr>
              <a:t>Models with Dummy Variables</a:t>
            </a:r>
          </a:p>
        </p:txBody>
      </p:sp>
      <p:cxnSp>
        <p:nvCxnSpPr>
          <p:cNvPr id="14" name="Straight Connector 13">
            <a:extLst>
              <a:ext uri="{FF2B5EF4-FFF2-40B4-BE49-F238E27FC236}">
                <a16:creationId xmlns:a16="http://schemas.microsoft.com/office/drawing/2014/main" id="{19C0742B-6FAB-4F71-A9CB-E140A40C8B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62454" y="2620980"/>
            <a:ext cx="95097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ABC5687-6757-46FD-B2A7-D320A9921B39}"/>
              </a:ext>
            </a:extLst>
          </p:cNvPr>
          <p:cNvSpPr>
            <a:spLocks noGrp="1"/>
          </p:cNvSpPr>
          <p:nvPr>
            <p:ph idx="1"/>
          </p:nvPr>
        </p:nvSpPr>
        <p:spPr>
          <a:xfrm>
            <a:off x="1288064" y="2853879"/>
            <a:ext cx="9637776" cy="2714771"/>
          </a:xfrm>
        </p:spPr>
        <p:txBody>
          <a:bodyPr>
            <a:normAutofit lnSpcReduction="10000"/>
          </a:bodyPr>
          <a:lstStyle/>
          <a:p>
            <a:r>
              <a:rPr lang="en-US" altLang="en-US" sz="2000" dirty="0">
                <a:latin typeface="Arial" panose="020B0604020202020204" pitchFamily="34" charset="0"/>
                <a:cs typeface="Arial" panose="020B0604020202020204" pitchFamily="34" charset="0"/>
              </a:rPr>
              <a:t>Some models have both numeric and categorical explanatory variables (e.g., gender or race)</a:t>
            </a:r>
          </a:p>
          <a:p>
            <a:r>
              <a:rPr lang="en-US" altLang="en-US" sz="2000" dirty="0">
                <a:latin typeface="Arial" panose="020B0604020202020204" pitchFamily="34" charset="0"/>
                <a:cs typeface="Arial" panose="020B0604020202020204" pitchFamily="34" charset="0"/>
              </a:rPr>
              <a:t>If a categorical variable has </a:t>
            </a:r>
            <a:r>
              <a:rPr lang="en-US" altLang="en-US" sz="2000" i="1"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levels, need to create </a:t>
            </a:r>
            <a:r>
              <a:rPr lang="en-US" altLang="en-US" sz="2000" i="1"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-1 dummy variables that take on the values 1 if the level of interest is present, 0 otherwise.</a:t>
            </a:r>
          </a:p>
          <a:p>
            <a:r>
              <a:rPr lang="en-US" altLang="en-US" sz="2000" dirty="0">
                <a:latin typeface="Arial" panose="020B0604020202020204" pitchFamily="34" charset="0"/>
                <a:cs typeface="Arial" panose="020B0604020202020204" pitchFamily="34" charset="0"/>
              </a:rPr>
              <a:t>The baseline level of the categorical variable for which all </a:t>
            </a:r>
            <a:r>
              <a:rPr lang="en-US" altLang="en-US" sz="2000" i="1"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-1 dummy variables are set to 0</a:t>
            </a:r>
          </a:p>
          <a:p>
            <a:r>
              <a:rPr lang="en-US" altLang="en-US" sz="2000" dirty="0">
                <a:latin typeface="Arial" panose="020B0604020202020204" pitchFamily="34" charset="0"/>
                <a:cs typeface="Arial" panose="020B0604020202020204" pitchFamily="34" charset="0"/>
              </a:rPr>
              <a:t>The regression coefficient corresponding to a dummy variable is the difference between the mean for that level and the mean for baseline group, controlling for all numeric predictors</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3217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D6CDB20-394C-4D51-9C5B-8751E2133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3">
            <a:extLst>
              <a:ext uri="{FF2B5EF4-FFF2-40B4-BE49-F238E27FC236}">
                <a16:creationId xmlns:a16="http://schemas.microsoft.com/office/drawing/2014/main" id="{46DFD1E0-DCA7-47E6-B78B-6ECDDF873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AAB0B1E-BB97-40E0-8DCD-D1197A0E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288064" y="1284731"/>
            <a:ext cx="9637776" cy="1333066"/>
          </a:xfrm>
        </p:spPr>
        <p:txBody>
          <a:bodyPr>
            <a:normAutofit/>
          </a:bodyPr>
          <a:lstStyle/>
          <a:p>
            <a:r>
              <a:rPr lang="en-US" sz="3600" dirty="0">
                <a:latin typeface="Arial" panose="020B0604020202020204" pitchFamily="34" charset="0"/>
                <a:cs typeface="Arial" panose="020B0604020202020204" pitchFamily="34" charset="0"/>
              </a:rPr>
              <a:t>Interpreting Dummy Variables</a:t>
            </a:r>
          </a:p>
        </p:txBody>
      </p:sp>
      <p:cxnSp>
        <p:nvCxnSpPr>
          <p:cNvPr id="16" name="Straight Connector 15">
            <a:extLst>
              <a:ext uri="{FF2B5EF4-FFF2-40B4-BE49-F238E27FC236}">
                <a16:creationId xmlns:a16="http://schemas.microsoft.com/office/drawing/2014/main" id="{19C0742B-6FAB-4F71-A9CB-E140A40C8B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62454" y="2620980"/>
            <a:ext cx="95097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277112" y="2727710"/>
            <a:ext cx="9637776" cy="3170159"/>
          </a:xfrm>
        </p:spPr>
        <p:txBody>
          <a:bodyPr>
            <a:normAutofit lnSpcReduction="10000"/>
          </a:bodyPr>
          <a:lstStyle/>
          <a:p>
            <a:r>
              <a:rPr lang="en-US" sz="2000" dirty="0">
                <a:latin typeface="Arial" panose="020B0604020202020204" pitchFamily="34" charset="0"/>
                <a:cs typeface="Arial" panose="020B0604020202020204" pitchFamily="34" charset="0"/>
              </a:rPr>
              <a:t>Can add categorical variables to regression model, but first need to create dummy codes</a:t>
            </a:r>
          </a:p>
          <a:p>
            <a:pPr lvl="1"/>
            <a:r>
              <a:rPr lang="en-US" sz="2000" dirty="0">
                <a:latin typeface="Arial" panose="020B0604020202020204" pitchFamily="34" charset="0"/>
                <a:cs typeface="Arial" panose="020B0604020202020204" pitchFamily="34" charset="0"/>
              </a:rPr>
              <a:t>If k categories, you only need k-1 dummy variables</a:t>
            </a:r>
          </a:p>
          <a:p>
            <a:pPr lvl="1"/>
            <a:r>
              <a:rPr lang="en-US" sz="2000" dirty="0">
                <a:latin typeface="Arial" panose="020B0604020202020204" pitchFamily="34" charset="0"/>
                <a:cs typeface="Arial" panose="020B0604020202020204" pitchFamily="34" charset="0"/>
              </a:rPr>
              <a:t>Other category acts as reference group; absorbed into intercept</a:t>
            </a:r>
          </a:p>
          <a:p>
            <a:r>
              <a:rPr lang="en-US" sz="2000" dirty="0">
                <a:latin typeface="Arial" panose="020B0604020202020204" pitchFamily="34" charset="0"/>
                <a:cs typeface="Arial" panose="020B0604020202020204" pitchFamily="34" charset="0"/>
              </a:rPr>
              <a:t>Each dummy variable acts as an </a:t>
            </a:r>
            <a:r>
              <a:rPr lang="en-US" sz="2000" u="sng" dirty="0">
                <a:latin typeface="Arial" panose="020B0604020202020204" pitchFamily="34" charset="0"/>
                <a:cs typeface="Arial" panose="020B0604020202020204" pitchFamily="34" charset="0"/>
              </a:rPr>
              <a:t>indicator</a:t>
            </a:r>
            <a:r>
              <a:rPr lang="en-US" sz="2000" dirty="0">
                <a:latin typeface="Arial" panose="020B0604020202020204" pitchFamily="34" charset="0"/>
                <a:cs typeface="Arial" panose="020B0604020202020204" pitchFamily="34" charset="0"/>
              </a:rPr>
              <a:t> of whether the observation is in that category </a:t>
            </a:r>
          </a:p>
          <a:p>
            <a:r>
              <a:rPr lang="en-US" sz="2000" dirty="0">
                <a:latin typeface="Arial" panose="020B0604020202020204" pitchFamily="34" charset="0"/>
                <a:cs typeface="Arial" panose="020B0604020202020204" pitchFamily="34" charset="0"/>
              </a:rPr>
              <a:t>Each dummy coefficients can be interpreted as </a:t>
            </a:r>
            <a:r>
              <a:rPr lang="en-US" sz="2000" i="1" dirty="0">
                <a:latin typeface="Arial" panose="020B0604020202020204" pitchFamily="34" charset="0"/>
                <a:cs typeface="Arial" panose="020B0604020202020204" pitchFamily="34" charset="0"/>
              </a:rPr>
              <a:t>the average difference </a:t>
            </a:r>
            <a:r>
              <a:rPr lang="en-US" sz="2000" dirty="0">
                <a:latin typeface="Arial" panose="020B0604020202020204" pitchFamily="34" charset="0"/>
                <a:cs typeface="Arial" panose="020B0604020202020204" pitchFamily="34" charset="0"/>
              </a:rPr>
              <a:t>in Y between the dummy category and the reference group.</a:t>
            </a:r>
          </a:p>
          <a:p>
            <a:pPr lvl="1"/>
            <a:r>
              <a:rPr lang="en-US" sz="2000" dirty="0">
                <a:latin typeface="Arial" panose="020B0604020202020204" pitchFamily="34" charset="0"/>
                <a:cs typeface="Arial" panose="020B0604020202020204" pitchFamily="34" charset="0"/>
              </a:rPr>
              <a:t>Specifically, the dummy coefficients are the linear correction in the model for that level, relative to the reference group.</a:t>
            </a:r>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009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14706" y="806264"/>
                <a:ext cx="10515600" cy="4343634"/>
              </a:xfrm>
            </p:spPr>
            <p:txBody>
              <a:bodyPr>
                <a:normAutofit/>
              </a:bodyPr>
              <a:lstStyle/>
              <a:p>
                <a:r>
                  <a:rPr lang="en-US" sz="2000" b="1" dirty="0">
                    <a:latin typeface="Arial" panose="020B0604020202020204" pitchFamily="34" charset="0"/>
                    <a:cs typeface="Arial" panose="020B0604020202020204" pitchFamily="34" charset="0"/>
                  </a:rPr>
                  <a:t>Idea: </a:t>
                </a:r>
                <a:r>
                  <a:rPr lang="en-US" sz="2000" dirty="0">
                    <a:latin typeface="Arial" panose="020B0604020202020204" pitchFamily="34" charset="0"/>
                    <a:cs typeface="Arial" panose="020B0604020202020204" pitchFamily="34" charset="0"/>
                  </a:rPr>
                  <a:t>Use a binary (0/1) variable to identify different groups i.e. X</a:t>
                </a:r>
                <a:r>
                  <a:rPr lang="en-US" sz="2000" baseline="-25000" dirty="0">
                    <a:latin typeface="Arial" panose="020B0604020202020204" pitchFamily="34" charset="0"/>
                    <a:cs typeface="Arial" panose="020B0604020202020204" pitchFamily="34" charset="0"/>
                  </a:rPr>
                  <a:t>i </a:t>
                </a:r>
                <a:r>
                  <a:rPr lang="en-US" sz="2000" dirty="0">
                    <a:latin typeface="Arial" panose="020B0604020202020204" pitchFamily="34" charset="0"/>
                    <a:cs typeface="Arial" panose="020B0604020202020204" pitchFamily="34" charset="0"/>
                  </a:rPr>
                  <a:t> = 1 if observation is of the category and X</a:t>
                </a:r>
                <a:r>
                  <a:rPr lang="en-US" sz="2000" baseline="-25000" dirty="0">
                    <a:latin typeface="Arial" panose="020B0604020202020204" pitchFamily="34" charset="0"/>
                    <a:cs typeface="Arial" panose="020B0604020202020204" pitchFamily="34" charset="0"/>
                  </a:rPr>
                  <a:t>i </a:t>
                </a:r>
                <a:r>
                  <a:rPr lang="en-US" sz="2000" dirty="0">
                    <a:latin typeface="Arial" panose="020B0604020202020204" pitchFamily="34" charset="0"/>
                    <a:cs typeface="Arial" panose="020B0604020202020204" pitchFamily="34" charset="0"/>
                  </a:rPr>
                  <a:t> = 0 otherwise.</a:t>
                </a:r>
              </a:p>
              <a:p>
                <a:r>
                  <a:rPr lang="en-US" sz="2000" dirty="0">
                    <a:latin typeface="Arial" panose="020B0604020202020204" pitchFamily="34" charset="0"/>
                    <a:cs typeface="Arial" panose="020B0604020202020204" pitchFamily="34" charset="0"/>
                  </a:rPr>
                  <a:t>The binary categorical variable acts as an additive correction term. </a:t>
                </a:r>
              </a:p>
              <a:p>
                <a:pPr lvl="1"/>
                <a:r>
                  <a:rPr lang="en-US" sz="1800" dirty="0">
                    <a:latin typeface="Arial" panose="020B0604020202020204" pitchFamily="34" charset="0"/>
                    <a:cs typeface="Arial" panose="020B0604020202020204" pitchFamily="34" charset="0"/>
                  </a:rPr>
                  <a:t>Suppose x</a:t>
                </a:r>
                <a:r>
                  <a:rPr lang="en-US" sz="1800" baseline="-25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is binary with </a:t>
                </a:r>
                <a:r>
                  <a:rPr lang="en-US" sz="1800" dirty="0" err="1">
                    <a:latin typeface="Arial" panose="020B0604020202020204" pitchFamily="34" charset="0"/>
                    <a:cs typeface="Arial" panose="020B0604020202020204" pitchFamily="34" charset="0"/>
                  </a:rPr>
                  <a:t>coeff</a:t>
                </a:r>
                <a:r>
                  <a:rPr lang="en-US" sz="1800" dirty="0">
                    <a:latin typeface="Arial" panose="020B0604020202020204" pitchFamily="34" charset="0"/>
                    <a:cs typeface="Arial" panose="020B0604020202020204" pitchFamily="34" charset="0"/>
                  </a:rPr>
                  <a:t>. </a:t>
                </a:r>
                <a14:m>
                  <m:oMath xmlns:m="http://schemas.openxmlformats.org/officeDocument/2006/math">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oMath>
                </a14:m>
                <a:r>
                  <a:rPr lang="en-US" sz="1800" dirty="0">
                    <a:latin typeface="Arial" panose="020B0604020202020204" pitchFamily="34" charset="0"/>
                    <a:cs typeface="Arial" panose="020B0604020202020204" pitchFamily="34" charset="0"/>
                  </a:rPr>
                  <a:t>. </a:t>
                </a:r>
              </a:p>
              <a:p>
                <a:pPr lvl="1"/>
                <a:r>
                  <a:rPr lang="en-US" sz="1800" dirty="0">
                    <a:latin typeface="Arial" panose="020B0604020202020204" pitchFamily="34" charset="0"/>
                    <a:cs typeface="Arial" panose="020B0604020202020204" pitchFamily="34" charset="0"/>
                  </a:rPr>
                  <a:t>Then the model is:   </a:t>
                </a:r>
                <a14:m>
                  <m:oMath xmlns:m="http://schemas.openxmlformats.org/officeDocument/2006/math">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r>
                      <m:rPr>
                        <m:nor/>
                      </m:rPr>
                      <a:rPr lang="en-US" sz="1800" baseline="-25000" dirty="0">
                        <a:latin typeface="Arial" panose="020B0604020202020204" pitchFamily="34" charset="0"/>
                        <a:cs typeface="Arial" panose="020B0604020202020204" pitchFamily="34" charset="0"/>
                      </a:rPr>
                      <m:t> </m:t>
                    </m:r>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i="1" baseline="-25000">
                        <a:solidFill>
                          <a:srgbClr val="000000"/>
                        </a:solidFill>
                        <a:latin typeface="Cambria Math" panose="02040503050406030204" pitchFamily="18" charset="0"/>
                      </a:rPr>
                      <m:t>1</m:t>
                    </m:r>
                  </m:oMath>
                </a14:m>
                <a:r>
                  <a:rPr lang="en-US" sz="1800" dirty="0">
                    <a:latin typeface="Arial" panose="020B0604020202020204" pitchFamily="34" charset="0"/>
                    <a:cs typeface="Arial" panose="020B0604020202020204" pitchFamily="34" charset="0"/>
                  </a:rPr>
                  <a:t>+</a:t>
                </a:r>
                <a:r>
                  <a:rPr lang="en-US" sz="18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oMath>
                </a14:m>
                <a:r>
                  <a:rPr lang="en-US" sz="1800"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1800" i="1">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2 </m:t>
                    </m:r>
                  </m:oMath>
                </a14:m>
                <a:r>
                  <a:rPr lang="en-US" sz="1800" dirty="0">
                    <a:latin typeface="Arial" panose="020B0604020202020204" pitchFamily="34" charset="0"/>
                    <a:cs typeface="Arial" panose="020B0604020202020204" pitchFamily="34" charset="0"/>
                  </a:rPr>
                  <a:t>  which splits into:</a:t>
                </a:r>
                <a:endParaRPr lang="en-US" sz="1800" u="sng" baseline="-25000" dirty="0">
                  <a:latin typeface="Arial" panose="020B0604020202020204" pitchFamily="34" charset="0"/>
                  <a:cs typeface="Arial" panose="020B0604020202020204" pitchFamily="34" charset="0"/>
                </a:endParaRPr>
              </a:p>
              <a:p>
                <a:pPr marL="0" indent="0" algn="ctr">
                  <a:buNone/>
                </a:pPr>
                <a:r>
                  <a:rPr lang="en-US" sz="1800" dirty="0">
                    <a:latin typeface="Arial" panose="020B0604020202020204" pitchFamily="34" charset="0"/>
                    <a:cs typeface="Arial" panose="020B0604020202020204" pitchFamily="34" charset="0"/>
                  </a:rPr>
                  <a:t>  </a:t>
                </a:r>
                <a14:m>
                  <m:oMath xmlns:m="http://schemas.openxmlformats.org/officeDocument/2006/math">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d>
                      <m:dPr>
                        <m:begChr m:val="|"/>
                        <m:endChr m:val="|"/>
                        <m:ctrlPr>
                          <a:rPr lang="en-US" sz="1800" b="0" i="1" smtClean="0">
                            <a:solidFill>
                              <a:srgbClr val="000000"/>
                            </a:solidFill>
                            <a:latin typeface="Cambria Math" panose="02040503050406030204" pitchFamily="18" charset="0"/>
                          </a:rPr>
                        </m:ctrlPr>
                      </m:dPr>
                      <m:e>
                        <m:r>
                          <m:rPr>
                            <m:nor/>
                          </m:rPr>
                          <a:rPr lang="en-US" sz="1800" b="0" i="0" smtClean="0">
                            <a:solidFill>
                              <a:srgbClr val="000000"/>
                            </a:solidFill>
                            <a:latin typeface="Arial" panose="020B0604020202020204" pitchFamily="34" charset="0"/>
                            <a:cs typeface="Arial" panose="020B0604020202020204" pitchFamily="34" charset="0"/>
                          </a:rPr>
                          <m:t>(</m:t>
                        </m:r>
                        <m:r>
                          <m:rPr>
                            <m:nor/>
                          </m:rPr>
                          <a:rPr lang="en-US" sz="1800" dirty="0" smtClean="0">
                            <a:latin typeface="Arial" panose="020B0604020202020204" pitchFamily="34" charset="0"/>
                            <a:cs typeface="Arial" panose="020B0604020202020204" pitchFamily="34" charset="0"/>
                          </a:rPr>
                          <m:t>x</m:t>
                        </m:r>
                        <m:r>
                          <m:rPr>
                            <m:nor/>
                          </m:rPr>
                          <a:rPr lang="en-US" sz="1800" b="0" i="0" baseline="-25000" dirty="0" smtClean="0">
                            <a:latin typeface="Arial" panose="020B0604020202020204" pitchFamily="34" charset="0"/>
                            <a:cs typeface="Arial" panose="020B0604020202020204" pitchFamily="34" charset="0"/>
                          </a:rPr>
                          <m:t>2</m:t>
                        </m:r>
                        <m:r>
                          <m:rPr>
                            <m:nor/>
                          </m:rPr>
                          <a:rPr lang="en-US" sz="1800" b="0" i="0" dirty="0" smtClean="0">
                            <a:latin typeface="Arial" panose="020B0604020202020204" pitchFamily="34" charset="0"/>
                            <a:cs typeface="Arial" panose="020B0604020202020204" pitchFamily="34" charset="0"/>
                          </a:rPr>
                          <m:t>=0)</m:t>
                        </m:r>
                        <m:r>
                          <m:rPr>
                            <m:nor/>
                          </m:rPr>
                          <a:rPr lang="en-US" sz="1800" b="0" i="0" baseline="-25000" dirty="0" smtClean="0">
                            <a:latin typeface="Arial" panose="020B0604020202020204" pitchFamily="34" charset="0"/>
                            <a:cs typeface="Arial" panose="020B0604020202020204" pitchFamily="34" charset="0"/>
                          </a:rPr>
                          <m:t> </m:t>
                        </m:r>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1                              </m:t>
                        </m:r>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e>
                    </m:d>
                    <m:r>
                      <m:rPr>
                        <m:nor/>
                      </m:rPr>
                      <a:rPr lang="en-US" sz="1800">
                        <a:solidFill>
                          <a:srgbClr val="000000"/>
                        </a:solidFill>
                        <a:latin typeface="Arial" panose="020B0604020202020204" pitchFamily="34" charset="0"/>
                        <a:cs typeface="Arial" panose="020B0604020202020204" pitchFamily="34" charset="0"/>
                      </a:rPr>
                      <m:t>(</m:t>
                    </m:r>
                    <m:r>
                      <m:rPr>
                        <m:nor/>
                      </m:rPr>
                      <a:rPr lang="en-US" sz="1800" dirty="0">
                        <a:latin typeface="Arial" panose="020B0604020202020204" pitchFamily="34" charset="0"/>
                        <a:cs typeface="Arial" panose="020B0604020202020204" pitchFamily="34" charset="0"/>
                      </a:rPr>
                      <m:t>x</m:t>
                    </m:r>
                    <m:r>
                      <m:rPr>
                        <m:nor/>
                      </m:rPr>
                      <a:rPr lang="en-US" sz="1800" baseline="-25000" dirty="0">
                        <a:latin typeface="Arial" panose="020B0604020202020204" pitchFamily="34" charset="0"/>
                        <a:cs typeface="Arial" panose="020B0604020202020204" pitchFamily="34" charset="0"/>
                      </a:rPr>
                      <m:t>2</m:t>
                    </m:r>
                    <m:r>
                      <m:rPr>
                        <m:nor/>
                      </m:rPr>
                      <a:rPr lang="en-US" sz="1800" dirty="0">
                        <a:latin typeface="Arial" panose="020B0604020202020204" pitchFamily="34" charset="0"/>
                        <a:cs typeface="Arial" panose="020B0604020202020204" pitchFamily="34" charset="0"/>
                      </a:rPr>
                      <m:t>=</m:t>
                    </m:r>
                    <m:r>
                      <m:rPr>
                        <m:nor/>
                      </m:rPr>
                      <a:rPr lang="en-US" sz="1800" b="0" i="0" dirty="0" smtClean="0">
                        <a:latin typeface="Arial" panose="020B0604020202020204" pitchFamily="34" charset="0"/>
                        <a:cs typeface="Arial" panose="020B0604020202020204" pitchFamily="34" charset="0"/>
                      </a:rPr>
                      <m:t>1</m:t>
                    </m:r>
                    <m:r>
                      <m:rPr>
                        <m:nor/>
                      </m:rPr>
                      <a:rPr lang="en-US" sz="1800" dirty="0">
                        <a:latin typeface="Arial" panose="020B0604020202020204" pitchFamily="34" charset="0"/>
                        <a:cs typeface="Arial" panose="020B0604020202020204" pitchFamily="34" charset="0"/>
                      </a:rPr>
                      <m:t>)</m:t>
                    </m:r>
                    <m:r>
                      <m:rPr>
                        <m:nor/>
                      </m:rPr>
                      <a:rPr lang="en-US" sz="1800" baseline="-25000" dirty="0">
                        <a:latin typeface="Arial" panose="020B0604020202020204" pitchFamily="34" charset="0"/>
                        <a:cs typeface="Arial" panose="020B0604020202020204" pitchFamily="34" charset="0"/>
                      </a:rPr>
                      <m:t> </m:t>
                    </m:r>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i="1" baseline="-25000" smtClean="0">
                        <a:solidFill>
                          <a:srgbClr val="000000"/>
                        </a:solidFill>
                        <a:latin typeface="Cambria Math" panose="02040503050406030204" pitchFamily="18" charset="0"/>
                      </a:rPr>
                      <m:t>1</m:t>
                    </m:r>
                  </m:oMath>
                </a14:m>
                <a:r>
                  <a:rPr lang="en-US" sz="1800" dirty="0">
                    <a:latin typeface="Arial" panose="020B0604020202020204" pitchFamily="34" charset="0"/>
                    <a:cs typeface="Arial" panose="020B0604020202020204" pitchFamily="34" charset="0"/>
                  </a:rPr>
                  <a:t>+</a:t>
                </a:r>
                <a:r>
                  <a:rPr lang="en-US" sz="18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oMath>
                </a14:m>
                <a:endParaRPr lang="en-US" sz="1800" dirty="0">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14706" y="806264"/>
                <a:ext cx="10515600" cy="4343634"/>
              </a:xfrm>
              <a:blipFill>
                <a:blip r:embed="rId2"/>
                <a:stretch>
                  <a:fillRect l="-522" t="-126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D233E84D-F348-124B-BA83-0581A07EBAB2}"/>
              </a:ext>
            </a:extLst>
          </p:cNvPr>
          <p:cNvSpPr/>
          <p:nvPr/>
        </p:nvSpPr>
        <p:spPr>
          <a:xfrm>
            <a:off x="8118747" y="2478019"/>
            <a:ext cx="600916"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5821B0C1-3AB4-F047-9F8C-5F431148B1C1}"/>
              </a:ext>
            </a:extLst>
          </p:cNvPr>
          <p:cNvSpPr txBox="1"/>
          <p:nvPr/>
        </p:nvSpPr>
        <p:spPr>
          <a:xfrm>
            <a:off x="9094876" y="2388347"/>
            <a:ext cx="211064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Additive Correction</a:t>
            </a:r>
          </a:p>
        </p:txBody>
      </p:sp>
      <p:sp>
        <p:nvSpPr>
          <p:cNvPr id="11" name="Title 1">
            <a:extLst>
              <a:ext uri="{FF2B5EF4-FFF2-40B4-BE49-F238E27FC236}">
                <a16:creationId xmlns:a16="http://schemas.microsoft.com/office/drawing/2014/main" id="{0EA90997-A186-3F4E-A82D-CEA19C205DD9}"/>
              </a:ext>
            </a:extLst>
          </p:cNvPr>
          <p:cNvSpPr>
            <a:spLocks noGrp="1"/>
          </p:cNvSpPr>
          <p:nvPr>
            <p:ph type="title"/>
          </p:nvPr>
        </p:nvSpPr>
        <p:spPr>
          <a:xfrm>
            <a:off x="120720" y="126798"/>
            <a:ext cx="10515600" cy="679466"/>
          </a:xfrm>
        </p:spPr>
        <p:txBody>
          <a:bodyPr>
            <a:normAutofit/>
          </a:bodyPr>
          <a:lstStyle/>
          <a:p>
            <a:r>
              <a:rPr lang="en-US" sz="3600" dirty="0">
                <a:latin typeface="Arial" panose="020B0604020202020204" pitchFamily="34" charset="0"/>
                <a:cs typeface="Arial" panose="020B0604020202020204" pitchFamily="34" charset="0"/>
              </a:rPr>
              <a:t>Categorical Variables and Dummies</a:t>
            </a:r>
          </a:p>
        </p:txBody>
      </p:sp>
    </p:spTree>
    <p:extLst>
      <p:ext uri="{BB962C8B-B14F-4D97-AF65-F5344CB8AC3E}">
        <p14:creationId xmlns:p14="http://schemas.microsoft.com/office/powerpoint/2010/main" val="420928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B0EAA-4815-0E0B-6F31-0E5CDF3E3D9F}"/>
              </a:ext>
            </a:extLst>
          </p:cNvPr>
          <p:cNvSpPr>
            <a:spLocks noGrp="1"/>
          </p:cNvSpPr>
          <p:nvPr>
            <p:ph type="title"/>
          </p:nvPr>
        </p:nvSpPr>
        <p:spPr>
          <a:xfrm>
            <a:off x="225357" y="180301"/>
            <a:ext cx="10515600" cy="771574"/>
          </a:xfrm>
        </p:spPr>
        <p:txBody>
          <a:bodyPr>
            <a:normAutofit/>
          </a:bodyPr>
          <a:lstStyle/>
          <a:p>
            <a:r>
              <a:rPr lang="en-US" sz="3600" dirty="0">
                <a:latin typeface="Arial" panose="020B0604020202020204" pitchFamily="34" charset="0"/>
                <a:cs typeface="Arial" panose="020B0604020202020204" pitchFamily="34" charset="0"/>
              </a:rPr>
              <a:t>Example: Recoding dummy variables</a:t>
            </a:r>
          </a:p>
        </p:txBody>
      </p:sp>
      <p:pic>
        <p:nvPicPr>
          <p:cNvPr id="5" name="Content Placeholder 4">
            <a:extLst>
              <a:ext uri="{FF2B5EF4-FFF2-40B4-BE49-F238E27FC236}">
                <a16:creationId xmlns:a16="http://schemas.microsoft.com/office/drawing/2014/main" id="{04BE751D-F09B-8282-F771-8D0E17DAF16C}"/>
              </a:ext>
            </a:extLst>
          </p:cNvPr>
          <p:cNvPicPr>
            <a:picLocks noGrp="1" noChangeAspect="1"/>
          </p:cNvPicPr>
          <p:nvPr>
            <p:ph idx="1"/>
          </p:nvPr>
        </p:nvPicPr>
        <p:blipFill>
          <a:blip r:embed="rId2"/>
          <a:stretch>
            <a:fillRect/>
          </a:stretch>
        </p:blipFill>
        <p:spPr>
          <a:xfrm>
            <a:off x="379969" y="3082453"/>
            <a:ext cx="4964140" cy="2184679"/>
          </a:xfrm>
        </p:spPr>
      </p:pic>
      <p:sp>
        <p:nvSpPr>
          <p:cNvPr id="7" name="TextBox 6">
            <a:extLst>
              <a:ext uri="{FF2B5EF4-FFF2-40B4-BE49-F238E27FC236}">
                <a16:creationId xmlns:a16="http://schemas.microsoft.com/office/drawing/2014/main" id="{824BB77D-1324-8D77-4DBE-C1B1F907ADFC}"/>
              </a:ext>
            </a:extLst>
          </p:cNvPr>
          <p:cNvSpPr txBox="1"/>
          <p:nvPr/>
        </p:nvSpPr>
        <p:spPr>
          <a:xfrm>
            <a:off x="379969" y="1046637"/>
            <a:ext cx="10612285"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Use the school admissions data variable for whether a student is an alum and recode it as a simple binary variable (Y/N).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Label the groups with no alum family 0, else 1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“0” group is called the </a:t>
            </a:r>
            <a:r>
              <a:rPr kumimoji="0" lang="en-US"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reference group</a:t>
            </a:r>
            <a:r>
              <a:rPr kumimoji="0" lang="en-US"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no additive correction present here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We will use it in a multiple linear regression where the “slope” for the binary categorical variable we create will represent the difference in the intercepts between of the two groups</a:t>
            </a:r>
          </a:p>
        </p:txBody>
      </p:sp>
      <p:pic>
        <p:nvPicPr>
          <p:cNvPr id="9" name="Picture 8">
            <a:extLst>
              <a:ext uri="{FF2B5EF4-FFF2-40B4-BE49-F238E27FC236}">
                <a16:creationId xmlns:a16="http://schemas.microsoft.com/office/drawing/2014/main" id="{677DF6C8-456A-055E-1EFD-DE609E17C082}"/>
              </a:ext>
            </a:extLst>
          </p:cNvPr>
          <p:cNvPicPr>
            <a:picLocks noChangeAspect="1"/>
          </p:cNvPicPr>
          <p:nvPr/>
        </p:nvPicPr>
        <p:blipFill>
          <a:blip r:embed="rId3"/>
          <a:stretch>
            <a:fillRect/>
          </a:stretch>
        </p:blipFill>
        <p:spPr>
          <a:xfrm>
            <a:off x="6553560" y="3550904"/>
            <a:ext cx="4914900" cy="1247775"/>
          </a:xfrm>
          <a:prstGeom prst="rect">
            <a:avLst/>
          </a:prstGeom>
        </p:spPr>
      </p:pic>
      <p:cxnSp>
        <p:nvCxnSpPr>
          <p:cNvPr id="11" name="Straight Arrow Connector 10">
            <a:extLst>
              <a:ext uri="{FF2B5EF4-FFF2-40B4-BE49-F238E27FC236}">
                <a16:creationId xmlns:a16="http://schemas.microsoft.com/office/drawing/2014/main" id="{873DE7AE-E8DF-051E-EB05-3688C4612B96}"/>
              </a:ext>
            </a:extLst>
          </p:cNvPr>
          <p:cNvCxnSpPr>
            <a:cxnSpLocks/>
          </p:cNvCxnSpPr>
          <p:nvPr/>
        </p:nvCxnSpPr>
        <p:spPr>
          <a:xfrm>
            <a:off x="5344109" y="4465626"/>
            <a:ext cx="7518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48045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C3C0-4B0D-E128-A4C4-65F284ECB6A6}"/>
              </a:ext>
            </a:extLst>
          </p:cNvPr>
          <p:cNvSpPr>
            <a:spLocks noGrp="1"/>
          </p:cNvSpPr>
          <p:nvPr>
            <p:ph type="title"/>
          </p:nvPr>
        </p:nvSpPr>
        <p:spPr>
          <a:xfrm>
            <a:off x="172994" y="220410"/>
            <a:ext cx="10515600" cy="693833"/>
          </a:xfrm>
        </p:spPr>
        <p:txBody>
          <a:bodyPr>
            <a:normAutofit/>
          </a:bodyPr>
          <a:lstStyle/>
          <a:p>
            <a:r>
              <a:rPr lang="en-US" sz="3600" dirty="0">
                <a:latin typeface="Arial" panose="020B0604020202020204" pitchFamily="34" charset="0"/>
                <a:cs typeface="Arial" panose="020B0604020202020204" pitchFamily="34" charset="0"/>
              </a:rPr>
              <a:t>Example</a:t>
            </a:r>
          </a:p>
        </p:txBody>
      </p:sp>
      <p:sp>
        <p:nvSpPr>
          <p:cNvPr id="3" name="Content Placeholder 2">
            <a:extLst>
              <a:ext uri="{FF2B5EF4-FFF2-40B4-BE49-F238E27FC236}">
                <a16:creationId xmlns:a16="http://schemas.microsoft.com/office/drawing/2014/main" id="{626EAA89-6531-D9FC-3A4A-25A27733A8E0}"/>
              </a:ext>
            </a:extLst>
          </p:cNvPr>
          <p:cNvSpPr>
            <a:spLocks noGrp="1"/>
          </p:cNvSpPr>
          <p:nvPr>
            <p:ph idx="1"/>
          </p:nvPr>
        </p:nvSpPr>
        <p:spPr>
          <a:xfrm>
            <a:off x="351817" y="964918"/>
            <a:ext cx="10515600" cy="4351338"/>
          </a:xfrm>
        </p:spPr>
        <p:txBody>
          <a:bodyPr>
            <a:normAutofit/>
          </a:bodyPr>
          <a:lstStyle/>
          <a:p>
            <a:r>
              <a:rPr lang="en-US" sz="2000" dirty="0">
                <a:latin typeface="Arial" panose="020B0604020202020204" pitchFamily="34" charset="0"/>
                <a:cs typeface="Arial" panose="020B0604020202020204" pitchFamily="34" charset="0"/>
              </a:rPr>
              <a:t>Run a multiple linear regression of HS class rank on Math SAT score and the dummy variable coding the effect of having a family member as an alum (=1) or not (=0)</a:t>
            </a:r>
          </a:p>
        </p:txBody>
      </p:sp>
      <p:pic>
        <p:nvPicPr>
          <p:cNvPr id="5" name="Picture 4">
            <a:extLst>
              <a:ext uri="{FF2B5EF4-FFF2-40B4-BE49-F238E27FC236}">
                <a16:creationId xmlns:a16="http://schemas.microsoft.com/office/drawing/2014/main" id="{94CB5D95-106F-D4FE-A143-0D91AEF30CA0}"/>
              </a:ext>
            </a:extLst>
          </p:cNvPr>
          <p:cNvPicPr>
            <a:picLocks noChangeAspect="1"/>
          </p:cNvPicPr>
          <p:nvPr/>
        </p:nvPicPr>
        <p:blipFill>
          <a:blip r:embed="rId2"/>
          <a:stretch>
            <a:fillRect/>
          </a:stretch>
        </p:blipFill>
        <p:spPr>
          <a:xfrm>
            <a:off x="3145240" y="1740385"/>
            <a:ext cx="5124450" cy="1638300"/>
          </a:xfrm>
          <a:prstGeom prst="rect">
            <a:avLst/>
          </a:prstGeom>
        </p:spPr>
      </p:pic>
      <p:sp>
        <p:nvSpPr>
          <p:cNvPr id="6" name="TextBox 5">
            <a:extLst>
              <a:ext uri="{FF2B5EF4-FFF2-40B4-BE49-F238E27FC236}">
                <a16:creationId xmlns:a16="http://schemas.microsoft.com/office/drawing/2014/main" id="{DDBA1413-850F-ABB3-1E0D-5BFD68099576}"/>
              </a:ext>
            </a:extLst>
          </p:cNvPr>
          <p:cNvSpPr txBox="1"/>
          <p:nvPr/>
        </p:nvSpPr>
        <p:spPr>
          <a:xfrm>
            <a:off x="3266916" y="3809572"/>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7" name="TextBox 6">
            <a:extLst>
              <a:ext uri="{FF2B5EF4-FFF2-40B4-BE49-F238E27FC236}">
                <a16:creationId xmlns:a16="http://schemas.microsoft.com/office/drawing/2014/main" id="{DB33DA5E-CDF0-5A1B-B985-C771C86891A3}"/>
              </a:ext>
            </a:extLst>
          </p:cNvPr>
          <p:cNvSpPr txBox="1"/>
          <p:nvPr/>
        </p:nvSpPr>
        <p:spPr>
          <a:xfrm>
            <a:off x="453747" y="1922764"/>
            <a:ext cx="2711239"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With only two groups,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dummy variable represents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average difference in HS rank between students who have family members that are an alumni and those who do not.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Note: this is not really any different, an increase in X means going from 0 to 1 </a:t>
            </a:r>
          </a:p>
        </p:txBody>
      </p:sp>
      <p:sp>
        <p:nvSpPr>
          <p:cNvPr id="10" name="TextBox 9">
            <a:extLst>
              <a:ext uri="{FF2B5EF4-FFF2-40B4-BE49-F238E27FC236}">
                <a16:creationId xmlns:a16="http://schemas.microsoft.com/office/drawing/2014/main" id="{506C7F46-2AC7-DB99-DDC1-4F54E6BC32AF}"/>
              </a:ext>
            </a:extLst>
          </p:cNvPr>
          <p:cNvSpPr txBox="1"/>
          <p:nvPr/>
        </p:nvSpPr>
        <p:spPr>
          <a:xfrm>
            <a:off x="8717025" y="2152801"/>
            <a:ext cx="3282779"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Interpretation</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the estimated difference in HS rank between students who have family that are </a:t>
            </a:r>
            <a:r>
              <a:rPr kumimoji="0" lang="en-US" sz="1800"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alumns</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and those who do not is -2.604. Students who have one or more family members who are alums have a HS rank that is 2.604 points lower, on average, </a:t>
            </a:r>
            <a:r>
              <a:rPr kumimoji="0" lang="en-US" sz="18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holding SAT score constant at its mean.</a:t>
            </a:r>
            <a: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p>
        </p:txBody>
      </p:sp>
      <p:cxnSp>
        <p:nvCxnSpPr>
          <p:cNvPr id="13" name="Straight Arrow Connector 12">
            <a:extLst>
              <a:ext uri="{FF2B5EF4-FFF2-40B4-BE49-F238E27FC236}">
                <a16:creationId xmlns:a16="http://schemas.microsoft.com/office/drawing/2014/main" id="{F83BA5B1-11A2-6E23-5888-A87BCBACF11C}"/>
              </a:ext>
            </a:extLst>
          </p:cNvPr>
          <p:cNvCxnSpPr>
            <a:cxnSpLocks/>
            <a:stCxn id="10" idx="1"/>
          </p:cNvCxnSpPr>
          <p:nvPr/>
        </p:nvCxnSpPr>
        <p:spPr>
          <a:xfrm flipH="1" flipV="1">
            <a:off x="5081545" y="3034908"/>
            <a:ext cx="3635480" cy="687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47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A29B-6EF6-4E8F-8C74-653BBBB33BB1}"/>
              </a:ext>
            </a:extLst>
          </p:cNvPr>
          <p:cNvSpPr>
            <a:spLocks noGrp="1"/>
          </p:cNvSpPr>
          <p:nvPr>
            <p:ph type="title"/>
          </p:nvPr>
        </p:nvSpPr>
        <p:spPr>
          <a:xfrm>
            <a:off x="235085" y="170571"/>
            <a:ext cx="10515600" cy="743091"/>
          </a:xfrm>
        </p:spPr>
        <p:txBody>
          <a:bodyPr>
            <a:normAutofit/>
          </a:bodyPr>
          <a:lstStyle/>
          <a:p>
            <a:r>
              <a:rPr lang="en-US" sz="3600" dirty="0">
                <a:latin typeface="Arial" panose="020B0604020202020204" pitchFamily="34" charset="0"/>
                <a:cs typeface="Arial" panose="020B0604020202020204" pitchFamily="34" charset="0"/>
              </a:rPr>
              <a:t>The correction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AAAD516-262B-63D8-BCD8-7819FFFE3158}"/>
                  </a:ext>
                </a:extLst>
              </p:cNvPr>
              <p:cNvSpPr>
                <a:spLocks noGrp="1"/>
              </p:cNvSpPr>
              <p:nvPr>
                <p:ph idx="1"/>
              </p:nvPr>
            </p:nvSpPr>
            <p:spPr>
              <a:xfrm>
                <a:off x="370703" y="899388"/>
                <a:ext cx="10515600" cy="4351338"/>
              </a:xfrm>
            </p:spPr>
            <p:txBody>
              <a:bodyPr/>
              <a:lstStyle/>
              <a:p>
                <a:pPr lvl="1"/>
                <a:r>
                  <a:rPr lang="en-US" sz="2000" dirty="0"/>
                  <a:t>Then the model is: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r>
                  <a:rPr lang="en-US" sz="2000" dirty="0">
                    <a:solidFill>
                      <a:srgbClr val="000000"/>
                    </a:solidFill>
                  </a:rPr>
                  <a:t> </a:t>
                </a:r>
                <a14:m>
                  <m:oMath xmlns:m="http://schemas.openxmlformats.org/officeDocument/2006/math">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m:t>
                    </m:r>
                    <m:r>
                      <a:rPr lang="en-US" sz="2000" b="0" i="1" baseline="-25000" smtClean="0">
                        <a:solidFill>
                          <a:srgbClr val="000000"/>
                        </a:solidFill>
                        <a:latin typeface="Cambria Math" panose="02040503050406030204" pitchFamily="18" charset="0"/>
                      </a:rPr>
                      <m:t> </m:t>
                    </m:r>
                  </m:oMath>
                </a14:m>
                <a:r>
                  <a:rPr lang="en-US" sz="2000" dirty="0"/>
                  <a:t>  which splits into:</a:t>
                </a:r>
                <a:endParaRPr lang="en-US" sz="2000" u="sng" baseline="-25000" dirty="0"/>
              </a:p>
              <a:p>
                <a:pPr marL="0" indent="0" algn="ctr">
                  <a:buNone/>
                </a:pPr>
                <a:r>
                  <a:rPr lang="en-US" sz="2000" dirty="0"/>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d>
                      <m:dPr>
                        <m:begChr m:val="|"/>
                        <m:endChr m:val="|"/>
                        <m:ctrlPr>
                          <a:rPr lang="en-US" sz="2000" b="0" i="1" smtClean="0">
                            <a:solidFill>
                              <a:srgbClr val="000000"/>
                            </a:solidFill>
                            <a:latin typeface="Cambria Math" panose="02040503050406030204" pitchFamily="18" charset="0"/>
                          </a:rPr>
                        </m:ctrlPr>
                      </m:dPr>
                      <m:e>
                        <m:r>
                          <m:rPr>
                            <m:nor/>
                          </m:rPr>
                          <a:rPr lang="en-US" sz="2000" b="0" i="0" smtClean="0">
                            <a:solidFill>
                              <a:srgbClr val="000000"/>
                            </a:solidFill>
                            <a:latin typeface="Cambria Math" panose="02040503050406030204" pitchFamily="18" charset="0"/>
                          </a:rPr>
                          <m:t>(</m:t>
                        </m:r>
                        <m:r>
                          <m:rPr>
                            <m:nor/>
                          </m:rPr>
                          <a:rPr lang="en-US" sz="2000" dirty="0" smtClean="0"/>
                          <m:t>x</m:t>
                        </m:r>
                        <m:r>
                          <m:rPr>
                            <m:nor/>
                          </m:rPr>
                          <a:rPr lang="en-US" sz="2000" b="0" i="0" baseline="-25000" dirty="0" smtClean="0"/>
                          <m:t>2</m:t>
                        </m:r>
                        <m:r>
                          <m:rPr>
                            <m:nor/>
                          </m:rPr>
                          <a:rPr lang="en-US" sz="2000" b="0" i="0" dirty="0" smtClean="0"/>
                          <m:t>=</m:t>
                        </m:r>
                        <m:r>
                          <m:rPr>
                            <m:nor/>
                          </m:rPr>
                          <a:rPr lang="en-US" sz="2000" b="0" i="0" dirty="0" smtClean="0"/>
                          <m:t>0</m:t>
                        </m:r>
                        <m:r>
                          <m:rPr>
                            <m:nor/>
                          </m:rPr>
                          <a:rPr lang="en-US" sz="2000" b="0" i="0" dirty="0" smtClean="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m:t>
                        </m:r>
                        <m:r>
                          <a:rPr lang="en-US" sz="2000" b="0" i="1" baseline="-25000" smtClean="0">
                            <a:solidFill>
                              <a:srgbClr val="000000"/>
                            </a:solidFill>
                            <a:latin typeface="Cambria Math" panose="02040503050406030204" pitchFamily="18" charset="0"/>
                          </a:rPr>
                          <m:t>                              </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e>
                    </m:d>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m:t>
                    </m:r>
                    <m:r>
                      <m:rPr>
                        <m:nor/>
                      </m:rPr>
                      <a:rPr lang="en-US" sz="2000" b="0" i="0" dirty="0" smtClean="0"/>
                      <m:t>1</m:t>
                    </m:r>
                    <m:r>
                      <m:rPr>
                        <m:nor/>
                      </m:rPr>
                      <a:rPr lang="en-US" sz="2000" dirty="0"/>
                      <m:t>)</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smtClean="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endParaRPr lang="en-US" dirty="0"/>
              </a:p>
            </p:txBody>
          </p:sp>
        </mc:Choice>
        <mc:Fallback>
          <p:sp>
            <p:nvSpPr>
              <p:cNvPr id="3" name="Content Placeholder 2">
                <a:extLst>
                  <a:ext uri="{FF2B5EF4-FFF2-40B4-BE49-F238E27FC236}">
                    <a16:creationId xmlns:a16="http://schemas.microsoft.com/office/drawing/2014/main" id="{FAAAD516-262B-63D8-BCD8-7819FFFE3158}"/>
                  </a:ext>
                </a:extLst>
              </p:cNvPr>
              <p:cNvSpPr>
                <a:spLocks noGrp="1" noRot="1" noChangeAspect="1" noMove="1" noResize="1" noEditPoints="1" noAdjustHandles="1" noChangeArrowheads="1" noChangeShapeType="1" noTextEdit="1"/>
              </p:cNvSpPr>
              <p:nvPr>
                <p:ph idx="1"/>
              </p:nvPr>
            </p:nvSpPr>
            <p:spPr>
              <a:xfrm>
                <a:off x="370703" y="899388"/>
                <a:ext cx="10515600" cy="4351338"/>
              </a:xfrm>
              <a:blipFill>
                <a:blip r:embed="rId2"/>
                <a:stretch>
                  <a:fillRect t="-112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637ECD-E1C9-BCEB-3EC5-D0FC69E38910}"/>
              </a:ext>
            </a:extLst>
          </p:cNvPr>
          <p:cNvSpPr txBox="1"/>
          <p:nvPr/>
        </p:nvSpPr>
        <p:spPr>
          <a:xfrm>
            <a:off x="2596212" y="2148820"/>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5" name="TextBox 4">
            <a:extLst>
              <a:ext uri="{FF2B5EF4-FFF2-40B4-BE49-F238E27FC236}">
                <a16:creationId xmlns:a16="http://schemas.microsoft.com/office/drawing/2014/main" id="{8D10736A-7493-8B79-D392-9B4BCC9F42C4}"/>
              </a:ext>
            </a:extLst>
          </p:cNvPr>
          <p:cNvSpPr txBox="1"/>
          <p:nvPr/>
        </p:nvSpPr>
        <p:spPr>
          <a:xfrm>
            <a:off x="2596212" y="3825431"/>
            <a:ext cx="782259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1</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2.6*(1)</a:t>
            </a:r>
          </a:p>
        </p:txBody>
      </p:sp>
      <p:sp>
        <p:nvSpPr>
          <p:cNvPr id="6" name="TextBox 5">
            <a:extLst>
              <a:ext uri="{FF2B5EF4-FFF2-40B4-BE49-F238E27FC236}">
                <a16:creationId xmlns:a16="http://schemas.microsoft.com/office/drawing/2014/main" id="{49E2B6A2-B3C1-CFC9-2B55-72357EBDB46C}"/>
              </a:ext>
            </a:extLst>
          </p:cNvPr>
          <p:cNvSpPr txBox="1"/>
          <p:nvPr/>
        </p:nvSpPr>
        <p:spPr>
          <a:xfrm>
            <a:off x="2596212" y="2961288"/>
            <a:ext cx="648806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0</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endPar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0670F2E9-77CF-33E5-825D-0A29B33473BA}"/>
              </a:ext>
            </a:extLst>
          </p:cNvPr>
          <p:cNvCxnSpPr/>
          <p:nvPr/>
        </p:nvCxnSpPr>
        <p:spPr>
          <a:xfrm>
            <a:off x="4759411" y="1594541"/>
            <a:ext cx="869092" cy="160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8105EE6-0C71-E119-DF7D-7968B53C9360}"/>
              </a:ext>
            </a:extLst>
          </p:cNvPr>
          <p:cNvCxnSpPr>
            <a:cxnSpLocks/>
          </p:cNvCxnSpPr>
          <p:nvPr/>
        </p:nvCxnSpPr>
        <p:spPr>
          <a:xfrm flipH="1">
            <a:off x="6254579" y="1755179"/>
            <a:ext cx="1062681" cy="228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370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11833" y="866682"/>
                <a:ext cx="10515600" cy="5043365"/>
              </a:xfrm>
            </p:spPr>
            <p:txBody>
              <a:bodyPr>
                <a:normAutofit fontScale="92500" lnSpcReduction="10000"/>
              </a:bodyPr>
              <a:lstStyle/>
              <a:p>
                <a:pPr>
                  <a:lnSpc>
                    <a:spcPct val="120000"/>
                  </a:lnSpc>
                </a:pPr>
                <a:r>
                  <a:rPr lang="en-US" sz="2200" b="1" dirty="0">
                    <a:latin typeface="Arial" panose="020B0604020202020204" pitchFamily="34" charset="0"/>
                    <a:cs typeface="Arial" panose="020B0604020202020204" pitchFamily="34" charset="0"/>
                  </a:rPr>
                  <a:t>Problem</a:t>
                </a:r>
                <a:r>
                  <a:rPr lang="en-US" sz="2200" dirty="0">
                    <a:latin typeface="Arial" panose="020B0604020202020204" pitchFamily="34" charset="0"/>
                    <a:cs typeface="Arial" panose="020B0604020202020204" pitchFamily="34" charset="0"/>
                  </a:rPr>
                  <a:t>: What if, before running our multiple linear regression we look at paired scatter plots and observe that the relationship between independent and response is not simply a straight line? </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endParaRPr lang="en-US" sz="2000" u="sng" dirty="0">
                  <a:latin typeface="Arial" panose="020B0604020202020204" pitchFamily="34" charset="0"/>
                  <a:cs typeface="Arial" panose="020B0604020202020204" pitchFamily="34" charset="0"/>
                </a:endParaRPr>
              </a:p>
              <a:p>
                <a:endParaRPr lang="en-US" sz="2000" u="sng" dirty="0">
                  <a:latin typeface="Arial" panose="020B0604020202020204" pitchFamily="34" charset="0"/>
                  <a:cs typeface="Arial" panose="020B0604020202020204" pitchFamily="34" charset="0"/>
                </a:endParaRPr>
              </a:p>
              <a:p>
                <a:r>
                  <a:rPr lang="en-US" sz="2200" u="sng" dirty="0">
                    <a:latin typeface="Arial" panose="020B0604020202020204" pitchFamily="34" charset="0"/>
                    <a:cs typeface="Arial" panose="020B0604020202020204" pitchFamily="34" charset="0"/>
                  </a:rPr>
                  <a:t>One Solution</a:t>
                </a:r>
                <a:r>
                  <a:rPr lang="en-US" sz="2200" dirty="0">
                    <a:latin typeface="Arial" panose="020B0604020202020204" pitchFamily="34" charset="0"/>
                    <a:cs typeface="Arial" panose="020B0604020202020204" pitchFamily="34" charset="0"/>
                  </a:rPr>
                  <a:t>: Use X</a:t>
                </a:r>
                <a:r>
                  <a:rPr lang="en-US" sz="2200" baseline="300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to model a curvilinear relationship:</a:t>
                </a:r>
              </a:p>
              <a:p>
                <a:pPr marL="0" indent="0" algn="ctr">
                  <a:buNone/>
                </a:pP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m:t>
                    </m:r>
                    <m:r>
                      <a:rPr lang="en-US" sz="2000" i="1">
                        <a:solidFill>
                          <a:srgbClr val="000000"/>
                        </a:solidFill>
                        <a:latin typeface="Cambria Math"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m:t>
                    </m:r>
                  </m:oMath>
                </a14:m>
                <a:r>
                  <a:rPr lang="en-US" sz="2000" baseline="30000" dirty="0">
                    <a:latin typeface="Arial" panose="020B0604020202020204" pitchFamily="34" charset="0"/>
                    <a:cs typeface="Arial" panose="020B0604020202020204" pitchFamily="34" charset="0"/>
                  </a:rPr>
                  <a:t>2</a:t>
                </a:r>
                <a:endParaRPr lang="en-US" sz="20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x</a:t>
                </a:r>
                <a:r>
                  <a:rPr lang="en-US" sz="2200" baseline="-25000" dirty="0">
                    <a:latin typeface="Arial" panose="020B0604020202020204" pitchFamily="34" charset="0"/>
                    <a:cs typeface="Arial" panose="020B0604020202020204" pitchFamily="34" charset="0"/>
                  </a:rPr>
                  <a:t>1</a:t>
                </a:r>
                <a:r>
                  <a:rPr lang="en-US" sz="2200" baseline="300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is treated as another predictor, data is generated by simply squaring the features value for each observation!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11833" y="866682"/>
                <a:ext cx="10515600" cy="5043365"/>
              </a:xfrm>
              <a:blipFill>
                <a:blip r:embed="rId2"/>
                <a:stretch>
                  <a:fillRect l="-522" t="-484" r="-1159" b="-726"/>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3DAE0A1B-7F66-B04B-BCB4-0B0FC588ACE4}"/>
              </a:ext>
            </a:extLst>
          </p:cNvPr>
          <p:cNvSpPr>
            <a:spLocks noGrp="1"/>
          </p:cNvSpPr>
          <p:nvPr>
            <p:ph type="title"/>
          </p:nvPr>
        </p:nvSpPr>
        <p:spPr>
          <a:xfrm>
            <a:off x="118353" y="136525"/>
            <a:ext cx="10515600" cy="730157"/>
          </a:xfrm>
        </p:spPr>
        <p:txBody>
          <a:bodyPr>
            <a:normAutofit/>
          </a:bodyPr>
          <a:lstStyle/>
          <a:p>
            <a:r>
              <a:rPr lang="en-US" sz="3600" dirty="0">
                <a:latin typeface="Arial" panose="020B0604020202020204" pitchFamily="34" charset="0"/>
                <a:cs typeface="Arial" panose="020B0604020202020204" pitchFamily="34" charset="0"/>
              </a:rPr>
              <a:t>Quadratic Terms </a:t>
            </a:r>
          </a:p>
        </p:txBody>
      </p:sp>
      <p:pic>
        <p:nvPicPr>
          <p:cNvPr id="1028"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A1F7BF75-D1A8-B840-B5E5-C89E3A9B4F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2381904" y="1817778"/>
            <a:ext cx="2698750" cy="21971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7766C78D-50AF-BA48-9CB2-681B608310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606"/>
          <a:stretch/>
        </p:blipFill>
        <p:spPr bwMode="auto">
          <a:xfrm>
            <a:off x="7499179" y="1817778"/>
            <a:ext cx="2827959" cy="21971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CE61205-83E4-0D46-918E-9902ECD11A96}"/>
              </a:ext>
            </a:extLst>
          </p:cNvPr>
          <p:cNvSpPr txBox="1"/>
          <p:nvPr/>
        </p:nvSpPr>
        <p:spPr>
          <a:xfrm>
            <a:off x="483534" y="2198096"/>
            <a:ext cx="2188865"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(Barely) Linear Scatterplot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Rel.</a:t>
            </a:r>
          </a:p>
        </p:txBody>
      </p:sp>
      <p:sp>
        <p:nvSpPr>
          <p:cNvPr id="14" name="TextBox 13">
            <a:extLst>
              <a:ext uri="{FF2B5EF4-FFF2-40B4-BE49-F238E27FC236}">
                <a16:creationId xmlns:a16="http://schemas.microsoft.com/office/drawing/2014/main" id="{EC3F2BD5-26BF-4E4B-9AD6-96BAC3A9227D}"/>
              </a:ext>
            </a:extLst>
          </p:cNvPr>
          <p:cNvSpPr txBox="1"/>
          <p:nvPr/>
        </p:nvSpPr>
        <p:spPr>
          <a:xfrm>
            <a:off x="5534908" y="2188036"/>
            <a:ext cx="2126248"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Nonlinear Scatterplot Rel.</a:t>
            </a:r>
          </a:p>
        </p:txBody>
      </p:sp>
    </p:spTree>
    <p:extLst>
      <p:ext uri="{BB962C8B-B14F-4D97-AF65-F5344CB8AC3E}">
        <p14:creationId xmlns:p14="http://schemas.microsoft.com/office/powerpoint/2010/main" val="1057209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92" y="220778"/>
            <a:ext cx="10515600" cy="697064"/>
          </a:xfrm>
        </p:spPr>
        <p:txBody>
          <a:bodyPr>
            <a:normAutofit/>
          </a:bodyPr>
          <a:lstStyle/>
          <a:p>
            <a:r>
              <a:rPr lang="en-US" sz="3600" dirty="0">
                <a:latin typeface="Arial" panose="020B0604020202020204" pitchFamily="34" charset="0"/>
                <a:cs typeface="Arial" panose="020B0604020202020204" pitchFamily="34" charset="0"/>
              </a:rPr>
              <a:t>Quadratic Terms </a:t>
            </a:r>
          </a:p>
        </p:txBody>
      </p:sp>
      <p:sp>
        <p:nvSpPr>
          <p:cNvPr id="3" name="Content Placeholder 2"/>
          <p:cNvSpPr>
            <a:spLocks noGrp="1"/>
          </p:cNvSpPr>
          <p:nvPr>
            <p:ph idx="1"/>
          </p:nvPr>
        </p:nvSpPr>
        <p:spPr>
          <a:xfrm>
            <a:off x="312906" y="846083"/>
            <a:ext cx="10515600" cy="4461777"/>
          </a:xfrm>
        </p:spPr>
        <p:txBody>
          <a:bodyPr>
            <a:normAutofit/>
          </a:bodyPr>
          <a:lstStyle/>
          <a:p>
            <a:r>
              <a:rPr lang="en-US" sz="2000" dirty="0">
                <a:latin typeface="Arial" panose="020B0604020202020204" pitchFamily="34" charset="0"/>
                <a:cs typeface="Arial" panose="020B0604020202020204" pitchFamily="34" charset="0"/>
              </a:rPr>
              <a:t>A quadratic term is an interaction of a variable with itself, sometimes we suspect these relationships even without seeing the scatter plot.</a:t>
            </a:r>
          </a:p>
          <a:p>
            <a:pPr lvl="1"/>
            <a:r>
              <a:rPr lang="en-US" sz="2000" u="sng"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Modeling the effect of increasing the distance from Pitt on sat score might also be dependent on the current distance from Pitt, thus requiring a quadratic term</a:t>
            </a:r>
          </a:p>
          <a:p>
            <a:pPr lvl="1"/>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Warning</a:t>
            </a:r>
            <a:r>
              <a:rPr lang="en-US" sz="2000" dirty="0">
                <a:latin typeface="Arial" panose="020B0604020202020204" pitchFamily="34" charset="0"/>
                <a:cs typeface="Arial" panose="020B0604020202020204" pitchFamily="34" charset="0"/>
              </a:rPr>
              <a:t>: Adding quadratic terms increases the number of variables in your model like anything else, and thus hurts the models R</a:t>
            </a:r>
            <a:r>
              <a:rPr lang="en-US" sz="2000" baseline="300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unless this relationship is strongly present</a:t>
            </a:r>
          </a:p>
          <a:p>
            <a:pPr lvl="1"/>
            <a:r>
              <a:rPr lang="en-US" sz="2000" dirty="0">
                <a:latin typeface="Arial" panose="020B0604020202020204" pitchFamily="34" charset="0"/>
                <a:cs typeface="Arial" panose="020B0604020202020204" pitchFamily="34" charset="0"/>
              </a:rPr>
              <a:t>It’s also an easy way to overfit your data, can lead to bizarre predictions!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1563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574" y="117069"/>
            <a:ext cx="10515600" cy="721573"/>
          </a:xfrm>
        </p:spPr>
        <p:txBody>
          <a:bodyPr>
            <a:normAutofit/>
          </a:bodyPr>
          <a:lstStyle/>
          <a:p>
            <a:r>
              <a:rPr lang="en-US" sz="3600" dirty="0">
                <a:latin typeface="Arial" panose="020B0604020202020204" pitchFamily="34" charset="0"/>
                <a:cs typeface="Arial" panose="020B0604020202020204" pitchFamily="34" charset="0"/>
              </a:rPr>
              <a:t>Interaction Terms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03179" y="836180"/>
                <a:ext cx="10515600" cy="5152582"/>
              </a:xfrm>
            </p:spPr>
            <p:txBody>
              <a:bodyPr>
                <a:normAutofit/>
              </a:bodyPr>
              <a:lstStyle/>
              <a:p>
                <a:pPr>
                  <a:lnSpc>
                    <a:spcPct val="100000"/>
                  </a:lnSpc>
                </a:pPr>
                <a:r>
                  <a:rPr lang="en-US" sz="2000" dirty="0">
                    <a:latin typeface="Arial" panose="020B0604020202020204" pitchFamily="34" charset="0"/>
                    <a:cs typeface="Arial" panose="020B0604020202020204" pitchFamily="34" charset="0"/>
                  </a:rPr>
                  <a:t>More generally than just quadratic terms, sometimes the the effect of one variable depends on the value of another variable</a:t>
                </a:r>
              </a:p>
              <a:p>
                <a:pPr lvl="1">
                  <a:lnSpc>
                    <a:spcPct val="100000"/>
                  </a:lnSpc>
                </a:pPr>
                <a:r>
                  <a:rPr lang="en-US" sz="1800" dirty="0">
                    <a:latin typeface="Arial" panose="020B0604020202020204" pitchFamily="34" charset="0"/>
                    <a:cs typeface="Arial" panose="020B0604020202020204" pitchFamily="34" charset="0"/>
                  </a:rPr>
                  <a:t>Can include interactions of 2 or more variables</a:t>
                </a:r>
              </a:p>
              <a:p>
                <a:pPr lvl="1">
                  <a:lnSpc>
                    <a:spcPct val="100000"/>
                  </a:lnSpc>
                </a:pPr>
                <a:r>
                  <a:rPr lang="en-US" sz="1800" dirty="0">
                    <a:latin typeface="Arial" panose="020B0604020202020204" pitchFamily="34" charset="0"/>
                    <a:cs typeface="Arial" panose="020B0604020202020204" pitchFamily="34" charset="0"/>
                  </a:rPr>
                  <a:t>Usually one continuous and one categorical variable (but not always)</a:t>
                </a:r>
              </a:p>
              <a:p>
                <a:pPr lvl="1">
                  <a:lnSpc>
                    <a:spcPct val="100000"/>
                  </a:lnSpc>
                </a:pPr>
                <a:r>
                  <a:rPr lang="en-US" sz="1800" dirty="0">
                    <a:solidFill>
                      <a:srgbClr val="000000"/>
                    </a:solidFill>
                    <a:latin typeface="Arial" panose="020B0604020202020204" pitchFamily="34" charset="0"/>
                    <a:cs typeface="Arial" panose="020B0604020202020204" pitchFamily="34" charset="0"/>
                  </a:rPr>
                  <a:t>Model is of the form: </a:t>
                </a:r>
                <a14:m>
                  <m:oMath xmlns:m="http://schemas.openxmlformats.org/officeDocument/2006/math">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𝑦</m:t>
                        </m:r>
                      </m:e>
                    </m:acc>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0</m:t>
                        </m:r>
                      </m:sub>
                    </m:sSub>
                    <m:r>
                      <a:rPr lang="en-US" sz="1800" i="1">
                        <a:solidFill>
                          <a:srgbClr val="000000"/>
                        </a:solidFill>
                        <a:latin typeface="Cambria Math" panose="02040503050406030204" pitchFamily="18"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panose="02040503050406030204" pitchFamily="18" charset="0"/>
                          </a:rPr>
                          <m:t>1</m:t>
                        </m:r>
                      </m:sub>
                    </m:sSub>
                    <m:r>
                      <a:rPr lang="en-US" sz="1800" i="1">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1</m:t>
                    </m:r>
                    <m:r>
                      <a:rPr lang="en-US" sz="1800" i="1">
                        <a:solidFill>
                          <a:srgbClr val="000000"/>
                        </a:solidFill>
                        <a:latin typeface="Cambria Math"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2</m:t>
                        </m:r>
                      </m:sub>
                    </m:sSub>
                    <m:r>
                      <a:rPr lang="en-US" sz="1800" b="0" i="1" smtClean="0">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2</m:t>
                    </m:r>
                    <m:r>
                      <a:rPr lang="en-US" sz="1800" i="1">
                        <a:solidFill>
                          <a:srgbClr val="000000"/>
                        </a:solidFill>
                        <a:latin typeface="Cambria Math" charset="0"/>
                      </a:rPr>
                      <m:t>+</m:t>
                    </m:r>
                    <m:sSub>
                      <m:sSubPr>
                        <m:ctrlPr>
                          <a:rPr lang="en-US" sz="1800" i="1">
                            <a:solidFill>
                              <a:srgbClr val="000000"/>
                            </a:solidFill>
                            <a:latin typeface="Cambria Math" panose="02040503050406030204" pitchFamily="18" charset="0"/>
                          </a:rPr>
                        </m:ctrlPr>
                      </m:sSubPr>
                      <m:e>
                        <m:acc>
                          <m:accPr>
                            <m:chr m:val="̂"/>
                            <m:ctrlPr>
                              <a:rPr lang="en-US" sz="1800" i="1">
                                <a:solidFill>
                                  <a:srgbClr val="000000"/>
                                </a:solidFill>
                                <a:latin typeface="Cambria Math" panose="02040503050406030204" pitchFamily="18" charset="0"/>
                              </a:rPr>
                            </m:ctrlPr>
                          </m:accPr>
                          <m:e>
                            <m:r>
                              <a:rPr lang="en-US" sz="1800" i="1">
                                <a:solidFill>
                                  <a:srgbClr val="000000"/>
                                </a:solidFill>
                                <a:latin typeface="Cambria Math" panose="02040503050406030204" pitchFamily="18" charset="0"/>
                              </a:rPr>
                              <m:t>𝛽</m:t>
                            </m:r>
                          </m:e>
                        </m:acc>
                      </m:e>
                      <m:sub>
                        <m:r>
                          <a:rPr lang="en-US" sz="1800" i="1">
                            <a:solidFill>
                              <a:srgbClr val="000000"/>
                            </a:solidFill>
                            <a:latin typeface="Cambria Math" charset="0"/>
                          </a:rPr>
                          <m:t>3</m:t>
                        </m:r>
                      </m:sub>
                    </m:sSub>
                    <m:r>
                      <a:rPr lang="en-US" sz="1800" i="1">
                        <a:solidFill>
                          <a:srgbClr val="000000"/>
                        </a:solidFill>
                        <a:latin typeface="Cambria Math" charset="0"/>
                      </a:rPr>
                      <m:t>𝑥</m:t>
                    </m:r>
                    <m:r>
                      <a:rPr lang="en-US" sz="1800" b="0" i="1" baseline="-25000" smtClean="0">
                        <a:solidFill>
                          <a:srgbClr val="000000"/>
                        </a:solidFill>
                        <a:latin typeface="Cambria Math" panose="02040503050406030204" pitchFamily="18" charset="0"/>
                      </a:rPr>
                      <m:t>1</m:t>
                    </m:r>
                    <m:r>
                      <a:rPr lang="en-US" sz="1800" b="0" i="1" smtClean="0">
                        <a:solidFill>
                          <a:srgbClr val="000000"/>
                        </a:solidFill>
                        <a:latin typeface="Cambria Math" panose="02040503050406030204" pitchFamily="18" charset="0"/>
                      </a:rPr>
                      <m:t>𝑥</m:t>
                    </m:r>
                    <m:r>
                      <a:rPr lang="en-US" sz="1800" b="0" i="1" baseline="-25000" smtClean="0">
                        <a:solidFill>
                          <a:srgbClr val="000000"/>
                        </a:solidFill>
                        <a:latin typeface="Cambria Math" panose="02040503050406030204" pitchFamily="18" charset="0"/>
                      </a:rPr>
                      <m:t>2</m:t>
                    </m:r>
                  </m:oMath>
                </a14:m>
                <a:endParaRPr lang="en-US" sz="18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Note these sorts of interactions are </a:t>
                </a:r>
                <a:r>
                  <a:rPr lang="en-US" sz="2000" i="1" dirty="0">
                    <a:latin typeface="Arial" panose="020B0604020202020204" pitchFamily="34" charset="0"/>
                    <a:cs typeface="Arial" panose="020B0604020202020204" pitchFamily="34" charset="0"/>
                  </a:rPr>
                  <a:t>hard to pick up from scatterplots</a:t>
                </a:r>
                <a:r>
                  <a:rPr lang="en-US" sz="2000" dirty="0">
                    <a:latin typeface="Arial" panose="020B0604020202020204" pitchFamily="34" charset="0"/>
                    <a:cs typeface="Arial" panose="020B0604020202020204" pitchFamily="34" charset="0"/>
                  </a:rPr>
                  <a:t>. In this class, they will come most often from data specific knowledge</a:t>
                </a:r>
              </a:p>
              <a:p>
                <a:pPr>
                  <a:lnSpc>
                    <a:spcPct val="100000"/>
                  </a:lnSpc>
                </a:pPr>
                <a:r>
                  <a:rPr lang="en-US" sz="2000" dirty="0">
                    <a:latin typeface="Arial" panose="020B0604020202020204" pitchFamily="34" charset="0"/>
                    <a:cs typeface="Arial" panose="020B0604020202020204" pitchFamily="34" charset="0"/>
                  </a:rPr>
                  <a:t>Natural Interpretation when interactions include categorical variables!</a:t>
                </a:r>
              </a:p>
              <a:p>
                <a:pPr lvl="1">
                  <a:lnSpc>
                    <a:spcPct val="100000"/>
                  </a:lnSpc>
                </a:pPr>
                <a:r>
                  <a:rPr lang="en-US" sz="1800" dirty="0">
                    <a:latin typeface="Arial" panose="020B0604020202020204" pitchFamily="34" charset="0"/>
                    <a:cs typeface="Arial" panose="020B0604020202020204" pitchFamily="34" charset="0"/>
                  </a:rPr>
                  <a:t>Variables of the form x</a:t>
                </a:r>
                <a:r>
                  <a:rPr lang="en-US" sz="1800" baseline="-25000" dirty="0">
                    <a:latin typeface="Arial" panose="020B0604020202020204" pitchFamily="34" charset="0"/>
                    <a:cs typeface="Arial" panose="020B0604020202020204" pitchFamily="34" charset="0"/>
                  </a:rPr>
                  <a:t>1</a:t>
                </a:r>
                <a:r>
                  <a:rPr lang="en-US" sz="1800" dirty="0">
                    <a:latin typeface="Arial" panose="020B0604020202020204" pitchFamily="34" charset="0"/>
                    <a:cs typeface="Arial" panose="020B0604020202020204" pitchFamily="34" charset="0"/>
                  </a:rPr>
                  <a:t>x</a:t>
                </a:r>
                <a:r>
                  <a:rPr lang="en-US" sz="1800" baseline="-25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where x</a:t>
                </a:r>
                <a:r>
                  <a:rPr lang="en-US" sz="1800" baseline="-25000" dirty="0">
                    <a:latin typeface="Arial" panose="020B0604020202020204" pitchFamily="34" charset="0"/>
                    <a:cs typeface="Arial" panose="020B0604020202020204" pitchFamily="34" charset="0"/>
                  </a:rPr>
                  <a:t>1</a:t>
                </a:r>
                <a:r>
                  <a:rPr lang="en-US" sz="1800" dirty="0">
                    <a:latin typeface="Arial" panose="020B0604020202020204" pitchFamily="34" charset="0"/>
                    <a:cs typeface="Arial" panose="020B0604020202020204" pitchFamily="34" charset="0"/>
                  </a:rPr>
                  <a:t> is binary and x</a:t>
                </a:r>
                <a:r>
                  <a:rPr lang="en-US" sz="1800" baseline="-25000" dirty="0">
                    <a:latin typeface="Arial" panose="020B0604020202020204" pitchFamily="34" charset="0"/>
                    <a:cs typeface="Arial" panose="020B0604020202020204" pitchFamily="34" charset="0"/>
                  </a:rPr>
                  <a:t>2</a:t>
                </a:r>
                <a:r>
                  <a:rPr lang="en-US" sz="1800" dirty="0">
                    <a:latin typeface="Arial" panose="020B0604020202020204" pitchFamily="34" charset="0"/>
                    <a:cs typeface="Arial" panose="020B0604020202020204" pitchFamily="34" charset="0"/>
                  </a:rPr>
                  <a:t> is numeric, model </a:t>
                </a:r>
                <a:r>
                  <a:rPr lang="en-US" sz="1800" u="sng" dirty="0">
                    <a:latin typeface="Arial" panose="020B0604020202020204" pitchFamily="34" charset="0"/>
                    <a:cs typeface="Arial" panose="020B0604020202020204" pitchFamily="34" charset="0"/>
                  </a:rPr>
                  <a:t>linear corrections</a:t>
                </a:r>
                <a:r>
                  <a:rPr lang="en-US" sz="1800" dirty="0">
                    <a:latin typeface="Arial" panose="020B0604020202020204" pitchFamily="34" charset="0"/>
                    <a:cs typeface="Arial" panose="020B0604020202020204" pitchFamily="34" charset="0"/>
                  </a:rPr>
                  <a:t> as opposed to additive corrections. That is they are corrections to the slope of the coefficient on the numeric variable.</a:t>
                </a:r>
              </a:p>
              <a:p>
                <a:pPr lvl="1">
                  <a:lnSpc>
                    <a:spcPct val="100000"/>
                  </a:lnSpc>
                </a:pPr>
                <a:r>
                  <a:rPr lang="en-US" sz="1800" u="sng" dirty="0">
                    <a:latin typeface="Arial" panose="020B0604020202020204" pitchFamily="34" charset="0"/>
                    <a:cs typeface="Arial" panose="020B0604020202020204" pitchFamily="34" charset="0"/>
                  </a:rPr>
                  <a:t>Example</a:t>
                </a:r>
                <a:r>
                  <a:rPr lang="en-US" sz="1800" dirty="0">
                    <a:latin typeface="Arial" panose="020B0604020202020204" pitchFamily="34" charset="0"/>
                    <a:cs typeface="Arial" panose="020B0604020202020204" pitchFamily="34" charset="0"/>
                  </a:rPr>
                  <a:t>: in the school data, the relationship between GRE score and GPA may depend in a </a:t>
                </a:r>
                <a:r>
                  <a:rPr lang="en-US" sz="1800" i="1" dirty="0">
                    <a:latin typeface="Arial" panose="020B0604020202020204" pitchFamily="34" charset="0"/>
                    <a:cs typeface="Arial" panose="020B0604020202020204" pitchFamily="34" charset="0"/>
                  </a:rPr>
                  <a:t>different linear </a:t>
                </a:r>
                <a:r>
                  <a:rPr lang="en-US" sz="1800" dirty="0">
                    <a:latin typeface="Arial" panose="020B0604020202020204" pitchFamily="34" charset="0"/>
                    <a:cs typeface="Arial" panose="020B0604020202020204" pitchFamily="34" charset="0"/>
                  </a:rPr>
                  <a:t>way conditional on the race and gender of the student</a:t>
                </a:r>
              </a:p>
              <a:p>
                <a:pPr lvl="1"/>
                <a:endParaRPr lang="en-US" sz="2000" dirty="0">
                  <a:latin typeface="Arial" panose="020B0604020202020204" pitchFamily="34" charset="0"/>
                  <a:cs typeface="Arial" panose="020B0604020202020204" pitchFamily="34"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03179" y="836180"/>
                <a:ext cx="10515600" cy="5152582"/>
              </a:xfrm>
              <a:blipFill>
                <a:blip r:embed="rId3"/>
                <a:stretch>
                  <a:fillRect l="-522" t="-47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7789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A780-44C1-8643-B62D-9D542D334E18}"/>
              </a:ext>
            </a:extLst>
          </p:cNvPr>
          <p:cNvSpPr>
            <a:spLocks noGrp="1"/>
          </p:cNvSpPr>
          <p:nvPr>
            <p:ph type="ctrTitle"/>
          </p:nvPr>
        </p:nvSpPr>
        <p:spPr/>
        <p:txBody>
          <a:bodyPr>
            <a:normAutofit/>
          </a:bodyPr>
          <a:lstStyle/>
          <a:p>
            <a:r>
              <a:rPr lang="en-US" sz="6000" dirty="0">
                <a:latin typeface="Arial" panose="020B0604020202020204" pitchFamily="34" charset="0"/>
                <a:cs typeface="Arial" panose="020B0604020202020204" pitchFamily="34" charset="0"/>
              </a:rPr>
              <a:t>Risk Ratios, Odds Ratios, and Logistic Regression</a:t>
            </a:r>
          </a:p>
        </p:txBody>
      </p:sp>
      <p:sp>
        <p:nvSpPr>
          <p:cNvPr id="3" name="Subtitle 2">
            <a:extLst>
              <a:ext uri="{FF2B5EF4-FFF2-40B4-BE49-F238E27FC236}">
                <a16:creationId xmlns:a16="http://schemas.microsoft.com/office/drawing/2014/main" id="{8FABEB3C-1EAC-6C42-A884-E4EC369001E2}"/>
              </a:ext>
            </a:extLst>
          </p:cNvPr>
          <p:cNvSpPr>
            <a:spLocks noGrp="1"/>
          </p:cNvSpPr>
          <p:nvPr>
            <p:ph type="subTitle" idx="1"/>
          </p:nvPr>
        </p:nvSpPr>
        <p:spPr/>
        <p:txBody>
          <a:bodyPr>
            <a:normAutofit/>
          </a:bodyPr>
          <a:lstStyle/>
          <a:p>
            <a:r>
              <a:rPr lang="en-US" sz="2000" dirty="0">
                <a:solidFill>
                  <a:schemeClr val="tx1">
                    <a:lumMod val="85000"/>
                    <a:lumOff val="15000"/>
                  </a:schemeClr>
                </a:solidFill>
              </a:rPr>
              <a:t>February 17, 2026</a:t>
            </a:r>
          </a:p>
        </p:txBody>
      </p:sp>
    </p:spTree>
    <p:extLst>
      <p:ext uri="{BB962C8B-B14F-4D97-AF65-F5344CB8AC3E}">
        <p14:creationId xmlns:p14="http://schemas.microsoft.com/office/powerpoint/2010/main" val="231338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C1F93-4E7E-1A43-9109-6E08EC260786}"/>
              </a:ext>
            </a:extLst>
          </p:cNvPr>
          <p:cNvSpPr>
            <a:spLocks noGrp="1"/>
          </p:cNvSpPr>
          <p:nvPr>
            <p:ph type="title"/>
          </p:nvPr>
        </p:nvSpPr>
        <p:spPr>
          <a:xfrm>
            <a:off x="124514" y="150416"/>
            <a:ext cx="10058400" cy="702305"/>
          </a:xfrm>
        </p:spPr>
        <p:txBody>
          <a:bodyPr>
            <a:normAutofit/>
          </a:bodyPr>
          <a:lstStyle/>
          <a:p>
            <a:r>
              <a:rPr lang="en-US" sz="3600" dirty="0">
                <a:latin typeface="Arial" panose="020B0604020202020204" pitchFamily="34" charset="0"/>
                <a:cs typeface="Arial" panose="020B0604020202020204" pitchFamily="34" charset="0"/>
              </a:rPr>
              <a:t>Measures of Risk</a:t>
            </a:r>
          </a:p>
        </p:txBody>
      </p:sp>
      <p:sp>
        <p:nvSpPr>
          <p:cNvPr id="3" name="Content Placeholder 2">
            <a:extLst>
              <a:ext uri="{FF2B5EF4-FFF2-40B4-BE49-F238E27FC236}">
                <a16:creationId xmlns:a16="http://schemas.microsoft.com/office/drawing/2014/main" id="{B9471D94-F189-4340-92BB-2867B98C324E}"/>
              </a:ext>
            </a:extLst>
          </p:cNvPr>
          <p:cNvSpPr>
            <a:spLocks noGrp="1"/>
          </p:cNvSpPr>
          <p:nvPr>
            <p:ph idx="1"/>
          </p:nvPr>
        </p:nvSpPr>
        <p:spPr>
          <a:xfrm>
            <a:off x="250974" y="840292"/>
            <a:ext cx="10058400" cy="3760891"/>
          </a:xfrm>
        </p:spPr>
        <p:txBody>
          <a:bodyPr>
            <a:normAutofit fontScale="92500" lnSpcReduction="20000"/>
          </a:bodyPr>
          <a:lstStyle/>
          <a:p>
            <a:r>
              <a:rPr lang="en-US" sz="2000" dirty="0">
                <a:latin typeface="Arial" panose="020B0604020202020204" pitchFamily="34" charset="0"/>
                <a:cs typeface="Arial" panose="020B0604020202020204" pitchFamily="34" charset="0"/>
              </a:rPr>
              <a:t>In social science we estimate all types of different things:</a:t>
            </a:r>
          </a:p>
          <a:p>
            <a:pPr lvl="1"/>
            <a:r>
              <a:rPr lang="en-US" sz="2000" dirty="0">
                <a:latin typeface="Arial" panose="020B0604020202020204" pitchFamily="34" charset="0"/>
                <a:cs typeface="Arial" panose="020B0604020202020204" pitchFamily="34" charset="0"/>
              </a:rPr>
              <a:t>The among of drug use in a population; by type and frequency</a:t>
            </a:r>
          </a:p>
          <a:p>
            <a:pPr lvl="1"/>
            <a:r>
              <a:rPr lang="en-US" sz="2000" dirty="0">
                <a:latin typeface="Arial" panose="020B0604020202020204" pitchFamily="34" charset="0"/>
                <a:cs typeface="Arial" panose="020B0604020202020204" pitchFamily="34" charset="0"/>
              </a:rPr>
              <a:t>The “risk” of developing a mental health problem or some other outcome following a violent victimization</a:t>
            </a:r>
          </a:p>
          <a:p>
            <a:pPr lvl="1"/>
            <a:r>
              <a:rPr lang="en-US" sz="2000" dirty="0">
                <a:latin typeface="Arial" panose="020B0604020202020204" pitchFamily="34" charset="0"/>
                <a:cs typeface="Arial" panose="020B0604020202020204" pitchFamily="34" charset="0"/>
              </a:rPr>
              <a:t>The risks and benefits of a proposed treatment </a:t>
            </a:r>
          </a:p>
          <a:p>
            <a:r>
              <a:rPr lang="en-US" sz="2000" dirty="0">
                <a:latin typeface="Arial" panose="020B0604020202020204" pitchFamily="34" charset="0"/>
                <a:cs typeface="Arial" panose="020B0604020202020204" pitchFamily="34" charset="0"/>
              </a:rPr>
              <a:t>This requires an understanding of:</a:t>
            </a:r>
          </a:p>
          <a:p>
            <a:pPr lvl="1"/>
            <a:r>
              <a:rPr lang="en-US" sz="2000" dirty="0">
                <a:latin typeface="Arial" panose="020B0604020202020204" pitchFamily="34" charset="0"/>
                <a:cs typeface="Arial" panose="020B0604020202020204" pitchFamily="34" charset="0"/>
              </a:rPr>
              <a:t>Measures of frequency</a:t>
            </a:r>
          </a:p>
          <a:p>
            <a:pPr lvl="1"/>
            <a:r>
              <a:rPr lang="en-US" sz="2000" dirty="0">
                <a:latin typeface="Arial" panose="020B0604020202020204" pitchFamily="34" charset="0"/>
                <a:cs typeface="Arial" panose="020B0604020202020204" pitchFamily="34" charset="0"/>
              </a:rPr>
              <a:t>Proportions and odds</a:t>
            </a:r>
          </a:p>
          <a:p>
            <a:pPr lvl="1"/>
            <a:r>
              <a:rPr lang="en-US" sz="2000" dirty="0">
                <a:latin typeface="Arial" panose="020B0604020202020204" pitchFamily="34" charset="0"/>
                <a:cs typeface="Arial" panose="020B0604020202020204" pitchFamily="34" charset="0"/>
              </a:rPr>
              <a:t>Prevalence and incidence rates</a:t>
            </a:r>
          </a:p>
          <a:p>
            <a:pPr lvl="1"/>
            <a:r>
              <a:rPr lang="en-US" sz="2000" dirty="0">
                <a:latin typeface="Arial" panose="020B0604020202020204" pitchFamily="34" charset="0"/>
                <a:cs typeface="Arial" panose="020B0604020202020204" pitchFamily="34" charset="0"/>
              </a:rPr>
              <a:t>Risk (absolute and relative)   (e.g., the risk of something happening (or not) v the risk of one thing in relation to another)</a:t>
            </a:r>
          </a:p>
          <a:p>
            <a:endParaRPr lang="en-US" dirty="0"/>
          </a:p>
        </p:txBody>
      </p:sp>
    </p:spTree>
    <p:extLst>
      <p:ext uri="{BB962C8B-B14F-4D97-AF65-F5344CB8AC3E}">
        <p14:creationId xmlns:p14="http://schemas.microsoft.com/office/powerpoint/2010/main" val="399335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5B9B8-0E49-F24D-AF05-3DC84D3C9093}"/>
              </a:ext>
            </a:extLst>
          </p:cNvPr>
          <p:cNvSpPr>
            <a:spLocks noGrp="1"/>
          </p:cNvSpPr>
          <p:nvPr>
            <p:ph type="title"/>
          </p:nvPr>
        </p:nvSpPr>
        <p:spPr>
          <a:xfrm>
            <a:off x="0" y="-154456"/>
            <a:ext cx="10058400" cy="841806"/>
          </a:xfrm>
        </p:spPr>
        <p:txBody>
          <a:bodyPr>
            <a:normAutofit/>
          </a:bodyPr>
          <a:lstStyle/>
          <a:p>
            <a:r>
              <a:rPr lang="en-US" sz="3600" dirty="0">
                <a:latin typeface="Arial" panose="020B0604020202020204" pitchFamily="34" charset="0"/>
                <a:cs typeface="Arial" panose="020B0604020202020204" pitchFamily="34" charset="0"/>
              </a:rPr>
              <a:t>Four Primary Risk Measures</a:t>
            </a:r>
          </a:p>
        </p:txBody>
      </p:sp>
      <p:sp>
        <p:nvSpPr>
          <p:cNvPr id="3" name="Content Placeholder 2">
            <a:extLst>
              <a:ext uri="{FF2B5EF4-FFF2-40B4-BE49-F238E27FC236}">
                <a16:creationId xmlns:a16="http://schemas.microsoft.com/office/drawing/2014/main" id="{07033711-461D-1F4E-8B0C-2A32D9E7B57A}"/>
              </a:ext>
            </a:extLst>
          </p:cNvPr>
          <p:cNvSpPr>
            <a:spLocks noGrp="1"/>
          </p:cNvSpPr>
          <p:nvPr>
            <p:ph idx="1"/>
          </p:nvPr>
        </p:nvSpPr>
        <p:spPr>
          <a:xfrm>
            <a:off x="231519" y="691063"/>
            <a:ext cx="10058400" cy="3760891"/>
          </a:xfrm>
        </p:spPr>
        <p:txBody>
          <a:bodyPr>
            <a:normAutofit/>
          </a:bodyPr>
          <a:lstStyle/>
          <a:p>
            <a:r>
              <a:rPr lang="en-US" sz="2000" dirty="0">
                <a:latin typeface="Arial" panose="020B0604020202020204" pitchFamily="34" charset="0"/>
                <a:cs typeface="Arial" panose="020B0604020202020204" pitchFamily="34" charset="0"/>
              </a:rPr>
              <a:t>Prevalence</a:t>
            </a:r>
          </a:p>
          <a:p>
            <a:r>
              <a:rPr lang="en-US" sz="2000" dirty="0">
                <a:latin typeface="Arial" panose="020B0604020202020204" pitchFamily="34" charset="0"/>
                <a:cs typeface="Arial" panose="020B0604020202020204" pitchFamily="34" charset="0"/>
              </a:rPr>
              <a:t>Incidence</a:t>
            </a:r>
          </a:p>
          <a:p>
            <a:r>
              <a:rPr lang="en-US" sz="2000" dirty="0">
                <a:latin typeface="Arial" panose="020B0604020202020204" pitchFamily="34" charset="0"/>
                <a:cs typeface="Arial" panose="020B0604020202020204" pitchFamily="34" charset="0"/>
              </a:rPr>
              <a:t>Relative Risk</a:t>
            </a:r>
          </a:p>
          <a:p>
            <a:r>
              <a:rPr lang="en-US" sz="2000" dirty="0">
                <a:latin typeface="Arial" panose="020B0604020202020204" pitchFamily="34" charset="0"/>
                <a:cs typeface="Arial" panose="020B0604020202020204" pitchFamily="34" charset="0"/>
              </a:rPr>
              <a:t>Odds Ratios</a:t>
            </a:r>
          </a:p>
        </p:txBody>
      </p:sp>
    </p:spTree>
    <p:extLst>
      <p:ext uri="{BB962C8B-B14F-4D97-AF65-F5344CB8AC3E}">
        <p14:creationId xmlns:p14="http://schemas.microsoft.com/office/powerpoint/2010/main" val="1116407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BD858-DB02-4929-BBAB-EA5356CCA3E5}"/>
              </a:ext>
            </a:extLst>
          </p:cNvPr>
          <p:cNvSpPr>
            <a:spLocks noGrp="1"/>
          </p:cNvSpPr>
          <p:nvPr>
            <p:ph type="title"/>
          </p:nvPr>
        </p:nvSpPr>
        <p:spPr>
          <a:xfrm>
            <a:off x="153697" y="160144"/>
            <a:ext cx="10058400" cy="559703"/>
          </a:xfrm>
        </p:spPr>
        <p:txBody>
          <a:bodyPr>
            <a:normAutofit fontScale="90000"/>
          </a:bodyPr>
          <a:lstStyle/>
          <a:p>
            <a:r>
              <a:rPr lang="en-US" sz="3600" dirty="0">
                <a:latin typeface="Arial" panose="020B0604020202020204" pitchFamily="34" charset="0"/>
                <a:cs typeface="Arial" panose="020B0604020202020204" pitchFamily="34" charset="0"/>
              </a:rPr>
              <a:t>Prevalence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8B3129A-DBED-465F-BA3D-F0A7139D4173}"/>
                  </a:ext>
                </a:extLst>
              </p:cNvPr>
              <p:cNvSpPr>
                <a:spLocks noGrp="1"/>
              </p:cNvSpPr>
              <p:nvPr>
                <p:ph idx="1"/>
              </p:nvPr>
            </p:nvSpPr>
            <p:spPr>
              <a:xfrm>
                <a:off x="280157" y="862449"/>
                <a:ext cx="11470856" cy="4604496"/>
              </a:xfrm>
            </p:spPr>
            <p:txBody>
              <a:bodyPr>
                <a:noAutofit/>
              </a:bodyPr>
              <a:lstStyle/>
              <a:p>
                <a:r>
                  <a:rPr lang="en-US" sz="2000" dirty="0">
                    <a:latin typeface="Arial" panose="020B0604020202020204" pitchFamily="34" charset="0"/>
                    <a:cs typeface="Arial" panose="020B0604020202020204" pitchFamily="34" charset="0"/>
                  </a:rPr>
                  <a:t>Def’n:  the proportion of a defined group or population that has some outcome, </a:t>
                </a:r>
                <a:r>
                  <a:rPr lang="en-US" sz="2000" i="1" dirty="0">
                    <a:latin typeface="Arial" panose="020B0604020202020204" pitchFamily="34" charset="0"/>
                    <a:cs typeface="Arial" panose="020B0604020202020204" pitchFamily="34" charset="0"/>
                  </a:rPr>
                  <a:t>O, </a:t>
                </a:r>
                <a:r>
                  <a:rPr lang="en-US" sz="2000" dirty="0">
                    <a:latin typeface="Arial" panose="020B0604020202020204" pitchFamily="34" charset="0"/>
                    <a:cs typeface="Arial" panose="020B0604020202020204" pitchFamily="34" charset="0"/>
                  </a:rPr>
                  <a:t>at a </a:t>
                </a:r>
                <a:r>
                  <a:rPr lang="en-US" sz="2000" b="1" i="1" dirty="0">
                    <a:latin typeface="Arial" panose="020B0604020202020204" pitchFamily="34" charset="0"/>
                    <a:cs typeface="Arial" panose="020B0604020202020204" pitchFamily="34" charset="0"/>
                  </a:rPr>
                  <a:t>given point in time</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The prevalence ranges from 0 to 1 (i.e., it’s a proportion), but is usually referred to as a rate and is often expressed as a %.</a:t>
                </a:r>
              </a:p>
              <a:p>
                <a:pPr algn="ctr"/>
                <a14:m>
                  <m:oMath xmlns:m="http://schemas.openxmlformats.org/officeDocument/2006/math">
                    <m:r>
                      <a:rPr lang="en-US" sz="2000" b="0" i="1" smtClean="0">
                        <a:latin typeface="Cambria Math" panose="02040503050406030204" pitchFamily="18" charset="0"/>
                      </a:rPr>
                      <m:t>100</m:t>
                    </m:r>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𝑂</m:t>
                        </m:r>
                      </m:num>
                      <m:den>
                        <m:r>
                          <a:rPr lang="en-US" sz="2000" b="0" i="1" smtClean="0">
                            <a:latin typeface="Cambria Math" panose="02040503050406030204" pitchFamily="18" charset="0"/>
                          </a:rPr>
                          <m:t>𝑁</m:t>
                        </m:r>
                      </m:den>
                    </m:f>
                  </m:oMath>
                </a14:m>
                <a:r>
                  <a:rPr lang="en-US" sz="2000" b="0" dirty="0">
                    <a:latin typeface="Arial" panose="020B0604020202020204" pitchFamily="34" charset="0"/>
                    <a:cs typeface="Arial" panose="020B0604020202020204" pitchFamily="34" charset="0"/>
                  </a:rPr>
                  <a:t>, </a:t>
                </a:r>
              </a:p>
              <a:p>
                <a:r>
                  <a:rPr lang="en-US" sz="2000" b="0" dirty="0">
                    <a:latin typeface="Arial" panose="020B0604020202020204" pitchFamily="34" charset="0"/>
                    <a:cs typeface="Arial" panose="020B0604020202020204" pitchFamily="34" charset="0"/>
                  </a:rPr>
                  <a:t>where </a:t>
                </a:r>
                <a14:m>
                  <m:oMath xmlns:m="http://schemas.openxmlformats.org/officeDocument/2006/math">
                    <m:r>
                      <a:rPr lang="en-US" sz="2000" b="0" i="1" smtClean="0">
                        <a:latin typeface="Cambria Math" panose="02040503050406030204" pitchFamily="18" charset="0"/>
                      </a:rPr>
                      <m:t>𝑁</m:t>
                    </m:r>
                  </m:oMath>
                </a14:m>
                <a:r>
                  <a:rPr lang="en-US" sz="2000" b="0" dirty="0">
                    <a:latin typeface="Arial" panose="020B0604020202020204" pitchFamily="34" charset="0"/>
                    <a:cs typeface="Arial" panose="020B0604020202020204" pitchFamily="34" charset="0"/>
                  </a:rPr>
                  <a:t>= number of cases observed at time </a:t>
                </a:r>
                <a:r>
                  <a:rPr lang="en-US" sz="2000" b="0" i="1" dirty="0">
                    <a:latin typeface="Arial" panose="020B0604020202020204" pitchFamily="34" charset="0"/>
                    <a:cs typeface="Arial" panose="020B0604020202020204" pitchFamily="34" charset="0"/>
                  </a:rPr>
                  <a:t>t </a:t>
                </a:r>
                <a:r>
                  <a:rPr lang="en-US" sz="2000" b="0" dirty="0">
                    <a:latin typeface="Arial" panose="020B0604020202020204" pitchFamily="34" charset="0"/>
                    <a:cs typeface="Arial" panose="020B0604020202020204" pitchFamily="34" charset="0"/>
                  </a:rPr>
                  <a:t>and </a:t>
                </a:r>
                <a:r>
                  <a:rPr lang="en-US" sz="2000" b="0" i="1" dirty="0">
                    <a:latin typeface="Arial" panose="020B0604020202020204" pitchFamily="34" charset="0"/>
                    <a:cs typeface="Arial" panose="020B0604020202020204" pitchFamily="34" charset="0"/>
                  </a:rPr>
                  <a:t>N = </a:t>
                </a:r>
                <a:r>
                  <a:rPr lang="en-US" sz="2000" dirty="0">
                    <a:latin typeface="Arial" panose="020B0604020202020204" pitchFamily="34" charset="0"/>
                    <a:cs typeface="Arial" panose="020B0604020202020204" pitchFamily="34" charset="0"/>
                  </a:rPr>
                  <a:t>total number of individuals at time </a:t>
                </a:r>
                <a:r>
                  <a:rPr lang="en-US" sz="2000" i="1" dirty="0">
                    <a:latin typeface="Arial" panose="020B0604020202020204" pitchFamily="34" charset="0"/>
                    <a:cs typeface="Arial" panose="020B0604020202020204" pitchFamily="34" charset="0"/>
                  </a:rPr>
                  <a:t>t</a:t>
                </a:r>
                <a:endParaRPr lang="en-US" sz="2000" b="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Example:  </a:t>
                </a:r>
                <a:r>
                  <a:rPr lang="en-US" sz="2000" dirty="0">
                    <a:latin typeface="Arial" panose="020B0604020202020204" pitchFamily="34" charset="0"/>
                    <a:cs typeface="Arial" panose="020B0604020202020204" pitchFamily="34" charset="0"/>
                  </a:rPr>
                  <a:t>Of 100 incarcerated persons, 35 reported child abuse histories. Therefore, our estimate of the prevalence of child abuse among persons who are incarcerated = 35%   </a:t>
                </a:r>
              </a:p>
              <a:p>
                <a:r>
                  <a:rPr lang="en-US" sz="2000" dirty="0">
                    <a:latin typeface="Arial" panose="020B0604020202020204" pitchFamily="34" charset="0"/>
                    <a:cs typeface="Arial" panose="020B0604020202020204" pitchFamily="34" charset="0"/>
                  </a:rPr>
                  <a:t>The prevalence rate answers the question: “What fraction of the group is affected at this moment in time?”</a:t>
                </a:r>
              </a:p>
              <a:p>
                <a:endParaRPr lang="en-US" sz="20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D8B3129A-DBED-465F-BA3D-F0A7139D4173}"/>
                  </a:ext>
                </a:extLst>
              </p:cNvPr>
              <p:cNvSpPr>
                <a:spLocks noGrp="1" noRot="1" noChangeAspect="1" noMove="1" noResize="1" noEditPoints="1" noAdjustHandles="1" noChangeArrowheads="1" noChangeShapeType="1" noTextEdit="1"/>
              </p:cNvSpPr>
              <p:nvPr>
                <p:ph idx="1"/>
              </p:nvPr>
            </p:nvSpPr>
            <p:spPr>
              <a:xfrm>
                <a:off x="280157" y="862449"/>
                <a:ext cx="11470856" cy="4604496"/>
              </a:xfrm>
              <a:blipFill>
                <a:blip r:embed="rId3"/>
                <a:stretch>
                  <a:fillRect l="-584" t="-529" r="-1647"/>
                </a:stretch>
              </a:blipFill>
            </p:spPr>
            <p:txBody>
              <a:bodyPr/>
              <a:lstStyle/>
              <a:p>
                <a:r>
                  <a:rPr lang="en-US">
                    <a:noFill/>
                  </a:rPr>
                  <a:t> </a:t>
                </a:r>
              </a:p>
            </p:txBody>
          </p:sp>
        </mc:Fallback>
      </mc:AlternateContent>
    </p:spTree>
    <p:extLst>
      <p:ext uri="{BB962C8B-B14F-4D97-AF65-F5344CB8AC3E}">
        <p14:creationId xmlns:p14="http://schemas.microsoft.com/office/powerpoint/2010/main" val="412951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912E1-44A7-8841-8227-58EA12C968DA}"/>
              </a:ext>
            </a:extLst>
          </p:cNvPr>
          <p:cNvSpPr>
            <a:spLocks noGrp="1"/>
          </p:cNvSpPr>
          <p:nvPr>
            <p:ph type="title" idx="4294967295"/>
          </p:nvPr>
        </p:nvSpPr>
        <p:spPr>
          <a:xfrm>
            <a:off x="0" y="517525"/>
            <a:ext cx="3084513" cy="1960563"/>
          </a:xfrm>
        </p:spPr>
        <p:txBody>
          <a:bodyPr>
            <a:normAutofit/>
          </a:bodyPr>
          <a:lstStyle/>
          <a:p>
            <a:r>
              <a:rPr lang="en-US" sz="4000">
                <a:solidFill>
                  <a:srgbClr val="FFFFFF"/>
                </a:solidFill>
              </a:rPr>
              <a:t>Incidence</a:t>
            </a:r>
          </a:p>
        </p:txBody>
      </p:sp>
      <p:sp>
        <p:nvSpPr>
          <p:cNvPr id="3" name="Content Placeholder 2">
            <a:extLst>
              <a:ext uri="{FF2B5EF4-FFF2-40B4-BE49-F238E27FC236}">
                <a16:creationId xmlns:a16="http://schemas.microsoft.com/office/drawing/2014/main" id="{EFADEE8E-7696-C545-BBED-9677B36112A9}"/>
              </a:ext>
            </a:extLst>
          </p:cNvPr>
          <p:cNvSpPr>
            <a:spLocks noGrp="1"/>
          </p:cNvSpPr>
          <p:nvPr>
            <p:ph idx="4294967295"/>
          </p:nvPr>
        </p:nvSpPr>
        <p:spPr>
          <a:xfrm>
            <a:off x="632298" y="1382628"/>
            <a:ext cx="3005138" cy="4092744"/>
          </a:xfrm>
        </p:spPr>
        <p:txBody>
          <a:bodyPr>
            <a:normAutofit/>
          </a:bodyPr>
          <a:lstStyle/>
          <a:p>
            <a:pPr>
              <a:lnSpc>
                <a:spcPct val="100000"/>
              </a:lnSpc>
            </a:pPr>
            <a:r>
              <a:rPr lang="en-US" altLang="en-US" sz="2000" dirty="0">
                <a:solidFill>
                  <a:schemeClr val="tx1"/>
                </a:solidFill>
                <a:latin typeface="Arial" panose="020B0604020202020204" pitchFamily="34" charset="0"/>
                <a:cs typeface="Arial" panose="020B0604020202020204" pitchFamily="34" charset="0"/>
              </a:rPr>
              <a:t>A special type of proportion that includes a specific </a:t>
            </a:r>
            <a:r>
              <a:rPr lang="en-US" altLang="en-US" sz="2000" i="1" u="sng" dirty="0">
                <a:solidFill>
                  <a:schemeClr val="tx1"/>
                </a:solidFill>
                <a:latin typeface="Arial" panose="020B0604020202020204" pitchFamily="34" charset="0"/>
                <a:cs typeface="Arial" panose="020B0604020202020204" pitchFamily="34" charset="0"/>
              </a:rPr>
              <a:t>time period</a:t>
            </a:r>
            <a:r>
              <a:rPr lang="en-US" altLang="en-US" sz="2000" dirty="0">
                <a:solidFill>
                  <a:schemeClr val="tx1"/>
                </a:solidFill>
                <a:latin typeface="Arial" panose="020B0604020202020204" pitchFamily="34" charset="0"/>
                <a:cs typeface="Arial" panose="020B0604020202020204" pitchFamily="34" charset="0"/>
              </a:rPr>
              <a:t> and </a:t>
            </a:r>
            <a:r>
              <a:rPr lang="en-US" altLang="en-US" sz="2000" i="1" u="sng" dirty="0">
                <a:solidFill>
                  <a:schemeClr val="tx1"/>
                </a:solidFill>
                <a:latin typeface="Arial" panose="020B0604020202020204" pitchFamily="34" charset="0"/>
                <a:cs typeface="Arial" panose="020B0604020202020204" pitchFamily="34" charset="0"/>
              </a:rPr>
              <a:t>population-at-risk</a:t>
            </a:r>
          </a:p>
          <a:p>
            <a:pPr>
              <a:lnSpc>
                <a:spcPct val="100000"/>
              </a:lnSpc>
            </a:pPr>
            <a:r>
              <a:rPr lang="en-US" altLang="en-US" sz="2000" dirty="0">
                <a:solidFill>
                  <a:schemeClr val="tx1"/>
                </a:solidFill>
                <a:latin typeface="Arial" panose="020B0604020202020204" pitchFamily="34" charset="0"/>
                <a:cs typeface="Arial" panose="020B0604020202020204" pitchFamily="34" charset="0"/>
              </a:rPr>
              <a:t>Numerator = the number of </a:t>
            </a:r>
            <a:r>
              <a:rPr lang="en-US" altLang="en-US" sz="2000" i="1" dirty="0">
                <a:solidFill>
                  <a:schemeClr val="tx1"/>
                </a:solidFill>
                <a:latin typeface="Arial" panose="020B0604020202020204" pitchFamily="34" charset="0"/>
                <a:cs typeface="Arial" panose="020B0604020202020204" pitchFamily="34" charset="0"/>
              </a:rPr>
              <a:t>newly affected</a:t>
            </a:r>
            <a:r>
              <a:rPr lang="en-US" altLang="en-US" sz="2000" dirty="0">
                <a:solidFill>
                  <a:schemeClr val="tx1"/>
                </a:solidFill>
                <a:latin typeface="Arial" panose="020B0604020202020204" pitchFamily="34" charset="0"/>
                <a:cs typeface="Arial" panose="020B0604020202020204" pitchFamily="34" charset="0"/>
              </a:rPr>
              <a:t> individuals occurring over a specified time period</a:t>
            </a:r>
          </a:p>
          <a:p>
            <a:pPr>
              <a:lnSpc>
                <a:spcPct val="100000"/>
              </a:lnSpc>
            </a:pPr>
            <a:r>
              <a:rPr lang="en-US" altLang="en-US" sz="2000" dirty="0">
                <a:solidFill>
                  <a:schemeClr val="tx1"/>
                </a:solidFill>
                <a:latin typeface="Arial" panose="020B0604020202020204" pitchFamily="34" charset="0"/>
                <a:cs typeface="Arial" panose="020B0604020202020204" pitchFamily="34" charset="0"/>
              </a:rPr>
              <a:t>Denominator = the </a:t>
            </a:r>
            <a:r>
              <a:rPr lang="en-US" altLang="en-US" sz="2000" i="1" dirty="0">
                <a:solidFill>
                  <a:schemeClr val="tx1"/>
                </a:solidFill>
                <a:latin typeface="Arial" panose="020B0604020202020204" pitchFamily="34" charset="0"/>
                <a:cs typeface="Arial" panose="020B0604020202020204" pitchFamily="34" charset="0"/>
              </a:rPr>
              <a:t>population-at-risk</a:t>
            </a:r>
            <a:r>
              <a:rPr lang="en-US" altLang="en-US" sz="2000" dirty="0">
                <a:solidFill>
                  <a:schemeClr val="tx1"/>
                </a:solidFill>
                <a:latin typeface="Arial" panose="020B0604020202020204" pitchFamily="34" charset="0"/>
                <a:cs typeface="Arial" panose="020B0604020202020204" pitchFamily="34" charset="0"/>
              </a:rPr>
              <a:t> over the same time period</a:t>
            </a:r>
          </a:p>
          <a:p>
            <a:pPr>
              <a:lnSpc>
                <a:spcPct val="100000"/>
              </a:lnSpc>
            </a:pPr>
            <a:endParaRPr lang="en-US" sz="2000" dirty="0">
              <a:solidFill>
                <a:schemeClr val="tx1"/>
              </a:solidFill>
              <a:latin typeface="Arial" panose="020B0604020202020204" pitchFamily="34" charset="0"/>
              <a:cs typeface="Arial" panose="020B0604020202020204" pitchFamily="34" charset="0"/>
            </a:endParaRPr>
          </a:p>
        </p:txBody>
      </p:sp>
      <p:pic>
        <p:nvPicPr>
          <p:cNvPr id="5" name="Picture 4" descr="Chart, histogram&#10;&#10;Description automatically generated">
            <a:extLst>
              <a:ext uri="{FF2B5EF4-FFF2-40B4-BE49-F238E27FC236}">
                <a16:creationId xmlns:a16="http://schemas.microsoft.com/office/drawing/2014/main" id="{BFF7C0DE-1531-FF36-9D3C-ACF0E12A83B5}"/>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t="8469"/>
          <a:stretch/>
        </p:blipFill>
        <p:spPr bwMode="auto">
          <a:xfrm>
            <a:off x="4329515" y="801399"/>
            <a:ext cx="7605103" cy="3519814"/>
          </a:xfrm>
          <a:prstGeom prst="rect">
            <a:avLst/>
          </a:prstGeom>
          <a:noFill/>
        </p:spPr>
      </p:pic>
      <p:sp>
        <p:nvSpPr>
          <p:cNvPr id="6" name="TextBox 5">
            <a:extLst>
              <a:ext uri="{FF2B5EF4-FFF2-40B4-BE49-F238E27FC236}">
                <a16:creationId xmlns:a16="http://schemas.microsoft.com/office/drawing/2014/main" id="{6EACC9A5-CF85-7A39-E678-A9F000EFCB83}"/>
              </a:ext>
            </a:extLst>
          </p:cNvPr>
          <p:cNvSpPr txBox="1"/>
          <p:nvPr/>
        </p:nvSpPr>
        <p:spPr>
          <a:xfrm>
            <a:off x="4442660" y="500319"/>
            <a:ext cx="46226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Franklin Gothic Book" panose="020F0502020204030204"/>
                <a:ea typeface="+mn-ea"/>
                <a:cs typeface="+mn-cs"/>
              </a:rPr>
              <a:t>Daily COVID-19 Cases (7 Day Moving Average)</a:t>
            </a:r>
          </a:p>
        </p:txBody>
      </p:sp>
      <p:sp>
        <p:nvSpPr>
          <p:cNvPr id="7" name="TextBox 6">
            <a:extLst>
              <a:ext uri="{FF2B5EF4-FFF2-40B4-BE49-F238E27FC236}">
                <a16:creationId xmlns:a16="http://schemas.microsoft.com/office/drawing/2014/main" id="{CB5B1372-A47B-8A5A-151E-A44CE4D587E7}"/>
              </a:ext>
            </a:extLst>
          </p:cNvPr>
          <p:cNvSpPr txBox="1"/>
          <p:nvPr/>
        </p:nvSpPr>
        <p:spPr>
          <a:xfrm>
            <a:off x="4595276" y="4408163"/>
            <a:ext cx="592841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Blue areas represent most deprived 20% of neighborhoods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Red areas represent least deprived 20% of neighborhoods</a:t>
            </a:r>
          </a:p>
        </p:txBody>
      </p:sp>
    </p:spTree>
    <p:extLst>
      <p:ext uri="{BB962C8B-B14F-4D97-AF65-F5344CB8AC3E}">
        <p14:creationId xmlns:p14="http://schemas.microsoft.com/office/powerpoint/2010/main" val="112074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B8755-5542-EC47-855F-7F77BB9019AC}"/>
              </a:ext>
            </a:extLst>
          </p:cNvPr>
          <p:cNvSpPr>
            <a:spLocks noGrp="1"/>
          </p:cNvSpPr>
          <p:nvPr>
            <p:ph type="title"/>
          </p:nvPr>
        </p:nvSpPr>
        <p:spPr>
          <a:xfrm>
            <a:off x="202335" y="267149"/>
            <a:ext cx="10058400" cy="588886"/>
          </a:xfrm>
        </p:spPr>
        <p:txBody>
          <a:bodyPr>
            <a:noAutofit/>
          </a:bodyPr>
          <a:lstStyle/>
          <a:p>
            <a:r>
              <a:rPr lang="en-US" sz="3600" dirty="0">
                <a:latin typeface="Arial" panose="020B0604020202020204" pitchFamily="34" charset="0"/>
                <a:cs typeface="Arial" panose="020B0604020202020204" pitchFamily="34" charset="0"/>
              </a:rPr>
              <a:t>Quantifying Risk and Interpreting Risk</a:t>
            </a:r>
          </a:p>
        </p:txBody>
      </p:sp>
      <p:sp>
        <p:nvSpPr>
          <p:cNvPr id="3" name="Content Placeholder 2">
            <a:extLst>
              <a:ext uri="{FF2B5EF4-FFF2-40B4-BE49-F238E27FC236}">
                <a16:creationId xmlns:a16="http://schemas.microsoft.com/office/drawing/2014/main" id="{FB52A04C-C040-E741-A126-259FE3FEEDB0}"/>
              </a:ext>
            </a:extLst>
          </p:cNvPr>
          <p:cNvSpPr>
            <a:spLocks noGrp="1"/>
          </p:cNvSpPr>
          <p:nvPr>
            <p:ph idx="1"/>
          </p:nvPr>
        </p:nvSpPr>
        <p:spPr>
          <a:xfrm>
            <a:off x="348250" y="863062"/>
            <a:ext cx="10058400" cy="3760891"/>
          </a:xfrm>
        </p:spPr>
        <p:txBody>
          <a:bodyPr>
            <a:normAutofit/>
          </a:bodyPr>
          <a:lstStyle/>
          <a:p>
            <a:r>
              <a:rPr lang="en-US" sz="2000" dirty="0">
                <a:latin typeface="Arial" panose="020B0604020202020204" pitchFamily="34" charset="0"/>
                <a:cs typeface="Arial" panose="020B0604020202020204" pitchFamily="34" charset="0"/>
              </a:rPr>
              <a:t>Information on the effect of a potential risk factor or beneficial treatment can be presented in several different ways:</a:t>
            </a:r>
          </a:p>
          <a:p>
            <a:pPr lvl="1"/>
            <a:r>
              <a:rPr lang="en-US" sz="1800" dirty="0">
                <a:latin typeface="Arial" panose="020B0604020202020204" pitchFamily="34" charset="0"/>
                <a:cs typeface="Arial" panose="020B0604020202020204" pitchFamily="34" charset="0"/>
              </a:rPr>
              <a:t>Relative Risk (RR)</a:t>
            </a:r>
          </a:p>
          <a:p>
            <a:pPr lvl="1"/>
            <a:r>
              <a:rPr lang="en-US" sz="1800" dirty="0">
                <a:latin typeface="Arial" panose="020B0604020202020204" pitchFamily="34" charset="0"/>
                <a:cs typeface="Arial" panose="020B0604020202020204" pitchFamily="34" charset="0"/>
              </a:rPr>
              <a:t>Odds Ratio (OR)</a:t>
            </a:r>
          </a:p>
          <a:p>
            <a:pPr lvl="1"/>
            <a:r>
              <a:rPr lang="en-US" sz="1800" dirty="0">
                <a:latin typeface="Arial" panose="020B0604020202020204" pitchFamily="34" charset="0"/>
                <a:cs typeface="Arial" panose="020B0604020202020204" pitchFamily="34" charset="0"/>
              </a:rPr>
              <a:t>Percent decrease or increase in Odds</a:t>
            </a:r>
          </a:p>
          <a:p>
            <a:r>
              <a:rPr lang="en-US" sz="2000" b="1" dirty="0">
                <a:solidFill>
                  <a:srgbClr val="FF0000"/>
                </a:solidFill>
                <a:latin typeface="Arial" panose="020B0604020202020204" pitchFamily="34" charset="0"/>
                <a:cs typeface="Arial" panose="020B0604020202020204" pitchFamily="34" charset="0"/>
              </a:rPr>
              <a:t>The way risk information is presented and interpreted can have a profound effect on decision-making processes with implications for policy and treatment outcomes</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3744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B8755-5542-EC47-855F-7F77BB9019AC}"/>
              </a:ext>
            </a:extLst>
          </p:cNvPr>
          <p:cNvSpPr>
            <a:spLocks noGrp="1"/>
          </p:cNvSpPr>
          <p:nvPr>
            <p:ph type="title"/>
          </p:nvPr>
        </p:nvSpPr>
        <p:spPr>
          <a:xfrm>
            <a:off x="173153" y="169872"/>
            <a:ext cx="10058400" cy="1055814"/>
          </a:xfrm>
        </p:spPr>
        <p:txBody>
          <a:bodyPr>
            <a:noAutofit/>
          </a:bodyPr>
          <a:lstStyle/>
          <a:p>
            <a:r>
              <a:rPr lang="en-US" sz="3600" dirty="0">
                <a:latin typeface="Arial" panose="020B0604020202020204" pitchFamily="34" charset="0"/>
                <a:cs typeface="Arial" panose="020B0604020202020204" pitchFamily="34" charset="0"/>
              </a:rPr>
              <a:t>Quantifying Risk (or Benefit) Presentation and Interpretation of Information on Risk</a:t>
            </a:r>
          </a:p>
        </p:txBody>
      </p:sp>
      <p:sp>
        <p:nvSpPr>
          <p:cNvPr id="3" name="Content Placeholder 2">
            <a:extLst>
              <a:ext uri="{FF2B5EF4-FFF2-40B4-BE49-F238E27FC236}">
                <a16:creationId xmlns:a16="http://schemas.microsoft.com/office/drawing/2014/main" id="{FB52A04C-C040-E741-A126-259FE3FEEDB0}"/>
              </a:ext>
            </a:extLst>
          </p:cNvPr>
          <p:cNvSpPr>
            <a:spLocks noGrp="1"/>
          </p:cNvSpPr>
          <p:nvPr>
            <p:ph idx="1"/>
          </p:nvPr>
        </p:nvSpPr>
        <p:spPr>
          <a:xfrm>
            <a:off x="348250" y="1271623"/>
            <a:ext cx="10058400" cy="3760891"/>
          </a:xfrm>
        </p:spPr>
        <p:txBody>
          <a:bodyPr>
            <a:normAutofit/>
          </a:bodyPr>
          <a:lstStyle/>
          <a:p>
            <a:r>
              <a:rPr lang="en-US" sz="2000" dirty="0">
                <a:latin typeface="Arial" panose="020B0604020202020204" pitchFamily="34" charset="0"/>
                <a:cs typeface="Arial" panose="020B0604020202020204" pitchFamily="34" charset="0"/>
              </a:rPr>
              <a:t>We might also think of these as measures of association.  </a:t>
            </a:r>
          </a:p>
          <a:p>
            <a:r>
              <a:rPr lang="en-US" sz="2000" dirty="0">
                <a:latin typeface="Arial" panose="020B0604020202020204" pitchFamily="34" charset="0"/>
                <a:cs typeface="Arial" panose="020B0604020202020204" pitchFamily="34" charset="0"/>
              </a:rPr>
              <a:t>Measures of association quantify the potential relationship between “exposure” and “outcome” among two groups.</a:t>
            </a:r>
          </a:p>
          <a:p>
            <a:r>
              <a:rPr lang="en-US" sz="2000" dirty="0">
                <a:latin typeface="Arial" panose="020B0604020202020204" pitchFamily="34" charset="0"/>
                <a:cs typeface="Arial" panose="020B0604020202020204" pitchFamily="34" charset="0"/>
              </a:rPr>
              <a:t>Recall there are two types of association (+) and (-)</a:t>
            </a:r>
          </a:p>
          <a:p>
            <a:r>
              <a:rPr lang="en-US" sz="2000" dirty="0">
                <a:latin typeface="Arial" panose="020B0604020202020204" pitchFamily="34" charset="0"/>
                <a:cs typeface="Arial" panose="020B0604020202020204" pitchFamily="34" charset="0"/>
              </a:rPr>
              <a:t>The two main measures are Relative Risk (RR) and Odds Ratio (OR)</a:t>
            </a:r>
          </a:p>
          <a:p>
            <a:endParaRPr lang="en-US" dirty="0"/>
          </a:p>
        </p:txBody>
      </p:sp>
    </p:spTree>
    <p:extLst>
      <p:ext uri="{BB962C8B-B14F-4D97-AF65-F5344CB8AC3E}">
        <p14:creationId xmlns:p14="http://schemas.microsoft.com/office/powerpoint/2010/main" val="4255864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9D544-DA4D-6043-AA82-72485F328EFE}"/>
              </a:ext>
            </a:extLst>
          </p:cNvPr>
          <p:cNvSpPr>
            <a:spLocks noGrp="1"/>
          </p:cNvSpPr>
          <p:nvPr>
            <p:ph type="title"/>
          </p:nvPr>
        </p:nvSpPr>
        <p:spPr>
          <a:xfrm>
            <a:off x="231519" y="208782"/>
            <a:ext cx="10058400" cy="702305"/>
          </a:xfrm>
        </p:spPr>
        <p:txBody>
          <a:bodyPr>
            <a:normAutofit/>
          </a:bodyPr>
          <a:lstStyle/>
          <a:p>
            <a:r>
              <a:rPr lang="en-US" sz="3600" dirty="0">
                <a:latin typeface="Arial" panose="020B0604020202020204" pitchFamily="34" charset="0"/>
                <a:cs typeface="Arial" panose="020B0604020202020204" pitchFamily="34" charset="0"/>
              </a:rPr>
              <a:t>Relative Risk, Risk Ratio, or Rate Ratio (RR)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20ED753-9725-FE43-82EE-E19AD8E86FF5}"/>
                  </a:ext>
                </a:extLst>
              </p:cNvPr>
              <p:cNvSpPr>
                <a:spLocks noGrp="1"/>
              </p:cNvSpPr>
              <p:nvPr>
                <p:ph idx="1"/>
              </p:nvPr>
            </p:nvSpPr>
            <p:spPr>
              <a:xfrm>
                <a:off x="377433" y="937569"/>
                <a:ext cx="10058400" cy="3760891"/>
              </a:xfrm>
            </p:spPr>
            <p:txBody>
              <a:bodyPr>
                <a:normAutofit/>
              </a:bodyPr>
              <a:lstStyle/>
              <a:p>
                <a:pPr marL="0" indent="0">
                  <a:buNone/>
                </a:pPr>
                <a:r>
                  <a:rPr lang="en-US" dirty="0"/>
                  <a:t>The general definition of RR is</a:t>
                </a:r>
              </a:p>
              <a:p>
                <a:pPr algn="ct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𝑅𝑖𝑠𝑘</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𝑎𝑛</m:t>
                        </m:r>
                        <m:r>
                          <a:rPr lang="en-US" sz="2400" b="0" i="1" smtClean="0">
                            <a:latin typeface="Cambria Math" panose="02040503050406030204" pitchFamily="18" charset="0"/>
                          </a:rPr>
                          <m:t> </m:t>
                        </m:r>
                        <m:r>
                          <a:rPr lang="en-US" sz="2400" b="0" i="1" smtClean="0">
                            <a:latin typeface="Cambria Math" panose="02040503050406030204" pitchFamily="18" charset="0"/>
                          </a:rPr>
                          <m:t>𝑜𝑢𝑡𝑐𝑜𝑚𝑒</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𝑡</m:t>
                        </m:r>
                        <m:r>
                          <a:rPr lang="en-US" sz="2400" b="0" i="1" smtClean="0">
                            <a:latin typeface="Cambria Math" panose="02040503050406030204" pitchFamily="18" charset="0"/>
                          </a:rPr>
                          <m:t>h</m:t>
                        </m:r>
                        <m:r>
                          <a:rPr lang="en-US" sz="2400" b="0" i="1" smtClean="0">
                            <a:latin typeface="Cambria Math" panose="02040503050406030204" pitchFamily="18" charset="0"/>
                          </a:rPr>
                          <m:t>𝑒</m:t>
                        </m:r>
                        <m:r>
                          <a:rPr lang="en-US" sz="2400" b="0" i="1" smtClean="0">
                            <a:latin typeface="Cambria Math" panose="02040503050406030204" pitchFamily="18" charset="0"/>
                          </a:rPr>
                          <m:t> </m:t>
                        </m:r>
                        <m:r>
                          <a:rPr lang="en-US" sz="2400" b="0" i="1" smtClean="0">
                            <a:latin typeface="Cambria Math" panose="02040503050406030204" pitchFamily="18" charset="0"/>
                          </a:rPr>
                          <m:t>𝑔𝑟𝑜𝑢𝑝</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𝑝𝑟𝑖𝑚𝑎𝑟𝑦</m:t>
                        </m:r>
                        <m:r>
                          <a:rPr lang="en-US" sz="2400" b="0" i="1" smtClean="0">
                            <a:latin typeface="Cambria Math" panose="02040503050406030204" pitchFamily="18" charset="0"/>
                          </a:rPr>
                          <m:t> </m:t>
                        </m:r>
                        <m:r>
                          <a:rPr lang="en-US" sz="2400" b="0" i="1" smtClean="0">
                            <a:latin typeface="Cambria Math" panose="02040503050406030204" pitchFamily="18" charset="0"/>
                          </a:rPr>
                          <m:t>𝑖𝑛𝑡𝑒𝑟𝑒𝑠𝑡</m:t>
                        </m:r>
                      </m:num>
                      <m:den>
                        <m:r>
                          <a:rPr lang="en-US" sz="2400" b="0" i="1" smtClean="0">
                            <a:latin typeface="Cambria Math" panose="02040503050406030204" pitchFamily="18" charset="0"/>
                          </a:rPr>
                          <m:t>𝑅𝑖𝑠𝑘</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𝑡</m:t>
                        </m:r>
                        <m:r>
                          <a:rPr lang="en-US" sz="2400" b="0" i="1" smtClean="0">
                            <a:latin typeface="Cambria Math" panose="02040503050406030204" pitchFamily="18" charset="0"/>
                          </a:rPr>
                          <m:t>h</m:t>
                        </m:r>
                        <m:r>
                          <a:rPr lang="en-US" sz="2400" b="0" i="1" smtClean="0">
                            <a:latin typeface="Cambria Math" panose="02040503050406030204" pitchFamily="18" charset="0"/>
                          </a:rPr>
                          <m:t>𝑎𝑡</m:t>
                        </m:r>
                        <m:r>
                          <a:rPr lang="en-US" sz="2400" b="0" i="1" smtClean="0">
                            <a:latin typeface="Cambria Math" panose="02040503050406030204" pitchFamily="18" charset="0"/>
                          </a:rPr>
                          <m:t> </m:t>
                        </m:r>
                        <m:r>
                          <a:rPr lang="en-US" sz="2400" b="0" i="1" smtClean="0">
                            <a:latin typeface="Cambria Math" panose="02040503050406030204" pitchFamily="18" charset="0"/>
                          </a:rPr>
                          <m:t>𝑠𝑎𝑚𝑒</m:t>
                        </m:r>
                        <m:r>
                          <a:rPr lang="en-US" sz="2400" b="0" i="1" smtClean="0">
                            <a:latin typeface="Cambria Math" panose="02040503050406030204" pitchFamily="18" charset="0"/>
                          </a:rPr>
                          <m:t> </m:t>
                        </m:r>
                        <m:r>
                          <a:rPr lang="en-US" sz="2400" b="0" i="1" smtClean="0">
                            <a:latin typeface="Cambria Math" panose="02040503050406030204" pitchFamily="18" charset="0"/>
                          </a:rPr>
                          <m:t>𝑜𝑢𝑡𝑐𝑜𝑚𝑒</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𝑎</m:t>
                        </m:r>
                        <m:r>
                          <a:rPr lang="en-US" sz="2400" b="0" i="1" smtClean="0">
                            <a:latin typeface="Cambria Math" panose="02040503050406030204" pitchFamily="18" charset="0"/>
                          </a:rPr>
                          <m:t> </m:t>
                        </m:r>
                        <m:r>
                          <a:rPr lang="en-US" sz="2400" b="0" i="1" smtClean="0">
                            <a:latin typeface="Cambria Math" panose="02040503050406030204" pitchFamily="18" charset="0"/>
                          </a:rPr>
                          <m:t>𝑐𝑜𝑚𝑝𝑎𝑟𝑖𝑠𝑜𝑛</m:t>
                        </m:r>
                        <m:r>
                          <a:rPr lang="en-US" sz="2400" b="0" i="1" smtClean="0">
                            <a:latin typeface="Cambria Math" panose="02040503050406030204" pitchFamily="18" charset="0"/>
                          </a:rPr>
                          <m:t> </m:t>
                        </m:r>
                        <m:r>
                          <a:rPr lang="en-US" sz="2400" b="0" i="1" smtClean="0">
                            <a:latin typeface="Cambria Math" panose="02040503050406030204" pitchFamily="18" charset="0"/>
                          </a:rPr>
                          <m:t>𝑔𝑟𝑜𝑢𝑝</m:t>
                        </m:r>
                      </m:den>
                    </m:f>
                  </m:oMath>
                </a14:m>
                <a:endParaRPr lang="en-US" sz="2400" dirty="0"/>
              </a:p>
              <a:p>
                <a:r>
                  <a:rPr lang="en-US" dirty="0"/>
                  <a:t>Here we could be taking the ratio of two prevalence measures (i.e. proportions) or two rate measures (e.g., murder rates).</a:t>
                </a:r>
              </a:p>
              <a:p>
                <a:r>
                  <a:rPr lang="en-US" dirty="0"/>
                  <a:t>A RR = 1.0 the risk is the same for both groups, if RR &gt; 1.0 the risk is greater for group in numerator and if RR &lt; 1.0 it indicates decreased risk for group in numerator.</a:t>
                </a:r>
              </a:p>
              <a:p>
                <a:endParaRPr lang="en-US" dirty="0"/>
              </a:p>
            </p:txBody>
          </p:sp>
        </mc:Choice>
        <mc:Fallback>
          <p:sp>
            <p:nvSpPr>
              <p:cNvPr id="3" name="Content Placeholder 2">
                <a:extLst>
                  <a:ext uri="{FF2B5EF4-FFF2-40B4-BE49-F238E27FC236}">
                    <a16:creationId xmlns:a16="http://schemas.microsoft.com/office/drawing/2014/main" id="{520ED753-9725-FE43-82EE-E19AD8E86FF5}"/>
                  </a:ext>
                </a:extLst>
              </p:cNvPr>
              <p:cNvSpPr>
                <a:spLocks noGrp="1" noRot="1" noChangeAspect="1" noMove="1" noResize="1" noEditPoints="1" noAdjustHandles="1" noChangeArrowheads="1" noChangeShapeType="1" noTextEdit="1"/>
              </p:cNvSpPr>
              <p:nvPr>
                <p:ph idx="1"/>
              </p:nvPr>
            </p:nvSpPr>
            <p:spPr>
              <a:xfrm>
                <a:off x="377433" y="937569"/>
                <a:ext cx="10058400" cy="3760891"/>
              </a:xfrm>
              <a:blipFill>
                <a:blip r:embed="rId2"/>
                <a:stretch>
                  <a:fillRect l="-1515" t="-810"/>
                </a:stretch>
              </a:blipFill>
            </p:spPr>
            <p:txBody>
              <a:bodyPr/>
              <a:lstStyle/>
              <a:p>
                <a:r>
                  <a:rPr lang="en-US">
                    <a:noFill/>
                  </a:rPr>
                  <a:t> </a:t>
                </a:r>
              </a:p>
            </p:txBody>
          </p:sp>
        </mc:Fallback>
      </mc:AlternateContent>
    </p:spTree>
    <p:extLst>
      <p:ext uri="{BB962C8B-B14F-4D97-AF65-F5344CB8AC3E}">
        <p14:creationId xmlns:p14="http://schemas.microsoft.com/office/powerpoint/2010/main" val="724295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04FC6-2401-7243-9451-D41B51D1BC0A}"/>
              </a:ext>
            </a:extLst>
          </p:cNvPr>
          <p:cNvSpPr>
            <a:spLocks noGrp="1"/>
          </p:cNvSpPr>
          <p:nvPr>
            <p:ph type="title"/>
          </p:nvPr>
        </p:nvSpPr>
        <p:spPr>
          <a:xfrm>
            <a:off x="367705" y="88200"/>
            <a:ext cx="11558405" cy="748380"/>
          </a:xfrm>
        </p:spPr>
        <p:txBody>
          <a:bodyPr>
            <a:noAutofit/>
          </a:bodyPr>
          <a:lstStyle/>
          <a:p>
            <a:r>
              <a:rPr lang="en-US" sz="3600" dirty="0">
                <a:latin typeface="Arial" panose="020B0604020202020204" pitchFamily="34" charset="0"/>
                <a:cs typeface="Arial" panose="020B0604020202020204" pitchFamily="34" charset="0"/>
              </a:rPr>
              <a:t>Example: PTSD among foster youth by physical abuse</a:t>
            </a:r>
          </a:p>
        </p:txBody>
      </p:sp>
      <p:graphicFrame>
        <p:nvGraphicFramePr>
          <p:cNvPr id="4" name="Table 4">
            <a:extLst>
              <a:ext uri="{FF2B5EF4-FFF2-40B4-BE49-F238E27FC236}">
                <a16:creationId xmlns:a16="http://schemas.microsoft.com/office/drawing/2014/main" id="{87D49802-2B18-9E4D-91D3-5BB6B98AB764}"/>
              </a:ext>
            </a:extLst>
          </p:cNvPr>
          <p:cNvGraphicFramePr>
            <a:graphicFrameLocks noGrp="1"/>
          </p:cNvGraphicFramePr>
          <p:nvPr>
            <p:ph idx="1"/>
            <p:extLst>
              <p:ext uri="{D42A27DB-BD31-4B8C-83A1-F6EECF244321}">
                <p14:modId xmlns:p14="http://schemas.microsoft.com/office/powerpoint/2010/main" val="356770029"/>
              </p:ext>
            </p:extLst>
          </p:nvPr>
        </p:nvGraphicFramePr>
        <p:xfrm>
          <a:off x="1096963" y="2108200"/>
          <a:ext cx="5929479" cy="2661920"/>
        </p:xfrm>
        <a:graphic>
          <a:graphicData uri="http://schemas.openxmlformats.org/drawingml/2006/table">
            <a:tbl>
              <a:tblPr firstRow="1" bandRow="1">
                <a:tableStyleId>{5C22544A-7EE6-4342-B048-85BDC9FD1C3A}</a:tableStyleId>
              </a:tblPr>
              <a:tblGrid>
                <a:gridCol w="1718426">
                  <a:extLst>
                    <a:ext uri="{9D8B030D-6E8A-4147-A177-3AD203B41FA5}">
                      <a16:colId xmlns:a16="http://schemas.microsoft.com/office/drawing/2014/main" val="2613933755"/>
                    </a:ext>
                  </a:extLst>
                </a:gridCol>
                <a:gridCol w="1600200">
                  <a:extLst>
                    <a:ext uri="{9D8B030D-6E8A-4147-A177-3AD203B41FA5}">
                      <a16:colId xmlns:a16="http://schemas.microsoft.com/office/drawing/2014/main" val="2298456782"/>
                    </a:ext>
                  </a:extLst>
                </a:gridCol>
                <a:gridCol w="1311443">
                  <a:extLst>
                    <a:ext uri="{9D8B030D-6E8A-4147-A177-3AD203B41FA5}">
                      <a16:colId xmlns:a16="http://schemas.microsoft.com/office/drawing/2014/main" val="8720086"/>
                    </a:ext>
                  </a:extLst>
                </a:gridCol>
                <a:gridCol w="1299410">
                  <a:extLst>
                    <a:ext uri="{9D8B030D-6E8A-4147-A177-3AD203B41FA5}">
                      <a16:colId xmlns:a16="http://schemas.microsoft.com/office/drawing/2014/main" val="3953097354"/>
                    </a:ext>
                  </a:extLst>
                </a:gridCol>
              </a:tblGrid>
              <a:tr h="370840">
                <a:tc>
                  <a:txBody>
                    <a:bodyPr/>
                    <a:lstStyle/>
                    <a:p>
                      <a:endParaRPr lang="en-US" dirty="0">
                        <a:latin typeface="Arial" panose="020B0604020202020204" pitchFamily="34" charset="0"/>
                        <a:cs typeface="Arial" panose="020B0604020202020204" pitchFamily="34" charset="0"/>
                      </a:endParaRPr>
                    </a:p>
                  </a:txBody>
                  <a:tcPr/>
                </a:tc>
                <a:tc gridSpan="2">
                  <a:txBody>
                    <a:bodyPr/>
                    <a:lstStyle/>
                    <a:p>
                      <a:pPr algn="ctr"/>
                      <a:r>
                        <a:rPr lang="en-US" dirty="0">
                          <a:latin typeface="Arial" panose="020B0604020202020204" pitchFamily="34" charset="0"/>
                          <a:cs typeface="Arial" panose="020B0604020202020204" pitchFamily="34" charset="0"/>
                        </a:rPr>
                        <a:t>Developed PTSD?</a:t>
                      </a:r>
                    </a:p>
                  </a:txBody>
                  <a:tcPr/>
                </a:tc>
                <a:tc hMerge="1">
                  <a:txBody>
                    <a:bodyPr/>
                    <a:lstStyle/>
                    <a:p>
                      <a:endParaRPr lang="en-US" dirty="0"/>
                    </a:p>
                  </a:txBody>
                  <a:tcPr/>
                </a:tc>
                <a:tc>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704524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Abused?</a:t>
                      </a:r>
                    </a:p>
                  </a:txBody>
                  <a:tcPr/>
                </a:tc>
                <a:tc>
                  <a:txBody>
                    <a:bodyPr/>
                    <a:lstStyle/>
                    <a:p>
                      <a:pPr algn="ctr"/>
                      <a:r>
                        <a:rPr lang="en-US" b="1" dirty="0">
                          <a:latin typeface="Arial" panose="020B0604020202020204" pitchFamily="34" charset="0"/>
                          <a:cs typeface="Arial" panose="020B0604020202020204" pitchFamily="34" charset="0"/>
                        </a:rPr>
                        <a:t>Yes</a:t>
                      </a:r>
                    </a:p>
                  </a:txBody>
                  <a:tcPr/>
                </a:tc>
                <a:tc>
                  <a:txBody>
                    <a:bodyPr/>
                    <a:lstStyle/>
                    <a:p>
                      <a:pPr algn="ctr"/>
                      <a:r>
                        <a:rPr lang="en-US" b="1" dirty="0">
                          <a:latin typeface="Arial" panose="020B0604020202020204" pitchFamily="34" charset="0"/>
                          <a:cs typeface="Arial" panose="020B0604020202020204" pitchFamily="34" charset="0"/>
                        </a:rPr>
                        <a:t>No</a:t>
                      </a:r>
                    </a:p>
                  </a:txBody>
                  <a:tcPr/>
                </a:tc>
                <a:tc>
                  <a:txBody>
                    <a:bodyPr/>
                    <a:lstStyle/>
                    <a:p>
                      <a:pPr algn="ct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60352780"/>
                  </a:ext>
                </a:extLst>
              </a:tr>
              <a:tr h="370840">
                <a:tc>
                  <a:txBody>
                    <a:bodyPr/>
                    <a:lstStyle/>
                    <a:p>
                      <a:r>
                        <a:rPr lang="en-US" dirty="0">
                          <a:latin typeface="Arial" panose="020B0604020202020204" pitchFamily="34" charset="0"/>
                          <a:cs typeface="Arial" panose="020B0604020202020204" pitchFamily="34" charset="0"/>
                        </a:rPr>
                        <a:t>Physically Abused</a:t>
                      </a:r>
                    </a:p>
                  </a:txBody>
                  <a:tcPr/>
                </a:tc>
                <a:tc>
                  <a:txBody>
                    <a:bodyPr/>
                    <a:lstStyle/>
                    <a:p>
                      <a:pPr algn="ctr"/>
                      <a:r>
                        <a:rPr lang="en-US" b="0" dirty="0">
                          <a:solidFill>
                            <a:schemeClr val="accent3">
                              <a:lumMod val="75000"/>
                            </a:schemeClr>
                          </a:solidFill>
                          <a:latin typeface="Arial" panose="020B0604020202020204" pitchFamily="34" charset="0"/>
                          <a:cs typeface="Arial" panose="020B0604020202020204" pitchFamily="34" charset="0"/>
                        </a:rPr>
                        <a:t>28</a:t>
                      </a:r>
                    </a:p>
                  </a:txBody>
                  <a:tcPr/>
                </a:tc>
                <a:tc>
                  <a:txBody>
                    <a:bodyPr/>
                    <a:lstStyle/>
                    <a:p>
                      <a:pPr algn="ctr"/>
                      <a:r>
                        <a:rPr lang="en-US" dirty="0">
                          <a:solidFill>
                            <a:schemeClr val="accent6"/>
                          </a:solidFill>
                          <a:latin typeface="Arial" panose="020B0604020202020204" pitchFamily="34" charset="0"/>
                          <a:cs typeface="Arial" panose="020B0604020202020204" pitchFamily="34" charset="0"/>
                        </a:rPr>
                        <a:t>129</a:t>
                      </a:r>
                    </a:p>
                  </a:txBody>
                  <a:tcPr/>
                </a:tc>
                <a:tc>
                  <a:txBody>
                    <a:bodyPr/>
                    <a:lstStyle/>
                    <a:p>
                      <a:pPr algn="ctr"/>
                      <a:r>
                        <a:rPr lang="en-US" b="1" dirty="0">
                          <a:solidFill>
                            <a:schemeClr val="accent6"/>
                          </a:solidFill>
                          <a:latin typeface="Arial" panose="020B0604020202020204" pitchFamily="34" charset="0"/>
                          <a:cs typeface="Arial" panose="020B0604020202020204" pitchFamily="34" charset="0"/>
                        </a:rPr>
                        <a:t>157</a:t>
                      </a:r>
                    </a:p>
                  </a:txBody>
                  <a:tcPr/>
                </a:tc>
                <a:extLst>
                  <a:ext uri="{0D108BD9-81ED-4DB2-BD59-A6C34878D82A}">
                    <a16:rowId xmlns:a16="http://schemas.microsoft.com/office/drawing/2014/main" val="3072000173"/>
                  </a:ext>
                </a:extLst>
              </a:tr>
              <a:tr h="370840">
                <a:tc>
                  <a:txBody>
                    <a:bodyPr/>
                    <a:lstStyle/>
                    <a:p>
                      <a:r>
                        <a:rPr lang="en-US" dirty="0">
                          <a:latin typeface="Arial" panose="020B0604020202020204" pitchFamily="34" charset="0"/>
                          <a:cs typeface="Arial" panose="020B0604020202020204" pitchFamily="34" charset="0"/>
                        </a:rPr>
                        <a:t>Not Physically Abused</a:t>
                      </a:r>
                    </a:p>
                  </a:txBody>
                  <a:tcPr/>
                </a:tc>
                <a:tc>
                  <a:txBody>
                    <a:bodyPr/>
                    <a:lstStyle/>
                    <a:p>
                      <a:pPr algn="ctr"/>
                      <a:r>
                        <a:rPr lang="en-US" b="0" dirty="0">
                          <a:solidFill>
                            <a:schemeClr val="accent3">
                              <a:lumMod val="75000"/>
                            </a:schemeClr>
                          </a:solidFill>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133</a:t>
                      </a:r>
                    </a:p>
                  </a:txBody>
                  <a:tcPr/>
                </a:tc>
                <a:tc>
                  <a:txBody>
                    <a:bodyPr/>
                    <a:lstStyle/>
                    <a:p>
                      <a:pPr algn="ctr"/>
                      <a:r>
                        <a:rPr lang="en-US" b="1" dirty="0">
                          <a:latin typeface="Arial" panose="020B0604020202020204" pitchFamily="34" charset="0"/>
                          <a:cs typeface="Arial" panose="020B0604020202020204" pitchFamily="34" charset="0"/>
                        </a:rPr>
                        <a:t>137</a:t>
                      </a:r>
                    </a:p>
                  </a:txBody>
                  <a:tcPr/>
                </a:tc>
                <a:extLst>
                  <a:ext uri="{0D108BD9-81ED-4DB2-BD59-A6C34878D82A}">
                    <a16:rowId xmlns:a16="http://schemas.microsoft.com/office/drawing/2014/main" val="305520602"/>
                  </a:ext>
                </a:extLst>
              </a:tr>
              <a:tr h="370840">
                <a:tc>
                  <a:txBody>
                    <a:bodyPr/>
                    <a:lstStyle/>
                    <a:p>
                      <a:endParaRPr lang="en-US" dirty="0">
                        <a:latin typeface="Arial" panose="020B0604020202020204" pitchFamily="34" charset="0"/>
                        <a:cs typeface="Arial" panose="020B0604020202020204" pitchFamily="34" charset="0"/>
                      </a:endParaRPr>
                    </a:p>
                  </a:txBody>
                  <a:tcPr/>
                </a:tc>
                <a:tc>
                  <a:txBody>
                    <a:bodyPr/>
                    <a:lstStyle/>
                    <a:p>
                      <a:pPr algn="ctr"/>
                      <a:r>
                        <a:rPr lang="en-US" b="1" dirty="0">
                          <a:latin typeface="Arial" panose="020B0604020202020204" pitchFamily="34" charset="0"/>
                          <a:cs typeface="Arial" panose="020B0604020202020204" pitchFamily="34" charset="0"/>
                        </a:rPr>
                        <a:t>32</a:t>
                      </a:r>
                    </a:p>
                  </a:txBody>
                  <a:tcPr/>
                </a:tc>
                <a:tc>
                  <a:txBody>
                    <a:bodyPr/>
                    <a:lstStyle/>
                    <a:p>
                      <a:pPr algn="ctr"/>
                      <a:r>
                        <a:rPr lang="en-US" b="1" dirty="0">
                          <a:latin typeface="Arial" panose="020B0604020202020204" pitchFamily="34" charset="0"/>
                          <a:cs typeface="Arial" panose="020B0604020202020204" pitchFamily="34" charset="0"/>
                        </a:rPr>
                        <a:t>262</a:t>
                      </a:r>
                    </a:p>
                  </a:txBody>
                  <a:tcPr/>
                </a:tc>
                <a:tc>
                  <a:txBody>
                    <a:bodyPr/>
                    <a:lstStyle/>
                    <a:p>
                      <a:pPr algn="ctr"/>
                      <a:r>
                        <a:rPr lang="en-US" b="1" dirty="0">
                          <a:latin typeface="Arial" panose="020B0604020202020204" pitchFamily="34" charset="0"/>
                          <a:cs typeface="Arial" panose="020B0604020202020204" pitchFamily="34" charset="0"/>
                        </a:rPr>
                        <a:t>Total = 294</a:t>
                      </a:r>
                    </a:p>
                  </a:txBody>
                  <a:tcPr/>
                </a:tc>
                <a:extLst>
                  <a:ext uri="{0D108BD9-81ED-4DB2-BD59-A6C34878D82A}">
                    <a16:rowId xmlns:a16="http://schemas.microsoft.com/office/drawing/2014/main" val="2999077937"/>
                  </a:ext>
                </a:extLst>
              </a:tr>
            </a:tbl>
          </a:graphicData>
        </a:graphic>
      </p:graphicFrame>
      <p:cxnSp>
        <p:nvCxnSpPr>
          <p:cNvPr id="6" name="Straight Arrow Connector 5">
            <a:extLst>
              <a:ext uri="{FF2B5EF4-FFF2-40B4-BE49-F238E27FC236}">
                <a16:creationId xmlns:a16="http://schemas.microsoft.com/office/drawing/2014/main" id="{80D7411E-E2F3-7F4F-B748-90BF8810F0CF}"/>
              </a:ext>
            </a:extLst>
          </p:cNvPr>
          <p:cNvCxnSpPr>
            <a:cxnSpLocks/>
          </p:cNvCxnSpPr>
          <p:nvPr/>
        </p:nvCxnSpPr>
        <p:spPr>
          <a:xfrm>
            <a:off x="7026442" y="3092116"/>
            <a:ext cx="13355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BC9CC82-BAD3-194C-B6AB-2D5B2122263C}"/>
              </a:ext>
            </a:extLst>
          </p:cNvPr>
          <p:cNvSpPr txBox="1"/>
          <p:nvPr/>
        </p:nvSpPr>
        <p:spPr>
          <a:xfrm>
            <a:off x="8361947" y="2907450"/>
            <a:ext cx="34410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4BB22"/>
                </a:solidFill>
                <a:effectLst/>
                <a:uLnTx/>
                <a:uFillTx/>
                <a:latin typeface="Arial" panose="020B0604020202020204" pitchFamily="34" charset="0"/>
                <a:cs typeface="Arial" panose="020B0604020202020204" pitchFamily="34" charset="0"/>
              </a:rPr>
              <a:t>Row marginals</a:t>
            </a:r>
          </a:p>
        </p:txBody>
      </p:sp>
      <p:cxnSp>
        <p:nvCxnSpPr>
          <p:cNvPr id="11" name="Straight Arrow Connector 10">
            <a:extLst>
              <a:ext uri="{FF2B5EF4-FFF2-40B4-BE49-F238E27FC236}">
                <a16:creationId xmlns:a16="http://schemas.microsoft.com/office/drawing/2014/main" id="{8762EAC8-44E7-014A-98DF-C9B1C93EAB87}"/>
              </a:ext>
            </a:extLst>
          </p:cNvPr>
          <p:cNvCxnSpPr/>
          <p:nvPr/>
        </p:nvCxnSpPr>
        <p:spPr>
          <a:xfrm>
            <a:off x="3633537" y="4498586"/>
            <a:ext cx="0" cy="417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D1ECABA-F77A-5D45-916E-01B9F89AAD04}"/>
              </a:ext>
            </a:extLst>
          </p:cNvPr>
          <p:cNvSpPr txBox="1"/>
          <p:nvPr/>
        </p:nvSpPr>
        <p:spPr>
          <a:xfrm>
            <a:off x="2859504" y="4966724"/>
            <a:ext cx="24615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39834">
                    <a:lumMod val="75000"/>
                  </a:srgbClr>
                </a:solidFill>
                <a:effectLst/>
                <a:uLnTx/>
                <a:uFillTx/>
                <a:latin typeface="Arial" panose="020B0604020202020204" pitchFamily="34" charset="0"/>
                <a:cs typeface="Arial" panose="020B0604020202020204" pitchFamily="34" charset="0"/>
              </a:rPr>
              <a:t>Column marginals</a:t>
            </a:r>
          </a:p>
        </p:txBody>
      </p:sp>
      <p:sp>
        <p:nvSpPr>
          <p:cNvPr id="13" name="TextBox 12">
            <a:extLst>
              <a:ext uri="{FF2B5EF4-FFF2-40B4-BE49-F238E27FC236}">
                <a16:creationId xmlns:a16="http://schemas.microsoft.com/office/drawing/2014/main" id="{31EAA9F1-1FBC-F740-AA64-21E4E33D9D23}"/>
              </a:ext>
            </a:extLst>
          </p:cNvPr>
          <p:cNvSpPr txBox="1"/>
          <p:nvPr/>
        </p:nvSpPr>
        <p:spPr>
          <a:xfrm>
            <a:off x="8462156" y="3298257"/>
            <a:ext cx="3729843"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The row marginal answers the question: Among foster youth who</a:t>
            </a:r>
            <a:r>
              <a:rPr kumimoji="0" lang="en-US" sz="1800" b="0" i="0" u="none" strike="noStrike" kern="1200" cap="none" spc="0" normalizeH="0" noProof="0" dirty="0">
                <a:ln>
                  <a:noFill/>
                </a:ln>
                <a:solidFill>
                  <a:srgbClr val="000000"/>
                </a:solidFill>
                <a:effectLst/>
                <a:uLnTx/>
                <a:uFillTx/>
                <a:latin typeface="Arial" panose="020B0604020202020204" pitchFamily="34" charset="0"/>
                <a:cs typeface="Arial" panose="020B0604020202020204" pitchFamily="34" charset="0"/>
              </a:rPr>
              <a:t> were physically abused</a:t>
            </a:r>
            <a:r>
              <a:rPr kumimoji="0" lang="en-US" sz="18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what percentage developed PTSD? </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28/157</a:t>
            </a:r>
          </a:p>
        </p:txBody>
      </p:sp>
      <p:sp>
        <p:nvSpPr>
          <p:cNvPr id="14" name="TextBox 13">
            <a:extLst>
              <a:ext uri="{FF2B5EF4-FFF2-40B4-BE49-F238E27FC236}">
                <a16:creationId xmlns:a16="http://schemas.microsoft.com/office/drawing/2014/main" id="{BC5A8B76-3A15-5C4B-B195-4AE9621133A9}"/>
              </a:ext>
            </a:extLst>
          </p:cNvPr>
          <p:cNvSpPr txBox="1"/>
          <p:nvPr/>
        </p:nvSpPr>
        <p:spPr>
          <a:xfrm>
            <a:off x="2859505" y="5261913"/>
            <a:ext cx="356075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The column marginal answers the question: </a:t>
            </a:r>
            <a:r>
              <a:rPr kumimoji="0" lang="en-US" sz="18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Among foster youth who developed PTSD</a:t>
            </a:r>
            <a:r>
              <a:rPr kumimoji="0" lang="en-US" sz="1800" b="0" i="1" u="none" strike="noStrike" kern="1200" cap="none" spc="0" normalizeH="0" noProof="0" dirty="0">
                <a:ln>
                  <a:noFill/>
                </a:ln>
                <a:solidFill>
                  <a:srgbClr val="000000"/>
                </a:solidFill>
                <a:effectLst/>
                <a:uLnTx/>
                <a:uFillTx/>
                <a:latin typeface="Arial" panose="020B0604020202020204" pitchFamily="34" charset="0"/>
                <a:cs typeface="Arial" panose="020B0604020202020204" pitchFamily="34" charset="0"/>
              </a:rPr>
              <a:t>, </a:t>
            </a:r>
            <a:r>
              <a:rPr kumimoji="0" lang="en-US" sz="18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percentage were physically abused? </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28/32</a:t>
            </a:r>
          </a:p>
        </p:txBody>
      </p:sp>
      <p:sp>
        <p:nvSpPr>
          <p:cNvPr id="8" name="TextBox 7">
            <a:extLst>
              <a:ext uri="{FF2B5EF4-FFF2-40B4-BE49-F238E27FC236}">
                <a16:creationId xmlns:a16="http://schemas.microsoft.com/office/drawing/2014/main" id="{D1987860-C10C-DC0D-611F-B3CAA90AE3B3}"/>
              </a:ext>
            </a:extLst>
          </p:cNvPr>
          <p:cNvSpPr txBox="1"/>
          <p:nvPr/>
        </p:nvSpPr>
        <p:spPr>
          <a:xfrm>
            <a:off x="8462157" y="4915681"/>
            <a:ext cx="3340824"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Note</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this is NOT the same as the probability of being</a:t>
            </a:r>
            <a:r>
              <a:rPr kumimoji="0" lang="en-US" sz="1800" b="0" i="0" u="none" strike="noStrike" kern="1200" cap="none" spc="0" normalizeH="0" noProof="0" dirty="0">
                <a:ln>
                  <a:noFill/>
                </a:ln>
                <a:solidFill>
                  <a:srgbClr val="000000"/>
                </a:solidFill>
                <a:effectLst/>
                <a:uLnTx/>
                <a:uFillTx/>
                <a:latin typeface="Arial" panose="020B0604020202020204" pitchFamily="34" charset="0"/>
                <a:cs typeface="Arial" panose="020B0604020202020204" pitchFamily="34" charset="0"/>
              </a:rPr>
              <a:t> abused</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AND having PTSD (28/294)</a:t>
            </a:r>
          </a:p>
        </p:txBody>
      </p:sp>
    </p:spTree>
    <p:extLst>
      <p:ext uri="{BB962C8B-B14F-4D97-AF65-F5344CB8AC3E}">
        <p14:creationId xmlns:p14="http://schemas.microsoft.com/office/powerpoint/2010/main" val="156668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7D49802-2B18-9E4D-91D3-5BB6B98AB764}"/>
              </a:ext>
            </a:extLst>
          </p:cNvPr>
          <p:cNvGraphicFramePr>
            <a:graphicFrameLocks noGrp="1"/>
          </p:cNvGraphicFramePr>
          <p:nvPr>
            <p:ph idx="1"/>
            <p:extLst>
              <p:ext uri="{D42A27DB-BD31-4B8C-83A1-F6EECF244321}">
                <p14:modId xmlns:p14="http://schemas.microsoft.com/office/powerpoint/2010/main" val="2073909533"/>
              </p:ext>
            </p:extLst>
          </p:nvPr>
        </p:nvGraphicFramePr>
        <p:xfrm>
          <a:off x="2720458" y="83444"/>
          <a:ext cx="6121985" cy="2392680"/>
        </p:xfrm>
        <a:graphic>
          <a:graphicData uri="http://schemas.openxmlformats.org/drawingml/2006/table">
            <a:tbl>
              <a:tblPr firstRow="1" bandRow="1">
                <a:tableStyleId>{5C22544A-7EE6-4342-B048-85BDC9FD1C3A}</a:tableStyleId>
              </a:tblPr>
              <a:tblGrid>
                <a:gridCol w="1718426">
                  <a:extLst>
                    <a:ext uri="{9D8B030D-6E8A-4147-A177-3AD203B41FA5}">
                      <a16:colId xmlns:a16="http://schemas.microsoft.com/office/drawing/2014/main" val="2613933755"/>
                    </a:ext>
                  </a:extLst>
                </a:gridCol>
                <a:gridCol w="1600200">
                  <a:extLst>
                    <a:ext uri="{9D8B030D-6E8A-4147-A177-3AD203B41FA5}">
                      <a16:colId xmlns:a16="http://schemas.microsoft.com/office/drawing/2014/main" val="2298456782"/>
                    </a:ext>
                  </a:extLst>
                </a:gridCol>
                <a:gridCol w="1311443">
                  <a:extLst>
                    <a:ext uri="{9D8B030D-6E8A-4147-A177-3AD203B41FA5}">
                      <a16:colId xmlns:a16="http://schemas.microsoft.com/office/drawing/2014/main" val="8720086"/>
                    </a:ext>
                  </a:extLst>
                </a:gridCol>
                <a:gridCol w="1491916">
                  <a:extLst>
                    <a:ext uri="{9D8B030D-6E8A-4147-A177-3AD203B41FA5}">
                      <a16:colId xmlns:a16="http://schemas.microsoft.com/office/drawing/2014/main" val="3953097354"/>
                    </a:ext>
                  </a:extLst>
                </a:gridCol>
              </a:tblGrid>
              <a:tr h="370840">
                <a:tc>
                  <a:txBody>
                    <a:bodyPr/>
                    <a:lstStyle/>
                    <a:p>
                      <a:endParaRPr lang="en-US" sz="1800" dirty="0">
                        <a:latin typeface="Arial" panose="020B0604020202020204" pitchFamily="34" charset="0"/>
                        <a:cs typeface="Arial" panose="020B0604020202020204" pitchFamily="34" charset="0"/>
                      </a:endParaRPr>
                    </a:p>
                  </a:txBody>
                  <a:tcPr/>
                </a:tc>
                <a:tc gridSpan="2">
                  <a:txBody>
                    <a:bodyPr/>
                    <a:lstStyle/>
                    <a:p>
                      <a:pPr algn="ctr"/>
                      <a:r>
                        <a:rPr lang="en-US" sz="1800" dirty="0">
                          <a:latin typeface="Arial" panose="020B0604020202020204" pitchFamily="34" charset="0"/>
                          <a:cs typeface="Arial" panose="020B0604020202020204" pitchFamily="34" charset="0"/>
                        </a:rPr>
                        <a:t>Developed PTSD?</a:t>
                      </a:r>
                    </a:p>
                  </a:txBody>
                  <a:tcPr/>
                </a:tc>
                <a:tc hMerge="1">
                  <a:txBody>
                    <a:bodyPr/>
                    <a:lstStyle/>
                    <a:p>
                      <a:endParaRPr lang="en-US" dirty="0"/>
                    </a:p>
                  </a:txBody>
                  <a:tcPr/>
                </a:tc>
                <a:tc>
                  <a:txBody>
                    <a:bodyPr/>
                    <a:lstStyle/>
                    <a:p>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704524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latin typeface="Arial" panose="020B0604020202020204" pitchFamily="34" charset="0"/>
                          <a:cs typeface="Arial" panose="020B0604020202020204" pitchFamily="34" charset="0"/>
                        </a:rPr>
                        <a:t>Abused?</a:t>
                      </a:r>
                    </a:p>
                  </a:txBody>
                  <a:tcPr/>
                </a:tc>
                <a:tc>
                  <a:txBody>
                    <a:bodyPr/>
                    <a:lstStyle/>
                    <a:p>
                      <a:pPr algn="ctr"/>
                      <a:r>
                        <a:rPr lang="en-US" sz="1800" b="1" dirty="0">
                          <a:latin typeface="Arial" panose="020B0604020202020204" pitchFamily="34" charset="0"/>
                          <a:cs typeface="Arial" panose="020B0604020202020204" pitchFamily="34" charset="0"/>
                        </a:rPr>
                        <a:t>Yes</a:t>
                      </a:r>
                    </a:p>
                  </a:txBody>
                  <a:tcPr/>
                </a:tc>
                <a:tc>
                  <a:txBody>
                    <a:bodyPr/>
                    <a:lstStyle/>
                    <a:p>
                      <a:pPr algn="ctr"/>
                      <a:r>
                        <a:rPr lang="en-US" sz="1800" b="1" dirty="0">
                          <a:latin typeface="Arial" panose="020B0604020202020204" pitchFamily="34" charset="0"/>
                          <a:cs typeface="Arial" panose="020B0604020202020204" pitchFamily="34" charset="0"/>
                        </a:rPr>
                        <a:t>No</a:t>
                      </a:r>
                    </a:p>
                  </a:txBody>
                  <a:tcPr/>
                </a:tc>
                <a:tc>
                  <a:txBody>
                    <a:bodyPr/>
                    <a:lstStyle/>
                    <a:p>
                      <a:pPr algn="ct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60352780"/>
                  </a:ext>
                </a:extLst>
              </a:tr>
              <a:tr h="370840">
                <a:tc>
                  <a:txBody>
                    <a:bodyPr/>
                    <a:lstStyle/>
                    <a:p>
                      <a:r>
                        <a:rPr lang="en-US" sz="1800" dirty="0">
                          <a:latin typeface="Arial" panose="020B0604020202020204" pitchFamily="34" charset="0"/>
                          <a:cs typeface="Arial" panose="020B0604020202020204" pitchFamily="34" charset="0"/>
                        </a:rPr>
                        <a:t>Physically Abused</a:t>
                      </a:r>
                    </a:p>
                  </a:txBody>
                  <a:tcPr/>
                </a:tc>
                <a:tc>
                  <a:txBody>
                    <a:bodyPr/>
                    <a:lstStyle/>
                    <a:p>
                      <a:pPr algn="ctr"/>
                      <a:r>
                        <a:rPr lang="en-US" sz="1800" b="0" dirty="0">
                          <a:solidFill>
                            <a:schemeClr val="accent3">
                              <a:lumMod val="75000"/>
                            </a:schemeClr>
                          </a:solidFill>
                          <a:latin typeface="Arial" panose="020B0604020202020204" pitchFamily="34" charset="0"/>
                          <a:cs typeface="Arial" panose="020B0604020202020204" pitchFamily="34" charset="0"/>
                        </a:rPr>
                        <a:t>28</a:t>
                      </a:r>
                    </a:p>
                  </a:txBody>
                  <a:tcPr/>
                </a:tc>
                <a:tc>
                  <a:txBody>
                    <a:bodyPr/>
                    <a:lstStyle/>
                    <a:p>
                      <a:pPr algn="ctr"/>
                      <a:r>
                        <a:rPr lang="en-US" sz="1800" dirty="0">
                          <a:solidFill>
                            <a:schemeClr val="accent6"/>
                          </a:solidFill>
                          <a:latin typeface="Arial" panose="020B0604020202020204" pitchFamily="34" charset="0"/>
                          <a:cs typeface="Arial" panose="020B0604020202020204" pitchFamily="34" charset="0"/>
                        </a:rPr>
                        <a:t>129</a:t>
                      </a:r>
                    </a:p>
                  </a:txBody>
                  <a:tcPr/>
                </a:tc>
                <a:tc>
                  <a:txBody>
                    <a:bodyPr/>
                    <a:lstStyle/>
                    <a:p>
                      <a:pPr algn="ctr"/>
                      <a:r>
                        <a:rPr lang="en-US" sz="1800" b="1" dirty="0">
                          <a:solidFill>
                            <a:schemeClr val="accent6"/>
                          </a:solidFill>
                          <a:latin typeface="Arial" panose="020B0604020202020204" pitchFamily="34" charset="0"/>
                          <a:cs typeface="Arial" panose="020B0604020202020204" pitchFamily="34" charset="0"/>
                        </a:rPr>
                        <a:t>157</a:t>
                      </a:r>
                    </a:p>
                  </a:txBody>
                  <a:tcPr/>
                </a:tc>
                <a:extLst>
                  <a:ext uri="{0D108BD9-81ED-4DB2-BD59-A6C34878D82A}">
                    <a16:rowId xmlns:a16="http://schemas.microsoft.com/office/drawing/2014/main" val="3072000173"/>
                  </a:ext>
                </a:extLst>
              </a:tr>
              <a:tr h="370840">
                <a:tc>
                  <a:txBody>
                    <a:bodyPr/>
                    <a:lstStyle/>
                    <a:p>
                      <a:r>
                        <a:rPr lang="en-US" sz="1800" dirty="0">
                          <a:latin typeface="Arial" panose="020B0604020202020204" pitchFamily="34" charset="0"/>
                          <a:cs typeface="Arial" panose="020B0604020202020204" pitchFamily="34" charset="0"/>
                        </a:rPr>
                        <a:t>Not Physically Abused</a:t>
                      </a:r>
                    </a:p>
                  </a:txBody>
                  <a:tcPr/>
                </a:tc>
                <a:tc>
                  <a:txBody>
                    <a:bodyPr/>
                    <a:lstStyle/>
                    <a:p>
                      <a:pPr algn="ctr"/>
                      <a:r>
                        <a:rPr lang="en-US" sz="1800" b="0" dirty="0">
                          <a:solidFill>
                            <a:schemeClr val="accent3">
                              <a:lumMod val="75000"/>
                            </a:schemeClr>
                          </a:solidFill>
                          <a:latin typeface="Arial" panose="020B0604020202020204" pitchFamily="34" charset="0"/>
                          <a:cs typeface="Arial" panose="020B0604020202020204" pitchFamily="34" charset="0"/>
                        </a:rPr>
                        <a:t>4</a:t>
                      </a:r>
                    </a:p>
                  </a:txBody>
                  <a:tcPr/>
                </a:tc>
                <a:tc>
                  <a:txBody>
                    <a:bodyPr/>
                    <a:lstStyle/>
                    <a:p>
                      <a:pPr algn="ctr"/>
                      <a:r>
                        <a:rPr lang="en-US" sz="1800" dirty="0">
                          <a:latin typeface="Arial" panose="020B0604020202020204" pitchFamily="34" charset="0"/>
                          <a:cs typeface="Arial" panose="020B0604020202020204" pitchFamily="34" charset="0"/>
                        </a:rPr>
                        <a:t>133</a:t>
                      </a:r>
                    </a:p>
                  </a:txBody>
                  <a:tcPr/>
                </a:tc>
                <a:tc>
                  <a:txBody>
                    <a:bodyPr/>
                    <a:lstStyle/>
                    <a:p>
                      <a:pPr algn="ctr"/>
                      <a:r>
                        <a:rPr lang="en-US" sz="1800" b="1" dirty="0">
                          <a:latin typeface="Arial" panose="020B0604020202020204" pitchFamily="34" charset="0"/>
                          <a:cs typeface="Arial" panose="020B0604020202020204" pitchFamily="34" charset="0"/>
                        </a:rPr>
                        <a:t>137</a:t>
                      </a:r>
                    </a:p>
                  </a:txBody>
                  <a:tcPr/>
                </a:tc>
                <a:extLst>
                  <a:ext uri="{0D108BD9-81ED-4DB2-BD59-A6C34878D82A}">
                    <a16:rowId xmlns:a16="http://schemas.microsoft.com/office/drawing/2014/main" val="305520602"/>
                  </a:ext>
                </a:extLst>
              </a:tr>
              <a:tr h="370840">
                <a:tc>
                  <a:txBody>
                    <a:bodyPr/>
                    <a:lstStyle/>
                    <a:p>
                      <a:endParaRPr lang="en-US" sz="1800" dirty="0">
                        <a:latin typeface="Arial" panose="020B0604020202020204" pitchFamily="34" charset="0"/>
                        <a:cs typeface="Arial" panose="020B0604020202020204" pitchFamily="34" charset="0"/>
                      </a:endParaRPr>
                    </a:p>
                  </a:txBody>
                  <a:tcPr/>
                </a:tc>
                <a:tc>
                  <a:txBody>
                    <a:bodyPr/>
                    <a:lstStyle/>
                    <a:p>
                      <a:pPr algn="ctr"/>
                      <a:r>
                        <a:rPr lang="en-US" sz="1800" b="1" dirty="0">
                          <a:latin typeface="Arial" panose="020B0604020202020204" pitchFamily="34" charset="0"/>
                          <a:cs typeface="Arial" panose="020B0604020202020204" pitchFamily="34" charset="0"/>
                        </a:rPr>
                        <a:t>32</a:t>
                      </a:r>
                    </a:p>
                  </a:txBody>
                  <a:tcPr/>
                </a:tc>
                <a:tc>
                  <a:txBody>
                    <a:bodyPr/>
                    <a:lstStyle/>
                    <a:p>
                      <a:pPr algn="ctr"/>
                      <a:r>
                        <a:rPr lang="en-US" sz="1800" b="1" dirty="0">
                          <a:latin typeface="Arial" panose="020B0604020202020204" pitchFamily="34" charset="0"/>
                          <a:cs typeface="Arial" panose="020B0604020202020204" pitchFamily="34" charset="0"/>
                        </a:rPr>
                        <a:t>262</a:t>
                      </a:r>
                    </a:p>
                  </a:txBody>
                  <a:tcPr/>
                </a:tc>
                <a:tc>
                  <a:txBody>
                    <a:bodyPr/>
                    <a:lstStyle/>
                    <a:p>
                      <a:pPr algn="ctr"/>
                      <a:r>
                        <a:rPr lang="en-US" sz="1800" b="1" dirty="0">
                          <a:latin typeface="Arial" panose="020B0604020202020204" pitchFamily="34" charset="0"/>
                          <a:cs typeface="Arial" panose="020B0604020202020204" pitchFamily="34" charset="0"/>
                        </a:rPr>
                        <a:t>Total = 294</a:t>
                      </a:r>
                    </a:p>
                  </a:txBody>
                  <a:tcPr/>
                </a:tc>
                <a:extLst>
                  <a:ext uri="{0D108BD9-81ED-4DB2-BD59-A6C34878D82A}">
                    <a16:rowId xmlns:a16="http://schemas.microsoft.com/office/drawing/2014/main" val="2999077937"/>
                  </a:ext>
                </a:extLst>
              </a:tr>
            </a:tbl>
          </a:graphicData>
        </a:graphic>
      </p:graphicFrame>
      <p:sp>
        <p:nvSpPr>
          <p:cNvPr id="13" name="TextBox 12">
            <a:extLst>
              <a:ext uri="{FF2B5EF4-FFF2-40B4-BE49-F238E27FC236}">
                <a16:creationId xmlns:a16="http://schemas.microsoft.com/office/drawing/2014/main" id="{31EAA9F1-1FBC-F740-AA64-21E4E33D9D23}"/>
              </a:ext>
            </a:extLst>
          </p:cNvPr>
          <p:cNvSpPr txBox="1"/>
          <p:nvPr/>
        </p:nvSpPr>
        <p:spPr>
          <a:xfrm>
            <a:off x="547348" y="2745364"/>
            <a:ext cx="1057136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is the risk ratio (RR) of developing PTSD among foster youth who were physically abused compared to those who were not?</a:t>
            </a:r>
          </a:p>
        </p:txBody>
      </p:sp>
      <p:sp>
        <p:nvSpPr>
          <p:cNvPr id="14" name="TextBox 13">
            <a:extLst>
              <a:ext uri="{FF2B5EF4-FFF2-40B4-BE49-F238E27FC236}">
                <a16:creationId xmlns:a16="http://schemas.microsoft.com/office/drawing/2014/main" id="{BC5A8B76-3A15-5C4B-B195-4AE9621133A9}"/>
              </a:ext>
            </a:extLst>
          </p:cNvPr>
          <p:cNvSpPr txBox="1"/>
          <p:nvPr/>
        </p:nvSpPr>
        <p:spPr>
          <a:xfrm>
            <a:off x="547348" y="3506828"/>
            <a:ext cx="11097301"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percentage of physically abused developed PTSD? This is also the ‘risk’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28/157 = 17.8%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percentage of those</a:t>
            </a:r>
            <a:r>
              <a:rPr kumimoji="0" lang="en-US" sz="2000" b="0" i="0" u="none" strike="noStrike" kern="1200" cap="none" spc="0" normalizeH="0" noProof="0" dirty="0">
                <a:ln>
                  <a:noFill/>
                </a:ln>
                <a:solidFill>
                  <a:srgbClr val="000000"/>
                </a:solidFill>
                <a:effectLst/>
                <a:uLnTx/>
                <a:uFillTx/>
                <a:latin typeface="Arial" panose="020B0604020202020204" pitchFamily="34" charset="0"/>
                <a:cs typeface="Arial" panose="020B0604020202020204" pitchFamily="34" charset="0"/>
              </a:rPr>
              <a:t> not physically abused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developed PTSD? This is also the ‘risk’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4</a:t>
            </a:r>
            <a:r>
              <a:rPr kumimoji="0" lang="en-US" sz="20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/137 = 2.9%</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C17F942-F5CB-014C-B286-CA6EBEB73C32}"/>
                  </a:ext>
                </a:extLst>
              </p:cNvPr>
              <p:cNvSpPr txBox="1"/>
              <p:nvPr/>
            </p:nvSpPr>
            <p:spPr>
              <a:xfrm>
                <a:off x="5334898" y="5074285"/>
                <a:ext cx="1750799" cy="5203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𝑅𝑅</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17</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8</m:t>
                          </m:r>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9</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p:txBody>
          </p:sp>
        </mc:Choice>
        <mc:Fallback>
          <p:sp>
            <p:nvSpPr>
              <p:cNvPr id="3" name="TextBox 2">
                <a:extLst>
                  <a:ext uri="{FF2B5EF4-FFF2-40B4-BE49-F238E27FC236}">
                    <a16:creationId xmlns:a16="http://schemas.microsoft.com/office/drawing/2014/main" id="{0C17F942-F5CB-014C-B286-CA6EBEB73C32}"/>
                  </a:ext>
                </a:extLst>
              </p:cNvPr>
              <p:cNvSpPr txBox="1">
                <a:spLocks noRot="1" noChangeAspect="1" noMove="1" noResize="1" noEditPoints="1" noAdjustHandles="1" noChangeArrowheads="1" noChangeShapeType="1" noTextEdit="1"/>
              </p:cNvSpPr>
              <p:nvPr/>
            </p:nvSpPr>
            <p:spPr>
              <a:xfrm>
                <a:off x="5334898" y="5074285"/>
                <a:ext cx="1750799" cy="520399"/>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22D6AB3-DA9D-1444-81EA-AA4B1E157905}"/>
              </a:ext>
            </a:extLst>
          </p:cNvPr>
          <p:cNvSpPr txBox="1"/>
          <p:nvPr/>
        </p:nvSpPr>
        <p:spPr>
          <a:xfrm>
            <a:off x="644734" y="5779350"/>
            <a:ext cx="1068404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XXXXX were XXXXX times more likely to develop PTSD compared to XXXXX</a:t>
            </a:r>
          </a:p>
        </p:txBody>
      </p:sp>
    </p:spTree>
    <p:extLst>
      <p:ext uri="{BB962C8B-B14F-4D97-AF65-F5344CB8AC3E}">
        <p14:creationId xmlns:p14="http://schemas.microsoft.com/office/powerpoint/2010/main" val="359508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4">
                                            <p:txEl>
                                              <p:pRg st="4" end="4"/>
                                            </p:txEl>
                                          </p:spTgt>
                                        </p:tgtEl>
                                        <p:attrNameLst>
                                          <p:attrName>style.visibility</p:attrName>
                                        </p:attrNameLst>
                                      </p:cBhvr>
                                      <p:to>
                                        <p:strVal val="visible"/>
                                      </p:to>
                                    </p:set>
                                    <p:anim calcmode="lin" valueType="num">
                                      <p:cBhvr additive="base">
                                        <p:cTn id="14"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arn(inVertical)">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04FC6-2401-7243-9451-D41B51D1BC0A}"/>
              </a:ext>
            </a:extLst>
          </p:cNvPr>
          <p:cNvSpPr>
            <a:spLocks noGrp="1"/>
          </p:cNvSpPr>
          <p:nvPr>
            <p:ph type="title"/>
          </p:nvPr>
        </p:nvSpPr>
        <p:spPr>
          <a:xfrm>
            <a:off x="100855" y="101302"/>
            <a:ext cx="10058400" cy="1108953"/>
          </a:xfrm>
        </p:spPr>
        <p:txBody>
          <a:bodyPr>
            <a:noAutofit/>
          </a:bodyPr>
          <a:lstStyle/>
          <a:p>
            <a:r>
              <a:rPr lang="en-US" sz="3600" dirty="0">
                <a:latin typeface="Arial" panose="020B0604020202020204" pitchFamily="34" charset="0"/>
                <a:cs typeface="Arial" panose="020B0604020202020204" pitchFamily="34" charset="0"/>
              </a:rPr>
              <a:t>Your Turn: Incidence of COVID-19 in a sample of individuals who received the Pfizer Vaccine</a:t>
            </a:r>
          </a:p>
        </p:txBody>
      </p:sp>
      <p:graphicFrame>
        <p:nvGraphicFramePr>
          <p:cNvPr id="4" name="Table 4">
            <a:extLst>
              <a:ext uri="{FF2B5EF4-FFF2-40B4-BE49-F238E27FC236}">
                <a16:creationId xmlns:a16="http://schemas.microsoft.com/office/drawing/2014/main" id="{87D49802-2B18-9E4D-91D3-5BB6B98AB764}"/>
              </a:ext>
            </a:extLst>
          </p:cNvPr>
          <p:cNvGraphicFramePr>
            <a:graphicFrameLocks noGrp="1"/>
          </p:cNvGraphicFramePr>
          <p:nvPr>
            <p:ph idx="1"/>
            <p:extLst>
              <p:ext uri="{D42A27DB-BD31-4B8C-83A1-F6EECF244321}">
                <p14:modId xmlns:p14="http://schemas.microsoft.com/office/powerpoint/2010/main" val="511211289"/>
              </p:ext>
            </p:extLst>
          </p:nvPr>
        </p:nvGraphicFramePr>
        <p:xfrm>
          <a:off x="231765" y="1222188"/>
          <a:ext cx="5929479" cy="1854200"/>
        </p:xfrm>
        <a:graphic>
          <a:graphicData uri="http://schemas.openxmlformats.org/drawingml/2006/table">
            <a:tbl>
              <a:tblPr firstRow="1" bandRow="1">
                <a:tableStyleId>{5C22544A-7EE6-4342-B048-85BDC9FD1C3A}</a:tableStyleId>
              </a:tblPr>
              <a:tblGrid>
                <a:gridCol w="1718426">
                  <a:extLst>
                    <a:ext uri="{9D8B030D-6E8A-4147-A177-3AD203B41FA5}">
                      <a16:colId xmlns:a16="http://schemas.microsoft.com/office/drawing/2014/main" val="2613933755"/>
                    </a:ext>
                  </a:extLst>
                </a:gridCol>
                <a:gridCol w="1600200">
                  <a:extLst>
                    <a:ext uri="{9D8B030D-6E8A-4147-A177-3AD203B41FA5}">
                      <a16:colId xmlns:a16="http://schemas.microsoft.com/office/drawing/2014/main" val="2298456782"/>
                    </a:ext>
                  </a:extLst>
                </a:gridCol>
                <a:gridCol w="1311443">
                  <a:extLst>
                    <a:ext uri="{9D8B030D-6E8A-4147-A177-3AD203B41FA5}">
                      <a16:colId xmlns:a16="http://schemas.microsoft.com/office/drawing/2014/main" val="8720086"/>
                    </a:ext>
                  </a:extLst>
                </a:gridCol>
                <a:gridCol w="1299410">
                  <a:extLst>
                    <a:ext uri="{9D8B030D-6E8A-4147-A177-3AD203B41FA5}">
                      <a16:colId xmlns:a16="http://schemas.microsoft.com/office/drawing/2014/main" val="3953097354"/>
                    </a:ext>
                  </a:extLst>
                </a:gridCol>
              </a:tblGrid>
              <a:tr h="370840">
                <a:tc>
                  <a:txBody>
                    <a:bodyPr/>
                    <a:lstStyle/>
                    <a:p>
                      <a:endParaRPr lang="en-US" dirty="0"/>
                    </a:p>
                  </a:txBody>
                  <a:tcPr/>
                </a:tc>
                <a:tc gridSpan="2">
                  <a:txBody>
                    <a:bodyPr/>
                    <a:lstStyle/>
                    <a:p>
                      <a:pPr algn="ctr"/>
                      <a:r>
                        <a:rPr lang="en-US" dirty="0"/>
                        <a:t>Developed Coronavirus?</a:t>
                      </a:r>
                    </a:p>
                  </a:txBody>
                  <a:tcPr/>
                </a:tc>
                <a:tc hMerge="1">
                  <a:txBody>
                    <a:bodyPr/>
                    <a:lstStyle/>
                    <a:p>
                      <a:endParaRPr lang="en-US" dirty="0"/>
                    </a:p>
                  </a:txBody>
                  <a:tcPr/>
                </a:tc>
                <a:tc>
                  <a:txBody>
                    <a:bodyPr/>
                    <a:lstStyle/>
                    <a:p>
                      <a:endParaRPr lang="en-US" dirty="0"/>
                    </a:p>
                  </a:txBody>
                  <a:tcPr/>
                </a:tc>
                <a:extLst>
                  <a:ext uri="{0D108BD9-81ED-4DB2-BD59-A6C34878D82A}">
                    <a16:rowId xmlns:a16="http://schemas.microsoft.com/office/drawing/2014/main" val="26704524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Vaccinated?</a:t>
                      </a:r>
                    </a:p>
                  </a:txBody>
                  <a:tcPr/>
                </a:tc>
                <a:tc>
                  <a:txBody>
                    <a:bodyPr/>
                    <a:lstStyle/>
                    <a:p>
                      <a:pPr algn="ctr"/>
                      <a:r>
                        <a:rPr lang="en-US" b="1" dirty="0"/>
                        <a:t>Yes</a:t>
                      </a:r>
                    </a:p>
                  </a:txBody>
                  <a:tcPr/>
                </a:tc>
                <a:tc>
                  <a:txBody>
                    <a:bodyPr/>
                    <a:lstStyle/>
                    <a:p>
                      <a:pPr algn="ctr"/>
                      <a:r>
                        <a:rPr lang="en-US" b="1" dirty="0"/>
                        <a:t>No</a:t>
                      </a:r>
                    </a:p>
                  </a:txBody>
                  <a:tcPr/>
                </a:tc>
                <a:tc>
                  <a:txBody>
                    <a:bodyPr/>
                    <a:lstStyle/>
                    <a:p>
                      <a:pPr algn="ctr"/>
                      <a:endParaRPr lang="en-US" dirty="0"/>
                    </a:p>
                  </a:txBody>
                  <a:tcPr/>
                </a:tc>
                <a:extLst>
                  <a:ext uri="{0D108BD9-81ED-4DB2-BD59-A6C34878D82A}">
                    <a16:rowId xmlns:a16="http://schemas.microsoft.com/office/drawing/2014/main" val="1160352780"/>
                  </a:ext>
                </a:extLst>
              </a:tr>
              <a:tr h="370840">
                <a:tc>
                  <a:txBody>
                    <a:bodyPr/>
                    <a:lstStyle/>
                    <a:p>
                      <a:r>
                        <a:rPr lang="en-US" dirty="0"/>
                        <a:t>Yes</a:t>
                      </a:r>
                    </a:p>
                  </a:txBody>
                  <a:tcPr/>
                </a:tc>
                <a:tc>
                  <a:txBody>
                    <a:bodyPr/>
                    <a:lstStyle/>
                    <a:p>
                      <a:pPr algn="ctr"/>
                      <a:r>
                        <a:rPr lang="en-US" b="0" dirty="0">
                          <a:solidFill>
                            <a:schemeClr val="accent3">
                              <a:lumMod val="75000"/>
                            </a:schemeClr>
                          </a:solidFill>
                        </a:rPr>
                        <a:t>18</a:t>
                      </a:r>
                    </a:p>
                  </a:txBody>
                  <a:tcPr/>
                </a:tc>
                <a:tc>
                  <a:txBody>
                    <a:bodyPr/>
                    <a:lstStyle/>
                    <a:p>
                      <a:pPr algn="ctr"/>
                      <a:r>
                        <a:rPr lang="en-US" dirty="0">
                          <a:solidFill>
                            <a:schemeClr val="accent6"/>
                          </a:solidFill>
                        </a:rPr>
                        <a:t>134</a:t>
                      </a:r>
                    </a:p>
                  </a:txBody>
                  <a:tcPr/>
                </a:tc>
                <a:tc>
                  <a:txBody>
                    <a:bodyPr/>
                    <a:lstStyle/>
                    <a:p>
                      <a:pPr algn="ctr"/>
                      <a:r>
                        <a:rPr lang="en-US" b="1" dirty="0">
                          <a:solidFill>
                            <a:schemeClr val="accent6"/>
                          </a:solidFill>
                        </a:rPr>
                        <a:t>152</a:t>
                      </a:r>
                    </a:p>
                  </a:txBody>
                  <a:tcPr/>
                </a:tc>
                <a:extLst>
                  <a:ext uri="{0D108BD9-81ED-4DB2-BD59-A6C34878D82A}">
                    <a16:rowId xmlns:a16="http://schemas.microsoft.com/office/drawing/2014/main" val="3072000173"/>
                  </a:ext>
                </a:extLst>
              </a:tr>
              <a:tr h="370840">
                <a:tc>
                  <a:txBody>
                    <a:bodyPr/>
                    <a:lstStyle/>
                    <a:p>
                      <a:r>
                        <a:rPr lang="en-US" dirty="0"/>
                        <a:t>No</a:t>
                      </a:r>
                    </a:p>
                  </a:txBody>
                  <a:tcPr/>
                </a:tc>
                <a:tc>
                  <a:txBody>
                    <a:bodyPr/>
                    <a:lstStyle/>
                    <a:p>
                      <a:pPr algn="ctr"/>
                      <a:r>
                        <a:rPr lang="en-US" b="0" dirty="0">
                          <a:solidFill>
                            <a:schemeClr val="accent3">
                              <a:lumMod val="75000"/>
                            </a:schemeClr>
                          </a:solidFill>
                        </a:rPr>
                        <a:t>3</a:t>
                      </a:r>
                    </a:p>
                  </a:txBody>
                  <a:tcPr/>
                </a:tc>
                <a:tc>
                  <a:txBody>
                    <a:bodyPr/>
                    <a:lstStyle/>
                    <a:p>
                      <a:pPr algn="ctr"/>
                      <a:r>
                        <a:rPr lang="en-US" dirty="0"/>
                        <a:t>4</a:t>
                      </a:r>
                    </a:p>
                  </a:txBody>
                  <a:tcPr/>
                </a:tc>
                <a:tc>
                  <a:txBody>
                    <a:bodyPr/>
                    <a:lstStyle/>
                    <a:p>
                      <a:pPr algn="ctr"/>
                      <a:r>
                        <a:rPr lang="en-US" b="1" dirty="0"/>
                        <a:t>7</a:t>
                      </a:r>
                    </a:p>
                  </a:txBody>
                  <a:tcPr/>
                </a:tc>
                <a:extLst>
                  <a:ext uri="{0D108BD9-81ED-4DB2-BD59-A6C34878D82A}">
                    <a16:rowId xmlns:a16="http://schemas.microsoft.com/office/drawing/2014/main" val="305520602"/>
                  </a:ext>
                </a:extLst>
              </a:tr>
              <a:tr h="370840">
                <a:tc>
                  <a:txBody>
                    <a:bodyPr/>
                    <a:lstStyle/>
                    <a:p>
                      <a:endParaRPr lang="en-US" dirty="0"/>
                    </a:p>
                  </a:txBody>
                  <a:tcPr/>
                </a:tc>
                <a:tc>
                  <a:txBody>
                    <a:bodyPr/>
                    <a:lstStyle/>
                    <a:p>
                      <a:pPr algn="ctr"/>
                      <a:endParaRPr lang="en-US" b="1" dirty="0"/>
                    </a:p>
                  </a:txBody>
                  <a:tcPr/>
                </a:tc>
                <a:tc>
                  <a:txBody>
                    <a:bodyPr/>
                    <a:lstStyle/>
                    <a:p>
                      <a:pPr algn="ctr"/>
                      <a:endParaRPr lang="en-US" b="1" dirty="0"/>
                    </a:p>
                  </a:txBody>
                  <a:tcPr/>
                </a:tc>
                <a:tc>
                  <a:txBody>
                    <a:bodyPr/>
                    <a:lstStyle/>
                    <a:p>
                      <a:pPr algn="ctr"/>
                      <a:r>
                        <a:rPr lang="en-US" b="1" dirty="0"/>
                        <a:t>Total = 159</a:t>
                      </a:r>
                    </a:p>
                  </a:txBody>
                  <a:tcPr/>
                </a:tc>
                <a:extLst>
                  <a:ext uri="{0D108BD9-81ED-4DB2-BD59-A6C34878D82A}">
                    <a16:rowId xmlns:a16="http://schemas.microsoft.com/office/drawing/2014/main" val="2999077937"/>
                  </a:ext>
                </a:extLst>
              </a:tr>
            </a:tbl>
          </a:graphicData>
        </a:graphic>
      </p:graphicFrame>
      <p:sp>
        <p:nvSpPr>
          <p:cNvPr id="3" name="TextBox 2">
            <a:extLst>
              <a:ext uri="{FF2B5EF4-FFF2-40B4-BE49-F238E27FC236}">
                <a16:creationId xmlns:a16="http://schemas.microsoft.com/office/drawing/2014/main" id="{43250DA2-01C7-5448-BDC7-7F92E2023501}"/>
              </a:ext>
            </a:extLst>
          </p:cNvPr>
          <p:cNvSpPr txBox="1"/>
          <p:nvPr/>
        </p:nvSpPr>
        <p:spPr>
          <a:xfrm>
            <a:off x="231766" y="4254520"/>
            <a:ext cx="1189299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is the relative risk of developing COVID-19 among individuals who have been vaccinated (compared to those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who have not?</a:t>
            </a:r>
          </a:p>
        </p:txBody>
      </p:sp>
      <p:sp>
        <p:nvSpPr>
          <p:cNvPr id="15" name="TextBox 14">
            <a:extLst>
              <a:ext uri="{FF2B5EF4-FFF2-40B4-BE49-F238E27FC236}">
                <a16:creationId xmlns:a16="http://schemas.microsoft.com/office/drawing/2014/main" id="{48D72EB5-3937-5D4E-8FF0-844976ECB021}"/>
              </a:ext>
            </a:extLst>
          </p:cNvPr>
          <p:cNvSpPr txBox="1"/>
          <p:nvPr/>
        </p:nvSpPr>
        <p:spPr>
          <a:xfrm>
            <a:off x="246770" y="4907100"/>
            <a:ext cx="430117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is the outcome we are looking for?</a:t>
            </a:r>
          </a:p>
        </p:txBody>
      </p:sp>
      <p:sp>
        <p:nvSpPr>
          <p:cNvPr id="16" name="TextBox 15">
            <a:extLst>
              <a:ext uri="{FF2B5EF4-FFF2-40B4-BE49-F238E27FC236}">
                <a16:creationId xmlns:a16="http://schemas.microsoft.com/office/drawing/2014/main" id="{47BA6928-9391-8F42-A5E1-CAD6DCE9E48E}"/>
              </a:ext>
            </a:extLst>
          </p:cNvPr>
          <p:cNvSpPr txBox="1"/>
          <p:nvPr/>
        </p:nvSpPr>
        <p:spPr>
          <a:xfrm>
            <a:off x="231765" y="5276432"/>
            <a:ext cx="58913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percent of vaccinated persons developed corona?</a:t>
            </a:r>
          </a:p>
        </p:txBody>
      </p:sp>
      <p:sp>
        <p:nvSpPr>
          <p:cNvPr id="17" name="TextBox 16">
            <a:extLst>
              <a:ext uri="{FF2B5EF4-FFF2-40B4-BE49-F238E27FC236}">
                <a16:creationId xmlns:a16="http://schemas.microsoft.com/office/drawing/2014/main" id="{DD5FFD8B-A3AC-9246-914E-CD7968D8A3F7}"/>
              </a:ext>
            </a:extLst>
          </p:cNvPr>
          <p:cNvSpPr txBox="1"/>
          <p:nvPr/>
        </p:nvSpPr>
        <p:spPr>
          <a:xfrm>
            <a:off x="231765" y="5628606"/>
            <a:ext cx="61478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What percent of unvaccinated persons developed corona?</a:t>
            </a:r>
          </a:p>
        </p:txBody>
      </p:sp>
      <p:sp>
        <p:nvSpPr>
          <p:cNvPr id="18" name="TextBox 17">
            <a:extLst>
              <a:ext uri="{FF2B5EF4-FFF2-40B4-BE49-F238E27FC236}">
                <a16:creationId xmlns:a16="http://schemas.microsoft.com/office/drawing/2014/main" id="{F05A1649-FB68-3548-B959-59CEE9568627}"/>
              </a:ext>
            </a:extLst>
          </p:cNvPr>
          <p:cNvSpPr txBox="1"/>
          <p:nvPr/>
        </p:nvSpPr>
        <p:spPr>
          <a:xfrm>
            <a:off x="231765" y="5980780"/>
            <a:ext cx="43268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Compute and interpret the relative risk…</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6ABF6F3-0536-AB4A-B39D-90E394D38D1D}"/>
                  </a:ext>
                </a:extLst>
              </p:cNvPr>
              <p:cNvSpPr txBox="1"/>
              <p:nvPr/>
            </p:nvSpPr>
            <p:spPr>
              <a:xfrm>
                <a:off x="8354772" y="4672572"/>
                <a:ext cx="2180405" cy="5203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𝑅𝑅</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8</m:t>
                          </m:r>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42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9</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28</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&lt;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p:txBody>
          </p:sp>
        </mc:Choice>
        <mc:Fallback xmlns="">
          <p:sp>
            <p:nvSpPr>
              <p:cNvPr id="20" name="TextBox 19">
                <a:extLst>
                  <a:ext uri="{FF2B5EF4-FFF2-40B4-BE49-F238E27FC236}">
                    <a16:creationId xmlns:a16="http://schemas.microsoft.com/office/drawing/2014/main" id="{26ABF6F3-0536-AB4A-B39D-90E394D38D1D}"/>
                  </a:ext>
                </a:extLst>
              </p:cNvPr>
              <p:cNvSpPr txBox="1">
                <a:spLocks noRot="1" noChangeAspect="1" noMove="1" noResize="1" noEditPoints="1" noAdjustHandles="1" noChangeArrowheads="1" noChangeShapeType="1" noTextEdit="1"/>
              </p:cNvSpPr>
              <p:nvPr/>
            </p:nvSpPr>
            <p:spPr>
              <a:xfrm>
                <a:off x="8354772" y="4672572"/>
                <a:ext cx="2180405" cy="520399"/>
              </a:xfrm>
              <a:prstGeom prst="rect">
                <a:avLst/>
              </a:prstGeom>
              <a:blipFill>
                <a:blip r:embed="rId3"/>
                <a:stretch>
                  <a:fillRect l="-2326" t="-4762" r="-1744" b="-14286"/>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C035AB7D-F2EA-7541-B6F4-154F000FAE89}"/>
              </a:ext>
            </a:extLst>
          </p:cNvPr>
          <p:cNvSpPr txBox="1"/>
          <p:nvPr/>
        </p:nvSpPr>
        <p:spPr>
          <a:xfrm>
            <a:off x="7209043" y="5318903"/>
            <a:ext cx="5044971"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The risk of developing COVID-19 among those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who are vaccinated by the Pfizer vaccine is .28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times that of those who are not</a:t>
            </a:r>
          </a:p>
        </p:txBody>
      </p:sp>
    </p:spTree>
    <p:extLst>
      <p:ext uri="{BB962C8B-B14F-4D97-AF65-F5344CB8AC3E}">
        <p14:creationId xmlns:p14="http://schemas.microsoft.com/office/powerpoint/2010/main" val="7593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B3C05-18A7-DC40-9891-3876624719B0}"/>
              </a:ext>
            </a:extLst>
          </p:cNvPr>
          <p:cNvSpPr>
            <a:spLocks noGrp="1"/>
          </p:cNvSpPr>
          <p:nvPr>
            <p:ph type="title"/>
          </p:nvPr>
        </p:nvSpPr>
        <p:spPr>
          <a:xfrm>
            <a:off x="95331" y="130961"/>
            <a:ext cx="11470856" cy="773711"/>
          </a:xfrm>
        </p:spPr>
        <p:txBody>
          <a:bodyPr>
            <a:normAutofit/>
          </a:bodyPr>
          <a:lstStyle/>
          <a:p>
            <a:r>
              <a:rPr lang="en-US" sz="3600" dirty="0">
                <a:latin typeface="Arial" panose="020B0604020202020204" pitchFamily="34" charset="0"/>
                <a:cs typeface="Arial" panose="020B0604020202020204" pitchFamily="34" charset="0"/>
              </a:rPr>
              <a:t>Relationship between prevalence, probability and odds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3FDB154-6ED9-AE43-8AB6-7884EB0619FD}"/>
                  </a:ext>
                </a:extLst>
              </p:cNvPr>
              <p:cNvSpPr>
                <a:spLocks noGrp="1"/>
              </p:cNvSpPr>
              <p:nvPr>
                <p:ph idx="1"/>
              </p:nvPr>
            </p:nvSpPr>
            <p:spPr>
              <a:xfrm>
                <a:off x="221790" y="928091"/>
                <a:ext cx="10513695" cy="3760891"/>
              </a:xfrm>
            </p:spPr>
            <p:txBody>
              <a:bodyPr>
                <a:normAutofit/>
              </a:bodyPr>
              <a:lstStyle/>
              <a:p>
                <a:r>
                  <a:rPr lang="en-US" dirty="0"/>
                  <a:t>Let </a:t>
                </a:r>
                <a:r>
                  <a:rPr lang="en-US" i="1" dirty="0"/>
                  <a:t>p = </a:t>
                </a:r>
                <a:r>
                  <a:rPr lang="en-US" dirty="0"/>
                  <a:t>the probability of some outcome, then</a:t>
                </a:r>
              </a:p>
              <a:p>
                <a:r>
                  <a:rPr lang="en-US" dirty="0"/>
                  <a:t>Odds for that outcome is defined as </a:t>
                </a:r>
                <a14:m>
                  <m:oMath xmlns:m="http://schemas.openxmlformats.org/officeDocument/2006/math">
                    <m:r>
                      <a:rPr lang="en-US" b="0" i="1" smtClean="0">
                        <a:latin typeface="Cambria Math" panose="02040503050406030204" pitchFamily="18" charset="0"/>
                      </a:rPr>
                      <m:t>𝑂𝐷𝐷𝑆</m:t>
                    </m:r>
                    <m:r>
                      <a:rPr lang="en-US" b="0" i="1" smtClean="0">
                        <a:latin typeface="Cambria Math" panose="02040503050406030204" pitchFamily="18" charset="0"/>
                      </a:rPr>
                      <m:t>= </m:t>
                    </m:r>
                  </m:oMath>
                </a14:m>
                <a:r>
                  <a:rPr lang="en-US" dirty="0"/>
                  <a:t>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𝑝</m:t>
                        </m:r>
                      </m:num>
                      <m:den>
                        <m:r>
                          <a:rPr lang="en-US" i="1">
                            <a:latin typeface="Cambria Math" panose="02040503050406030204" pitchFamily="18" charset="0"/>
                          </a:rPr>
                          <m:t>(1 −</m:t>
                        </m:r>
                        <m:r>
                          <a:rPr lang="en-US" b="0" i="1" smtClean="0">
                            <a:latin typeface="Cambria Math" panose="02040503050406030204" pitchFamily="18" charset="0"/>
                          </a:rPr>
                          <m:t>𝑝</m:t>
                        </m:r>
                        <m:r>
                          <a:rPr lang="en-US" i="1">
                            <a:latin typeface="Cambria Math" panose="02040503050406030204" pitchFamily="18" charset="0"/>
                          </a:rPr>
                          <m:t>)</m:t>
                        </m:r>
                      </m:den>
                    </m:f>
                  </m:oMath>
                </a14:m>
                <a:endParaRPr lang="en-US" dirty="0"/>
              </a:p>
              <a:p>
                <a:endParaRPr lang="en-US" dirty="0"/>
              </a:p>
            </p:txBody>
          </p:sp>
        </mc:Choice>
        <mc:Fallback>
          <p:sp>
            <p:nvSpPr>
              <p:cNvPr id="3" name="Content Placeholder 2">
                <a:extLst>
                  <a:ext uri="{FF2B5EF4-FFF2-40B4-BE49-F238E27FC236}">
                    <a16:creationId xmlns:a16="http://schemas.microsoft.com/office/drawing/2014/main" id="{63FDB154-6ED9-AE43-8AB6-7884EB0619FD}"/>
                  </a:ext>
                </a:extLst>
              </p:cNvPr>
              <p:cNvSpPr>
                <a:spLocks noGrp="1" noRot="1" noChangeAspect="1" noMove="1" noResize="1" noEditPoints="1" noAdjustHandles="1" noChangeArrowheads="1" noChangeShapeType="1" noTextEdit="1"/>
              </p:cNvSpPr>
              <p:nvPr>
                <p:ph idx="1"/>
              </p:nvPr>
            </p:nvSpPr>
            <p:spPr>
              <a:xfrm>
                <a:off x="221790" y="928091"/>
                <a:ext cx="10513695" cy="3760891"/>
              </a:xfrm>
              <a:blipFill>
                <a:blip r:embed="rId2"/>
                <a:stretch>
                  <a:fillRect l="-522" t="-810"/>
                </a:stretch>
              </a:blipFill>
            </p:spPr>
            <p:txBody>
              <a:bodyPr/>
              <a:lstStyle/>
              <a:p>
                <a:r>
                  <a:rPr lang="en-US">
                    <a:noFill/>
                  </a:rPr>
                  <a:t> </a:t>
                </a:r>
              </a:p>
            </p:txBody>
          </p:sp>
        </mc:Fallback>
      </mc:AlternateContent>
    </p:spTree>
    <p:extLst>
      <p:ext uri="{BB962C8B-B14F-4D97-AF65-F5344CB8AC3E}">
        <p14:creationId xmlns:p14="http://schemas.microsoft.com/office/powerpoint/2010/main" val="4286399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9C09A-750A-0D0E-4C2A-AE249399E402}"/>
              </a:ext>
            </a:extLst>
          </p:cNvPr>
          <p:cNvSpPr>
            <a:spLocks noGrp="1"/>
          </p:cNvSpPr>
          <p:nvPr>
            <p:ph type="title"/>
          </p:nvPr>
        </p:nvSpPr>
        <p:spPr>
          <a:xfrm>
            <a:off x="114787" y="179599"/>
            <a:ext cx="10058400" cy="702305"/>
          </a:xfrm>
        </p:spPr>
        <p:txBody>
          <a:bodyPr>
            <a:normAutofit/>
          </a:bodyPr>
          <a:lstStyle/>
          <a:p>
            <a:r>
              <a:rPr lang="en-US" sz="3600" dirty="0">
                <a:latin typeface="Arial" panose="020B0604020202020204" pitchFamily="34" charset="0"/>
                <a:cs typeface="Arial" panose="020B0604020202020204" pitchFamily="34" charset="0"/>
              </a:rPr>
              <a:t>Interpretation</a:t>
            </a:r>
          </a:p>
        </p:txBody>
      </p:sp>
      <p:sp>
        <p:nvSpPr>
          <p:cNvPr id="3" name="Content Placeholder 2">
            <a:extLst>
              <a:ext uri="{FF2B5EF4-FFF2-40B4-BE49-F238E27FC236}">
                <a16:creationId xmlns:a16="http://schemas.microsoft.com/office/drawing/2014/main" id="{767DFB1C-3769-AA9F-9E8F-C6E2E7E60DB5}"/>
              </a:ext>
            </a:extLst>
          </p:cNvPr>
          <p:cNvSpPr>
            <a:spLocks noGrp="1"/>
          </p:cNvSpPr>
          <p:nvPr>
            <p:ph idx="1"/>
          </p:nvPr>
        </p:nvSpPr>
        <p:spPr>
          <a:xfrm>
            <a:off x="241245" y="989521"/>
            <a:ext cx="10058400" cy="3760891"/>
          </a:xfrm>
        </p:spPr>
        <p:txBody>
          <a:bodyPr/>
          <a:lstStyle/>
          <a:p>
            <a:r>
              <a:rPr lang="en-US" sz="2000" dirty="0">
                <a:latin typeface="Arial" panose="020B0604020202020204" pitchFamily="34" charset="0"/>
                <a:cs typeface="Arial" panose="020B0604020202020204" pitchFamily="34" charset="0"/>
              </a:rPr>
              <a:t>Three possibilities</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If Odds are &lt; 1 then the odds are “lower”</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If Odds are &gt; 1 then odds are higher</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If Odds = 1 then the odds are the same</a:t>
            </a:r>
          </a:p>
          <a:p>
            <a:r>
              <a:rPr lang="en-US" sz="2000" dirty="0">
                <a:latin typeface="Arial" panose="020B0604020202020204" pitchFamily="34" charset="0"/>
                <a:cs typeface="Arial" panose="020B0604020202020204" pitchFamily="34" charset="0"/>
              </a:rPr>
              <a:t>Here .1282 &lt; 1, the odds of pre-term birth are lower than full-term births</a:t>
            </a:r>
          </a:p>
          <a:p>
            <a:r>
              <a:rPr lang="en-US" sz="2000" b="1" dirty="0">
                <a:latin typeface="Arial" panose="020B0604020202020204" pitchFamily="34" charset="0"/>
                <a:cs typeface="Arial" panose="020B0604020202020204" pitchFamily="34" charset="0"/>
              </a:rPr>
              <a:t>Note: the Null Hypothesis for the exponentiated logit coefficients in a logistic regression analysis is that the ODDS ratio = 1, why?</a:t>
            </a:r>
          </a:p>
          <a:p>
            <a:endParaRPr lang="en-US" dirty="0"/>
          </a:p>
        </p:txBody>
      </p:sp>
    </p:spTree>
    <p:extLst>
      <p:ext uri="{BB962C8B-B14F-4D97-AF65-F5344CB8AC3E}">
        <p14:creationId xmlns:p14="http://schemas.microsoft.com/office/powerpoint/2010/main" val="1528076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2856-2CCC-8C88-1109-F404F6574ED7}"/>
              </a:ext>
            </a:extLst>
          </p:cNvPr>
          <p:cNvSpPr>
            <a:spLocks noGrp="1"/>
          </p:cNvSpPr>
          <p:nvPr>
            <p:ph type="title"/>
          </p:nvPr>
        </p:nvSpPr>
        <p:spPr>
          <a:xfrm>
            <a:off x="143970" y="160144"/>
            <a:ext cx="10058400" cy="702305"/>
          </a:xfrm>
        </p:spPr>
        <p:txBody>
          <a:bodyPr>
            <a:normAutofit/>
          </a:bodyPr>
          <a:lstStyle/>
          <a:p>
            <a:r>
              <a:rPr lang="en-US" sz="3600" dirty="0">
                <a:latin typeface="Arial" panose="020B0604020202020204" pitchFamily="34" charset="0"/>
                <a:cs typeface="Arial" panose="020B0604020202020204" pitchFamily="34" charset="0"/>
              </a:rPr>
              <a:t>Example</a:t>
            </a:r>
          </a:p>
        </p:txBody>
      </p:sp>
      <p:sp>
        <p:nvSpPr>
          <p:cNvPr id="3" name="Content Placeholder 2">
            <a:extLst>
              <a:ext uri="{FF2B5EF4-FFF2-40B4-BE49-F238E27FC236}">
                <a16:creationId xmlns:a16="http://schemas.microsoft.com/office/drawing/2014/main" id="{89893A88-8E2A-4EA0-46D0-C1ED0F40F342}"/>
              </a:ext>
            </a:extLst>
          </p:cNvPr>
          <p:cNvSpPr>
            <a:spLocks noGrp="1"/>
          </p:cNvSpPr>
          <p:nvPr>
            <p:ph idx="1"/>
          </p:nvPr>
        </p:nvSpPr>
        <p:spPr>
          <a:xfrm>
            <a:off x="338523" y="862449"/>
            <a:ext cx="10058400" cy="3760891"/>
          </a:xfrm>
        </p:spPr>
        <p:txBody>
          <a:bodyPr/>
          <a:lstStyle/>
          <a:p>
            <a:r>
              <a:rPr lang="en-US" sz="2000" b="1" dirty="0">
                <a:latin typeface="Arial" panose="020B0604020202020204" pitchFamily="34" charset="0"/>
                <a:cs typeface="Arial" panose="020B0604020202020204" pitchFamily="34" charset="0"/>
              </a:rPr>
              <a:t>Example: </a:t>
            </a:r>
            <a:r>
              <a:rPr lang="en-US" sz="2000" dirty="0">
                <a:latin typeface="Arial" panose="020B0604020202020204" pitchFamily="34" charset="0"/>
                <a:cs typeface="Arial" panose="020B0604020202020204" pitchFamily="34" charset="0"/>
              </a:rPr>
              <a:t>In North Carolina the probability of a pre-term birth is .1136. Compute and interpret:</a:t>
            </a:r>
          </a:p>
          <a:p>
            <a:pPr marL="544068" lvl="1" indent="-342900">
              <a:buAutoNum type="arabicParenBoth"/>
            </a:pPr>
            <a:r>
              <a:rPr lang="en-US" sz="2000" dirty="0">
                <a:latin typeface="Arial" panose="020B0604020202020204" pitchFamily="34" charset="0"/>
                <a:cs typeface="Arial" panose="020B0604020202020204" pitchFamily="34" charset="0"/>
              </a:rPr>
              <a:t>The odds that a woman will have a pre-term birth; and</a:t>
            </a:r>
          </a:p>
          <a:p>
            <a:pPr marL="544068" lvl="1" indent="-342900">
              <a:buAutoNum type="arabicParenBoth"/>
            </a:pPr>
            <a:r>
              <a:rPr lang="en-US" sz="2000" dirty="0">
                <a:latin typeface="Arial" panose="020B0604020202020204" pitchFamily="34" charset="0"/>
                <a:cs typeface="Arial" panose="020B0604020202020204" pitchFamily="34" charset="0"/>
              </a:rPr>
              <a:t>The odds that a woman will not have a pre-term birth. </a:t>
            </a:r>
          </a:p>
          <a:p>
            <a:endParaRPr lang="en-US" dirty="0"/>
          </a:p>
        </p:txBody>
      </p:sp>
    </p:spTree>
    <p:extLst>
      <p:ext uri="{BB962C8B-B14F-4D97-AF65-F5344CB8AC3E}">
        <p14:creationId xmlns:p14="http://schemas.microsoft.com/office/powerpoint/2010/main" val="432674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F6026-931C-4B3C-87BF-6AEDE54BA24D}"/>
              </a:ext>
            </a:extLst>
          </p:cNvPr>
          <p:cNvSpPr>
            <a:spLocks noGrp="1"/>
          </p:cNvSpPr>
          <p:nvPr>
            <p:ph type="title"/>
          </p:nvPr>
        </p:nvSpPr>
        <p:spPr>
          <a:xfrm>
            <a:off x="338522" y="160144"/>
            <a:ext cx="10058400" cy="702305"/>
          </a:xfrm>
        </p:spPr>
        <p:txBody>
          <a:bodyPr>
            <a:normAutofit fontScale="90000"/>
          </a:bodyPr>
          <a:lstStyle/>
          <a:p>
            <a:r>
              <a:rPr lang="en-US" dirty="0"/>
              <a:t>Solution</a:t>
            </a:r>
          </a:p>
        </p:txBody>
      </p:sp>
      <p:sp>
        <p:nvSpPr>
          <p:cNvPr id="3" name="Content Placeholder 2">
            <a:extLst>
              <a:ext uri="{FF2B5EF4-FFF2-40B4-BE49-F238E27FC236}">
                <a16:creationId xmlns:a16="http://schemas.microsoft.com/office/drawing/2014/main" id="{4B278A9E-AD7C-4E96-AC8C-2A3038A2D8A9}"/>
              </a:ext>
            </a:extLst>
          </p:cNvPr>
          <p:cNvSpPr>
            <a:spLocks noGrp="1"/>
          </p:cNvSpPr>
          <p:nvPr>
            <p:ph idx="1"/>
          </p:nvPr>
        </p:nvSpPr>
        <p:spPr>
          <a:xfrm>
            <a:off x="338522" y="888931"/>
            <a:ext cx="10058400" cy="3760891"/>
          </a:xfrm>
        </p:spPr>
        <p:txBody>
          <a:bodyPr>
            <a:normAutofit/>
          </a:bodyPr>
          <a:lstStyle/>
          <a:p>
            <a:r>
              <a:rPr lang="en-US" sz="2000" dirty="0">
                <a:latin typeface="Arial" panose="020B0604020202020204" pitchFamily="34" charset="0"/>
                <a:cs typeface="Arial" panose="020B0604020202020204" pitchFamily="34" charset="0"/>
              </a:rPr>
              <a:t>Odds for pre-term birth = (.𝟏𝟏𝟑𝟔)/(𝟏−.𝟏𝟏𝟑𝟔)=(.𝟏𝟏𝟑𝟔)/(.𝟖𝟖𝟔𝟒)=.𝟏𝟐𝟖𝟐</a:t>
            </a:r>
          </a:p>
          <a:p>
            <a:r>
              <a:rPr lang="en-US" sz="2000" dirty="0">
                <a:latin typeface="Arial" panose="020B0604020202020204" pitchFamily="34" charset="0"/>
                <a:cs typeface="Arial" panose="020B0604020202020204" pitchFamily="34" charset="0"/>
              </a:rPr>
              <a:t>Odds for full-term birth = (.𝟖𝟖𝟔𝟒)/(𝟏−.𝟖𝟖𝟔𝟒)=(.𝟖𝟖𝟔𝟒)/(.𝟏𝟏𝟑𝟔)=𝟕.𝟖𝟎𝟑</a:t>
            </a:r>
          </a:p>
          <a:p>
            <a:r>
              <a:rPr lang="en-US" sz="2000" dirty="0">
                <a:latin typeface="Arial" panose="020B0604020202020204" pitchFamily="34" charset="0"/>
                <a:cs typeface="Arial" panose="020B0604020202020204" pitchFamily="34" charset="0"/>
              </a:rPr>
              <a:t>Let’s say that the odds of a full-term birth are 7.803 as we calculated. If we had the following 95% confidence interval for this estimate can you tell me if the estimate is statistically significant? </a:t>
            </a:r>
          </a:p>
          <a:p>
            <a:endParaRPr lang="en-US" dirty="0"/>
          </a:p>
          <a:p>
            <a:pPr algn="ctr"/>
            <a:r>
              <a:rPr lang="en-US" sz="2000" dirty="0">
                <a:latin typeface="Arial" panose="020B0604020202020204" pitchFamily="34" charset="0"/>
                <a:cs typeface="Arial" panose="020B0604020202020204" pitchFamily="34" charset="0"/>
              </a:rPr>
              <a:t>𝟕.𝟖𝟎𝟑 (6.879 – 8.342)</a:t>
            </a:r>
          </a:p>
        </p:txBody>
      </p:sp>
    </p:spTree>
    <p:extLst>
      <p:ext uri="{BB962C8B-B14F-4D97-AF65-F5344CB8AC3E}">
        <p14:creationId xmlns:p14="http://schemas.microsoft.com/office/powerpoint/2010/main" val="142556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B3C05-18A7-DC40-9891-3876624719B0}"/>
              </a:ext>
            </a:extLst>
          </p:cNvPr>
          <p:cNvSpPr>
            <a:spLocks noGrp="1"/>
          </p:cNvSpPr>
          <p:nvPr>
            <p:ph type="title"/>
          </p:nvPr>
        </p:nvSpPr>
        <p:spPr>
          <a:xfrm>
            <a:off x="153697" y="179599"/>
            <a:ext cx="10058400" cy="676435"/>
          </a:xfrm>
        </p:spPr>
        <p:txBody>
          <a:bodyPr>
            <a:normAutofit/>
          </a:bodyPr>
          <a:lstStyle/>
          <a:p>
            <a:r>
              <a:rPr lang="en-US" sz="3600" dirty="0">
                <a:latin typeface="Arial" panose="020B0604020202020204" pitchFamily="34" charset="0"/>
                <a:cs typeface="Arial" panose="020B0604020202020204" pitchFamily="34" charset="0"/>
              </a:rPr>
              <a:t>Relationship between probability and odds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3FDB154-6ED9-AE43-8AB6-7884EB0619FD}"/>
                  </a:ext>
                </a:extLst>
              </p:cNvPr>
              <p:cNvSpPr>
                <a:spLocks noGrp="1"/>
              </p:cNvSpPr>
              <p:nvPr>
                <p:ph idx="1"/>
              </p:nvPr>
            </p:nvSpPr>
            <p:spPr>
              <a:xfrm>
                <a:off x="299612" y="882516"/>
                <a:ext cx="10058400" cy="3760891"/>
              </a:xfrm>
            </p:spPr>
            <p:txBody>
              <a:bodyPr>
                <a:normAutofit/>
              </a:bodyPr>
              <a:lstStyle/>
              <a:p>
                <a:r>
                  <a:rPr lang="en-US" sz="2000" dirty="0">
                    <a:latin typeface="Arial" panose="020B0604020202020204" pitchFamily="34" charset="0"/>
                    <a:cs typeface="Arial" panose="020B0604020202020204" pitchFamily="34" charset="0"/>
                  </a:rPr>
                  <a:t>Let </a:t>
                </a:r>
                <a:r>
                  <a:rPr lang="en-US" sz="2000" i="1" dirty="0">
                    <a:latin typeface="Arial" panose="020B0604020202020204" pitchFamily="34" charset="0"/>
                    <a:cs typeface="Arial" panose="020B0604020202020204" pitchFamily="34" charset="0"/>
                  </a:rPr>
                  <a:t>odds = </a:t>
                </a:r>
                <a:r>
                  <a:rPr lang="en-US" sz="2000" dirty="0">
                    <a:latin typeface="Arial" panose="020B0604020202020204" pitchFamily="34" charset="0"/>
                    <a:cs typeface="Arial" panose="020B0604020202020204" pitchFamily="34" charset="0"/>
                  </a:rPr>
                  <a:t>the ODDS that some outcome will occur, then</a:t>
                </a:r>
              </a:p>
              <a:p>
                <a:r>
                  <a:rPr lang="en-US" sz="2000" dirty="0">
                    <a:latin typeface="Arial" panose="020B0604020202020204" pitchFamily="34" charset="0"/>
                    <a:cs typeface="Arial" panose="020B0604020202020204" pitchFamily="34" charset="0"/>
                  </a:rPr>
                  <a:t>The probability for that outcome is defined as </a:t>
                </a:r>
              </a:p>
              <a:p>
                <a:pPr algn="ct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 </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𝑂𝐷𝐷𝑆</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𝑡</m:t>
                        </m:r>
                        <m:r>
                          <a:rPr lang="en-US" sz="2000" b="0" i="1" smtClean="0">
                            <a:latin typeface="Cambria Math" panose="02040503050406030204" pitchFamily="18" charset="0"/>
                          </a:rPr>
                          <m:t>h</m:t>
                        </m:r>
                        <m:r>
                          <a:rPr lang="en-US" sz="2000" b="0" i="1" smtClean="0">
                            <a:latin typeface="Cambria Math" panose="02040503050406030204" pitchFamily="18" charset="0"/>
                          </a:rPr>
                          <m:t>𝑒</m:t>
                        </m:r>
                        <m:r>
                          <a:rPr lang="en-US" sz="2000" b="0" i="1" smtClean="0">
                            <a:latin typeface="Cambria Math" panose="02040503050406030204" pitchFamily="18" charset="0"/>
                          </a:rPr>
                          <m:t> </m:t>
                        </m:r>
                        <m:r>
                          <a:rPr lang="en-US" sz="2000" b="0" i="1" smtClean="0">
                            <a:latin typeface="Cambria Math" panose="02040503050406030204" pitchFamily="18" charset="0"/>
                          </a:rPr>
                          <m:t>𝑜𝑢𝑡𝑐𝑜𝑚𝑒</m:t>
                        </m:r>
                      </m:num>
                      <m:den>
                        <m:r>
                          <a:rPr lang="en-US" sz="2000" b="0" i="1" smtClean="0">
                            <a:latin typeface="Cambria Math" panose="02040503050406030204" pitchFamily="18" charset="0"/>
                          </a:rPr>
                          <m:t>(</m:t>
                        </m:r>
                        <m:r>
                          <a:rPr lang="en-US" sz="2000" b="0" i="1" smtClean="0">
                            <a:latin typeface="Cambria Math" panose="02040503050406030204" pitchFamily="18" charset="0"/>
                          </a:rPr>
                          <m:t>1</m:t>
                        </m:r>
                        <m:r>
                          <a:rPr lang="en-US" sz="2000" b="0" i="1" smtClean="0">
                            <a:latin typeface="Cambria Math" panose="02040503050406030204" pitchFamily="18" charset="0"/>
                          </a:rPr>
                          <m:t>+</m:t>
                        </m:r>
                        <m:r>
                          <a:rPr lang="en-US" sz="2000" b="0" i="1" smtClean="0">
                            <a:latin typeface="Cambria Math" panose="02040503050406030204" pitchFamily="18" charset="0"/>
                          </a:rPr>
                          <m:t>𝑂𝐷𝐷𝑆</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𝑡</m:t>
                        </m:r>
                        <m:r>
                          <a:rPr lang="en-US" sz="2000" b="0" i="1" smtClean="0">
                            <a:latin typeface="Cambria Math" panose="02040503050406030204" pitchFamily="18" charset="0"/>
                          </a:rPr>
                          <m:t>h</m:t>
                        </m:r>
                        <m:r>
                          <a:rPr lang="en-US" sz="2000" b="0" i="1" smtClean="0">
                            <a:latin typeface="Cambria Math" panose="02040503050406030204" pitchFamily="18" charset="0"/>
                          </a:rPr>
                          <m:t>𝑒</m:t>
                        </m:r>
                        <m:r>
                          <a:rPr lang="en-US" sz="2000" b="0" i="1" smtClean="0">
                            <a:latin typeface="Cambria Math" panose="02040503050406030204" pitchFamily="18" charset="0"/>
                          </a:rPr>
                          <m:t> </m:t>
                        </m:r>
                        <m:r>
                          <a:rPr lang="en-US" sz="2000" b="0" i="1" smtClean="0">
                            <a:latin typeface="Cambria Math" panose="02040503050406030204" pitchFamily="18" charset="0"/>
                          </a:rPr>
                          <m:t>𝑜𝑢𝑡𝑐𝑜𝑚𝑒</m:t>
                        </m:r>
                        <m:r>
                          <a:rPr lang="en-US" sz="2000" b="0" i="1" smtClean="0">
                            <a:latin typeface="Cambria Math" panose="02040503050406030204" pitchFamily="18" charset="0"/>
                          </a:rPr>
                          <m:t>)</m:t>
                        </m:r>
                      </m:den>
                    </m:f>
                    <m:r>
                      <a:rPr lang="en-US" sz="2000" b="0" i="1" smtClean="0">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a:t>
                </a:r>
                <a14:m>
                  <m:oMath xmlns:m="http://schemas.openxmlformats.org/officeDocument/2006/math">
                    <m:f>
                      <m:fPr>
                        <m:ctrlPr>
                          <a:rPr lang="en-US" sz="2000" i="1">
                            <a:latin typeface="Cambria Math" panose="02040503050406030204" pitchFamily="18" charset="0"/>
                          </a:rPr>
                        </m:ctrlPr>
                      </m:fPr>
                      <m:num>
                        <m:r>
                          <a:rPr lang="en-US" sz="2000" b="0" i="1" smtClean="0">
                            <a:latin typeface="Cambria Math" panose="02040503050406030204" pitchFamily="18" charset="0"/>
                          </a:rPr>
                          <m:t>𝑂𝐷𝐷𝑆</m:t>
                        </m:r>
                      </m:num>
                      <m:den>
                        <m:r>
                          <a:rPr lang="en-US" sz="2000" i="1">
                            <a:latin typeface="Cambria Math" panose="02040503050406030204" pitchFamily="18" charset="0"/>
                          </a:rPr>
                          <m:t>(</m:t>
                        </m:r>
                        <m:r>
                          <a:rPr lang="en-US" sz="2000" i="1">
                            <a:latin typeface="Cambria Math" panose="02040503050406030204" pitchFamily="18" charset="0"/>
                          </a:rPr>
                          <m:t>1</m:t>
                        </m:r>
                        <m:r>
                          <a:rPr lang="en-US" sz="2000" i="1" smtClean="0">
                            <a:latin typeface="Cambria Math" panose="02040503050406030204" pitchFamily="18" charset="0"/>
                          </a:rPr>
                          <m:t>+</m:t>
                        </m:r>
                        <m:r>
                          <a:rPr lang="en-US" sz="2000" b="0" i="1" smtClean="0">
                            <a:latin typeface="Cambria Math" panose="02040503050406030204" pitchFamily="18" charset="0"/>
                          </a:rPr>
                          <m:t>𝑂𝐷𝐷𝑆</m:t>
                        </m:r>
                        <m:r>
                          <a:rPr lang="en-US" sz="2000" i="1">
                            <a:latin typeface="Cambria Math" panose="02040503050406030204" pitchFamily="18" charset="0"/>
                          </a:rPr>
                          <m:t>)</m:t>
                        </m:r>
                      </m:den>
                    </m:f>
                  </m:oMath>
                </a14:m>
                <a:endParaRPr lang="en-US" sz="2000" dirty="0">
                  <a:latin typeface="Arial" panose="020B0604020202020204" pitchFamily="34" charset="0"/>
                  <a:cs typeface="Arial" panose="020B0604020202020204" pitchFamily="34" charset="0"/>
                </a:endParaRPr>
              </a:p>
            </p:txBody>
          </p:sp>
        </mc:Choice>
        <mc:Fallback>
          <p:sp>
            <p:nvSpPr>
              <p:cNvPr id="3" name="Content Placeholder 2">
                <a:extLst>
                  <a:ext uri="{FF2B5EF4-FFF2-40B4-BE49-F238E27FC236}">
                    <a16:creationId xmlns:a16="http://schemas.microsoft.com/office/drawing/2014/main" id="{63FDB154-6ED9-AE43-8AB6-7884EB0619FD}"/>
                  </a:ext>
                </a:extLst>
              </p:cNvPr>
              <p:cNvSpPr>
                <a:spLocks noGrp="1" noRot="1" noChangeAspect="1" noMove="1" noResize="1" noEditPoints="1" noAdjustHandles="1" noChangeArrowheads="1" noChangeShapeType="1" noTextEdit="1"/>
              </p:cNvSpPr>
              <p:nvPr>
                <p:ph idx="1"/>
              </p:nvPr>
            </p:nvSpPr>
            <p:spPr>
              <a:xfrm>
                <a:off x="299612" y="882516"/>
                <a:ext cx="10058400" cy="3760891"/>
              </a:xfrm>
              <a:blipFill>
                <a:blip r:embed="rId2"/>
                <a:stretch>
                  <a:fillRect l="-606" t="-81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D296F99-98BF-9C4D-8D5A-1DAE6A7CD91E}"/>
              </a:ext>
            </a:extLst>
          </p:cNvPr>
          <p:cNvSpPr txBox="1"/>
          <p:nvPr/>
        </p:nvSpPr>
        <p:spPr>
          <a:xfrm>
            <a:off x="299612" y="2667656"/>
            <a:ext cx="11106567"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Intuition</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The odds of a child being substantiated for neglect are 3:4 after being reported for maltreatment.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The odds are 3 to 4 substantiated versus not substantiated therefore the probability of a substantiation 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3 </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 of 4</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or .75 (following our rules of probability)</a:t>
            </a:r>
          </a:p>
        </p:txBody>
      </p:sp>
    </p:spTree>
    <p:extLst>
      <p:ext uri="{BB962C8B-B14F-4D97-AF65-F5344CB8AC3E}">
        <p14:creationId xmlns:p14="http://schemas.microsoft.com/office/powerpoint/2010/main" val="2046625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8502E-8B28-B572-7C56-92AA6381AEFB}"/>
              </a:ext>
            </a:extLst>
          </p:cNvPr>
          <p:cNvSpPr>
            <a:spLocks noGrp="1"/>
          </p:cNvSpPr>
          <p:nvPr>
            <p:ph type="title"/>
          </p:nvPr>
        </p:nvSpPr>
        <p:spPr>
          <a:xfrm>
            <a:off x="212063" y="98463"/>
            <a:ext cx="10058400" cy="702305"/>
          </a:xfrm>
        </p:spPr>
        <p:txBody>
          <a:bodyPr>
            <a:normAutofit/>
          </a:bodyPr>
          <a:lstStyle/>
          <a:p>
            <a:r>
              <a:rPr lang="en-US" sz="3600" dirty="0">
                <a:latin typeface="Arial" panose="020B0604020202020204" pitchFamily="34" charset="0"/>
                <a:cs typeface="Arial" panose="020B0604020202020204" pitchFamily="34" charset="0"/>
              </a:rPr>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5E3F85-A002-FA7C-0E71-63FCDC16FF2C}"/>
                  </a:ext>
                </a:extLst>
              </p:cNvPr>
              <p:cNvSpPr>
                <a:spLocks noGrp="1"/>
              </p:cNvSpPr>
              <p:nvPr>
                <p:ph idx="1"/>
              </p:nvPr>
            </p:nvSpPr>
            <p:spPr>
              <a:xfrm>
                <a:off x="302096" y="813596"/>
                <a:ext cx="10058400" cy="3760891"/>
              </a:xfrm>
            </p:spPr>
            <p:txBody>
              <a:bodyPr/>
              <a:lstStyle/>
              <a:p>
                <a:r>
                  <a:rPr lang="en-US" sz="2000" b="1" dirty="0">
                    <a:latin typeface="Arial" panose="020B0604020202020204" pitchFamily="34" charset="0"/>
                    <a:cs typeface="Arial" panose="020B0604020202020204" pitchFamily="34" charset="0"/>
                  </a:rPr>
                  <a:t>Example: </a:t>
                </a:r>
                <a:r>
                  <a:rPr lang="en-US" sz="2000" dirty="0">
                    <a:latin typeface="Arial" panose="020B0604020202020204" pitchFamily="34" charset="0"/>
                    <a:cs typeface="Arial" panose="020B0604020202020204" pitchFamily="34" charset="0"/>
                  </a:rPr>
                  <a:t>At OSU, the ODDS that a student will graduate are twice as high compared to those who do not graduate.  Compute the probability that a randomly selected person will graduate from OSU: </a:t>
                </a:r>
              </a:p>
              <a:p>
                <a:pPr algn="ct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𝑂𝐷𝐷𝑆</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𝑜𝑢𝑡𝑐𝑜𝑚𝑒</m:t>
                        </m:r>
                      </m:num>
                      <m:den>
                        <m:r>
                          <a:rPr lang="en-US" i="1">
                            <a:latin typeface="Cambria Math" panose="02040503050406030204" pitchFamily="18" charset="0"/>
                          </a:rPr>
                          <m:t>(1+</m:t>
                        </m:r>
                        <m:r>
                          <a:rPr lang="en-US" i="1">
                            <a:latin typeface="Cambria Math" panose="02040503050406030204" pitchFamily="18" charset="0"/>
                          </a:rPr>
                          <m:t>𝑂𝐷𝐷𝑆</m:t>
                        </m:r>
                        <m:r>
                          <a:rPr lang="en-US" i="1">
                            <a:latin typeface="Cambria Math" panose="02040503050406030204" pitchFamily="18" charset="0"/>
                          </a:rPr>
                          <m:t> </m:t>
                        </m:r>
                        <m:r>
                          <a:rPr lang="en-US" i="1">
                            <a:latin typeface="Cambria Math" panose="02040503050406030204" pitchFamily="18" charset="0"/>
                          </a:rPr>
                          <m:t>𝑜𝑓</m:t>
                        </m:r>
                        <m:r>
                          <a:rPr lang="en-US" i="1">
                            <a:latin typeface="Cambria Math" panose="02040503050406030204" pitchFamily="18" charset="0"/>
                          </a:rPr>
                          <m:t> </m:t>
                        </m:r>
                        <m:r>
                          <a:rPr lang="en-US" i="1">
                            <a:latin typeface="Cambria Math" panose="02040503050406030204" pitchFamily="18" charset="0"/>
                          </a:rPr>
                          <m:t>𝑡h𝑒</m:t>
                        </m:r>
                        <m:r>
                          <a:rPr lang="en-US" i="1">
                            <a:latin typeface="Cambria Math" panose="02040503050406030204" pitchFamily="18" charset="0"/>
                          </a:rPr>
                          <m:t> </m:t>
                        </m:r>
                        <m:r>
                          <a:rPr lang="en-US" i="1">
                            <a:latin typeface="Cambria Math" panose="02040503050406030204" pitchFamily="18" charset="0"/>
                          </a:rPr>
                          <m:t>𝑜𝑢𝑡𝑐𝑜𝑚𝑒</m:t>
                        </m:r>
                        <m:r>
                          <a:rPr lang="en-US" i="1">
                            <a:latin typeface="Cambria Math" panose="02040503050406030204" pitchFamily="18" charset="0"/>
                          </a:rPr>
                          <m:t>)</m:t>
                        </m:r>
                      </m:den>
                    </m:f>
                    <m:r>
                      <a:rPr lang="en-US" i="1">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2</m:t>
                        </m:r>
                      </m:num>
                      <m:den>
                        <m:r>
                          <a:rPr lang="en-US" i="1">
                            <a:latin typeface="Cambria Math" panose="02040503050406030204" pitchFamily="18" charset="0"/>
                          </a:rPr>
                          <m:t>(1+</m:t>
                        </m:r>
                        <m:r>
                          <a:rPr lang="en-US" b="0" i="1" smtClean="0">
                            <a:latin typeface="Cambria Math" panose="02040503050406030204" pitchFamily="18" charset="0"/>
                          </a:rPr>
                          <m:t>2</m:t>
                        </m:r>
                        <m:r>
                          <a:rPr lang="en-US" i="1">
                            <a:latin typeface="Cambria Math" panose="02040503050406030204" pitchFamily="18" charset="0"/>
                          </a:rPr>
                          <m:t>)</m:t>
                        </m:r>
                      </m:den>
                    </m:f>
                    <m:r>
                      <a:rPr lang="en-US"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num>
                      <m:den>
                        <m:r>
                          <a:rPr lang="en-US" b="0" i="1" smtClean="0">
                            <a:latin typeface="Cambria Math" panose="02040503050406030204" pitchFamily="18" charset="0"/>
                          </a:rPr>
                          <m:t>3</m:t>
                        </m:r>
                      </m:den>
                    </m:f>
                  </m:oMath>
                </a14:m>
                <a:endParaRPr lang="en-US" dirty="0"/>
              </a:p>
              <a:p>
                <a:endParaRPr lang="en-US" dirty="0"/>
              </a:p>
            </p:txBody>
          </p:sp>
        </mc:Choice>
        <mc:Fallback>
          <p:sp>
            <p:nvSpPr>
              <p:cNvPr id="3" name="Content Placeholder 2">
                <a:extLst>
                  <a:ext uri="{FF2B5EF4-FFF2-40B4-BE49-F238E27FC236}">
                    <a16:creationId xmlns:a16="http://schemas.microsoft.com/office/drawing/2014/main" id="{5B5E3F85-A002-FA7C-0E71-63FCDC16FF2C}"/>
                  </a:ext>
                </a:extLst>
              </p:cNvPr>
              <p:cNvSpPr>
                <a:spLocks noGrp="1" noRot="1" noChangeAspect="1" noMove="1" noResize="1" noEditPoints="1" noAdjustHandles="1" noChangeArrowheads="1" noChangeShapeType="1" noTextEdit="1"/>
              </p:cNvSpPr>
              <p:nvPr>
                <p:ph idx="1"/>
              </p:nvPr>
            </p:nvSpPr>
            <p:spPr>
              <a:xfrm>
                <a:off x="302096" y="813596"/>
                <a:ext cx="10058400" cy="3760891"/>
              </a:xfrm>
              <a:blipFill>
                <a:blip r:embed="rId2"/>
                <a:stretch>
                  <a:fillRect l="-667" t="-648" r="-169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92A8E87F-C579-DC55-A419-72F861F9BD48}"/>
              </a:ext>
            </a:extLst>
          </p:cNvPr>
          <p:cNvSpPr txBox="1"/>
          <p:nvPr/>
        </p:nvSpPr>
        <p:spPr>
          <a:xfrm>
            <a:off x="302096" y="2967335"/>
            <a:ext cx="1123490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The odds are 2 to 1 (2:1) graduating versus not graduating therefore the probability of graduating 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2 </a:t>
            </a:r>
            <a:r>
              <a:rPr kumimoji="0" lang="en-US" sz="18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out of </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3 or .667 (following our rules of probability)</a:t>
            </a:r>
          </a:p>
        </p:txBody>
      </p:sp>
    </p:spTree>
    <p:extLst>
      <p:ext uri="{BB962C8B-B14F-4D97-AF65-F5344CB8AC3E}">
        <p14:creationId xmlns:p14="http://schemas.microsoft.com/office/powerpoint/2010/main" val="120792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EA57E56-054A-5C45-9D8F-27BF6452B398}"/>
              </a:ext>
            </a:extLst>
          </p:cNvPr>
          <p:cNvSpPr>
            <a:spLocks noGrp="1"/>
          </p:cNvSpPr>
          <p:nvPr>
            <p:ph type="title" idx="4294967295"/>
          </p:nvPr>
        </p:nvSpPr>
        <p:spPr>
          <a:xfrm>
            <a:off x="155642" y="185738"/>
            <a:ext cx="3176588" cy="553564"/>
          </a:xfrm>
        </p:spPr>
        <p:txBody>
          <a:bodyPr vert="horz" lIns="91440" tIns="45720" rIns="91440" bIns="45720" rtlCol="0">
            <a:normAutofit fontScale="90000"/>
          </a:bodyPr>
          <a:lstStyle/>
          <a:p>
            <a:r>
              <a:rPr lang="en-US" sz="4000" dirty="0">
                <a:latin typeface="Arial" panose="020B0604020202020204" pitchFamily="34" charset="0"/>
                <a:cs typeface="Arial" panose="020B0604020202020204" pitchFamily="34" charset="0"/>
              </a:rPr>
              <a:t>Intuition</a:t>
            </a:r>
          </a:p>
        </p:txBody>
      </p:sp>
      <p:sp>
        <p:nvSpPr>
          <p:cNvPr id="21" name="Content Placeholder 20">
            <a:extLst>
              <a:ext uri="{FF2B5EF4-FFF2-40B4-BE49-F238E27FC236}">
                <a16:creationId xmlns:a16="http://schemas.microsoft.com/office/drawing/2014/main" id="{EE8D6944-61D8-6C4C-92F1-0D5C3102B2FD}"/>
              </a:ext>
            </a:extLst>
          </p:cNvPr>
          <p:cNvSpPr>
            <a:spLocks noGrp="1"/>
          </p:cNvSpPr>
          <p:nvPr>
            <p:ph idx="4294967295"/>
          </p:nvPr>
        </p:nvSpPr>
        <p:spPr>
          <a:xfrm>
            <a:off x="651753" y="1814512"/>
            <a:ext cx="4017524" cy="3228975"/>
          </a:xfrm>
        </p:spPr>
        <p:txBody>
          <a:bodyPr vert="horz" lIns="0" tIns="45720" rIns="0" bIns="45720" rtlCol="0">
            <a:normAutofit/>
          </a:bodyPr>
          <a:lstStyle/>
          <a:p>
            <a:pPr marL="342900" marR="0" lvl="0" indent="-342900" fontAlgn="auto">
              <a:spcBef>
                <a:spcPct val="20000"/>
              </a:spcBef>
              <a:spcAft>
                <a:spcPts val="0"/>
              </a:spcAft>
              <a:buClrTx/>
              <a:buSzTx/>
              <a:buFont typeface="Calibri" panose="020F0502020204030204" pitchFamily="34" charset="0"/>
              <a:buChar char="•"/>
              <a:tabLst/>
              <a:defRPr/>
            </a:pPr>
            <a:r>
              <a:rPr kumimoji="0" lang="en-US" altLang="en-US" sz="2000" i="0" u="none" strike="noStrike" cap="none" spc="0" normalizeH="0" baseline="0" noProof="0" dirty="0">
                <a:ln>
                  <a:noFill/>
                </a:ln>
                <a:effectLst/>
                <a:uLnTx/>
                <a:uFillTx/>
                <a:latin typeface="Arial" panose="020B0604020202020204" pitchFamily="34" charset="0"/>
                <a:cs typeface="Arial" panose="020B0604020202020204" pitchFamily="34" charset="0"/>
              </a:rPr>
              <a:t>Probability and odds are more alike the lower the probability of the outcome,  </a:t>
            </a:r>
            <a:r>
              <a:rPr kumimoji="0" lang="en-US" altLang="en-US" sz="2000" i="1" u="none" strike="noStrike" cap="none" spc="0" normalizeH="0" baseline="0" noProof="0" dirty="0">
                <a:ln>
                  <a:noFill/>
                </a:ln>
                <a:effectLst/>
                <a:uLnTx/>
                <a:uFillTx/>
                <a:latin typeface="Arial" panose="020B0604020202020204" pitchFamily="34" charset="0"/>
                <a:cs typeface="Arial" panose="020B0604020202020204" pitchFamily="34" charset="0"/>
              </a:rPr>
              <a:t>p = P </a:t>
            </a:r>
            <a:r>
              <a:rPr kumimoji="0" lang="en-US" altLang="en-US" sz="2000" u="none" strike="noStrike" cap="none" spc="0" normalizeH="0" baseline="0" noProof="0" dirty="0">
                <a:ln>
                  <a:noFill/>
                </a:ln>
                <a:effectLst/>
                <a:uLnTx/>
                <a:uFillTx/>
                <a:latin typeface="Arial" panose="020B0604020202020204" pitchFamily="34" charset="0"/>
                <a:cs typeface="Arial" panose="020B0604020202020204" pitchFamily="34" charset="0"/>
              </a:rPr>
              <a:t>(</a:t>
            </a:r>
            <a:r>
              <a:rPr lang="en-US" altLang="en-US" sz="2000" dirty="0">
                <a:latin typeface="Arial" panose="020B0604020202020204" pitchFamily="34" charset="0"/>
                <a:cs typeface="Arial" panose="020B0604020202020204" pitchFamily="34" charset="0"/>
              </a:rPr>
              <a:t>outcome</a:t>
            </a:r>
            <a:r>
              <a:rPr kumimoji="0" lang="en-US" altLang="en-US" sz="2000" u="none" strike="noStrike" cap="none" spc="0" normalizeH="0" baseline="0" noProof="0" dirty="0">
                <a:ln>
                  <a:noFill/>
                </a:ln>
                <a:effectLst/>
                <a:uLnTx/>
                <a:uFillTx/>
                <a:latin typeface="Arial" panose="020B0604020202020204" pitchFamily="34" charset="0"/>
                <a:cs typeface="Arial" panose="020B0604020202020204" pitchFamily="34" charset="0"/>
              </a:rPr>
              <a:t>)</a:t>
            </a:r>
          </a:p>
          <a:p>
            <a:pPr marL="342900" marR="0" lvl="0" indent="-342900" fontAlgn="auto">
              <a:spcBef>
                <a:spcPct val="20000"/>
              </a:spcBef>
              <a:spcAft>
                <a:spcPts val="0"/>
              </a:spcAft>
              <a:buClrTx/>
              <a:buSzTx/>
              <a:buFont typeface="Calibri" panose="020F0502020204030204" pitchFamily="34" charset="0"/>
              <a:buChar char="•"/>
              <a:tabLst/>
              <a:defRPr/>
            </a:pPr>
            <a:r>
              <a:rPr lang="en-US" altLang="en-US" sz="2000" dirty="0">
                <a:latin typeface="Arial" panose="020B0604020202020204" pitchFamily="34" charset="0"/>
                <a:cs typeface="Arial" panose="020B0604020202020204" pitchFamily="34" charset="0"/>
              </a:rPr>
              <a:t>Check these for yourself, by hand</a:t>
            </a:r>
            <a:endParaRPr kumimoji="0" lang="en-US" altLang="en-US" sz="2000" u="none" strike="noStrike" cap="none" spc="0" normalizeH="0" baseline="0" noProof="0" dirty="0">
              <a:ln>
                <a:noFill/>
              </a:ln>
              <a:effectLst/>
              <a:uLnTx/>
              <a:uFillTx/>
              <a:latin typeface="Arial" panose="020B0604020202020204" pitchFamily="34" charset="0"/>
              <a:cs typeface="Arial" panose="020B0604020202020204" pitchFamily="34" charset="0"/>
            </a:endParaRPr>
          </a:p>
        </p:txBody>
      </p:sp>
      <p:graphicFrame>
        <p:nvGraphicFramePr>
          <p:cNvPr id="20" name="Group 52">
            <a:extLst>
              <a:ext uri="{FF2B5EF4-FFF2-40B4-BE49-F238E27FC236}">
                <a16:creationId xmlns:a16="http://schemas.microsoft.com/office/drawing/2014/main" id="{41DF3BF6-9A1C-D24B-B6EF-1A3EA220D16D}"/>
              </a:ext>
            </a:extLst>
          </p:cNvPr>
          <p:cNvGraphicFramePr>
            <a:graphicFrameLocks/>
          </p:cNvGraphicFramePr>
          <p:nvPr>
            <p:extLst>
              <p:ext uri="{D42A27DB-BD31-4B8C-83A1-F6EECF244321}">
                <p14:modId xmlns:p14="http://schemas.microsoft.com/office/powerpoint/2010/main" val="3090529207"/>
              </p:ext>
            </p:extLst>
          </p:nvPr>
        </p:nvGraphicFramePr>
        <p:xfrm>
          <a:off x="5350098" y="643466"/>
          <a:ext cx="5499259" cy="5499840"/>
        </p:xfrm>
        <a:graphic>
          <a:graphicData uri="http://schemas.openxmlformats.org/drawingml/2006/table">
            <a:tbl>
              <a:tblPr firstRow="1" bandRow="1">
                <a:solidFill>
                  <a:srgbClr val="F2F2F2">
                    <a:alpha val="30196"/>
                  </a:srgbClr>
                </a:solidFill>
              </a:tblPr>
              <a:tblGrid>
                <a:gridCol w="3226209">
                  <a:extLst>
                    <a:ext uri="{9D8B030D-6E8A-4147-A177-3AD203B41FA5}">
                      <a16:colId xmlns:a16="http://schemas.microsoft.com/office/drawing/2014/main" val="20000"/>
                    </a:ext>
                  </a:extLst>
                </a:gridCol>
                <a:gridCol w="2273050">
                  <a:extLst>
                    <a:ext uri="{9D8B030D-6E8A-4147-A177-3AD203B41FA5}">
                      <a16:colId xmlns:a16="http://schemas.microsoft.com/office/drawing/2014/main" val="20001"/>
                    </a:ext>
                  </a:extLst>
                </a:gridCol>
              </a:tblGrid>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dirty="0">
                          <a:ln>
                            <a:noFill/>
                          </a:ln>
                          <a:solidFill>
                            <a:schemeClr val="bg1"/>
                          </a:solidFill>
                          <a:effectLst/>
                          <a:latin typeface="Arial" panose="020B0604020202020204" pitchFamily="34" charset="0"/>
                          <a:cs typeface="Arial" panose="020B0604020202020204" pitchFamily="34" charset="0"/>
                        </a:rPr>
                        <a:t>Probability</a:t>
                      </a:r>
                    </a:p>
                  </a:txBody>
                  <a:tcPr marL="119600" marR="107742" marT="92000" marB="92000" anchor="ctr" horzOverflow="overflow">
                    <a:lnL w="19050" cap="flat" cmpd="sng" algn="ctr">
                      <a:noFill/>
                      <a:prstDash val="solid"/>
                    </a:lnL>
                    <a:lnR w="12700" cmpd="sng">
                      <a:noFill/>
                    </a:lnR>
                    <a:lnT w="19050" cap="flat" cmpd="sng" algn="ctr">
                      <a:noFill/>
                      <a:prstDash val="solid"/>
                    </a:lnT>
                    <a:lnB w="38100" cmpd="sng">
                      <a:noFill/>
                    </a:lnB>
                    <a:lnTlToBr>
                      <a:noFill/>
                    </a:lnTlToBr>
                    <a:lnBlToTr>
                      <a:noFill/>
                    </a:lnBlToTr>
                    <a:solidFill>
                      <a:schemeClr val="accent1"/>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bg1"/>
                          </a:solidFill>
                          <a:effectLst/>
                          <a:latin typeface="Arial" panose="020B0604020202020204" pitchFamily="34" charset="0"/>
                          <a:cs typeface="Arial" panose="020B0604020202020204" pitchFamily="34" charset="0"/>
                        </a:rPr>
                        <a:t>Odds</a:t>
                      </a:r>
                    </a:p>
                  </a:txBody>
                  <a:tcPr marL="119600" marR="107742" marT="92000" marB="92000"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1"/>
                    </a:solidFill>
                  </a:tcPr>
                </a:tc>
                <a:extLst>
                  <a:ext uri="{0D108BD9-81ED-4DB2-BD59-A6C34878D82A}">
                    <a16:rowId xmlns:a16="http://schemas.microsoft.com/office/drawing/2014/main" val="10000"/>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dirty="0">
                          <a:ln>
                            <a:noFill/>
                          </a:ln>
                          <a:solidFill>
                            <a:schemeClr val="tx1"/>
                          </a:solidFill>
                          <a:effectLst/>
                          <a:latin typeface="Arial" panose="020B0604020202020204" pitchFamily="34" charset="0"/>
                          <a:cs typeface="Arial" panose="020B0604020202020204" pitchFamily="34" charset="0"/>
                        </a:rPr>
                        <a:t>0.80</a:t>
                      </a:r>
                    </a:p>
                  </a:txBody>
                  <a:tcPr marL="119600" marR="107742" marT="92000" marB="92000" horzOverflow="overflow">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lnTlToBr>
                      <a:noFill/>
                    </a:lnTlToBr>
                    <a:lnBlToTr>
                      <a:noFill/>
                    </a:lnBlToTr>
                    <a:solidFill>
                      <a:srgbClr val="F2F2F2">
                        <a:alpha val="30196"/>
                      </a:srgb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tx1"/>
                          </a:solidFill>
                          <a:effectLst/>
                          <a:latin typeface="Arial" panose="020B0604020202020204" pitchFamily="34" charset="0"/>
                          <a:cs typeface="Arial" panose="020B0604020202020204" pitchFamily="34" charset="0"/>
                        </a:rPr>
                        <a:t>4</a:t>
                      </a:r>
                    </a:p>
                  </a:txBody>
                  <a:tcPr marL="119600" marR="107742" marT="92000" marB="92000" horzOverflow="overflow">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lnTlToBr>
                      <a:noFill/>
                    </a:lnTlToBr>
                    <a:lnBlToTr>
                      <a:noFill/>
                    </a:lnBlToTr>
                    <a:solidFill>
                      <a:srgbClr val="F2F2F2">
                        <a:alpha val="30196"/>
                      </a:srgbClr>
                    </a:solidFill>
                  </a:tcPr>
                </a:tc>
                <a:extLst>
                  <a:ext uri="{0D108BD9-81ED-4DB2-BD59-A6C34878D82A}">
                    <a16:rowId xmlns:a16="http://schemas.microsoft.com/office/drawing/2014/main" val="10001"/>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spc="0" normalizeH="0" baseline="0" dirty="0">
                          <a:ln>
                            <a:noFill/>
                          </a:ln>
                          <a:solidFill>
                            <a:schemeClr val="tx1"/>
                          </a:solidFill>
                          <a:effectLst/>
                          <a:latin typeface="Arial" panose="020B0604020202020204" pitchFamily="34" charset="0"/>
                          <a:cs typeface="Arial" panose="020B0604020202020204" pitchFamily="34" charset="0"/>
                        </a:rPr>
                        <a:t>0.67</a:t>
                      </a:r>
                    </a:p>
                  </a:txBody>
                  <a:tcPr marL="119600" marR="107742" marT="92000" marB="92000" horzOverflow="overflow">
                    <a:lnL w="6350" cap="flat" cmpd="sng" algn="ctr">
                      <a:noFill/>
                      <a:prstDash val="solid"/>
                    </a:lnL>
                    <a:lnR w="6350" cap="flat" cmpd="sng" algn="ctr">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0" u="none" strike="noStrike" cap="none" spc="0" normalizeH="0" baseline="0">
                          <a:ln>
                            <a:noFill/>
                          </a:ln>
                          <a:solidFill>
                            <a:schemeClr val="tx1"/>
                          </a:solidFill>
                          <a:effectLst/>
                          <a:latin typeface="Arial" panose="020B0604020202020204" pitchFamily="34" charset="0"/>
                          <a:cs typeface="Arial" panose="020B0604020202020204" pitchFamily="34" charset="0"/>
                        </a:rPr>
                        <a:t>2</a:t>
                      </a:r>
                    </a:p>
                  </a:txBody>
                  <a:tcPr marL="119600" marR="107742" marT="92000" marB="92000" horzOverflow="overflow">
                    <a:lnL w="6350" cap="flat" cmpd="sng" algn="ctr">
                      <a:noFill/>
                      <a:prstDash val="solid"/>
                    </a:lnL>
                    <a:lnR w="12700" cmpd="sng">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dirty="0">
                          <a:ln>
                            <a:noFill/>
                          </a:ln>
                          <a:solidFill>
                            <a:schemeClr val="tx1"/>
                          </a:solidFill>
                          <a:effectLst/>
                          <a:latin typeface="Arial" panose="020B0604020202020204" pitchFamily="34" charset="0"/>
                          <a:cs typeface="Arial" panose="020B0604020202020204" pitchFamily="34" charset="0"/>
                        </a:rPr>
                        <a:t>0.60</a:t>
                      </a:r>
                    </a:p>
                  </a:txBody>
                  <a:tcPr marL="119600" marR="107742" marT="92000" marB="92000" horzOverflow="overflow">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tx1"/>
                          </a:solidFill>
                          <a:effectLst/>
                          <a:latin typeface="Arial" panose="020B0604020202020204" pitchFamily="34" charset="0"/>
                          <a:cs typeface="Arial" panose="020B0604020202020204" pitchFamily="34" charset="0"/>
                        </a:rPr>
                        <a:t>1.5</a:t>
                      </a:r>
                    </a:p>
                  </a:txBody>
                  <a:tcPr marL="119600" marR="107742" marT="92000" marB="92000" horzOverflow="overflow">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extLst>
                  <a:ext uri="{0D108BD9-81ED-4DB2-BD59-A6C34878D82A}">
                    <a16:rowId xmlns:a16="http://schemas.microsoft.com/office/drawing/2014/main" val="10003"/>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dirty="0">
                          <a:ln>
                            <a:noFill/>
                          </a:ln>
                          <a:solidFill>
                            <a:schemeClr val="tx1"/>
                          </a:solidFill>
                          <a:effectLst/>
                          <a:latin typeface="Arial" panose="020B0604020202020204" pitchFamily="34" charset="0"/>
                          <a:cs typeface="Arial" panose="020B0604020202020204" pitchFamily="34" charset="0"/>
                        </a:rPr>
                        <a:t>0.50</a:t>
                      </a:r>
                    </a:p>
                  </a:txBody>
                  <a:tcPr marL="119600" marR="107742" marT="92000" marB="92000" horzOverflow="overflow">
                    <a:lnL w="6350" cap="flat" cmpd="sng" algn="ctr">
                      <a:noFill/>
                      <a:prstDash val="solid"/>
                    </a:lnL>
                    <a:lnR w="6350" cap="flat" cmpd="sng" algn="ctr">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tx1"/>
                          </a:solidFill>
                          <a:effectLst/>
                          <a:latin typeface="Arial" panose="020B0604020202020204" pitchFamily="34" charset="0"/>
                          <a:cs typeface="Arial" panose="020B0604020202020204" pitchFamily="34" charset="0"/>
                        </a:rPr>
                        <a:t>1.0</a:t>
                      </a:r>
                    </a:p>
                  </a:txBody>
                  <a:tcPr marL="119600" marR="107742" marT="92000" marB="92000" horzOverflow="overflow">
                    <a:lnL w="6350" cap="flat" cmpd="sng" algn="ctr">
                      <a:noFill/>
                      <a:prstDash val="solid"/>
                    </a:lnL>
                    <a:lnR w="12700" cmpd="sng">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tx1"/>
                          </a:solidFill>
                          <a:effectLst/>
                          <a:latin typeface="Arial" panose="020B0604020202020204" pitchFamily="34" charset="0"/>
                          <a:cs typeface="Arial" panose="020B0604020202020204" pitchFamily="34" charset="0"/>
                        </a:rPr>
                        <a:t>0.40</a:t>
                      </a:r>
                    </a:p>
                  </a:txBody>
                  <a:tcPr marL="119600" marR="107742" marT="92000" marB="92000" horzOverflow="overflow">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tx1"/>
                          </a:solidFill>
                          <a:effectLst/>
                          <a:latin typeface="Arial" panose="020B0604020202020204" pitchFamily="34" charset="0"/>
                          <a:cs typeface="Arial" panose="020B0604020202020204" pitchFamily="34" charset="0"/>
                        </a:rPr>
                        <a:t>0.67</a:t>
                      </a:r>
                    </a:p>
                  </a:txBody>
                  <a:tcPr marL="119600" marR="107742" marT="92000" marB="92000" horzOverflow="overflow">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extLst>
                  <a:ext uri="{0D108BD9-81ED-4DB2-BD59-A6C34878D82A}">
                    <a16:rowId xmlns:a16="http://schemas.microsoft.com/office/drawing/2014/main" val="10005"/>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dirty="0">
                          <a:ln>
                            <a:noFill/>
                          </a:ln>
                          <a:solidFill>
                            <a:schemeClr val="tx1"/>
                          </a:solidFill>
                          <a:effectLst/>
                          <a:latin typeface="Arial" panose="020B0604020202020204" pitchFamily="34" charset="0"/>
                          <a:cs typeface="Arial" panose="020B0604020202020204" pitchFamily="34" charset="0"/>
                        </a:rPr>
                        <a:t>0.33</a:t>
                      </a:r>
                    </a:p>
                  </a:txBody>
                  <a:tcPr marL="119600" marR="107742" marT="92000" marB="92000" horzOverflow="overflow">
                    <a:lnL w="6350" cap="flat" cmpd="sng" algn="ctr">
                      <a:noFill/>
                      <a:prstDash val="solid"/>
                    </a:lnL>
                    <a:lnR w="6350" cap="flat" cmpd="sng" algn="ctr">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tx1"/>
                          </a:solidFill>
                          <a:effectLst/>
                          <a:latin typeface="Arial" panose="020B0604020202020204" pitchFamily="34" charset="0"/>
                          <a:cs typeface="Arial" panose="020B0604020202020204" pitchFamily="34" charset="0"/>
                        </a:rPr>
                        <a:t>0.5</a:t>
                      </a:r>
                    </a:p>
                  </a:txBody>
                  <a:tcPr marL="119600" marR="107742" marT="92000" marB="92000" horzOverflow="overflow">
                    <a:lnL w="6350" cap="flat" cmpd="sng" algn="ctr">
                      <a:noFill/>
                      <a:prstDash val="solid"/>
                    </a:lnL>
                    <a:lnR w="12700" cmpd="sng">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a:ln>
                            <a:noFill/>
                          </a:ln>
                          <a:solidFill>
                            <a:schemeClr val="tx1"/>
                          </a:solidFill>
                          <a:effectLst/>
                          <a:latin typeface="Arial" panose="020B0604020202020204" pitchFamily="34" charset="0"/>
                          <a:cs typeface="Arial" panose="020B0604020202020204" pitchFamily="34" charset="0"/>
                        </a:rPr>
                        <a:t>0.25</a:t>
                      </a:r>
                    </a:p>
                  </a:txBody>
                  <a:tcPr marL="119600" marR="107742" marT="92000" marB="92000" horzOverflow="overflow">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0" i="0" u="none" strike="noStrike" cap="none" spc="0" normalizeH="0" baseline="0" dirty="0">
                          <a:ln>
                            <a:noFill/>
                          </a:ln>
                          <a:solidFill>
                            <a:schemeClr val="tx1"/>
                          </a:solidFill>
                          <a:effectLst/>
                          <a:latin typeface="Arial" panose="020B0604020202020204" pitchFamily="34" charset="0"/>
                          <a:cs typeface="Arial" panose="020B0604020202020204" pitchFamily="34" charset="0"/>
                        </a:rPr>
                        <a:t>0.33</a:t>
                      </a:r>
                    </a:p>
                  </a:txBody>
                  <a:tcPr marL="119600" marR="107742" marT="92000" marB="92000" horzOverflow="overflow">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extLst>
                  <a:ext uri="{0D108BD9-81ED-4DB2-BD59-A6C34878D82A}">
                    <a16:rowId xmlns:a16="http://schemas.microsoft.com/office/drawing/2014/main" val="10007"/>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a:ln>
                            <a:noFill/>
                          </a:ln>
                          <a:solidFill>
                            <a:schemeClr val="tx1"/>
                          </a:solidFill>
                          <a:effectLst/>
                          <a:latin typeface="Arial" panose="020B0604020202020204" pitchFamily="34" charset="0"/>
                          <a:cs typeface="Arial" panose="020B0604020202020204" pitchFamily="34" charset="0"/>
                        </a:rPr>
                        <a:t>0.20</a:t>
                      </a:r>
                    </a:p>
                  </a:txBody>
                  <a:tcPr marL="119600" marR="107742" marT="92000" marB="92000" horzOverflow="overflow">
                    <a:lnL w="6350" cap="flat" cmpd="sng" algn="ctr">
                      <a:noFill/>
                      <a:prstDash val="solid"/>
                    </a:lnL>
                    <a:lnR w="6350" cap="flat" cmpd="sng" algn="ctr">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dirty="0">
                          <a:ln>
                            <a:noFill/>
                          </a:ln>
                          <a:solidFill>
                            <a:schemeClr val="tx1"/>
                          </a:solidFill>
                          <a:effectLst/>
                          <a:latin typeface="Arial" panose="020B0604020202020204" pitchFamily="34" charset="0"/>
                          <a:cs typeface="Arial" panose="020B0604020202020204" pitchFamily="34" charset="0"/>
                        </a:rPr>
                        <a:t>0.25</a:t>
                      </a:r>
                    </a:p>
                  </a:txBody>
                  <a:tcPr marL="119600" marR="107742" marT="92000" marB="92000" horzOverflow="overflow">
                    <a:lnL w="6350" cap="flat" cmpd="sng" algn="ctr">
                      <a:noFill/>
                      <a:prstDash val="solid"/>
                    </a:lnL>
                    <a:lnR w="12700" cmpd="sng">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a:ln>
                            <a:noFill/>
                          </a:ln>
                          <a:solidFill>
                            <a:schemeClr val="tx1"/>
                          </a:solidFill>
                          <a:effectLst/>
                          <a:latin typeface="Arial" panose="020B0604020202020204" pitchFamily="34" charset="0"/>
                          <a:cs typeface="Arial" panose="020B0604020202020204" pitchFamily="34" charset="0"/>
                        </a:rPr>
                        <a:t>0.10</a:t>
                      </a:r>
                    </a:p>
                  </a:txBody>
                  <a:tcPr marL="119600" marR="107742" marT="92000" marB="92000" horzOverflow="overflow">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dirty="0">
                          <a:ln>
                            <a:noFill/>
                          </a:ln>
                          <a:solidFill>
                            <a:schemeClr val="tx1"/>
                          </a:solidFill>
                          <a:effectLst/>
                          <a:latin typeface="Arial" panose="020B0604020202020204" pitchFamily="34" charset="0"/>
                          <a:cs typeface="Arial" panose="020B0604020202020204" pitchFamily="34" charset="0"/>
                        </a:rPr>
                        <a:t>0.11</a:t>
                      </a:r>
                    </a:p>
                  </a:txBody>
                  <a:tcPr marL="119600" marR="107742" marT="92000" marB="92000" horzOverflow="overflow">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lnTlToBr>
                      <a:noFill/>
                    </a:lnTlToBr>
                    <a:lnBlToTr>
                      <a:noFill/>
                    </a:lnBlToTr>
                    <a:solidFill>
                      <a:srgbClr val="F2F2F2">
                        <a:alpha val="30196"/>
                      </a:srgbClr>
                    </a:solidFill>
                  </a:tcPr>
                </a:tc>
                <a:extLst>
                  <a:ext uri="{0D108BD9-81ED-4DB2-BD59-A6C34878D82A}">
                    <a16:rowId xmlns:a16="http://schemas.microsoft.com/office/drawing/2014/main" val="10009"/>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a:ln>
                            <a:noFill/>
                          </a:ln>
                          <a:solidFill>
                            <a:schemeClr val="tx1"/>
                          </a:solidFill>
                          <a:effectLst/>
                          <a:latin typeface="Arial" panose="020B0604020202020204" pitchFamily="34" charset="0"/>
                          <a:cs typeface="Arial" panose="020B0604020202020204" pitchFamily="34" charset="0"/>
                        </a:rPr>
                        <a:t>0.05</a:t>
                      </a:r>
                    </a:p>
                  </a:txBody>
                  <a:tcPr marL="119600" marR="107742" marT="92000" marB="92000" horzOverflow="overflow">
                    <a:lnL w="6350" cap="flat" cmpd="sng" algn="ctr">
                      <a:noFill/>
                      <a:prstDash val="solid"/>
                    </a:lnL>
                    <a:lnR w="6350" cap="flat" cmpd="sng" algn="ctr">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dirty="0">
                          <a:ln>
                            <a:noFill/>
                          </a:ln>
                          <a:solidFill>
                            <a:schemeClr val="tx1"/>
                          </a:solidFill>
                          <a:effectLst/>
                          <a:latin typeface="Arial" panose="020B0604020202020204" pitchFamily="34" charset="0"/>
                          <a:cs typeface="Arial" panose="020B0604020202020204" pitchFamily="34" charset="0"/>
                        </a:rPr>
                        <a:t>0.053</a:t>
                      </a:r>
                    </a:p>
                  </a:txBody>
                  <a:tcPr marL="119600" marR="107742" marT="92000" marB="92000" horzOverflow="overflow">
                    <a:lnL w="6350" cap="flat" cmpd="sng" algn="ctr">
                      <a:noFill/>
                      <a:prstDash val="solid"/>
                    </a:lnL>
                    <a:lnR w="12700" cmpd="sng">
                      <a:noFill/>
                      <a:prstDash val="solid"/>
                    </a:lnR>
                    <a:lnT w="6350" cap="flat" cmpd="sng" algn="ctr">
                      <a:noFill/>
                      <a:prstDash val="solid"/>
                    </a:lnT>
                    <a:lnB w="12700" cmpd="sng">
                      <a:no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10"/>
                  </a:ext>
                </a:extLst>
              </a:tr>
              <a:tr h="435469">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a:ln>
                            <a:noFill/>
                          </a:ln>
                          <a:solidFill>
                            <a:schemeClr val="tx1"/>
                          </a:solidFill>
                          <a:effectLst/>
                          <a:latin typeface="Arial" panose="020B0604020202020204" pitchFamily="34" charset="0"/>
                          <a:cs typeface="Arial" panose="020B0604020202020204" pitchFamily="34" charset="0"/>
                        </a:rPr>
                        <a:t>0.01</a:t>
                      </a:r>
                    </a:p>
                  </a:txBody>
                  <a:tcPr marL="119600" marR="107742" marT="92000" marB="92000" horzOverflow="overflow">
                    <a:lnL w="38100" cap="flat" cmpd="sng" algn="ctr">
                      <a:no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lnTlToBr>
                      <a:noFill/>
                    </a:lnTlToBr>
                    <a:lnBlToTr>
                      <a:noFill/>
                    </a:lnBlToTr>
                    <a:solidFill>
                      <a:srgbClr val="F2F2F2">
                        <a:alpha val="30196"/>
                      </a:srgbClr>
                    </a:solidFill>
                  </a:tcPr>
                </a:tc>
                <a:tc>
                  <a:txBody>
                    <a:bodyPr/>
                    <a:lstStyle>
                      <a:lvl1pPr algn="l">
                        <a:spcBef>
                          <a:spcPct val="20000"/>
                        </a:spcBef>
                        <a:defRPr sz="2400">
                          <a:solidFill>
                            <a:schemeClr val="tx1"/>
                          </a:solidFill>
                          <a:latin typeface="Arial" pitchFamily="34" charset="0"/>
                        </a:defRPr>
                      </a:lvl1pPr>
                      <a:lvl2pPr algn="l">
                        <a:spcBef>
                          <a:spcPct val="20000"/>
                        </a:spcBef>
                        <a:defRPr sz="2000">
                          <a:solidFill>
                            <a:schemeClr val="tx1"/>
                          </a:solidFill>
                          <a:latin typeface="Arial" pitchFamily="34" charset="0"/>
                        </a:defRPr>
                      </a:lvl2pPr>
                      <a:lvl3pPr algn="l">
                        <a:spcBef>
                          <a:spcPct val="20000"/>
                        </a:spcBef>
                        <a:defRPr>
                          <a:solidFill>
                            <a:schemeClr val="tx1"/>
                          </a:solidFill>
                          <a:latin typeface="Arial" pitchFamily="34" charset="0"/>
                        </a:defRPr>
                      </a:lvl3pPr>
                      <a:lvl4pPr algn="l">
                        <a:spcBef>
                          <a:spcPct val="20000"/>
                        </a:spcBef>
                        <a:defRPr>
                          <a:solidFill>
                            <a:schemeClr val="tx1"/>
                          </a:solidFill>
                          <a:latin typeface="Arial" pitchFamily="34" charset="0"/>
                        </a:defRPr>
                      </a:lvl4pPr>
                      <a:lvl5pPr algn="l">
                        <a:spcBef>
                          <a:spcPct val="20000"/>
                        </a:spcBef>
                        <a:defRPr sz="1600">
                          <a:solidFill>
                            <a:schemeClr val="tx1"/>
                          </a:solidFill>
                          <a:latin typeface="Arial" pitchFamily="34" charset="0"/>
                        </a:defRPr>
                      </a:lvl5pPr>
                      <a:lvl6pPr eaLnBrk="0" fontAlgn="base" hangingPunct="0">
                        <a:spcBef>
                          <a:spcPct val="20000"/>
                        </a:spcBef>
                        <a:spcAft>
                          <a:spcPct val="0"/>
                        </a:spcAft>
                        <a:defRPr sz="1600">
                          <a:solidFill>
                            <a:schemeClr val="tx1"/>
                          </a:solidFill>
                          <a:latin typeface="Arial" pitchFamily="34" charset="0"/>
                        </a:defRPr>
                      </a:lvl6pPr>
                      <a:lvl7pPr eaLnBrk="0" fontAlgn="base" hangingPunct="0">
                        <a:spcBef>
                          <a:spcPct val="20000"/>
                        </a:spcBef>
                        <a:spcAft>
                          <a:spcPct val="0"/>
                        </a:spcAft>
                        <a:defRPr sz="1600">
                          <a:solidFill>
                            <a:schemeClr val="tx1"/>
                          </a:solidFill>
                          <a:latin typeface="Arial" pitchFamily="34" charset="0"/>
                        </a:defRPr>
                      </a:lvl7pPr>
                      <a:lvl8pPr eaLnBrk="0" fontAlgn="base" hangingPunct="0">
                        <a:spcBef>
                          <a:spcPct val="20000"/>
                        </a:spcBef>
                        <a:spcAft>
                          <a:spcPct val="0"/>
                        </a:spcAft>
                        <a:defRPr sz="1600">
                          <a:solidFill>
                            <a:schemeClr val="tx1"/>
                          </a:solidFill>
                          <a:latin typeface="Arial" pitchFamily="34" charset="0"/>
                        </a:defRPr>
                      </a:lvl8pPr>
                      <a:lvl9pPr eaLnBrk="0" fontAlgn="base" hangingPunct="0">
                        <a:spcBef>
                          <a:spcPct val="20000"/>
                        </a:spcBef>
                        <a:spcAft>
                          <a:spcPct val="0"/>
                        </a:spcAft>
                        <a:defRPr sz="1600">
                          <a:solidFill>
                            <a:schemeClr val="tx1"/>
                          </a:solidFill>
                          <a:latin typeface="Arial"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800" b="1" i="1" u="none" strike="noStrike" cap="none" spc="0" normalizeH="0" baseline="0" dirty="0">
                          <a:ln>
                            <a:noFill/>
                          </a:ln>
                          <a:solidFill>
                            <a:schemeClr val="tx1"/>
                          </a:solidFill>
                          <a:effectLst/>
                          <a:latin typeface="Arial" panose="020B0604020202020204" pitchFamily="34" charset="0"/>
                          <a:cs typeface="Arial" panose="020B0604020202020204" pitchFamily="34" charset="0"/>
                        </a:rPr>
                        <a:t>0.0101</a:t>
                      </a:r>
                    </a:p>
                  </a:txBody>
                  <a:tcPr marL="119600" marR="107742" marT="92000" marB="92000" horzOverflow="overflow">
                    <a:lnL w="6350" cap="flat" cmpd="sng" algn="ctr">
                      <a:solidFill>
                        <a:schemeClr val="tx1">
                          <a:lumMod val="75000"/>
                          <a:lumOff val="25000"/>
                        </a:schemeClr>
                      </a:solidFill>
                      <a:prstDash val="solid"/>
                    </a:lnL>
                    <a:lnR w="38100" cap="flat" cmpd="sng" algn="ctr">
                      <a:noFill/>
                      <a:prstDash val="solid"/>
                    </a:lnR>
                    <a:lnT w="12700" cmpd="sng">
                      <a:noFill/>
                      <a:prstDash val="solid"/>
                    </a:lnT>
                    <a:lnB w="38100" cap="flat" cmpd="sng" algn="ctr">
                      <a:noFill/>
                      <a:prstDash val="solid"/>
                    </a:lnB>
                    <a:lnTlToBr>
                      <a:noFill/>
                    </a:lnTlToBr>
                    <a:lnBlToTr>
                      <a:noFill/>
                    </a:lnBlToTr>
                    <a:solidFill>
                      <a:srgbClr val="F2F2F2">
                        <a:alpha val="30196"/>
                      </a:srgb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7170995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D8C89-AED8-8E45-894F-731A49CE679B}"/>
              </a:ext>
            </a:extLst>
          </p:cNvPr>
          <p:cNvSpPr>
            <a:spLocks noGrp="1"/>
          </p:cNvSpPr>
          <p:nvPr>
            <p:ph type="title"/>
          </p:nvPr>
        </p:nvSpPr>
        <p:spPr>
          <a:xfrm>
            <a:off x="202335" y="90675"/>
            <a:ext cx="10058400" cy="648627"/>
          </a:xfrm>
        </p:spPr>
        <p:txBody>
          <a:bodyPr>
            <a:normAutofit/>
          </a:bodyPr>
          <a:lstStyle/>
          <a:p>
            <a:r>
              <a:rPr lang="en-US" sz="3600" dirty="0">
                <a:latin typeface="Arial" panose="020B0604020202020204" pitchFamily="34" charset="0"/>
                <a:cs typeface="Arial" panose="020B0604020202020204" pitchFamily="34" charset="0"/>
              </a:rPr>
              <a:t>Computing Odds</a:t>
            </a:r>
          </a:p>
        </p:txBody>
      </p:sp>
      <p:sp>
        <p:nvSpPr>
          <p:cNvPr id="3" name="Content Placeholder 2">
            <a:extLst>
              <a:ext uri="{FF2B5EF4-FFF2-40B4-BE49-F238E27FC236}">
                <a16:creationId xmlns:a16="http://schemas.microsoft.com/office/drawing/2014/main" id="{5494D170-A88C-8A46-8AC3-50AF663C3222}"/>
              </a:ext>
            </a:extLst>
          </p:cNvPr>
          <p:cNvSpPr>
            <a:spLocks noGrp="1"/>
          </p:cNvSpPr>
          <p:nvPr>
            <p:ph idx="1"/>
          </p:nvPr>
        </p:nvSpPr>
        <p:spPr>
          <a:xfrm>
            <a:off x="202335" y="739302"/>
            <a:ext cx="10058400" cy="3760891"/>
          </a:xfrm>
        </p:spPr>
        <p:txBody>
          <a:bodyPr/>
          <a:lstStyle/>
          <a:p>
            <a:r>
              <a:rPr lang="en-US" dirty="0"/>
              <a:t>Recall the odds of an event or outcome, A, is defined as</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532F8C03-2F0E-7E44-A8BE-AB13845B66B8}"/>
                  </a:ext>
                </a:extLst>
              </p:cNvPr>
              <p:cNvSpPr/>
              <p:nvPr/>
            </p:nvSpPr>
            <p:spPr>
              <a:xfrm>
                <a:off x="2235735" y="1518247"/>
                <a:ext cx="6658682" cy="6806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𝑂𝐷𝐷𝑆</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𝑝𝑟𝑜𝑏𝑎𝑏𝑖𝑙𝑖𝑡𝑦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𝑜𝑓</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h</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𝑜𝑢𝑡𝑐𝑜𝑚𝑒</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h</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𝑝𝑟𝑜𝑏𝑎𝑏𝑖𝑙𝑖𝑡𝑦</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𝑜𝑓</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𝑡</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h</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𝑜𝑢𝑡𝑐𝑜𝑚𝑒</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a14:m>
                <a:r>
                  <a:rPr kumimoji="0" lang="en-US" sz="2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14:m>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𝐴</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𝐴</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den>
                    </m:f>
                  </m:oMath>
                </a14:m>
                <a:endParaRPr kumimoji="0" lang="en-US" sz="24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p:txBody>
          </p:sp>
        </mc:Choice>
        <mc:Fallback>
          <p:sp>
            <p:nvSpPr>
              <p:cNvPr id="4" name="Rectangle 3">
                <a:extLst>
                  <a:ext uri="{FF2B5EF4-FFF2-40B4-BE49-F238E27FC236}">
                    <a16:creationId xmlns:a16="http://schemas.microsoft.com/office/drawing/2014/main" id="{532F8C03-2F0E-7E44-A8BE-AB13845B66B8}"/>
                  </a:ext>
                </a:extLst>
              </p:cNvPr>
              <p:cNvSpPr>
                <a:spLocks noRot="1" noChangeAspect="1" noMove="1" noResize="1" noEditPoints="1" noAdjustHandles="1" noChangeArrowheads="1" noChangeShapeType="1" noTextEdit="1"/>
              </p:cNvSpPr>
              <p:nvPr/>
            </p:nvSpPr>
            <p:spPr>
              <a:xfrm>
                <a:off x="2235735" y="1518247"/>
                <a:ext cx="6658682" cy="680699"/>
              </a:xfrm>
              <a:prstGeom prst="rect">
                <a:avLst/>
              </a:prstGeom>
              <a:blipFill>
                <a:blip r:embed="rId2"/>
                <a:stretch>
                  <a:fillRect/>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4DB5487A-AE92-5F43-93D4-2B02BC232CC9}"/>
              </a:ext>
            </a:extLst>
          </p:cNvPr>
          <p:cNvSpPr/>
          <p:nvPr/>
        </p:nvSpPr>
        <p:spPr>
          <a:xfrm>
            <a:off x="1036320" y="2464438"/>
            <a:ext cx="10345554" cy="28623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For example, suppose we roll a single (fair) die, compute the odds of rolling a 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Let </a:t>
            </a:r>
            <a:r>
              <a:rPr kumimoji="0" lang="en-US" sz="1800" b="0" i="1" u="none" strike="noStrike" kern="1200" cap="none" spc="0" normalizeH="0" baseline="0" noProof="0" dirty="0">
                <a:ln>
                  <a:noFill/>
                </a:ln>
                <a:solidFill>
                  <a:srgbClr val="000000"/>
                </a:solidFill>
                <a:effectLst/>
                <a:uLnTx/>
                <a:uFillTx/>
                <a:latin typeface="Franklin Gothic Book" panose="020F0502020204030204"/>
                <a:ea typeface="+mn-ea"/>
                <a:cs typeface="+mn-cs"/>
              </a:rPr>
              <a:t>A – </a:t>
            </a: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we observe a “3” after 1 roll of a fair die</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What is the P(A)? 1/6</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What is 1 - P(A)? 5/6</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Compute</a:t>
            </a: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endPar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endPar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endPar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arenBoth"/>
              <a:tabLst/>
              <a:defRPr/>
            </a:pPr>
            <a:r>
              <a:rPr kumimoji="0" lang="en-US"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Interpret: The odds of getting a “3” are 1 in 5 (intuitive) and the odds of not getting a “3” are 5 in 1</a:t>
            </a:r>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92930F2C-5E9D-ED44-B3CC-CCA26D3EF154}"/>
                  </a:ext>
                </a:extLst>
              </p:cNvPr>
              <p:cNvSpPr/>
              <p:nvPr/>
            </p:nvSpPr>
            <p:spPr>
              <a:xfrm>
                <a:off x="3863787" y="4087328"/>
                <a:ext cx="4239153" cy="6806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𝑂𝐷𝐷𝑆</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oMath>
                </a14:m>
                <a:r>
                  <a:rPr kumimoji="0" lang="en-US" sz="2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14:m>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𝐴</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𝑝</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𝐴</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r>
                      <m:rPr>
                        <m:nor/>
                      </m:rPr>
                      <a:rPr kumimoji="0" lang="en-US" sz="2400" b="0" i="0" u="none" strike="noStrike" kern="1200" cap="none" spc="0" normalizeH="0" baseline="0" noProof="0" dirty="0">
                        <a:ln>
                          <a:noFill/>
                        </a:ln>
                        <a:solidFill>
                          <a:srgbClr val="000000"/>
                        </a:solidFill>
                        <a:effectLst/>
                        <a:uLnTx/>
                        <a:uFillTx/>
                        <a:latin typeface="Franklin Gothic Book" panose="020F0502020204030204"/>
                        <a:ea typeface="+mn-ea"/>
                        <a:cs typeface="+mn-cs"/>
                      </a:rPr>
                      <m:t> </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num>
                      <m:den>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6</m:t>
                        </m:r>
                      </m:den>
                    </m:f>
                  </m:oMath>
                </a14:m>
                <a:r>
                  <a:rPr kumimoji="0" lang="en-US" sz="2400" b="0" i="0" u="none" strike="noStrike" kern="1200" cap="none" spc="0" normalizeH="0" baseline="0" noProof="0" dirty="0">
                    <a:ln>
                      <a:noFill/>
                    </a:ln>
                    <a:solidFill>
                      <a:srgbClr val="000000"/>
                    </a:solidFill>
                    <a:effectLst/>
                    <a:uLnTx/>
                    <a:uFillTx/>
                    <a:latin typeface="Franklin Gothic Book" panose="020F0502020204030204"/>
                    <a:ea typeface="+mn-ea"/>
                    <a:cs typeface="+mn-cs"/>
                  </a:rPr>
                  <a:t> = </a:t>
                </a:r>
                <a14:m>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5</m:t>
                        </m:r>
                      </m:den>
                    </m:f>
                  </m:oMath>
                </a14:m>
                <a:endParaRPr kumimoji="0" lang="en-US" sz="24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p:txBody>
          </p:sp>
        </mc:Choice>
        <mc:Fallback>
          <p:sp>
            <p:nvSpPr>
              <p:cNvPr id="6" name="Rectangle 5">
                <a:extLst>
                  <a:ext uri="{FF2B5EF4-FFF2-40B4-BE49-F238E27FC236}">
                    <a16:creationId xmlns:a16="http://schemas.microsoft.com/office/drawing/2014/main" id="{92930F2C-5E9D-ED44-B3CC-CCA26D3EF154}"/>
                  </a:ext>
                </a:extLst>
              </p:cNvPr>
              <p:cNvSpPr>
                <a:spLocks noRot="1" noChangeAspect="1" noMove="1" noResize="1" noEditPoints="1" noAdjustHandles="1" noChangeArrowheads="1" noChangeShapeType="1" noTextEdit="1"/>
              </p:cNvSpPr>
              <p:nvPr/>
            </p:nvSpPr>
            <p:spPr>
              <a:xfrm>
                <a:off x="3863787" y="4087328"/>
                <a:ext cx="4239153" cy="6806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01757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anim calcmode="lin" valueType="num">
                                      <p:cBhvr additive="base">
                                        <p:cTn id="3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90D90-D6F8-5B48-B06A-2A0E1CD700B4}"/>
              </a:ext>
            </a:extLst>
          </p:cNvPr>
          <p:cNvSpPr>
            <a:spLocks noGrp="1"/>
          </p:cNvSpPr>
          <p:nvPr>
            <p:ph type="title"/>
          </p:nvPr>
        </p:nvSpPr>
        <p:spPr>
          <a:xfrm>
            <a:off x="216728" y="223701"/>
            <a:ext cx="10058400" cy="702305"/>
          </a:xfrm>
        </p:spPr>
        <p:txBody>
          <a:bodyPr>
            <a:normAutofit/>
          </a:bodyPr>
          <a:lstStyle/>
          <a:p>
            <a:r>
              <a:rPr lang="en-US" sz="3600" dirty="0">
                <a:latin typeface="Arial" panose="020B0604020202020204" pitchFamily="34" charset="0"/>
                <a:cs typeface="Arial" panose="020B0604020202020204" pitchFamily="34" charset="0"/>
              </a:rPr>
              <a:t>Example</a:t>
            </a:r>
          </a:p>
        </p:txBody>
      </p:sp>
      <p:sp>
        <p:nvSpPr>
          <p:cNvPr id="3" name="Content Placeholder 2">
            <a:extLst>
              <a:ext uri="{FF2B5EF4-FFF2-40B4-BE49-F238E27FC236}">
                <a16:creationId xmlns:a16="http://schemas.microsoft.com/office/drawing/2014/main" id="{6FA327AB-4739-9B43-A439-089A1A3427B4}"/>
              </a:ext>
            </a:extLst>
          </p:cNvPr>
          <p:cNvSpPr>
            <a:spLocks noGrp="1"/>
          </p:cNvSpPr>
          <p:nvPr>
            <p:ph idx="1"/>
          </p:nvPr>
        </p:nvSpPr>
        <p:spPr>
          <a:xfrm>
            <a:off x="1098968" y="1057933"/>
            <a:ext cx="10058400" cy="3760891"/>
          </a:xfrm>
        </p:spPr>
        <p:txBody>
          <a:bodyPr>
            <a:normAutofit/>
          </a:bodyPr>
          <a:lstStyle/>
          <a:p>
            <a:r>
              <a:rPr lang="en-US" sz="2000" dirty="0">
                <a:latin typeface="Arial" panose="020B0604020202020204" pitchFamily="34" charset="0"/>
                <a:cs typeface="Arial" panose="020B0604020202020204" pitchFamily="34" charset="0"/>
              </a:rPr>
              <a:t>To compute the odds we need to introduce the idea of conditional probability</a:t>
            </a:r>
          </a:p>
        </p:txBody>
      </p:sp>
      <p:graphicFrame>
        <p:nvGraphicFramePr>
          <p:cNvPr id="4" name="Table 4">
            <a:extLst>
              <a:ext uri="{FF2B5EF4-FFF2-40B4-BE49-F238E27FC236}">
                <a16:creationId xmlns:a16="http://schemas.microsoft.com/office/drawing/2014/main" id="{96BE7CE6-DAF4-7547-8BF4-27893BA2CF26}"/>
              </a:ext>
            </a:extLst>
          </p:cNvPr>
          <p:cNvGraphicFramePr>
            <a:graphicFrameLocks/>
          </p:cNvGraphicFramePr>
          <p:nvPr>
            <p:extLst>
              <p:ext uri="{D42A27DB-BD31-4B8C-83A1-F6EECF244321}">
                <p14:modId xmlns:p14="http://schemas.microsoft.com/office/powerpoint/2010/main" val="3428534118"/>
              </p:ext>
            </p:extLst>
          </p:nvPr>
        </p:nvGraphicFramePr>
        <p:xfrm>
          <a:off x="1098968" y="1888111"/>
          <a:ext cx="5929479" cy="2661920"/>
        </p:xfrm>
        <a:graphic>
          <a:graphicData uri="http://schemas.openxmlformats.org/drawingml/2006/table">
            <a:tbl>
              <a:tblPr firstRow="1" bandRow="1">
                <a:tableStyleId>{5C22544A-7EE6-4342-B048-85BDC9FD1C3A}</a:tableStyleId>
              </a:tblPr>
              <a:tblGrid>
                <a:gridCol w="1718426">
                  <a:extLst>
                    <a:ext uri="{9D8B030D-6E8A-4147-A177-3AD203B41FA5}">
                      <a16:colId xmlns:a16="http://schemas.microsoft.com/office/drawing/2014/main" val="2613933755"/>
                    </a:ext>
                  </a:extLst>
                </a:gridCol>
                <a:gridCol w="1600200">
                  <a:extLst>
                    <a:ext uri="{9D8B030D-6E8A-4147-A177-3AD203B41FA5}">
                      <a16:colId xmlns:a16="http://schemas.microsoft.com/office/drawing/2014/main" val="2298456782"/>
                    </a:ext>
                  </a:extLst>
                </a:gridCol>
                <a:gridCol w="1311443">
                  <a:extLst>
                    <a:ext uri="{9D8B030D-6E8A-4147-A177-3AD203B41FA5}">
                      <a16:colId xmlns:a16="http://schemas.microsoft.com/office/drawing/2014/main" val="8720086"/>
                    </a:ext>
                  </a:extLst>
                </a:gridCol>
                <a:gridCol w="1299410">
                  <a:extLst>
                    <a:ext uri="{9D8B030D-6E8A-4147-A177-3AD203B41FA5}">
                      <a16:colId xmlns:a16="http://schemas.microsoft.com/office/drawing/2014/main" val="3953097354"/>
                    </a:ext>
                  </a:extLst>
                </a:gridCol>
              </a:tblGrid>
              <a:tr h="370840">
                <a:tc>
                  <a:txBody>
                    <a:bodyPr/>
                    <a:lstStyle/>
                    <a:p>
                      <a:endParaRPr lang="en-US" sz="1800" dirty="0">
                        <a:latin typeface="Arial" panose="020B0604020202020204" pitchFamily="34" charset="0"/>
                        <a:cs typeface="Arial" panose="020B0604020202020204" pitchFamily="34" charset="0"/>
                      </a:endParaRPr>
                    </a:p>
                  </a:txBody>
                  <a:tcPr/>
                </a:tc>
                <a:tc gridSpan="2">
                  <a:txBody>
                    <a:bodyPr/>
                    <a:lstStyle/>
                    <a:p>
                      <a:pPr algn="ctr"/>
                      <a:r>
                        <a:rPr lang="en-US" sz="1800" dirty="0">
                          <a:latin typeface="Arial" panose="020B0604020202020204" pitchFamily="34" charset="0"/>
                          <a:cs typeface="Arial" panose="020B0604020202020204" pitchFamily="34" charset="0"/>
                        </a:rPr>
                        <a:t>Developed PTSD?</a:t>
                      </a:r>
                    </a:p>
                  </a:txBody>
                  <a:tcPr/>
                </a:tc>
                <a:tc hMerge="1">
                  <a:txBody>
                    <a:bodyPr/>
                    <a:lstStyle/>
                    <a:p>
                      <a:endParaRPr lang="en-US" dirty="0"/>
                    </a:p>
                  </a:txBody>
                  <a:tcPr/>
                </a:tc>
                <a:tc>
                  <a:txBody>
                    <a:bodyPr/>
                    <a:lstStyle/>
                    <a:p>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704524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latin typeface="Arial" panose="020B0604020202020204" pitchFamily="34" charset="0"/>
                          <a:cs typeface="Arial" panose="020B0604020202020204" pitchFamily="34" charset="0"/>
                        </a:rPr>
                        <a:t>Abused?</a:t>
                      </a:r>
                    </a:p>
                  </a:txBody>
                  <a:tcPr/>
                </a:tc>
                <a:tc>
                  <a:txBody>
                    <a:bodyPr/>
                    <a:lstStyle/>
                    <a:p>
                      <a:pPr algn="ctr"/>
                      <a:r>
                        <a:rPr lang="en-US" sz="1800" b="1" dirty="0">
                          <a:latin typeface="Arial" panose="020B0604020202020204" pitchFamily="34" charset="0"/>
                          <a:cs typeface="Arial" panose="020B0604020202020204" pitchFamily="34" charset="0"/>
                        </a:rPr>
                        <a:t>Yes</a:t>
                      </a:r>
                    </a:p>
                  </a:txBody>
                  <a:tcPr/>
                </a:tc>
                <a:tc>
                  <a:txBody>
                    <a:bodyPr/>
                    <a:lstStyle/>
                    <a:p>
                      <a:pPr algn="ctr"/>
                      <a:r>
                        <a:rPr lang="en-US" sz="1800" b="1" dirty="0">
                          <a:latin typeface="Arial" panose="020B0604020202020204" pitchFamily="34" charset="0"/>
                          <a:cs typeface="Arial" panose="020B0604020202020204" pitchFamily="34" charset="0"/>
                        </a:rPr>
                        <a:t>No</a:t>
                      </a:r>
                    </a:p>
                  </a:txBody>
                  <a:tcPr/>
                </a:tc>
                <a:tc>
                  <a:txBody>
                    <a:bodyPr/>
                    <a:lstStyle/>
                    <a:p>
                      <a:pPr algn="ct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60352780"/>
                  </a:ext>
                </a:extLst>
              </a:tr>
              <a:tr h="370840">
                <a:tc>
                  <a:txBody>
                    <a:bodyPr/>
                    <a:lstStyle/>
                    <a:p>
                      <a:r>
                        <a:rPr lang="en-US" sz="1800" dirty="0">
                          <a:latin typeface="Arial" panose="020B0604020202020204" pitchFamily="34" charset="0"/>
                          <a:cs typeface="Arial" panose="020B0604020202020204" pitchFamily="34" charset="0"/>
                        </a:rPr>
                        <a:t>Physically Abused</a:t>
                      </a:r>
                    </a:p>
                  </a:txBody>
                  <a:tcPr/>
                </a:tc>
                <a:tc>
                  <a:txBody>
                    <a:bodyPr/>
                    <a:lstStyle/>
                    <a:p>
                      <a:pPr algn="ctr"/>
                      <a:r>
                        <a:rPr lang="en-US" sz="1800" b="0" dirty="0">
                          <a:solidFill>
                            <a:schemeClr val="accent3">
                              <a:lumMod val="75000"/>
                            </a:schemeClr>
                          </a:solidFill>
                          <a:latin typeface="Arial" panose="020B0604020202020204" pitchFamily="34" charset="0"/>
                          <a:cs typeface="Arial" panose="020B0604020202020204" pitchFamily="34" charset="0"/>
                        </a:rPr>
                        <a:t>28</a:t>
                      </a:r>
                    </a:p>
                  </a:txBody>
                  <a:tcPr/>
                </a:tc>
                <a:tc>
                  <a:txBody>
                    <a:bodyPr/>
                    <a:lstStyle/>
                    <a:p>
                      <a:pPr algn="ctr"/>
                      <a:r>
                        <a:rPr lang="en-US" sz="1800" dirty="0">
                          <a:solidFill>
                            <a:schemeClr val="accent6"/>
                          </a:solidFill>
                          <a:latin typeface="Arial" panose="020B0604020202020204" pitchFamily="34" charset="0"/>
                          <a:cs typeface="Arial" panose="020B0604020202020204" pitchFamily="34" charset="0"/>
                        </a:rPr>
                        <a:t>129</a:t>
                      </a:r>
                    </a:p>
                  </a:txBody>
                  <a:tcPr/>
                </a:tc>
                <a:tc>
                  <a:txBody>
                    <a:bodyPr/>
                    <a:lstStyle/>
                    <a:p>
                      <a:pPr algn="ctr"/>
                      <a:r>
                        <a:rPr lang="en-US" sz="1800" b="1" dirty="0">
                          <a:solidFill>
                            <a:schemeClr val="accent6"/>
                          </a:solidFill>
                          <a:latin typeface="Arial" panose="020B0604020202020204" pitchFamily="34" charset="0"/>
                          <a:cs typeface="Arial" panose="020B0604020202020204" pitchFamily="34" charset="0"/>
                        </a:rPr>
                        <a:t>157</a:t>
                      </a:r>
                    </a:p>
                  </a:txBody>
                  <a:tcPr/>
                </a:tc>
                <a:extLst>
                  <a:ext uri="{0D108BD9-81ED-4DB2-BD59-A6C34878D82A}">
                    <a16:rowId xmlns:a16="http://schemas.microsoft.com/office/drawing/2014/main" val="3072000173"/>
                  </a:ext>
                </a:extLst>
              </a:tr>
              <a:tr h="370840">
                <a:tc>
                  <a:txBody>
                    <a:bodyPr/>
                    <a:lstStyle/>
                    <a:p>
                      <a:r>
                        <a:rPr lang="en-US" sz="1800" dirty="0">
                          <a:latin typeface="Arial" panose="020B0604020202020204" pitchFamily="34" charset="0"/>
                          <a:cs typeface="Arial" panose="020B0604020202020204" pitchFamily="34" charset="0"/>
                        </a:rPr>
                        <a:t>Not Physically Abused</a:t>
                      </a:r>
                    </a:p>
                  </a:txBody>
                  <a:tcPr/>
                </a:tc>
                <a:tc>
                  <a:txBody>
                    <a:bodyPr/>
                    <a:lstStyle/>
                    <a:p>
                      <a:pPr algn="ctr"/>
                      <a:r>
                        <a:rPr lang="en-US" sz="1800" b="0" dirty="0">
                          <a:solidFill>
                            <a:schemeClr val="accent3">
                              <a:lumMod val="75000"/>
                            </a:schemeClr>
                          </a:solidFill>
                          <a:latin typeface="Arial" panose="020B0604020202020204" pitchFamily="34" charset="0"/>
                          <a:cs typeface="Arial" panose="020B0604020202020204" pitchFamily="34" charset="0"/>
                        </a:rPr>
                        <a:t>4</a:t>
                      </a:r>
                    </a:p>
                  </a:txBody>
                  <a:tcPr/>
                </a:tc>
                <a:tc>
                  <a:txBody>
                    <a:bodyPr/>
                    <a:lstStyle/>
                    <a:p>
                      <a:pPr algn="ctr"/>
                      <a:r>
                        <a:rPr lang="en-US" sz="1800" dirty="0">
                          <a:latin typeface="Arial" panose="020B0604020202020204" pitchFamily="34" charset="0"/>
                          <a:cs typeface="Arial" panose="020B0604020202020204" pitchFamily="34" charset="0"/>
                        </a:rPr>
                        <a:t>133</a:t>
                      </a:r>
                    </a:p>
                  </a:txBody>
                  <a:tcPr/>
                </a:tc>
                <a:tc>
                  <a:txBody>
                    <a:bodyPr/>
                    <a:lstStyle/>
                    <a:p>
                      <a:pPr algn="ctr"/>
                      <a:r>
                        <a:rPr lang="en-US" sz="1800" b="1" dirty="0">
                          <a:latin typeface="Arial" panose="020B0604020202020204" pitchFamily="34" charset="0"/>
                          <a:cs typeface="Arial" panose="020B0604020202020204" pitchFamily="34" charset="0"/>
                        </a:rPr>
                        <a:t>137</a:t>
                      </a:r>
                    </a:p>
                  </a:txBody>
                  <a:tcPr/>
                </a:tc>
                <a:extLst>
                  <a:ext uri="{0D108BD9-81ED-4DB2-BD59-A6C34878D82A}">
                    <a16:rowId xmlns:a16="http://schemas.microsoft.com/office/drawing/2014/main" val="305520602"/>
                  </a:ext>
                </a:extLst>
              </a:tr>
              <a:tr h="370840">
                <a:tc>
                  <a:txBody>
                    <a:bodyPr/>
                    <a:lstStyle/>
                    <a:p>
                      <a:endParaRPr lang="en-US" sz="1800" dirty="0">
                        <a:latin typeface="Arial" panose="020B0604020202020204" pitchFamily="34" charset="0"/>
                        <a:cs typeface="Arial" panose="020B0604020202020204" pitchFamily="34" charset="0"/>
                      </a:endParaRPr>
                    </a:p>
                  </a:txBody>
                  <a:tcPr/>
                </a:tc>
                <a:tc>
                  <a:txBody>
                    <a:bodyPr/>
                    <a:lstStyle/>
                    <a:p>
                      <a:pPr algn="ctr"/>
                      <a:r>
                        <a:rPr lang="en-US" sz="1800" b="1" dirty="0">
                          <a:latin typeface="Arial" panose="020B0604020202020204" pitchFamily="34" charset="0"/>
                          <a:cs typeface="Arial" panose="020B0604020202020204" pitchFamily="34" charset="0"/>
                        </a:rPr>
                        <a:t>32</a:t>
                      </a:r>
                    </a:p>
                  </a:txBody>
                  <a:tcPr/>
                </a:tc>
                <a:tc>
                  <a:txBody>
                    <a:bodyPr/>
                    <a:lstStyle/>
                    <a:p>
                      <a:pPr algn="ctr"/>
                      <a:r>
                        <a:rPr lang="en-US" sz="1800" b="1" dirty="0">
                          <a:latin typeface="Arial" panose="020B0604020202020204" pitchFamily="34" charset="0"/>
                          <a:cs typeface="Arial" panose="020B0604020202020204" pitchFamily="34" charset="0"/>
                        </a:rPr>
                        <a:t>262</a:t>
                      </a:r>
                    </a:p>
                  </a:txBody>
                  <a:tcPr/>
                </a:tc>
                <a:tc>
                  <a:txBody>
                    <a:bodyPr/>
                    <a:lstStyle/>
                    <a:p>
                      <a:pPr algn="ctr"/>
                      <a:r>
                        <a:rPr lang="en-US" sz="1800" b="1" dirty="0">
                          <a:latin typeface="Arial" panose="020B0604020202020204" pitchFamily="34" charset="0"/>
                          <a:cs typeface="Arial" panose="020B0604020202020204" pitchFamily="34" charset="0"/>
                        </a:rPr>
                        <a:t>Total = 294</a:t>
                      </a:r>
                    </a:p>
                  </a:txBody>
                  <a:tcPr/>
                </a:tc>
                <a:extLst>
                  <a:ext uri="{0D108BD9-81ED-4DB2-BD59-A6C34878D82A}">
                    <a16:rowId xmlns:a16="http://schemas.microsoft.com/office/drawing/2014/main" val="2999077937"/>
                  </a:ext>
                </a:extLst>
              </a:tr>
            </a:tbl>
          </a:graphicData>
        </a:graphic>
      </p:graphicFrame>
      <p:cxnSp>
        <p:nvCxnSpPr>
          <p:cNvPr id="7" name="Straight Arrow Connector 6">
            <a:extLst>
              <a:ext uri="{FF2B5EF4-FFF2-40B4-BE49-F238E27FC236}">
                <a16:creationId xmlns:a16="http://schemas.microsoft.com/office/drawing/2014/main" id="{2C3B1F45-D483-7C42-85A7-BF77D338640F}"/>
              </a:ext>
            </a:extLst>
          </p:cNvPr>
          <p:cNvCxnSpPr/>
          <p:nvPr/>
        </p:nvCxnSpPr>
        <p:spPr>
          <a:xfrm>
            <a:off x="3635542" y="4401729"/>
            <a:ext cx="0" cy="417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EDD691B-DEA7-4042-8D5B-741A6148C349}"/>
              </a:ext>
            </a:extLst>
          </p:cNvPr>
          <p:cNvSpPr txBox="1"/>
          <p:nvPr/>
        </p:nvSpPr>
        <p:spPr>
          <a:xfrm>
            <a:off x="2861510" y="4818824"/>
            <a:ext cx="19290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39834">
                    <a:lumMod val="75000"/>
                  </a:srgbClr>
                </a:solidFill>
                <a:effectLst/>
                <a:uLnTx/>
                <a:uFillTx/>
                <a:latin typeface="Franklin Gothic Book" panose="020F0502020204030204"/>
                <a:ea typeface="+mn-ea"/>
                <a:cs typeface="+mn-cs"/>
              </a:rPr>
              <a:t>Column marginals</a:t>
            </a:r>
          </a:p>
        </p:txBody>
      </p:sp>
      <p:cxnSp>
        <p:nvCxnSpPr>
          <p:cNvPr id="10" name="Straight Arrow Connector 9">
            <a:extLst>
              <a:ext uri="{FF2B5EF4-FFF2-40B4-BE49-F238E27FC236}">
                <a16:creationId xmlns:a16="http://schemas.microsoft.com/office/drawing/2014/main" id="{2D8F7B3A-D8D2-EA43-9788-33A6058328CE}"/>
              </a:ext>
            </a:extLst>
          </p:cNvPr>
          <p:cNvCxnSpPr>
            <a:cxnSpLocks/>
          </p:cNvCxnSpPr>
          <p:nvPr/>
        </p:nvCxnSpPr>
        <p:spPr>
          <a:xfrm flipV="1">
            <a:off x="711551" y="2582562"/>
            <a:ext cx="515822" cy="1789662"/>
          </a:xfrm>
          <a:prstGeom prst="straightConnector1">
            <a:avLst/>
          </a:prstGeom>
          <a:ln w="2222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B86A364-1036-0142-A143-EAA64544F164}"/>
              </a:ext>
            </a:extLst>
          </p:cNvPr>
          <p:cNvSpPr txBox="1"/>
          <p:nvPr/>
        </p:nvSpPr>
        <p:spPr>
          <a:xfrm>
            <a:off x="218416" y="4344072"/>
            <a:ext cx="19290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2E8E7">
                    <a:lumMod val="25000"/>
                  </a:srgbClr>
                </a:solidFill>
                <a:effectLst/>
                <a:uLnTx/>
                <a:uFillTx/>
                <a:latin typeface="Franklin Gothic Book" panose="020F0502020204030204"/>
                <a:ea typeface="+mn-ea"/>
                <a:cs typeface="+mn-cs"/>
              </a:rPr>
              <a:t>“Risk factor”</a:t>
            </a:r>
          </a:p>
        </p:txBody>
      </p:sp>
      <p:cxnSp>
        <p:nvCxnSpPr>
          <p:cNvPr id="13" name="Straight Arrow Connector 12">
            <a:extLst>
              <a:ext uri="{FF2B5EF4-FFF2-40B4-BE49-F238E27FC236}">
                <a16:creationId xmlns:a16="http://schemas.microsoft.com/office/drawing/2014/main" id="{EC49D995-1A11-9B47-B224-2934F22FE093}"/>
              </a:ext>
            </a:extLst>
          </p:cNvPr>
          <p:cNvCxnSpPr>
            <a:cxnSpLocks/>
          </p:cNvCxnSpPr>
          <p:nvPr/>
        </p:nvCxnSpPr>
        <p:spPr>
          <a:xfrm>
            <a:off x="5439962" y="2104145"/>
            <a:ext cx="4355431" cy="0"/>
          </a:xfrm>
          <a:prstGeom prst="straightConnector1">
            <a:avLst/>
          </a:prstGeom>
          <a:ln w="2222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112ABAA-190C-F34D-9246-933CF0E19420}"/>
              </a:ext>
            </a:extLst>
          </p:cNvPr>
          <p:cNvSpPr txBox="1"/>
          <p:nvPr/>
        </p:nvSpPr>
        <p:spPr>
          <a:xfrm>
            <a:off x="9795393" y="1947188"/>
            <a:ext cx="19290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2E8E7">
                    <a:lumMod val="25000"/>
                  </a:srgbClr>
                </a:solidFill>
                <a:effectLst/>
                <a:uLnTx/>
                <a:uFillTx/>
                <a:latin typeface="Franklin Gothic Book" panose="020F0502020204030204"/>
                <a:ea typeface="+mn-ea"/>
                <a:cs typeface="+mn-cs"/>
              </a:rPr>
              <a:t>Outcome</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6294F53-5B43-1A40-A778-FECD03B44E74}"/>
                  </a:ext>
                </a:extLst>
              </p:cNvPr>
              <p:cNvSpPr txBox="1"/>
              <p:nvPr/>
            </p:nvSpPr>
            <p:spPr>
              <a:xfrm>
                <a:off x="7097620" y="2196518"/>
                <a:ext cx="4569645" cy="1180516"/>
              </a:xfrm>
              <a:prstGeom prst="rect">
                <a:avLst/>
              </a:prstGeom>
              <a:noFill/>
            </p:spPr>
            <p:txBody>
              <a:bodyPr wrap="square" rtlCol="0">
                <a:spAutoFit/>
              </a:bodyPr>
              <a:lstStyle/>
              <a:p>
                <a:pPr lvl="0"/>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Probability of getting </a:t>
                </a:r>
                <a:r>
                  <a:rPr lang="en-US" dirty="0">
                    <a:latin typeface="Arial" panose="020B0604020202020204" pitchFamily="34" charset="0"/>
                    <a:cs typeface="Arial" panose="020B0604020202020204" pitchFamily="34" charset="0"/>
                  </a:rPr>
                  <a:t>PTSD</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lvl="0"/>
                <a14:m>
                  <m:oMathPara xmlns:m="http://schemas.openxmlformats.org/officeDocument/2006/math">
                    <m:oMathParaPr>
                      <m:jc m:val="left"/>
                    </m:oMathParaPr>
                    <m:oMath xmlns:m="http://schemas.openxmlformats.org/officeDocument/2006/math">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ctrlPr>
                        </m:fPr>
                        <m:num>
                          <m:r>
                            <m:rPr>
                              <m:nor/>
                            </m:rPr>
                            <a:rPr kumimoji="0" lang="en-US" sz="1800" b="0" i="1" u="none" strike="noStrike" kern="120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m:t>p</m:t>
                          </m:r>
                          <m:r>
                            <m:rPr>
                              <m:nor/>
                            </m:rP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m:t>(</m:t>
                          </m:r>
                          <m:r>
                            <m:rPr>
                              <m:nor/>
                            </m:rPr>
                            <a:rPr lang="en-US" dirty="0">
                              <a:latin typeface="Arial" panose="020B0604020202020204" pitchFamily="34" charset="0"/>
                              <a:cs typeface="Arial" panose="020B0604020202020204" pitchFamily="34" charset="0"/>
                            </a:rPr>
                            <m:t>PTSD</m:t>
                          </m:r>
                          <m:r>
                            <m:rPr>
                              <m:nor/>
                            </m:rP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m:t>) </m:t>
                          </m:r>
                        </m:num>
                        <m:den>
                          <m:r>
                            <m:rPr>
                              <m:nor/>
                            </m:rP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m:t>Total</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32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rPr>
                        <m:t>294</m:t>
                      </m:r>
                    </m:oMath>
                  </m:oMathPara>
                </a14:m>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mc:Choice>
        <mc:Fallback>
          <p:sp>
            <p:nvSpPr>
              <p:cNvPr id="18" name="TextBox 17">
                <a:extLst>
                  <a:ext uri="{FF2B5EF4-FFF2-40B4-BE49-F238E27FC236}">
                    <a16:creationId xmlns:a16="http://schemas.microsoft.com/office/drawing/2014/main" id="{A6294F53-5B43-1A40-A778-FECD03B44E74}"/>
                  </a:ext>
                </a:extLst>
              </p:cNvPr>
              <p:cNvSpPr txBox="1">
                <a:spLocks noRot="1" noChangeAspect="1" noMove="1" noResize="1" noEditPoints="1" noAdjustHandles="1" noChangeArrowheads="1" noChangeShapeType="1" noTextEdit="1"/>
              </p:cNvSpPr>
              <p:nvPr/>
            </p:nvSpPr>
            <p:spPr>
              <a:xfrm>
                <a:off x="7097620" y="2196518"/>
                <a:ext cx="4569645" cy="1180516"/>
              </a:xfrm>
              <a:prstGeom prst="rect">
                <a:avLst/>
              </a:prstGeom>
              <a:blipFill>
                <a:blip r:embed="rId2"/>
                <a:stretch>
                  <a:fillRect l="-1067" t="-25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1F83EF3A-BCC3-E448-982B-B79656228759}"/>
                  </a:ext>
                </a:extLst>
              </p:cNvPr>
              <p:cNvSpPr txBox="1"/>
              <p:nvPr/>
            </p:nvSpPr>
            <p:spPr>
              <a:xfrm>
                <a:off x="7101955" y="3504689"/>
                <a:ext cx="4121641" cy="1438214"/>
              </a:xfrm>
              <a:prstGeom prst="rect">
                <a:avLst/>
              </a:prstGeom>
              <a:noFill/>
            </p:spPr>
            <p:txBody>
              <a:bodyPr wrap="none" rtlCol="0">
                <a:spAutoFit/>
              </a:bodyPr>
              <a:lstStyle/>
              <a:p>
                <a:pPr lvl="0"/>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Probability of getting </a:t>
                </a:r>
                <a:r>
                  <a:rPr lang="en-US" dirty="0">
                    <a:latin typeface="Arial" panose="020B0604020202020204" pitchFamily="34" charset="0"/>
                    <a:cs typeface="Arial" panose="020B0604020202020204" pitchFamily="34" charset="0"/>
                  </a:rPr>
                  <a:t>PTSD</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conditional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on </a:t>
                </a:r>
                <a:r>
                  <a:rPr lang="en-US" dirty="0">
                    <a:solidFill>
                      <a:srgbClr val="000000"/>
                    </a:solidFill>
                    <a:latin typeface="Arial" panose="020B0604020202020204" pitchFamily="34" charset="0"/>
                    <a:cs typeface="Arial" panose="020B0604020202020204" pitchFamily="34" charset="0"/>
                  </a:rPr>
                  <a:t>experiencing abuse</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lvl="0"/>
                <a14:m>
                  <m:oMath xmlns:m="http://schemas.openxmlformats.org/officeDocument/2006/math">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rPr>
                        </m:ctrlPr>
                      </m:fPr>
                      <m:num>
                        <m:r>
                          <m:rPr>
                            <m:nor/>
                          </m:rPr>
                          <a:rPr kumimoji="0" lang="en-US" sz="2000" b="0" i="1" u="none" strike="noStrike" kern="120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m:t>p</m:t>
                        </m:r>
                        <m:r>
                          <m:rPr>
                            <m:nor/>
                          </m:rP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m:t>(</m:t>
                        </m:r>
                        <m:r>
                          <m:rPr>
                            <m:nor/>
                          </m:rPr>
                          <a:rPr lang="en-US" sz="2000" dirty="0">
                            <a:latin typeface="Arial" panose="020B0604020202020204" pitchFamily="34" charset="0"/>
                            <a:cs typeface="Arial" panose="020B0604020202020204" pitchFamily="34" charset="0"/>
                          </a:rPr>
                          <m:t>PTSD</m:t>
                        </m:r>
                        <m:r>
                          <m:rPr>
                            <m:nor/>
                          </m:rPr>
                          <a:rPr kumimoji="0" lang="en-US" sz="2000" b="0" i="0" u="none" strike="noStrike" kern="120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m:t>| </m:t>
                        </m:r>
                        <m:r>
                          <m:rPr>
                            <m:nor/>
                          </m:rPr>
                          <a:rPr kumimoji="0" lang="en-US" sz="2000" b="0" i="0" u="none" strike="noStrike" kern="120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m:t>Abused</m:t>
                        </m:r>
                        <m:r>
                          <m:rPr>
                            <m:nor/>
                          </m:rP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m:t>) </m:t>
                        </m:r>
                      </m:num>
                      <m:den>
                        <m:r>
                          <m:rPr>
                            <m:nor/>
                          </m:rPr>
                          <a:rPr kumimoji="0" lang="en-US" sz="2000" b="0" i="0" u="none" strike="noStrike" kern="120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m:t>Abuse</m:t>
                        </m:r>
                        <m:r>
                          <m:rPr>
                            <m:nor/>
                          </m:rPr>
                          <a:rPr kumimoji="0" lang="en-US" sz="2000" b="0" i="0" u="none" strike="noStrike" kern="120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m:t> </m:t>
                        </m:r>
                        <m:r>
                          <m:rPr>
                            <m:nor/>
                          </m:rPr>
                          <a:rPr kumimoji="0" lang="en-US" sz="2000" b="0" i="0" u="none" strike="noStrike" kern="120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rPr>
                          <m:t>total</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rPr>
                      <m:t>28</m:t>
                    </m:r>
                    <m:r>
                      <a:rPr kumimoji="0" lang="en-US" sz="2000" b="0" i="1" u="none" strike="noStrike" kern="1200" cap="none" spc="0" normalizeH="0" baseline="0" noProof="0">
                        <a:ln>
                          <a:noFill/>
                        </a:ln>
                        <a:solidFill>
                          <a:srgbClr val="000000"/>
                        </a:solidFill>
                        <a:effectLst/>
                        <a:uLnTx/>
                        <a:uFillTx/>
                        <a:latin typeface="Cambria Math" panose="02040503050406030204" pitchFamily="18" charset="0"/>
                      </a:rPr>
                      <m:t>/</m:t>
                    </m:r>
                  </m:oMath>
                </a14:m>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157</a:t>
                </a:r>
              </a:p>
            </p:txBody>
          </p:sp>
        </mc:Choice>
        <mc:Fallback>
          <p:sp>
            <p:nvSpPr>
              <p:cNvPr id="19" name="TextBox 18">
                <a:extLst>
                  <a:ext uri="{FF2B5EF4-FFF2-40B4-BE49-F238E27FC236}">
                    <a16:creationId xmlns:a16="http://schemas.microsoft.com/office/drawing/2014/main" id="{1F83EF3A-BCC3-E448-982B-B79656228759}"/>
                  </a:ext>
                </a:extLst>
              </p:cNvPr>
              <p:cNvSpPr txBox="1">
                <a:spLocks noRot="1" noChangeAspect="1" noMove="1" noResize="1" noEditPoints="1" noAdjustHandles="1" noChangeArrowheads="1" noChangeShapeType="1" noTextEdit="1"/>
              </p:cNvSpPr>
              <p:nvPr/>
            </p:nvSpPr>
            <p:spPr>
              <a:xfrm>
                <a:off x="7101955" y="3504689"/>
                <a:ext cx="4121641" cy="1438214"/>
              </a:xfrm>
              <a:prstGeom prst="rect">
                <a:avLst/>
              </a:prstGeom>
              <a:blipFill>
                <a:blip r:embed="rId3"/>
                <a:stretch>
                  <a:fillRect l="-1183" t="-2542" r="-888" b="-127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E829DBAE-D43D-2246-B4AB-BF1347581EA9}"/>
              </a:ext>
            </a:extLst>
          </p:cNvPr>
          <p:cNvSpPr txBox="1"/>
          <p:nvPr/>
        </p:nvSpPr>
        <p:spPr>
          <a:xfrm>
            <a:off x="7097620" y="1427520"/>
            <a:ext cx="36288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Franklin Gothic Book" panose="020F0502020204030204"/>
                <a:ea typeface="+mn-ea"/>
                <a:cs typeface="+mn-cs"/>
              </a:rPr>
              <a:t>Different questions can be asked….</a:t>
            </a:r>
          </a:p>
        </p:txBody>
      </p:sp>
    </p:spTree>
    <p:extLst>
      <p:ext uri="{BB962C8B-B14F-4D97-AF65-F5344CB8AC3E}">
        <p14:creationId xmlns:p14="http://schemas.microsoft.com/office/powerpoint/2010/main" val="116714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A925E-8CB7-5E47-B6F2-C32351E2881B}"/>
              </a:ext>
            </a:extLst>
          </p:cNvPr>
          <p:cNvSpPr>
            <a:spLocks noGrp="1"/>
          </p:cNvSpPr>
          <p:nvPr>
            <p:ph type="title"/>
          </p:nvPr>
        </p:nvSpPr>
        <p:spPr/>
        <p:txBody>
          <a:bodyPr/>
          <a:lstStyle/>
          <a:p>
            <a:r>
              <a:rPr lang="en-US" dirty="0"/>
              <a:t>The Odds </a:t>
            </a:r>
            <a:r>
              <a:rPr lang="en-US" i="1" dirty="0"/>
              <a:t>Ratio</a:t>
            </a:r>
            <a:endParaRPr lang="en-US" dirty="0"/>
          </a:p>
        </p:txBody>
      </p:sp>
      <p:sp>
        <p:nvSpPr>
          <p:cNvPr id="3" name="Content Placeholder 2">
            <a:extLst>
              <a:ext uri="{FF2B5EF4-FFF2-40B4-BE49-F238E27FC236}">
                <a16:creationId xmlns:a16="http://schemas.microsoft.com/office/drawing/2014/main" id="{0013E2D6-0656-3C48-8B76-E1D9C8FB546E}"/>
              </a:ext>
            </a:extLst>
          </p:cNvPr>
          <p:cNvSpPr>
            <a:spLocks noGrp="1"/>
          </p:cNvSpPr>
          <p:nvPr>
            <p:ph idx="1"/>
          </p:nvPr>
        </p:nvSpPr>
        <p:spPr>
          <a:xfrm>
            <a:off x="1066800" y="2175688"/>
            <a:ext cx="10058400" cy="3760891"/>
          </a:xfrm>
        </p:spPr>
        <p:txBody>
          <a:bodyPr/>
          <a:lstStyle/>
          <a:p>
            <a:r>
              <a:rPr lang="en-US" dirty="0"/>
              <a:t>The Odds Ratio (OR) for an outcome associated with a risk factor is ratio of the odds for the outcome for those with risk factor and the odds for the outcome for those without the risk factor</a:t>
            </a:r>
          </a:p>
          <a:p>
            <a:endParaRPr lang="en-US" dirty="0"/>
          </a:p>
        </p:txBody>
      </p:sp>
      <p:sp>
        <p:nvSpPr>
          <p:cNvPr id="28" name="Text Box 4">
            <a:extLst>
              <a:ext uri="{FF2B5EF4-FFF2-40B4-BE49-F238E27FC236}">
                <a16:creationId xmlns:a16="http://schemas.microsoft.com/office/drawing/2014/main" id="{29F38063-47C4-F843-9C04-A4B38A68E534}"/>
              </a:ext>
            </a:extLst>
          </p:cNvPr>
          <p:cNvSpPr txBox="1">
            <a:spLocks noChangeArrowheads="1"/>
          </p:cNvSpPr>
          <p:nvPr>
            <p:custDataLst>
              <p:tags r:id="rId1"/>
            </p:custDataLst>
          </p:nvPr>
        </p:nvSpPr>
        <p:spPr bwMode="auto">
          <a:xfrm>
            <a:off x="3579336" y="3125254"/>
            <a:ext cx="50942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P(</a:t>
            </a:r>
            <a:r>
              <a:rPr kumimoji="0" lang="en-US" altLang="en-US" sz="3200" b="1" i="0" u="none" strike="noStrike" kern="1200" cap="none" spc="0" normalizeH="0" baseline="0" noProof="0" dirty="0" err="1">
                <a:ln>
                  <a:noFill/>
                </a:ln>
                <a:solidFill>
                  <a:srgbClr val="000000"/>
                </a:solidFill>
                <a:effectLst/>
                <a:uLnTx/>
                <a:uFillTx/>
                <a:latin typeface="Palatino Linotype" panose="02040502050505030304" pitchFamily="18" charset="0"/>
                <a:ea typeface="+mn-ea"/>
                <a:cs typeface="+mn-cs"/>
              </a:rPr>
              <a:t>Outcome|Risk</a:t>
            </a: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 Factor)</a:t>
            </a:r>
          </a:p>
        </p:txBody>
      </p:sp>
      <p:sp>
        <p:nvSpPr>
          <p:cNvPr id="29" name="Text Box 5">
            <a:extLst>
              <a:ext uri="{FF2B5EF4-FFF2-40B4-BE49-F238E27FC236}">
                <a16:creationId xmlns:a16="http://schemas.microsoft.com/office/drawing/2014/main" id="{B9A6ADC3-0C91-3947-BD65-20DE51208F8E}"/>
              </a:ext>
            </a:extLst>
          </p:cNvPr>
          <p:cNvSpPr txBox="1">
            <a:spLocks noChangeArrowheads="1"/>
          </p:cNvSpPr>
          <p:nvPr>
            <p:custDataLst>
              <p:tags r:id="rId2"/>
            </p:custDataLst>
          </p:nvPr>
        </p:nvSpPr>
        <p:spPr bwMode="auto">
          <a:xfrm>
            <a:off x="3341210" y="3742762"/>
            <a:ext cx="5570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1 – P(</a:t>
            </a:r>
            <a:r>
              <a:rPr kumimoji="0" lang="en-US" altLang="en-US" sz="3200" b="1" i="0" u="none" strike="noStrike" kern="1200" cap="none" spc="0" normalizeH="0" baseline="0" noProof="0" dirty="0" err="1">
                <a:ln>
                  <a:noFill/>
                </a:ln>
                <a:solidFill>
                  <a:srgbClr val="000000"/>
                </a:solidFill>
                <a:effectLst/>
                <a:uLnTx/>
                <a:uFillTx/>
                <a:latin typeface="Palatino Linotype" panose="02040502050505030304" pitchFamily="18" charset="0"/>
                <a:ea typeface="+mn-ea"/>
                <a:cs typeface="+mn-cs"/>
              </a:rPr>
              <a:t>Outcome|Risk</a:t>
            </a: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 Factor)</a:t>
            </a:r>
          </a:p>
        </p:txBody>
      </p:sp>
      <p:sp>
        <p:nvSpPr>
          <p:cNvPr id="30" name="Text Box 7">
            <a:extLst>
              <a:ext uri="{FF2B5EF4-FFF2-40B4-BE49-F238E27FC236}">
                <a16:creationId xmlns:a16="http://schemas.microsoft.com/office/drawing/2014/main" id="{E79151DD-D66A-4B4E-8320-3667A8C457C0}"/>
              </a:ext>
            </a:extLst>
          </p:cNvPr>
          <p:cNvSpPr txBox="1">
            <a:spLocks noChangeArrowheads="1"/>
          </p:cNvSpPr>
          <p:nvPr>
            <p:custDataLst>
              <p:tags r:id="rId3"/>
            </p:custDataLst>
          </p:nvPr>
        </p:nvSpPr>
        <p:spPr bwMode="auto">
          <a:xfrm>
            <a:off x="3640278" y="4412746"/>
            <a:ext cx="604226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P(</a:t>
            </a:r>
            <a:r>
              <a:rPr kumimoji="0" lang="en-US" altLang="en-US" sz="3200" b="1" i="0" u="none" strike="noStrike" kern="1200" cap="none" spc="0" normalizeH="0" baseline="0" noProof="0" dirty="0" err="1">
                <a:ln>
                  <a:noFill/>
                </a:ln>
                <a:solidFill>
                  <a:srgbClr val="000000"/>
                </a:solidFill>
                <a:effectLst/>
                <a:uLnTx/>
                <a:uFillTx/>
                <a:latin typeface="Palatino Linotype" panose="02040502050505030304" pitchFamily="18" charset="0"/>
                <a:ea typeface="+mn-ea"/>
                <a:cs typeface="+mn-cs"/>
              </a:rPr>
              <a:t>Outcome|No</a:t>
            </a: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 Risk Factor)</a:t>
            </a:r>
          </a:p>
        </p:txBody>
      </p:sp>
      <p:sp>
        <p:nvSpPr>
          <p:cNvPr id="31" name="Text Box 8">
            <a:extLst>
              <a:ext uri="{FF2B5EF4-FFF2-40B4-BE49-F238E27FC236}">
                <a16:creationId xmlns:a16="http://schemas.microsoft.com/office/drawing/2014/main" id="{73230906-070D-014B-9E9F-4C70176AC5ED}"/>
              </a:ext>
            </a:extLst>
          </p:cNvPr>
          <p:cNvSpPr txBox="1">
            <a:spLocks noChangeArrowheads="1"/>
          </p:cNvSpPr>
          <p:nvPr>
            <p:custDataLst>
              <p:tags r:id="rId4"/>
            </p:custDataLst>
          </p:nvPr>
        </p:nvSpPr>
        <p:spPr bwMode="auto">
          <a:xfrm>
            <a:off x="3340016" y="5089472"/>
            <a:ext cx="61071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1 – P(</a:t>
            </a:r>
            <a:r>
              <a:rPr kumimoji="0" lang="en-US" altLang="en-US" sz="3200" b="1" i="0" u="none" strike="noStrike" kern="1200" cap="none" spc="0" normalizeH="0" baseline="0" noProof="0" dirty="0" err="1">
                <a:ln>
                  <a:noFill/>
                </a:ln>
                <a:solidFill>
                  <a:srgbClr val="000000"/>
                </a:solidFill>
                <a:effectLst/>
                <a:uLnTx/>
                <a:uFillTx/>
                <a:latin typeface="Palatino Linotype" panose="02040502050505030304" pitchFamily="18" charset="0"/>
                <a:ea typeface="+mn-ea"/>
                <a:cs typeface="+mn-cs"/>
              </a:rPr>
              <a:t>Outcome|No</a:t>
            </a: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 Risk Factor)</a:t>
            </a:r>
          </a:p>
        </p:txBody>
      </p:sp>
      <p:sp>
        <p:nvSpPr>
          <p:cNvPr id="32" name="Text Box 9">
            <a:extLst>
              <a:ext uri="{FF2B5EF4-FFF2-40B4-BE49-F238E27FC236}">
                <a16:creationId xmlns:a16="http://schemas.microsoft.com/office/drawing/2014/main" id="{967B840C-6962-F94A-B18A-B7C78488F4E6}"/>
              </a:ext>
            </a:extLst>
          </p:cNvPr>
          <p:cNvSpPr txBox="1">
            <a:spLocks noChangeArrowheads="1"/>
          </p:cNvSpPr>
          <p:nvPr>
            <p:custDataLst>
              <p:tags r:id="rId5"/>
            </p:custDataLst>
          </p:nvPr>
        </p:nvSpPr>
        <p:spPr bwMode="auto">
          <a:xfrm>
            <a:off x="3340016" y="4551918"/>
            <a:ext cx="6065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Comic Sans MS" pitchFamily="66" charset="0"/>
                <a:ea typeface="+mn-ea"/>
                <a:cs typeface="+mn-cs"/>
              </a:rPr>
              <a:t>_______________________</a:t>
            </a:r>
          </a:p>
        </p:txBody>
      </p:sp>
      <p:sp>
        <p:nvSpPr>
          <p:cNvPr id="40" name="Text Box 9">
            <a:extLst>
              <a:ext uri="{FF2B5EF4-FFF2-40B4-BE49-F238E27FC236}">
                <a16:creationId xmlns:a16="http://schemas.microsoft.com/office/drawing/2014/main" id="{E7BBC300-C9C7-F347-AB9B-DE6C033CD1AD}"/>
              </a:ext>
            </a:extLst>
          </p:cNvPr>
          <p:cNvSpPr txBox="1">
            <a:spLocks noChangeArrowheads="1"/>
          </p:cNvSpPr>
          <p:nvPr>
            <p:custDataLst>
              <p:tags r:id="rId6"/>
            </p:custDataLst>
          </p:nvPr>
        </p:nvSpPr>
        <p:spPr bwMode="auto">
          <a:xfrm>
            <a:off x="3579336" y="3270113"/>
            <a:ext cx="6065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Comic Sans MS" pitchFamily="66" charset="0"/>
                <a:ea typeface="+mn-ea"/>
                <a:cs typeface="+mn-cs"/>
              </a:rPr>
              <a:t>_________________</a:t>
            </a:r>
          </a:p>
        </p:txBody>
      </p:sp>
      <p:cxnSp>
        <p:nvCxnSpPr>
          <p:cNvPr id="42" name="Straight Connector 41">
            <a:extLst>
              <a:ext uri="{FF2B5EF4-FFF2-40B4-BE49-F238E27FC236}">
                <a16:creationId xmlns:a16="http://schemas.microsoft.com/office/drawing/2014/main" id="{D3AF31A2-6396-684A-BFF1-C5E60D8B02EB}"/>
              </a:ext>
            </a:extLst>
          </p:cNvPr>
          <p:cNvCxnSpPr/>
          <p:nvPr/>
        </p:nvCxnSpPr>
        <p:spPr>
          <a:xfrm>
            <a:off x="2045368" y="4412746"/>
            <a:ext cx="8819148"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F8592F4-FB14-8841-BDE1-B066A621C61A}"/>
              </a:ext>
            </a:extLst>
          </p:cNvPr>
          <p:cNvSpPr txBox="1"/>
          <p:nvPr/>
        </p:nvSpPr>
        <p:spPr>
          <a:xfrm>
            <a:off x="831382" y="4056134"/>
            <a:ext cx="147988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Franklin Gothic Book" panose="020F0502020204030204"/>
                <a:ea typeface="+mn-ea"/>
                <a:cs typeface="+mn-cs"/>
              </a:rPr>
              <a:t>OR =</a:t>
            </a:r>
          </a:p>
        </p:txBody>
      </p:sp>
      <p:sp>
        <p:nvSpPr>
          <p:cNvPr id="44" name="AutoShape 12">
            <a:extLst>
              <a:ext uri="{FF2B5EF4-FFF2-40B4-BE49-F238E27FC236}">
                <a16:creationId xmlns:a16="http://schemas.microsoft.com/office/drawing/2014/main" id="{461D1E1E-0DE8-434F-B8EB-2D7F545E84F2}"/>
              </a:ext>
            </a:extLst>
          </p:cNvPr>
          <p:cNvSpPr>
            <a:spLocks noChangeArrowheads="1"/>
          </p:cNvSpPr>
          <p:nvPr>
            <p:custDataLst>
              <p:tags r:id="rId7"/>
            </p:custDataLst>
          </p:nvPr>
        </p:nvSpPr>
        <p:spPr bwMode="auto">
          <a:xfrm>
            <a:off x="280887" y="5300124"/>
            <a:ext cx="2580874" cy="993067"/>
          </a:xfrm>
          <a:prstGeom prst="wedgeRoundRectCallout">
            <a:avLst>
              <a:gd name="adj1" fmla="val 69628"/>
              <a:gd name="adj2" fmla="val -88518"/>
              <a:gd name="adj3" fmla="val 16667"/>
            </a:avLst>
          </a:prstGeom>
          <a:solidFill>
            <a:schemeClr val="bg2">
              <a:lumMod val="50000"/>
            </a:schemeClr>
          </a:solidFill>
          <a:ln w="12700" cap="sq">
            <a:solidFill>
              <a:schemeClr val="tx1"/>
            </a:solidFill>
            <a:miter lim="800000"/>
            <a:headEnd type="none" w="sm" len="sm"/>
            <a:tailEnd type="none" w="sm" len="sm"/>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FF66"/>
                </a:solidFill>
                <a:effectLst/>
                <a:uLnTx/>
                <a:uFillTx/>
                <a:latin typeface="Calibri"/>
                <a:ea typeface="+mn-ea"/>
                <a:cs typeface="+mn-cs"/>
              </a:rPr>
              <a:t>Odds for outcome among those without the risk factor.</a:t>
            </a:r>
          </a:p>
        </p:txBody>
      </p:sp>
      <p:sp>
        <p:nvSpPr>
          <p:cNvPr id="45" name="AutoShape 11">
            <a:extLst>
              <a:ext uri="{FF2B5EF4-FFF2-40B4-BE49-F238E27FC236}">
                <a16:creationId xmlns:a16="http://schemas.microsoft.com/office/drawing/2014/main" id="{D4D65AFE-7C3B-4D40-BA9E-B5C34A40F5D8}"/>
              </a:ext>
            </a:extLst>
          </p:cNvPr>
          <p:cNvSpPr>
            <a:spLocks noChangeArrowheads="1"/>
          </p:cNvSpPr>
          <p:nvPr>
            <p:custDataLst>
              <p:tags r:id="rId8"/>
            </p:custDataLst>
          </p:nvPr>
        </p:nvSpPr>
        <p:spPr bwMode="auto">
          <a:xfrm>
            <a:off x="9447128" y="2923234"/>
            <a:ext cx="2580874" cy="1051184"/>
          </a:xfrm>
          <a:prstGeom prst="wedgeRoundRectCallout">
            <a:avLst>
              <a:gd name="adj1" fmla="val -92162"/>
              <a:gd name="adj2" fmla="val 12847"/>
              <a:gd name="adj3" fmla="val 16667"/>
            </a:avLst>
          </a:prstGeom>
          <a:solidFill>
            <a:schemeClr val="bg2">
              <a:lumMod val="50000"/>
            </a:schemeClr>
          </a:solidFill>
          <a:ln w="12700" cap="sq">
            <a:solidFill>
              <a:schemeClr val="tx1"/>
            </a:solidFill>
            <a:miter lim="800000"/>
            <a:headEnd type="none" w="sm" len="sm"/>
            <a:tailEnd type="none" w="sm" len="sm"/>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FF66"/>
                </a:solidFill>
                <a:effectLst/>
                <a:uLnTx/>
                <a:uFillTx/>
                <a:latin typeface="Calibri"/>
                <a:ea typeface="+mn-ea"/>
                <a:cs typeface="+mn-cs"/>
              </a:rPr>
              <a:t>Odds for outcome among those with risk factor present</a:t>
            </a:r>
          </a:p>
        </p:txBody>
      </p:sp>
    </p:spTree>
    <p:extLst>
      <p:ext uri="{BB962C8B-B14F-4D97-AF65-F5344CB8AC3E}">
        <p14:creationId xmlns:p14="http://schemas.microsoft.com/office/powerpoint/2010/main" val="216289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40" grpId="0"/>
      <p:bldP spid="44" grpId="0" animBg="1"/>
      <p:bldP spid="4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A12FF5-A9B6-5E17-C224-4D1AE6933862}"/>
              </a:ext>
            </a:extLst>
          </p:cNvPr>
          <p:cNvSpPr txBox="1"/>
          <p:nvPr/>
        </p:nvSpPr>
        <p:spPr>
          <a:xfrm>
            <a:off x="284533" y="603767"/>
            <a:ext cx="8032616"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What is P(</a:t>
            </a:r>
            <a:r>
              <a:rPr lang="en-US" sz="2000" dirty="0" err="1">
                <a:latin typeface="Arial" panose="020B0604020202020204" pitchFamily="34" charset="0"/>
                <a:cs typeface="Arial" panose="020B0604020202020204" pitchFamily="34" charset="0"/>
              </a:rPr>
              <a:t>risk|cervical</a:t>
            </a:r>
            <a:r>
              <a:rPr lang="en-US" sz="2000" dirty="0">
                <a:latin typeface="Arial" panose="020B0604020202020204" pitchFamily="34" charset="0"/>
                <a:cs typeface="Arial" panose="020B0604020202020204" pitchFamily="34" charset="0"/>
              </a:rPr>
              <a:t> cancer) &amp; is P(</a:t>
            </a:r>
            <a:r>
              <a:rPr lang="en-US" sz="2000" dirty="0" err="1">
                <a:latin typeface="Arial" panose="020B0604020202020204" pitchFamily="34" charset="0"/>
                <a:cs typeface="Arial" panose="020B0604020202020204" pitchFamily="34" charset="0"/>
              </a:rPr>
              <a:t>risk|No</a:t>
            </a:r>
            <a:r>
              <a:rPr lang="en-US" sz="2000" dirty="0">
                <a:latin typeface="Arial" panose="020B0604020202020204" pitchFamily="34" charset="0"/>
                <a:cs typeface="Arial" panose="020B0604020202020204" pitchFamily="34" charset="0"/>
              </a:rPr>
              <a:t> cervical cancer) ?</a:t>
            </a:r>
          </a:p>
        </p:txBody>
      </p:sp>
      <p:sp>
        <p:nvSpPr>
          <p:cNvPr id="7" name="TextBox 6">
            <a:extLst>
              <a:ext uri="{FF2B5EF4-FFF2-40B4-BE49-F238E27FC236}">
                <a16:creationId xmlns:a16="http://schemas.microsoft.com/office/drawing/2014/main" id="{154458A1-1C1B-A0FB-291E-11C0282198CA}"/>
              </a:ext>
            </a:extLst>
          </p:cNvPr>
          <p:cNvSpPr txBox="1"/>
          <p:nvPr/>
        </p:nvSpPr>
        <p:spPr>
          <a:xfrm>
            <a:off x="284533" y="1124897"/>
            <a:ext cx="5269961" cy="1323439"/>
          </a:xfrm>
          <a:prstGeom prst="rect">
            <a:avLst/>
          </a:prstGeom>
          <a:noFill/>
        </p:spPr>
        <p:txBody>
          <a:bodyPr wrap="square">
            <a:spAutoFit/>
          </a:bodyPr>
          <a:lstStyle/>
          <a:p>
            <a:pPr>
              <a:buNone/>
            </a:pPr>
            <a:r>
              <a:rPr lang="en-US" sz="2000" dirty="0">
                <a:latin typeface="Arial" panose="020B0604020202020204" pitchFamily="34" charset="0"/>
                <a:cs typeface="Arial" panose="020B0604020202020204" pitchFamily="34" charset="0"/>
              </a:rPr>
              <a:t>Here, </a:t>
            </a:r>
            <a:r>
              <a:rPr lang="en-US" sz="2000" b="1" dirty="0">
                <a:latin typeface="Arial" panose="020B0604020202020204" pitchFamily="34" charset="0"/>
                <a:cs typeface="Arial" panose="020B0604020202020204" pitchFamily="34" charset="0"/>
              </a:rPr>
              <a:t>risk</a:t>
            </a:r>
            <a:r>
              <a:rPr lang="en-US" sz="2000" dirty="0">
                <a:latin typeface="Arial" panose="020B0604020202020204" pitchFamily="34" charset="0"/>
                <a:cs typeface="Arial" panose="020B0604020202020204" pitchFamily="34" charset="0"/>
              </a:rPr>
              <a:t> corresponds to </a:t>
            </a:r>
            <a:r>
              <a:rPr lang="en-US" sz="2000" b="1" dirty="0">
                <a:latin typeface="Arial" panose="020B0604020202020204" pitchFamily="34" charset="0"/>
                <a:cs typeface="Arial" panose="020B0604020202020204" pitchFamily="34" charset="0"/>
              </a:rPr>
              <a:t>Age at first pregnancy &lt; 25</a:t>
            </a:r>
            <a:r>
              <a:rPr lang="en-US" sz="20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Risk group = Age &lt; 25</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Non-risk group = Age &gt; 25</a:t>
            </a:r>
          </a:p>
        </p:txBody>
      </p:sp>
      <p:graphicFrame>
        <p:nvGraphicFramePr>
          <p:cNvPr id="8" name="Table 7">
            <a:extLst>
              <a:ext uri="{FF2B5EF4-FFF2-40B4-BE49-F238E27FC236}">
                <a16:creationId xmlns:a16="http://schemas.microsoft.com/office/drawing/2014/main" id="{32352ED7-66A7-656B-6F2B-A294C53A9BF4}"/>
              </a:ext>
            </a:extLst>
          </p:cNvPr>
          <p:cNvGraphicFramePr>
            <a:graphicFrameLocks noGrp="1"/>
          </p:cNvGraphicFramePr>
          <p:nvPr>
            <p:extLst>
              <p:ext uri="{D42A27DB-BD31-4B8C-83A1-F6EECF244321}">
                <p14:modId xmlns:p14="http://schemas.microsoft.com/office/powerpoint/2010/main" val="824380138"/>
              </p:ext>
            </p:extLst>
          </p:nvPr>
        </p:nvGraphicFramePr>
        <p:xfrm>
          <a:off x="355465" y="2625654"/>
          <a:ext cx="9814398" cy="1584960"/>
        </p:xfrm>
        <a:graphic>
          <a:graphicData uri="http://schemas.openxmlformats.org/drawingml/2006/table">
            <a:tbl>
              <a:tblPr/>
              <a:tblGrid>
                <a:gridCol w="2628900">
                  <a:extLst>
                    <a:ext uri="{9D8B030D-6E8A-4147-A177-3AD203B41FA5}">
                      <a16:colId xmlns:a16="http://schemas.microsoft.com/office/drawing/2014/main" val="3258874394"/>
                    </a:ext>
                  </a:extLst>
                </a:gridCol>
                <a:gridCol w="2628900">
                  <a:extLst>
                    <a:ext uri="{9D8B030D-6E8A-4147-A177-3AD203B41FA5}">
                      <a16:colId xmlns:a16="http://schemas.microsoft.com/office/drawing/2014/main" val="2327953570"/>
                    </a:ext>
                  </a:extLst>
                </a:gridCol>
                <a:gridCol w="2628900">
                  <a:extLst>
                    <a:ext uri="{9D8B030D-6E8A-4147-A177-3AD203B41FA5}">
                      <a16:colId xmlns:a16="http://schemas.microsoft.com/office/drawing/2014/main" val="1105652615"/>
                    </a:ext>
                  </a:extLst>
                </a:gridCol>
                <a:gridCol w="1927698">
                  <a:extLst>
                    <a:ext uri="{9D8B030D-6E8A-4147-A177-3AD203B41FA5}">
                      <a16:colId xmlns:a16="http://schemas.microsoft.com/office/drawing/2014/main" val="1682366181"/>
                    </a:ext>
                  </a:extLst>
                </a:gridCol>
              </a:tblGrid>
              <a:tr h="0">
                <a:tc>
                  <a:txBody>
                    <a:bodyPr/>
                    <a:lstStyle/>
                    <a:p>
                      <a:pPr>
                        <a:buNone/>
                      </a:pPr>
                      <a:r>
                        <a:rPr lang="en-US" sz="2000" dirty="0">
                          <a:latin typeface="Arial" panose="020B0604020202020204" pitchFamily="34" charset="0"/>
                          <a:cs typeface="Arial" panose="020B0604020202020204" pitchFamily="34" charset="0"/>
                        </a:rPr>
                        <a:t>Age at 1st Pregnancy</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Cervical Cancer</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No Cervical Cancer</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Total</a:t>
                      </a:r>
                    </a:p>
                  </a:txBody>
                  <a:tcPr anchor="ctr">
                    <a:lnL>
                      <a:noFill/>
                    </a:lnL>
                    <a:lnR>
                      <a:noFill/>
                    </a:lnR>
                    <a:lnT>
                      <a:noFill/>
                    </a:lnT>
                    <a:lnB>
                      <a:noFill/>
                    </a:lnB>
                    <a:noFill/>
                  </a:tcPr>
                </a:tc>
                <a:extLst>
                  <a:ext uri="{0D108BD9-81ED-4DB2-BD59-A6C34878D82A}">
                    <a16:rowId xmlns:a16="http://schemas.microsoft.com/office/drawing/2014/main" val="2269895760"/>
                  </a:ext>
                </a:extLst>
              </a:tr>
              <a:tr h="0">
                <a:tc>
                  <a:txBody>
                    <a:bodyPr/>
                    <a:lstStyle/>
                    <a:p>
                      <a:pPr>
                        <a:buNone/>
                      </a:pPr>
                      <a:r>
                        <a:rPr lang="en-US" sz="2000">
                          <a:latin typeface="Arial" panose="020B0604020202020204" pitchFamily="34" charset="0"/>
                          <a:cs typeface="Arial" panose="020B0604020202020204" pitchFamily="34" charset="0"/>
                        </a:rPr>
                        <a:t>Age &lt; 25 (risk)</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42</a:t>
                      </a:r>
                    </a:p>
                  </a:txBody>
                  <a:tcPr anchor="ctr">
                    <a:lnL>
                      <a:noFill/>
                    </a:lnL>
                    <a:lnR>
                      <a:noFill/>
                    </a:lnR>
                    <a:lnT>
                      <a:noFill/>
                    </a:lnT>
                    <a:lnB>
                      <a:noFill/>
                    </a:lnB>
                    <a:noFill/>
                  </a:tcPr>
                </a:tc>
                <a:tc>
                  <a:txBody>
                    <a:bodyPr/>
                    <a:lstStyle/>
                    <a:p>
                      <a:pPr algn="ctr">
                        <a:buNone/>
                      </a:pPr>
                      <a:r>
                        <a:rPr lang="en-US" sz="2000">
                          <a:latin typeface="Arial" panose="020B0604020202020204" pitchFamily="34" charset="0"/>
                          <a:cs typeface="Arial" panose="020B0604020202020204" pitchFamily="34" charset="0"/>
                        </a:rPr>
                        <a:t>203</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245</a:t>
                      </a:r>
                    </a:p>
                  </a:txBody>
                  <a:tcPr anchor="ctr">
                    <a:lnL>
                      <a:noFill/>
                    </a:lnL>
                    <a:lnR>
                      <a:noFill/>
                    </a:lnR>
                    <a:lnT>
                      <a:noFill/>
                    </a:lnT>
                    <a:lnB>
                      <a:noFill/>
                    </a:lnB>
                    <a:noFill/>
                  </a:tcPr>
                </a:tc>
                <a:extLst>
                  <a:ext uri="{0D108BD9-81ED-4DB2-BD59-A6C34878D82A}">
                    <a16:rowId xmlns:a16="http://schemas.microsoft.com/office/drawing/2014/main" val="3889660463"/>
                  </a:ext>
                </a:extLst>
              </a:tr>
              <a:tr h="0">
                <a:tc>
                  <a:txBody>
                    <a:bodyPr/>
                    <a:lstStyle/>
                    <a:p>
                      <a:pPr>
                        <a:buNone/>
                      </a:pPr>
                      <a:r>
                        <a:rPr lang="en-US" sz="2000" dirty="0">
                          <a:latin typeface="Arial" panose="020B0604020202020204" pitchFamily="34" charset="0"/>
                          <a:cs typeface="Arial" panose="020B0604020202020204" pitchFamily="34" charset="0"/>
                        </a:rPr>
                        <a:t>Age &gt; 25</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7</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114</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121</a:t>
                      </a:r>
                    </a:p>
                  </a:txBody>
                  <a:tcPr anchor="ctr">
                    <a:lnL>
                      <a:noFill/>
                    </a:lnL>
                    <a:lnR>
                      <a:noFill/>
                    </a:lnR>
                    <a:lnT>
                      <a:noFill/>
                    </a:lnT>
                    <a:lnB>
                      <a:noFill/>
                    </a:lnB>
                    <a:noFill/>
                  </a:tcPr>
                </a:tc>
                <a:extLst>
                  <a:ext uri="{0D108BD9-81ED-4DB2-BD59-A6C34878D82A}">
                    <a16:rowId xmlns:a16="http://schemas.microsoft.com/office/drawing/2014/main" val="1454437987"/>
                  </a:ext>
                </a:extLst>
              </a:tr>
              <a:tr h="0">
                <a:tc>
                  <a:txBody>
                    <a:bodyPr/>
                    <a:lstStyle/>
                    <a:p>
                      <a:pPr>
                        <a:buNone/>
                      </a:pPr>
                      <a:r>
                        <a:rPr lang="en-US" sz="2000">
                          <a:latin typeface="Arial" panose="020B0604020202020204" pitchFamily="34" charset="0"/>
                          <a:cs typeface="Arial" panose="020B0604020202020204" pitchFamily="34" charset="0"/>
                        </a:rPr>
                        <a:t>Total</a:t>
                      </a:r>
                    </a:p>
                  </a:txBody>
                  <a:tcPr anchor="ctr">
                    <a:lnL>
                      <a:noFill/>
                    </a:lnL>
                    <a:lnR>
                      <a:noFill/>
                    </a:lnR>
                    <a:lnT>
                      <a:noFill/>
                    </a:lnT>
                    <a:lnB>
                      <a:noFill/>
                    </a:lnB>
                    <a:noFill/>
                  </a:tcPr>
                </a:tc>
                <a:tc>
                  <a:txBody>
                    <a:bodyPr/>
                    <a:lstStyle/>
                    <a:p>
                      <a:pPr algn="ctr">
                        <a:buNone/>
                      </a:pPr>
                      <a:r>
                        <a:rPr lang="en-US" sz="2000">
                          <a:latin typeface="Arial" panose="020B0604020202020204" pitchFamily="34" charset="0"/>
                          <a:cs typeface="Arial" panose="020B0604020202020204" pitchFamily="34" charset="0"/>
                        </a:rPr>
                        <a:t>49</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317</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366</a:t>
                      </a:r>
                    </a:p>
                  </a:txBody>
                  <a:tcPr anchor="ctr">
                    <a:lnL>
                      <a:noFill/>
                    </a:lnL>
                    <a:lnR>
                      <a:noFill/>
                    </a:lnR>
                    <a:lnT>
                      <a:noFill/>
                    </a:lnT>
                    <a:lnB>
                      <a:noFill/>
                    </a:lnB>
                    <a:noFill/>
                  </a:tcPr>
                </a:tc>
                <a:extLst>
                  <a:ext uri="{0D108BD9-81ED-4DB2-BD59-A6C34878D82A}">
                    <a16:rowId xmlns:a16="http://schemas.microsoft.com/office/drawing/2014/main" val="3412378755"/>
                  </a:ext>
                </a:extLst>
              </a:tr>
            </a:tbl>
          </a:graphicData>
        </a:graphic>
      </p:graphicFrame>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805FEE2-945C-E5D2-AB44-361D65953774}"/>
                  </a:ext>
                </a:extLst>
              </p:cNvPr>
              <p:cNvSpPr txBox="1"/>
              <p:nvPr/>
            </p:nvSpPr>
            <p:spPr>
              <a:xfrm>
                <a:off x="517997" y="4583275"/>
                <a:ext cx="4744667" cy="22747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Probability of risk given cervical cancer</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m:rPr>
                              <m:nor/>
                            </m:rPr>
                            <a:rPr lang="en-US" b="0" i="1">
                              <a:latin typeface="Arial" panose="020B0604020202020204" pitchFamily="34" charset="0"/>
                              <a:cs typeface="Arial" panose="020B0604020202020204" pitchFamily="34" charset="0"/>
                            </a:rPr>
                            <m:t>risk</m:t>
                          </m:r>
                          <m:r>
                            <a:rPr lang="en-US" b="0" i="0">
                              <a:latin typeface="Cambria Math" panose="02040503050406030204" pitchFamily="18" charset="0"/>
                            </a:rPr>
                            <m:t>∣</m:t>
                          </m:r>
                          <m:r>
                            <m:rPr>
                              <m:nor/>
                            </m:rPr>
                            <a:rPr lang="en-US" b="0" i="1">
                              <a:latin typeface="Arial" panose="020B0604020202020204" pitchFamily="34" charset="0"/>
                              <a:cs typeface="Arial" panose="020B0604020202020204" pitchFamily="34" charset="0"/>
                            </a:rPr>
                            <m:t>cervical</m:t>
                          </m:r>
                          <m:r>
                            <m:rPr>
                              <m:nor/>
                            </m:rPr>
                            <a:rPr lang="en-US" b="0" i="1">
                              <a:latin typeface="Arial" panose="020B0604020202020204" pitchFamily="34" charset="0"/>
                              <a:cs typeface="Arial" panose="020B0604020202020204" pitchFamily="34" charset="0"/>
                            </a:rPr>
                            <m:t> </m:t>
                          </m:r>
                          <m:r>
                            <m:rPr>
                              <m:nor/>
                            </m:rPr>
                            <a:rPr lang="en-US" b="0" i="1">
                              <a:latin typeface="Arial" panose="020B0604020202020204" pitchFamily="34" charset="0"/>
                              <a:cs typeface="Arial" panose="020B0604020202020204" pitchFamily="34" charset="0"/>
                            </a:rPr>
                            <m:t>cancer</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42</m:t>
                          </m:r>
                        </m:num>
                        <m:den>
                          <m:r>
                            <a:rPr lang="ar-AE" b="0" i="0">
                              <a:latin typeface="Cambria Math" panose="02040503050406030204" pitchFamily="18" charset="0"/>
                            </a:rPr>
                            <m:t>49</m:t>
                          </m:r>
                        </m:den>
                      </m:f>
                    </m:oMath>
                  </m:oMathPara>
                </a14:m>
                <a:endParaRPr lang="ar-AE" b="0" dirty="0">
                  <a:latin typeface="Arial" panose="020B0604020202020204" pitchFamily="34" charset="0"/>
                  <a:cs typeface="Arial" panose="020B0604020202020204" pitchFamily="34"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857</m:t>
                      </m:r>
                    </m:oMath>
                  </m:oMathPara>
                </a14:m>
                <a:endParaRPr lang="ar-AE"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So about </a:t>
                </a:r>
                <a:r>
                  <a:rPr lang="en-US" b="1" dirty="0">
                    <a:latin typeface="Arial" panose="020B0604020202020204" pitchFamily="34" charset="0"/>
                    <a:cs typeface="Arial" panose="020B0604020202020204" pitchFamily="34" charset="0"/>
                  </a:rPr>
                  <a:t>85.7%</a:t>
                </a:r>
                <a:r>
                  <a:rPr lang="en-US" dirty="0">
                    <a:latin typeface="Arial" panose="020B0604020202020204" pitchFamily="34" charset="0"/>
                    <a:cs typeface="Arial" panose="020B0604020202020204" pitchFamily="34" charset="0"/>
                  </a:rPr>
                  <a:t> of women with cervical cancer were in the risk group.</a:t>
                </a:r>
              </a:p>
              <a:p>
                <a:pPr>
                  <a:buNone/>
                </a:pP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mc:Choice>
        <mc:Fallback>
          <p:sp>
            <p:nvSpPr>
              <p:cNvPr id="10" name="TextBox 9">
                <a:extLst>
                  <a:ext uri="{FF2B5EF4-FFF2-40B4-BE49-F238E27FC236}">
                    <a16:creationId xmlns:a16="http://schemas.microsoft.com/office/drawing/2014/main" id="{6805FEE2-945C-E5D2-AB44-361D65953774}"/>
                  </a:ext>
                </a:extLst>
              </p:cNvPr>
              <p:cNvSpPr txBox="1">
                <a:spLocks noRot="1" noChangeAspect="1" noMove="1" noResize="1" noEditPoints="1" noAdjustHandles="1" noChangeArrowheads="1" noChangeShapeType="1" noTextEdit="1"/>
              </p:cNvSpPr>
              <p:nvPr/>
            </p:nvSpPr>
            <p:spPr>
              <a:xfrm>
                <a:off x="517997" y="4583275"/>
                <a:ext cx="4744667" cy="2274725"/>
              </a:xfrm>
              <a:prstGeom prst="rect">
                <a:avLst/>
              </a:prstGeom>
              <a:blipFill>
                <a:blip r:embed="rId2"/>
                <a:stretch>
                  <a:fillRect l="-1157" t="-1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7740275-6B33-51B6-AE94-580235EFA51F}"/>
                  </a:ext>
                </a:extLst>
              </p:cNvPr>
              <p:cNvSpPr txBox="1"/>
              <p:nvPr/>
            </p:nvSpPr>
            <p:spPr>
              <a:xfrm>
                <a:off x="5997102" y="4270580"/>
                <a:ext cx="5014609" cy="1997726"/>
              </a:xfrm>
              <a:prstGeom prst="rect">
                <a:avLst/>
              </a:prstGeom>
              <a:noFill/>
            </p:spPr>
            <p:txBody>
              <a:bodyPr wrap="square">
                <a:spAutoFit/>
              </a:bodyPr>
              <a:lstStyle/>
              <a:p>
                <a:pPr>
                  <a:buNone/>
                </a:pPr>
                <a:endParaRPr lang="en-US" dirty="0">
                  <a:latin typeface="Arial" panose="020B0604020202020204" pitchFamily="34" charset="0"/>
                  <a:cs typeface="Arial" panose="020B0604020202020204" pitchFamily="34" charset="0"/>
                </a:endParaRPr>
              </a:p>
              <a:p>
                <a:pPr>
                  <a:buNone/>
                </a:pPr>
                <a:r>
                  <a:rPr lang="en-US" b="1" dirty="0">
                    <a:latin typeface="Arial" panose="020B0604020202020204" pitchFamily="34" charset="0"/>
                    <a:cs typeface="Arial" panose="020B0604020202020204" pitchFamily="34" charset="0"/>
                  </a:rPr>
                  <a:t>Probability of risk given no cervical cancer</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ar-AE" i="1">
                              <a:latin typeface="Cambria Math" panose="02040503050406030204" pitchFamily="18" charset="0"/>
                            </a:rPr>
                          </m:ctrlPr>
                        </m:dPr>
                        <m:e>
                          <m:r>
                            <m:rPr>
                              <m:nor/>
                            </m:rPr>
                            <a:rPr lang="en-US" b="0" i="1">
                              <a:latin typeface="Arial" panose="020B0604020202020204" pitchFamily="34" charset="0"/>
                              <a:cs typeface="Arial" panose="020B0604020202020204" pitchFamily="34" charset="0"/>
                            </a:rPr>
                            <m:t>risk</m:t>
                          </m:r>
                          <m:r>
                            <a:rPr lang="en-US" b="0" i="0">
                              <a:latin typeface="Cambria Math" panose="02040503050406030204" pitchFamily="18" charset="0"/>
                            </a:rPr>
                            <m:t>∣</m:t>
                          </m:r>
                          <m:r>
                            <m:rPr>
                              <m:nor/>
                            </m:rPr>
                            <a:rPr lang="en-US" b="0" i="1">
                              <a:latin typeface="Arial" panose="020B0604020202020204" pitchFamily="34" charset="0"/>
                              <a:cs typeface="Arial" panose="020B0604020202020204" pitchFamily="34" charset="0"/>
                            </a:rPr>
                            <m:t>no</m:t>
                          </m:r>
                          <m:r>
                            <m:rPr>
                              <m:nor/>
                            </m:rPr>
                            <a:rPr lang="en-US" b="0" i="1">
                              <a:latin typeface="Arial" panose="020B0604020202020204" pitchFamily="34" charset="0"/>
                              <a:cs typeface="Arial" panose="020B0604020202020204" pitchFamily="34" charset="0"/>
                            </a:rPr>
                            <m:t> </m:t>
                          </m:r>
                          <m:r>
                            <m:rPr>
                              <m:nor/>
                            </m:rPr>
                            <a:rPr lang="en-US" b="0" i="1">
                              <a:latin typeface="Arial" panose="020B0604020202020204" pitchFamily="34" charset="0"/>
                              <a:cs typeface="Arial" panose="020B0604020202020204" pitchFamily="34" charset="0"/>
                            </a:rPr>
                            <m:t>cervical</m:t>
                          </m:r>
                          <m:r>
                            <m:rPr>
                              <m:nor/>
                            </m:rPr>
                            <a:rPr lang="en-US" b="0" i="1">
                              <a:latin typeface="Arial" panose="020B0604020202020204" pitchFamily="34" charset="0"/>
                              <a:cs typeface="Arial" panose="020B0604020202020204" pitchFamily="34" charset="0"/>
                            </a:rPr>
                            <m:t> </m:t>
                          </m:r>
                          <m:r>
                            <m:rPr>
                              <m:nor/>
                            </m:rPr>
                            <a:rPr lang="en-US" b="0" i="1">
                              <a:latin typeface="Arial" panose="020B0604020202020204" pitchFamily="34" charset="0"/>
                              <a:cs typeface="Arial" panose="020B0604020202020204" pitchFamily="34" charset="0"/>
                            </a:rPr>
                            <m:t>cancer</m:t>
                          </m:r>
                        </m:e>
                      </m:d>
                      <m:r>
                        <a:rPr lang="ar-AE"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203</m:t>
                          </m:r>
                        </m:num>
                        <m:den>
                          <m:r>
                            <a:rPr lang="ar-AE" b="0" i="0">
                              <a:latin typeface="Cambria Math" panose="02040503050406030204" pitchFamily="18" charset="0"/>
                            </a:rPr>
                            <m:t>317</m:t>
                          </m:r>
                        </m:den>
                      </m:f>
                    </m:oMath>
                  </m:oMathPara>
                </a14:m>
                <a:endParaRPr lang="ar-AE" b="0" dirty="0">
                  <a:latin typeface="Arial" panose="020B0604020202020204" pitchFamily="34" charset="0"/>
                  <a:cs typeface="Arial" panose="020B0604020202020204" pitchFamily="34"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640</m:t>
                      </m:r>
                    </m:oMath>
                  </m:oMathPara>
                </a14:m>
                <a:endParaRPr lang="ar-AE"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So about </a:t>
                </a:r>
                <a:r>
                  <a:rPr lang="en-US" b="1" dirty="0">
                    <a:latin typeface="Arial" panose="020B0604020202020204" pitchFamily="34" charset="0"/>
                    <a:cs typeface="Arial" panose="020B0604020202020204" pitchFamily="34" charset="0"/>
                  </a:rPr>
                  <a:t>64.0%</a:t>
                </a:r>
                <a:r>
                  <a:rPr lang="en-US" dirty="0">
                    <a:latin typeface="Arial" panose="020B0604020202020204" pitchFamily="34" charset="0"/>
                    <a:cs typeface="Arial" panose="020B0604020202020204" pitchFamily="34" charset="0"/>
                  </a:rPr>
                  <a:t> of women without cervical cancer were in the risk group.</a:t>
                </a:r>
              </a:p>
            </p:txBody>
          </p:sp>
        </mc:Choice>
        <mc:Fallback>
          <p:sp>
            <p:nvSpPr>
              <p:cNvPr id="12" name="TextBox 11">
                <a:extLst>
                  <a:ext uri="{FF2B5EF4-FFF2-40B4-BE49-F238E27FC236}">
                    <a16:creationId xmlns:a16="http://schemas.microsoft.com/office/drawing/2014/main" id="{B7740275-6B33-51B6-AE94-580235EFA51F}"/>
                  </a:ext>
                </a:extLst>
              </p:cNvPr>
              <p:cNvSpPr txBox="1">
                <a:spLocks noRot="1" noChangeAspect="1" noMove="1" noResize="1" noEditPoints="1" noAdjustHandles="1" noChangeArrowheads="1" noChangeShapeType="1" noTextEdit="1"/>
              </p:cNvSpPr>
              <p:nvPr/>
            </p:nvSpPr>
            <p:spPr>
              <a:xfrm>
                <a:off x="5997102" y="4270580"/>
                <a:ext cx="5014609" cy="1997726"/>
              </a:xfrm>
              <a:prstGeom prst="rect">
                <a:avLst/>
              </a:prstGeom>
              <a:blipFill>
                <a:blip r:embed="rId3"/>
                <a:stretch>
                  <a:fillRect l="-1095" b="-428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D802EF8F-D583-76D7-2A84-3F2F0ED70DA1}"/>
              </a:ext>
            </a:extLst>
          </p:cNvPr>
          <p:cNvSpPr txBox="1"/>
          <p:nvPr/>
        </p:nvSpPr>
        <p:spPr>
          <a:xfrm>
            <a:off x="284532" y="112028"/>
            <a:ext cx="7020939" cy="400110"/>
          </a:xfrm>
          <a:prstGeom prst="rect">
            <a:avLst/>
          </a:prstGeom>
          <a:noFill/>
        </p:spPr>
        <p:txBody>
          <a:bodyPr wrap="square">
            <a:spAutoFit/>
          </a:bodyPr>
          <a:lstStyle/>
          <a:p>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Compute </a:t>
            </a:r>
            <a:r>
              <a:rPr kumimoji="0" lang="en-US" sz="2000" b="1" i="0" u="sng"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the odds ratio </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of 1st </a:t>
            </a:r>
            <a:r>
              <a:rPr kumimoji="0" lang="en-US" sz="2000" b="0" i="0" u="none" strike="noStrike" kern="120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rPr>
              <a:t>preg</a:t>
            </a:r>
            <a:r>
              <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before (or at) age 25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92249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6737F6-9AD3-1637-BA1A-6F1A4F842772}"/>
              </a:ext>
            </a:extLst>
          </p:cNvPr>
          <p:cNvSpPr txBox="1"/>
          <p:nvPr/>
        </p:nvSpPr>
        <p:spPr>
          <a:xfrm>
            <a:off x="255350" y="272773"/>
            <a:ext cx="11116283" cy="400110"/>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What are the odds for the risk factor amongst the cervical cancer? Amongst no cervical cancer?</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EFC4AA-34BC-F298-2443-A423742FC99F}"/>
                  </a:ext>
                </a:extLst>
              </p:cNvPr>
              <p:cNvSpPr txBox="1"/>
              <p:nvPr/>
            </p:nvSpPr>
            <p:spPr>
              <a:xfrm>
                <a:off x="187256" y="2914825"/>
                <a:ext cx="6094378" cy="2550763"/>
              </a:xfrm>
              <a:prstGeom prst="rect">
                <a:avLst/>
              </a:prstGeom>
              <a:noFill/>
            </p:spPr>
            <p:txBody>
              <a:bodyPr wrap="square">
                <a:spAutoFit/>
              </a:bodyPr>
              <a:lstStyle/>
              <a:p>
                <a:pPr>
                  <a:buNone/>
                </a:pPr>
                <a:endParaRPr lang="ar-AE" b="0" dirty="0">
                  <a:latin typeface="Arial" panose="020B0604020202020204" pitchFamily="34" charset="0"/>
                  <a:cs typeface="Arial" panose="020B0604020202020204" pitchFamily="34" charset="0"/>
                </a:endParaRPr>
              </a:p>
              <a:p>
                <a:pPr>
                  <a:buNone/>
                </a:pPr>
                <a:br>
                  <a:rPr lang="ar-AE"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1. Odds of risk factor among those without cervical cancer</a:t>
                </a:r>
              </a:p>
              <a:p>
                <a:pPr>
                  <a:buNone/>
                </a:pPr>
                <a:r>
                  <a:rPr lang="en-US" dirty="0">
                    <a:latin typeface="Arial" panose="020B0604020202020204" pitchFamily="34" charset="0"/>
                    <a:cs typeface="Arial" panose="020B0604020202020204" pitchFamily="34" charset="0"/>
                  </a:rPr>
                  <a:t>Among cervical cancer cases: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Risk (Age &lt; 25) = 42</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No risk (Age &gt; 25) = 7</a:t>
                </a:r>
              </a:p>
              <a:p>
                <a:pPr>
                  <a:buNone/>
                </a:pPr>
                <a14:m>
                  <m:oMathPara xmlns:m="http://schemas.openxmlformats.org/officeDocument/2006/math">
                    <m:oMathParaPr>
                      <m:jc m:val="centerGroup"/>
                    </m:oMathParaPr>
                    <m:oMath xmlns:m="http://schemas.openxmlformats.org/officeDocument/2006/math">
                      <m:r>
                        <m:rPr>
                          <m:nor/>
                        </m:rPr>
                        <a:rPr lang="en-US" b="0">
                          <a:latin typeface="Arial" panose="020B0604020202020204" pitchFamily="34" charset="0"/>
                          <a:cs typeface="Arial" panose="020B0604020202020204" pitchFamily="34" charset="0"/>
                        </a:rPr>
                        <m:t>Odds</m:t>
                      </m:r>
                      <m:r>
                        <a:rPr lang="en-US"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42</m:t>
                          </m:r>
                        </m:num>
                        <m:den>
                          <m:r>
                            <a:rPr lang="ar-AE" b="0" i="0">
                              <a:latin typeface="Cambria Math" panose="02040503050406030204" pitchFamily="18" charset="0"/>
                            </a:rPr>
                            <m:t>7</m:t>
                          </m:r>
                        </m:den>
                      </m:f>
                      <m:r>
                        <a:rPr lang="ar-AE" b="0" i="0">
                          <a:latin typeface="Cambria Math" panose="02040503050406030204" pitchFamily="18" charset="0"/>
                        </a:rPr>
                        <m:t>=</m:t>
                      </m:r>
                      <m:r>
                        <a:rPr lang="ar-AE" b="0" i="0">
                          <a:latin typeface="Cambria Math" panose="02040503050406030204" pitchFamily="18" charset="0"/>
                        </a:rPr>
                        <m:t>6</m:t>
                      </m:r>
                    </m:oMath>
                  </m:oMathPara>
                </a14:m>
                <a:endParaRPr lang="ar-AE" b="0" dirty="0">
                  <a:latin typeface="Arial" panose="020B0604020202020204" pitchFamily="34" charset="0"/>
                  <a:cs typeface="Arial" panose="020B0604020202020204" pitchFamily="34" charset="0"/>
                </a:endParaRPr>
              </a:p>
            </p:txBody>
          </p:sp>
        </mc:Choice>
        <mc:Fallback>
          <p:sp>
            <p:nvSpPr>
              <p:cNvPr id="5" name="TextBox 4">
                <a:extLst>
                  <a:ext uri="{FF2B5EF4-FFF2-40B4-BE49-F238E27FC236}">
                    <a16:creationId xmlns:a16="http://schemas.microsoft.com/office/drawing/2014/main" id="{26EFC4AA-34BC-F298-2443-A423742FC99F}"/>
                  </a:ext>
                </a:extLst>
              </p:cNvPr>
              <p:cNvSpPr txBox="1">
                <a:spLocks noRot="1" noChangeAspect="1" noMove="1" noResize="1" noEditPoints="1" noAdjustHandles="1" noChangeArrowheads="1" noChangeShapeType="1" noTextEdit="1"/>
              </p:cNvSpPr>
              <p:nvPr/>
            </p:nvSpPr>
            <p:spPr>
              <a:xfrm>
                <a:off x="187256" y="2914825"/>
                <a:ext cx="6094378" cy="2550763"/>
              </a:xfrm>
              <a:prstGeom prst="rect">
                <a:avLst/>
              </a:prstGeom>
              <a:blipFill>
                <a:blip r:embed="rId2"/>
                <a:stretch>
                  <a:fillRect l="-90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59E2AA6-9FA6-C7CA-F404-7CF7A5BE930F}"/>
                  </a:ext>
                </a:extLst>
              </p:cNvPr>
              <p:cNvSpPr txBox="1"/>
              <p:nvPr/>
            </p:nvSpPr>
            <p:spPr>
              <a:xfrm>
                <a:off x="6281634" y="3450166"/>
                <a:ext cx="6094378" cy="1995931"/>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2. Odds of risk factor among those without cervical cancer</a:t>
                </a:r>
              </a:p>
              <a:p>
                <a:pPr>
                  <a:buNone/>
                </a:pPr>
                <a:r>
                  <a:rPr lang="en-US" dirty="0">
                    <a:latin typeface="Arial" panose="020B0604020202020204" pitchFamily="34" charset="0"/>
                    <a:cs typeface="Arial" panose="020B0604020202020204" pitchFamily="34" charset="0"/>
                  </a:rPr>
                  <a:t>Among women without cervical cancer:</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Risk (Age &lt; 25) = 203</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No risk (Age &gt; 25) = 114</a:t>
                </a:r>
              </a:p>
              <a:p>
                <a:pPr>
                  <a:buNone/>
                </a:pPr>
                <a14:m>
                  <m:oMathPara xmlns:m="http://schemas.openxmlformats.org/officeDocument/2006/math">
                    <m:oMathParaPr>
                      <m:jc m:val="centerGroup"/>
                    </m:oMathParaPr>
                    <m:oMath xmlns:m="http://schemas.openxmlformats.org/officeDocument/2006/math">
                      <m:r>
                        <m:rPr>
                          <m:nor/>
                        </m:rPr>
                        <a:rPr lang="en-US" b="0">
                          <a:latin typeface="Arial" panose="020B0604020202020204" pitchFamily="34" charset="0"/>
                          <a:cs typeface="Arial" panose="020B0604020202020204" pitchFamily="34" charset="0"/>
                        </a:rPr>
                        <m:t>Odds</m:t>
                      </m:r>
                      <m:r>
                        <a:rPr lang="en-US" b="0" i="0">
                          <a:latin typeface="Cambria Math" panose="02040503050406030204" pitchFamily="18" charset="0"/>
                        </a:rPr>
                        <m:t>=</m:t>
                      </m:r>
                      <m:f>
                        <m:fPr>
                          <m:ctrlPr>
                            <a:rPr lang="ar-AE" b="0" i="1">
                              <a:latin typeface="Cambria Math" panose="02040503050406030204" pitchFamily="18" charset="0"/>
                            </a:rPr>
                          </m:ctrlPr>
                        </m:fPr>
                        <m:num>
                          <m:r>
                            <a:rPr lang="ar-AE" b="0" i="0">
                              <a:latin typeface="Cambria Math" panose="02040503050406030204" pitchFamily="18" charset="0"/>
                            </a:rPr>
                            <m:t>203</m:t>
                          </m:r>
                        </m:num>
                        <m:den>
                          <m:r>
                            <a:rPr lang="ar-AE" b="0" i="0">
                              <a:latin typeface="Cambria Math" panose="02040503050406030204" pitchFamily="18" charset="0"/>
                            </a:rPr>
                            <m:t>114</m:t>
                          </m:r>
                        </m:den>
                      </m:f>
                      <m:r>
                        <a:rPr lang="ar-AE" b="0" i="0">
                          <a:latin typeface="Cambria Math" panose="02040503050406030204" pitchFamily="18" charset="0"/>
                        </a:rPr>
                        <m:t>≈</m:t>
                      </m:r>
                      <m:r>
                        <a:rPr lang="ar-AE" b="0" i="0">
                          <a:latin typeface="Cambria Math" panose="02040503050406030204" pitchFamily="18" charset="0"/>
                        </a:rPr>
                        <m:t>1</m:t>
                      </m:r>
                      <m:r>
                        <a:rPr lang="ar-AE" b="0" i="0">
                          <a:latin typeface="Cambria Math" panose="02040503050406030204" pitchFamily="18" charset="0"/>
                        </a:rPr>
                        <m:t>.</m:t>
                      </m:r>
                      <m:r>
                        <a:rPr lang="ar-AE" b="0" i="0">
                          <a:latin typeface="Cambria Math" panose="02040503050406030204" pitchFamily="18" charset="0"/>
                        </a:rPr>
                        <m:t>78</m:t>
                      </m:r>
                    </m:oMath>
                  </m:oMathPara>
                </a14:m>
                <a:endParaRPr lang="ar-AE" b="0" dirty="0">
                  <a:latin typeface="Arial" panose="020B0604020202020204" pitchFamily="34" charset="0"/>
                  <a:cs typeface="Arial" panose="020B0604020202020204" pitchFamily="34" charset="0"/>
                </a:endParaRPr>
              </a:p>
            </p:txBody>
          </p:sp>
        </mc:Choice>
        <mc:Fallback>
          <p:sp>
            <p:nvSpPr>
              <p:cNvPr id="7" name="TextBox 6">
                <a:extLst>
                  <a:ext uri="{FF2B5EF4-FFF2-40B4-BE49-F238E27FC236}">
                    <a16:creationId xmlns:a16="http://schemas.microsoft.com/office/drawing/2014/main" id="{B59E2AA6-9FA6-C7CA-F404-7CF7A5BE930F}"/>
                  </a:ext>
                </a:extLst>
              </p:cNvPr>
              <p:cNvSpPr txBox="1">
                <a:spLocks noRot="1" noChangeAspect="1" noMove="1" noResize="1" noEditPoints="1" noAdjustHandles="1" noChangeArrowheads="1" noChangeShapeType="1" noTextEdit="1"/>
              </p:cNvSpPr>
              <p:nvPr/>
            </p:nvSpPr>
            <p:spPr>
              <a:xfrm>
                <a:off x="6281634" y="3450166"/>
                <a:ext cx="6094378" cy="1995931"/>
              </a:xfrm>
              <a:prstGeom prst="rect">
                <a:avLst/>
              </a:prstGeom>
              <a:blipFill>
                <a:blip r:embed="rId3"/>
                <a:stretch>
                  <a:fillRect l="-800" t="-18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0CFC16F-2BCC-5C6A-E137-1077CA139D3E}"/>
                  </a:ext>
                </a:extLst>
              </p:cNvPr>
              <p:cNvSpPr txBox="1"/>
              <p:nvPr/>
            </p:nvSpPr>
            <p:spPr>
              <a:xfrm>
                <a:off x="255350" y="817810"/>
                <a:ext cx="7643510" cy="1454181"/>
              </a:xfrm>
              <a:prstGeom prst="rect">
                <a:avLst/>
              </a:prstGeom>
              <a:noFill/>
            </p:spPr>
            <p:txBody>
              <a:bodyPr wrap="square">
                <a:spAutoFit/>
              </a:bodyPr>
              <a:lstStyle/>
              <a:p>
                <a:pPr>
                  <a:buNone/>
                </a:pPr>
                <a:r>
                  <a:rPr lang="en-US" dirty="0">
                    <a:latin typeface="Arial" panose="020B0604020202020204" pitchFamily="34" charset="0"/>
                    <a:cs typeface="Arial" panose="020B0604020202020204" pitchFamily="34" charset="0"/>
                  </a:rPr>
                  <a:t>We calculate </a:t>
                </a:r>
                <a:r>
                  <a:rPr lang="en-US" b="1" dirty="0">
                    <a:latin typeface="Arial" panose="020B0604020202020204" pitchFamily="34" charset="0"/>
                    <a:cs typeface="Arial" panose="020B0604020202020204" pitchFamily="34" charset="0"/>
                  </a:rPr>
                  <a:t>odds of the risk factor</a:t>
                </a:r>
                <a:r>
                  <a:rPr lang="en-US" dirty="0">
                    <a:latin typeface="Arial" panose="020B0604020202020204" pitchFamily="34" charset="0"/>
                    <a:cs typeface="Arial" panose="020B0604020202020204" pitchFamily="34" charset="0"/>
                  </a:rPr>
                  <a:t> within each disease group.</a:t>
                </a:r>
              </a:p>
              <a:p>
                <a:pPr>
                  <a:buNone/>
                </a:pPr>
                <a:r>
                  <a:rPr lang="en-US" dirty="0">
                    <a:latin typeface="Arial" panose="020B0604020202020204" pitchFamily="34" charset="0"/>
                    <a:cs typeface="Arial" panose="020B0604020202020204" pitchFamily="34" charset="0"/>
                  </a:rPr>
                  <a:t>Risk factor = </a:t>
                </a:r>
                <a:r>
                  <a:rPr lang="en-US" b="1" dirty="0">
                    <a:latin typeface="Arial" panose="020B0604020202020204" pitchFamily="34" charset="0"/>
                    <a:cs typeface="Arial" panose="020B0604020202020204" pitchFamily="34" charset="0"/>
                  </a:rPr>
                  <a:t>Age at first pregnancy &lt; 25</a:t>
                </a:r>
                <a:r>
                  <a:rPr lang="en-US" dirty="0">
                    <a:latin typeface="Arial" panose="020B0604020202020204" pitchFamily="34" charset="0"/>
                    <a:cs typeface="Arial" panose="020B0604020202020204" pitchFamily="34" charset="0"/>
                  </a:rPr>
                  <a:t>.</a:t>
                </a:r>
              </a:p>
              <a:p>
                <a:pPr>
                  <a:buNone/>
                </a:pPr>
                <a:r>
                  <a:rPr lang="en-US" dirty="0">
                    <a:latin typeface="Arial" panose="020B0604020202020204" pitchFamily="34" charset="0"/>
                    <a:cs typeface="Arial" panose="020B0604020202020204" pitchFamily="34" charset="0"/>
                  </a:rPr>
                  <a:t>Odds are:</a:t>
                </a:r>
              </a:p>
              <a:p>
                <a:pPr>
                  <a:buNone/>
                </a:pPr>
                <a14:m>
                  <m:oMathPara xmlns:m="http://schemas.openxmlformats.org/officeDocument/2006/math">
                    <m:oMathParaPr>
                      <m:jc m:val="centerGroup"/>
                    </m:oMathParaPr>
                    <m:oMath xmlns:m="http://schemas.openxmlformats.org/officeDocument/2006/math">
                      <m:r>
                        <m:rPr>
                          <m:nor/>
                        </m:rPr>
                        <a:rPr lang="en-US" b="0">
                          <a:latin typeface="Arial" panose="020B0604020202020204" pitchFamily="34" charset="0"/>
                          <a:cs typeface="Arial" panose="020B0604020202020204" pitchFamily="34" charset="0"/>
                        </a:rPr>
                        <m:t>odds</m:t>
                      </m:r>
                      <m:r>
                        <a:rPr lang="en-US" b="0" i="0">
                          <a:latin typeface="Cambria Math" panose="02040503050406030204" pitchFamily="18" charset="0"/>
                        </a:rPr>
                        <m:t>=</m:t>
                      </m:r>
                      <m:f>
                        <m:fPr>
                          <m:ctrlPr>
                            <a:rPr lang="ar-AE" b="0" i="1">
                              <a:latin typeface="Cambria Math" panose="02040503050406030204" pitchFamily="18" charset="0"/>
                            </a:rPr>
                          </m:ctrlPr>
                        </m:fPr>
                        <m:num>
                          <m:r>
                            <m:rPr>
                              <m:nor/>
                            </m:rPr>
                            <a:rPr lang="en-US" b="0" i="1">
                              <a:latin typeface="Arial" panose="020B0604020202020204" pitchFamily="34" charset="0"/>
                              <a:cs typeface="Arial" panose="020B0604020202020204" pitchFamily="34" charset="0"/>
                            </a:rPr>
                            <m:t>risk</m:t>
                          </m:r>
                        </m:num>
                        <m:den>
                          <m:r>
                            <m:rPr>
                              <m:nor/>
                            </m:rPr>
                            <a:rPr lang="en-US" b="0" i="1">
                              <a:latin typeface="Arial" panose="020B0604020202020204" pitchFamily="34" charset="0"/>
                              <a:cs typeface="Arial" panose="020B0604020202020204" pitchFamily="34" charset="0"/>
                            </a:rPr>
                            <m:t>no</m:t>
                          </m:r>
                          <m:r>
                            <m:rPr>
                              <m:nor/>
                            </m:rPr>
                            <a:rPr lang="en-US" b="0" i="1">
                              <a:latin typeface="Arial" panose="020B0604020202020204" pitchFamily="34" charset="0"/>
                              <a:cs typeface="Arial" panose="020B0604020202020204" pitchFamily="34" charset="0"/>
                            </a:rPr>
                            <m:t> </m:t>
                          </m:r>
                          <m:r>
                            <m:rPr>
                              <m:nor/>
                            </m:rPr>
                            <a:rPr lang="en-US" b="0" i="1">
                              <a:latin typeface="Arial" panose="020B0604020202020204" pitchFamily="34" charset="0"/>
                              <a:cs typeface="Arial" panose="020B0604020202020204" pitchFamily="34" charset="0"/>
                            </a:rPr>
                            <m:t>risk</m:t>
                          </m:r>
                        </m:den>
                      </m:f>
                    </m:oMath>
                  </m:oMathPara>
                </a14:m>
                <a:endParaRPr lang="en-US" dirty="0"/>
              </a:p>
            </p:txBody>
          </p:sp>
        </mc:Choice>
        <mc:Fallback>
          <p:sp>
            <p:nvSpPr>
              <p:cNvPr id="9" name="TextBox 8">
                <a:extLst>
                  <a:ext uri="{FF2B5EF4-FFF2-40B4-BE49-F238E27FC236}">
                    <a16:creationId xmlns:a16="http://schemas.microsoft.com/office/drawing/2014/main" id="{C0CFC16F-2BCC-5C6A-E137-1077CA139D3E}"/>
                  </a:ext>
                </a:extLst>
              </p:cNvPr>
              <p:cNvSpPr txBox="1">
                <a:spLocks noRot="1" noChangeAspect="1" noMove="1" noResize="1" noEditPoints="1" noAdjustHandles="1" noChangeArrowheads="1" noChangeShapeType="1" noTextEdit="1"/>
              </p:cNvSpPr>
              <p:nvPr/>
            </p:nvSpPr>
            <p:spPr>
              <a:xfrm>
                <a:off x="255350" y="817810"/>
                <a:ext cx="7643510" cy="1454181"/>
              </a:xfrm>
              <a:prstGeom prst="rect">
                <a:avLst/>
              </a:prstGeom>
              <a:blipFill>
                <a:blip r:embed="rId4"/>
                <a:stretch>
                  <a:fillRect l="-718" t="-2092"/>
                </a:stretch>
              </a:blipFill>
            </p:spPr>
            <p:txBody>
              <a:bodyPr/>
              <a:lstStyle/>
              <a:p>
                <a:r>
                  <a:rPr lang="en-US">
                    <a:noFill/>
                  </a:rPr>
                  <a:t> </a:t>
                </a:r>
              </a:p>
            </p:txBody>
          </p:sp>
        </mc:Fallback>
      </mc:AlternateContent>
    </p:spTree>
    <p:extLst>
      <p:ext uri="{BB962C8B-B14F-4D97-AF65-F5344CB8AC3E}">
        <p14:creationId xmlns:p14="http://schemas.microsoft.com/office/powerpoint/2010/main" val="2122273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F080301-89C8-9936-5FEF-31B8B34F4EBD}"/>
              </a:ext>
            </a:extLst>
          </p:cNvPr>
          <p:cNvGraphicFramePr>
            <a:graphicFrameLocks noGrp="1"/>
          </p:cNvGraphicFramePr>
          <p:nvPr>
            <p:extLst>
              <p:ext uri="{D42A27DB-BD31-4B8C-83A1-F6EECF244321}">
                <p14:modId xmlns:p14="http://schemas.microsoft.com/office/powerpoint/2010/main" val="2657718829"/>
              </p:ext>
            </p:extLst>
          </p:nvPr>
        </p:nvGraphicFramePr>
        <p:xfrm>
          <a:off x="595008" y="407896"/>
          <a:ext cx="10515600" cy="1188720"/>
        </p:xfrm>
        <a:graphic>
          <a:graphicData uri="http://schemas.openxmlformats.org/drawingml/2006/table">
            <a:tbl>
              <a:tblPr/>
              <a:tblGrid>
                <a:gridCol w="3505200">
                  <a:extLst>
                    <a:ext uri="{9D8B030D-6E8A-4147-A177-3AD203B41FA5}">
                      <a16:colId xmlns:a16="http://schemas.microsoft.com/office/drawing/2014/main" val="4012287730"/>
                    </a:ext>
                  </a:extLst>
                </a:gridCol>
                <a:gridCol w="3505200">
                  <a:extLst>
                    <a:ext uri="{9D8B030D-6E8A-4147-A177-3AD203B41FA5}">
                      <a16:colId xmlns:a16="http://schemas.microsoft.com/office/drawing/2014/main" val="2338950077"/>
                    </a:ext>
                  </a:extLst>
                </a:gridCol>
                <a:gridCol w="3505200">
                  <a:extLst>
                    <a:ext uri="{9D8B030D-6E8A-4147-A177-3AD203B41FA5}">
                      <a16:colId xmlns:a16="http://schemas.microsoft.com/office/drawing/2014/main" val="3843117842"/>
                    </a:ext>
                  </a:extLst>
                </a:gridCol>
              </a:tblGrid>
              <a:tr h="0">
                <a:tc>
                  <a:txBody>
                    <a:bodyPr/>
                    <a:lstStyle/>
                    <a:p>
                      <a:pPr>
                        <a:buNone/>
                      </a:pPr>
                      <a:r>
                        <a:rPr lang="en-US" sz="2000" dirty="0">
                          <a:latin typeface="Arial" panose="020B0604020202020204" pitchFamily="34" charset="0"/>
                          <a:cs typeface="Arial" panose="020B0604020202020204" pitchFamily="34" charset="0"/>
                        </a:rPr>
                        <a:t>Age at 1st Pregnancy</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Cervical Cancer</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No Cervical Cancer</a:t>
                      </a:r>
                    </a:p>
                  </a:txBody>
                  <a:tcPr anchor="ctr">
                    <a:lnL>
                      <a:noFill/>
                    </a:lnL>
                    <a:lnR>
                      <a:noFill/>
                    </a:lnR>
                    <a:lnT>
                      <a:noFill/>
                    </a:lnT>
                    <a:lnB>
                      <a:noFill/>
                    </a:lnB>
                    <a:noFill/>
                  </a:tcPr>
                </a:tc>
                <a:extLst>
                  <a:ext uri="{0D108BD9-81ED-4DB2-BD59-A6C34878D82A}">
                    <a16:rowId xmlns:a16="http://schemas.microsoft.com/office/drawing/2014/main" val="3359725134"/>
                  </a:ext>
                </a:extLst>
              </a:tr>
              <a:tr h="0">
                <a:tc>
                  <a:txBody>
                    <a:bodyPr/>
                    <a:lstStyle/>
                    <a:p>
                      <a:pPr>
                        <a:buNone/>
                      </a:pPr>
                      <a:r>
                        <a:rPr lang="en-US" sz="2000" dirty="0">
                          <a:latin typeface="Arial" panose="020B0604020202020204" pitchFamily="34" charset="0"/>
                          <a:cs typeface="Arial" panose="020B0604020202020204" pitchFamily="34" charset="0"/>
                        </a:rPr>
                        <a:t>Age &lt; 25 (risk)</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42</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203</a:t>
                      </a:r>
                    </a:p>
                  </a:txBody>
                  <a:tcPr anchor="ctr">
                    <a:lnL>
                      <a:noFill/>
                    </a:lnL>
                    <a:lnR>
                      <a:noFill/>
                    </a:lnR>
                    <a:lnT>
                      <a:noFill/>
                    </a:lnT>
                    <a:lnB>
                      <a:noFill/>
                    </a:lnB>
                    <a:noFill/>
                  </a:tcPr>
                </a:tc>
                <a:extLst>
                  <a:ext uri="{0D108BD9-81ED-4DB2-BD59-A6C34878D82A}">
                    <a16:rowId xmlns:a16="http://schemas.microsoft.com/office/drawing/2014/main" val="3215708797"/>
                  </a:ext>
                </a:extLst>
              </a:tr>
              <a:tr h="0">
                <a:tc>
                  <a:txBody>
                    <a:bodyPr/>
                    <a:lstStyle/>
                    <a:p>
                      <a:pPr>
                        <a:buNone/>
                      </a:pPr>
                      <a:r>
                        <a:rPr lang="en-US" sz="2000">
                          <a:latin typeface="Arial" panose="020B0604020202020204" pitchFamily="34" charset="0"/>
                          <a:cs typeface="Arial" panose="020B0604020202020204" pitchFamily="34" charset="0"/>
                        </a:rPr>
                        <a:t>Age &gt; 25 (no risk)</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7</a:t>
                      </a:r>
                    </a:p>
                  </a:txBody>
                  <a:tcPr anchor="ctr">
                    <a:lnL>
                      <a:noFill/>
                    </a:lnL>
                    <a:lnR>
                      <a:noFill/>
                    </a:lnR>
                    <a:lnT>
                      <a:noFill/>
                    </a:lnT>
                    <a:lnB>
                      <a:noFill/>
                    </a:lnB>
                    <a:noFill/>
                  </a:tcPr>
                </a:tc>
                <a:tc>
                  <a:txBody>
                    <a:bodyPr/>
                    <a:lstStyle/>
                    <a:p>
                      <a:pPr algn="ctr">
                        <a:buNone/>
                      </a:pPr>
                      <a:r>
                        <a:rPr lang="en-US" sz="2000" dirty="0">
                          <a:latin typeface="Arial" panose="020B0604020202020204" pitchFamily="34" charset="0"/>
                          <a:cs typeface="Arial" panose="020B0604020202020204" pitchFamily="34" charset="0"/>
                        </a:rPr>
                        <a:t>114</a:t>
                      </a:r>
                    </a:p>
                  </a:txBody>
                  <a:tcPr anchor="ctr">
                    <a:lnL>
                      <a:noFill/>
                    </a:lnL>
                    <a:lnR>
                      <a:noFill/>
                    </a:lnR>
                    <a:lnT>
                      <a:noFill/>
                    </a:lnT>
                    <a:lnB>
                      <a:noFill/>
                    </a:lnB>
                    <a:noFill/>
                  </a:tcPr>
                </a:tc>
                <a:extLst>
                  <a:ext uri="{0D108BD9-81ED-4DB2-BD59-A6C34878D82A}">
                    <a16:rowId xmlns:a16="http://schemas.microsoft.com/office/drawing/2014/main" val="3258231166"/>
                  </a:ext>
                </a:extLst>
              </a:tr>
            </a:tbl>
          </a:graphicData>
        </a:graphic>
      </p:graphicFrame>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FAF0629-4A1A-470D-E408-F212D4D5EEF7}"/>
                  </a:ext>
                </a:extLst>
              </p:cNvPr>
              <p:cNvSpPr txBox="1"/>
              <p:nvPr/>
            </p:nvSpPr>
            <p:spPr>
              <a:xfrm>
                <a:off x="478277" y="1972827"/>
                <a:ext cx="10932268" cy="4112088"/>
              </a:xfrm>
              <a:prstGeom prst="rect">
                <a:avLst/>
              </a:prstGeom>
              <a:noFill/>
            </p:spPr>
            <p:txBody>
              <a:bodyPr wrap="square">
                <a:spAutoFit/>
              </a:bodyPr>
              <a:lstStyle/>
              <a:p>
                <a:pPr>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odds ratio (OR)</a:t>
                </a:r>
                <a:r>
                  <a:rPr lang="en-US" dirty="0">
                    <a:latin typeface="Arial" panose="020B0604020202020204" pitchFamily="34" charset="0"/>
                    <a:cs typeface="Arial" panose="020B0604020202020204" pitchFamily="34" charset="0"/>
                  </a:rPr>
                  <a:t> compares the odds of exposure (risk factor) among cases to the odds among non-cases.</a:t>
                </a:r>
              </a:p>
              <a:p>
                <a:pPr>
                  <a:buNone/>
                </a:pPr>
                <a:endParaRPr lang="en-US" b="1" dirty="0">
                  <a:latin typeface="Arial" panose="020B0604020202020204" pitchFamily="34" charset="0"/>
                  <a:cs typeface="Arial" panose="020B0604020202020204" pitchFamily="34" charset="0"/>
                </a:endParaRPr>
              </a:p>
              <a:p>
                <a:pPr>
                  <a:buNone/>
                </a:pPr>
                <a:r>
                  <a:rPr lang="en-US" b="1" dirty="0">
                    <a:latin typeface="Arial" panose="020B0604020202020204" pitchFamily="34" charset="0"/>
                    <a:cs typeface="Arial" panose="020B0604020202020204" pitchFamily="34" charset="0"/>
                  </a:rPr>
                  <a:t>Step 1: Odds of risk among cases</a:t>
                </a:r>
              </a:p>
              <a:p>
                <a:pPr>
                  <a:buNone/>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42</m:t>
                          </m:r>
                        </m:num>
                        <m:den>
                          <m:r>
                            <a:rPr lang="ar-AE" i="0">
                              <a:latin typeface="Cambria Math" panose="02040503050406030204" pitchFamily="18" charset="0"/>
                            </a:rPr>
                            <m:t>7</m:t>
                          </m:r>
                        </m:den>
                      </m:f>
                      <m:r>
                        <a:rPr lang="ar-AE" i="0">
                          <a:latin typeface="Cambria Math" panose="02040503050406030204" pitchFamily="18" charset="0"/>
                        </a:rPr>
                        <m:t>=</m:t>
                      </m:r>
                      <m:r>
                        <a:rPr lang="ar-AE" i="0">
                          <a:latin typeface="Cambria Math" panose="02040503050406030204" pitchFamily="18" charset="0"/>
                        </a:rPr>
                        <m:t>6</m:t>
                      </m:r>
                    </m:oMath>
                  </m:oMathPara>
                </a14:m>
                <a:endParaRPr lang="ar-AE" dirty="0">
                  <a:latin typeface="Arial" panose="020B0604020202020204" pitchFamily="34" charset="0"/>
                  <a:cs typeface="Arial" panose="020B0604020202020204" pitchFamily="34" charset="0"/>
                </a:endParaRPr>
              </a:p>
              <a:p>
                <a:pPr>
                  <a:buNone/>
                </a:pPr>
                <a:r>
                  <a:rPr lang="en-US" b="1" dirty="0">
                    <a:latin typeface="Arial" panose="020B0604020202020204" pitchFamily="34" charset="0"/>
                    <a:cs typeface="Arial" panose="020B0604020202020204" pitchFamily="34" charset="0"/>
                  </a:rPr>
                  <a:t>Step 2: Odds of risk among non-cases:                                                                                                   </a:t>
                </a:r>
              </a:p>
              <a:p>
                <a:pPr algn="ctr">
                  <a:buNone/>
                </a:pPr>
                <a:r>
                  <a:rPr lang="en-US" sz="2400" dirty="0">
                    <a:latin typeface="Arial" panose="020B0604020202020204" pitchFamily="34" charset="0"/>
                    <a:cs typeface="Arial" panose="020B0604020202020204" pitchFamily="34" charset="0"/>
                  </a:rPr>
                  <a:t> </a:t>
                </a:r>
                <a14:m>
                  <m:oMath xmlns:m="http://schemas.openxmlformats.org/officeDocument/2006/math">
                    <m:f>
                      <m:fPr>
                        <m:ctrlPr>
                          <a:rPr lang="ar-AE" sz="2400" i="1" smtClean="0">
                            <a:latin typeface="Cambria Math" panose="02040503050406030204" pitchFamily="18" charset="0"/>
                          </a:rPr>
                        </m:ctrlPr>
                      </m:fPr>
                      <m:num>
                        <m:r>
                          <a:rPr lang="ar-AE" sz="2400">
                            <a:latin typeface="Cambria Math" panose="02040503050406030204" pitchFamily="18" charset="0"/>
                          </a:rPr>
                          <m:t>203</m:t>
                        </m:r>
                      </m:num>
                      <m:den>
                        <m:r>
                          <a:rPr lang="ar-AE" sz="2400" i="0">
                            <a:latin typeface="Cambria Math" panose="02040503050406030204" pitchFamily="18" charset="0"/>
                          </a:rPr>
                          <m:t>114</m:t>
                        </m:r>
                      </m:den>
                    </m:f>
                    <m:r>
                      <a:rPr lang="ar-AE" sz="2400" i="0">
                        <a:latin typeface="Cambria Math" panose="02040503050406030204" pitchFamily="18" charset="0"/>
                      </a:rPr>
                      <m:t>≈</m:t>
                    </m:r>
                    <m:r>
                      <a:rPr lang="ar-AE" sz="2400" i="0">
                        <a:latin typeface="Cambria Math" panose="02040503050406030204" pitchFamily="18" charset="0"/>
                      </a:rPr>
                      <m:t>1</m:t>
                    </m:r>
                    <m:r>
                      <a:rPr lang="ar-AE" sz="2400" i="0">
                        <a:latin typeface="Cambria Math" panose="02040503050406030204" pitchFamily="18" charset="0"/>
                      </a:rPr>
                      <m:t>.</m:t>
                    </m:r>
                    <m:r>
                      <a:rPr lang="ar-AE" sz="2400" i="0">
                        <a:latin typeface="Cambria Math" panose="02040503050406030204" pitchFamily="18" charset="0"/>
                      </a:rPr>
                      <m:t>78</m:t>
                    </m:r>
                  </m:oMath>
                </a14:m>
                <a:endParaRPr lang="ar-AE" sz="2400" dirty="0">
                  <a:latin typeface="Arial" panose="020B0604020202020204" pitchFamily="34" charset="0"/>
                  <a:cs typeface="Arial" panose="020B0604020202020204" pitchFamily="34" charset="0"/>
                </a:endParaRPr>
              </a:p>
              <a:p>
                <a:pPr>
                  <a:buNone/>
                </a:pPr>
                <a:r>
                  <a:rPr lang="en-US" b="1" dirty="0">
                    <a:latin typeface="Arial" panose="020B0604020202020204" pitchFamily="34" charset="0"/>
                    <a:cs typeface="Arial" panose="020B0604020202020204" pitchFamily="34" charset="0"/>
                  </a:rPr>
                  <a:t>Step 3: Odds Ratio</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𝑂𝑅</m:t>
                      </m:r>
                      <m:r>
                        <a:rPr lang="en-US"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6</m:t>
                          </m:r>
                        </m:num>
                        <m:den>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78</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42</m:t>
                          </m:r>
                          <m:r>
                            <a:rPr lang="ar-AE" i="0">
                              <a:latin typeface="Cambria Math" panose="02040503050406030204" pitchFamily="18" charset="0"/>
                            </a:rPr>
                            <m:t>×</m:t>
                          </m:r>
                          <m:r>
                            <a:rPr lang="ar-AE" i="0">
                              <a:latin typeface="Cambria Math" panose="02040503050406030204" pitchFamily="18" charset="0"/>
                            </a:rPr>
                            <m:t>114</m:t>
                          </m:r>
                        </m:num>
                        <m:den>
                          <m:r>
                            <a:rPr lang="ar-AE" i="0">
                              <a:latin typeface="Cambria Math" panose="02040503050406030204" pitchFamily="18" charset="0"/>
                            </a:rPr>
                            <m:t>7</m:t>
                          </m:r>
                          <m:r>
                            <a:rPr lang="ar-AE" i="0">
                              <a:latin typeface="Cambria Math" panose="02040503050406030204" pitchFamily="18" charset="0"/>
                            </a:rPr>
                            <m:t>×</m:t>
                          </m:r>
                          <m:r>
                            <a:rPr lang="ar-AE" i="0">
                              <a:latin typeface="Cambria Math" panose="02040503050406030204" pitchFamily="18" charset="0"/>
                            </a:rPr>
                            <m:t>203</m:t>
                          </m:r>
                        </m:den>
                      </m:f>
                    </m:oMath>
                  </m:oMathPara>
                </a14:m>
                <a:endParaRPr lang="en-US" dirty="0">
                  <a:latin typeface="Arial" panose="020B0604020202020204" pitchFamily="34" charset="0"/>
                  <a:cs typeface="Arial" panose="020B0604020202020204" pitchFamily="34" charset="0"/>
                </a:endParaRPr>
              </a:p>
              <a:p>
                <a:pPr>
                  <a:buNone/>
                </a:pPr>
                <a:endParaRPr lang="ar-AE" dirty="0">
                  <a:latin typeface="Arial" panose="020B0604020202020204" pitchFamily="34" charset="0"/>
                  <a:cs typeface="Arial" panose="020B0604020202020204" pitchFamily="34" charset="0"/>
                </a:endParaRPr>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𝑂𝑅</m:t>
                      </m:r>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4788</m:t>
                          </m:r>
                        </m:num>
                        <m:den>
                          <m:r>
                            <a:rPr lang="ar-AE" i="0">
                              <a:latin typeface="Cambria Math" panose="02040503050406030204" pitchFamily="18" charset="0"/>
                            </a:rPr>
                            <m:t>1421</m:t>
                          </m:r>
                        </m:den>
                      </m:f>
                      <m:r>
                        <a:rPr lang="ar-AE" i="0">
                          <a:latin typeface="Cambria Math" panose="02040503050406030204" pitchFamily="18" charset="0"/>
                        </a:rPr>
                        <m:t>≈</m:t>
                      </m:r>
                      <m:r>
                        <a:rPr lang="ar-AE" i="0">
                          <a:latin typeface="Cambria Math" panose="02040503050406030204" pitchFamily="18" charset="0"/>
                        </a:rPr>
                        <m:t>3</m:t>
                      </m:r>
                      <m:r>
                        <a:rPr lang="ar-AE" i="0">
                          <a:latin typeface="Cambria Math" panose="02040503050406030204" pitchFamily="18" charset="0"/>
                        </a:rPr>
                        <m:t>.</m:t>
                      </m:r>
                      <m:r>
                        <a:rPr lang="ar-AE" i="0">
                          <a:latin typeface="Cambria Math" panose="02040503050406030204" pitchFamily="18" charset="0"/>
                        </a:rPr>
                        <m:t>37</m:t>
                      </m:r>
                    </m:oMath>
                  </m:oMathPara>
                </a14:m>
                <a:endParaRPr lang="ar-AE" dirty="0">
                  <a:latin typeface="Arial" panose="020B0604020202020204" pitchFamily="34" charset="0"/>
                  <a:cs typeface="Arial" panose="020B0604020202020204" pitchFamily="34" charset="0"/>
                </a:endParaRPr>
              </a:p>
            </p:txBody>
          </p:sp>
        </mc:Choice>
        <mc:Fallback>
          <p:sp>
            <p:nvSpPr>
              <p:cNvPr id="6" name="TextBox 5">
                <a:extLst>
                  <a:ext uri="{FF2B5EF4-FFF2-40B4-BE49-F238E27FC236}">
                    <a16:creationId xmlns:a16="http://schemas.microsoft.com/office/drawing/2014/main" id="{0FAF0629-4A1A-470D-E408-F212D4D5EEF7}"/>
                  </a:ext>
                </a:extLst>
              </p:cNvPr>
              <p:cNvSpPr txBox="1">
                <a:spLocks noRot="1" noChangeAspect="1" noMove="1" noResize="1" noEditPoints="1" noAdjustHandles="1" noChangeArrowheads="1" noChangeShapeType="1" noTextEdit="1"/>
              </p:cNvSpPr>
              <p:nvPr/>
            </p:nvSpPr>
            <p:spPr>
              <a:xfrm>
                <a:off x="478277" y="1972827"/>
                <a:ext cx="10932268" cy="4112088"/>
              </a:xfrm>
              <a:prstGeom prst="rect">
                <a:avLst/>
              </a:prstGeom>
              <a:blipFill>
                <a:blip r:embed="rId2"/>
                <a:stretch>
                  <a:fillRect l="-446" t="-890"/>
                </a:stretch>
              </a:blipFill>
            </p:spPr>
            <p:txBody>
              <a:bodyPr/>
              <a:lstStyle/>
              <a:p>
                <a:r>
                  <a:rPr lang="en-US">
                    <a:noFill/>
                  </a:rPr>
                  <a:t> </a:t>
                </a:r>
              </a:p>
            </p:txBody>
          </p:sp>
        </mc:Fallback>
      </mc:AlternateContent>
    </p:spTree>
    <p:extLst>
      <p:ext uri="{BB962C8B-B14F-4D97-AF65-F5344CB8AC3E}">
        <p14:creationId xmlns:p14="http://schemas.microsoft.com/office/powerpoint/2010/main" val="845965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FEB4C-66E8-DE47-886A-61F78E8C0B48}"/>
              </a:ext>
            </a:extLst>
          </p:cNvPr>
          <p:cNvSpPr>
            <a:spLocks noGrp="1"/>
          </p:cNvSpPr>
          <p:nvPr>
            <p:ph type="title"/>
          </p:nvPr>
        </p:nvSpPr>
        <p:spPr>
          <a:xfrm>
            <a:off x="212063" y="215839"/>
            <a:ext cx="10058400" cy="702305"/>
          </a:xfrm>
        </p:spPr>
        <p:txBody>
          <a:bodyPr>
            <a:normAutofit/>
          </a:bodyPr>
          <a:lstStyle/>
          <a:p>
            <a:r>
              <a:rPr lang="en-US" sz="3600" dirty="0">
                <a:latin typeface="Arial" panose="020B0604020202020204" pitchFamily="34" charset="0"/>
                <a:cs typeface="Arial" panose="020B0604020202020204" pitchFamily="34" charset="0"/>
              </a:rPr>
              <a:t>Easy Formula to use</a:t>
            </a:r>
          </a:p>
        </p:txBody>
      </p:sp>
      <p:sp>
        <p:nvSpPr>
          <p:cNvPr id="3" name="Content Placeholder 2">
            <a:extLst>
              <a:ext uri="{FF2B5EF4-FFF2-40B4-BE49-F238E27FC236}">
                <a16:creationId xmlns:a16="http://schemas.microsoft.com/office/drawing/2014/main" id="{3EC06FFB-696C-D04B-9FE6-BF68706E29DB}"/>
              </a:ext>
            </a:extLst>
          </p:cNvPr>
          <p:cNvSpPr>
            <a:spLocks noGrp="1"/>
          </p:cNvSpPr>
          <p:nvPr>
            <p:ph idx="1"/>
          </p:nvPr>
        </p:nvSpPr>
        <p:spPr>
          <a:xfrm>
            <a:off x="280157" y="925171"/>
            <a:ext cx="10058400" cy="3760891"/>
          </a:xfrm>
        </p:spPr>
        <p:txBody>
          <a:bodyPr>
            <a:normAutofit/>
          </a:bodyPr>
          <a:lstStyle/>
          <a:p>
            <a:r>
              <a:rPr lang="en-US" sz="2000" dirty="0">
                <a:latin typeface="Arial" panose="020B0604020202020204" pitchFamily="34" charset="0"/>
                <a:cs typeface="Arial" panose="020B0604020202020204" pitchFamily="34" charset="0"/>
              </a:rPr>
              <a:t>Again, the question is: compute the odds ratio of having a 1st </a:t>
            </a:r>
            <a:r>
              <a:rPr lang="en-US" sz="2000" dirty="0" err="1">
                <a:latin typeface="Arial" panose="020B0604020202020204" pitchFamily="34" charset="0"/>
                <a:cs typeface="Arial" panose="020B0604020202020204" pitchFamily="34" charset="0"/>
              </a:rPr>
              <a:t>preg</a:t>
            </a:r>
            <a:r>
              <a:rPr lang="en-US" sz="2000" dirty="0">
                <a:latin typeface="Arial" panose="020B0604020202020204" pitchFamily="34" charset="0"/>
                <a:cs typeface="Arial" panose="020B0604020202020204" pitchFamily="34" charset="0"/>
              </a:rPr>
              <a:t>. before (or at) age 25 among women who have cervical cancer and those who do not</a:t>
            </a:r>
          </a:p>
        </p:txBody>
      </p:sp>
      <p:sp>
        <p:nvSpPr>
          <p:cNvPr id="11" name="Text Box 45">
            <a:extLst>
              <a:ext uri="{FF2B5EF4-FFF2-40B4-BE49-F238E27FC236}">
                <a16:creationId xmlns:a16="http://schemas.microsoft.com/office/drawing/2014/main" id="{8E080D7B-AE11-8B48-A93C-512B80470714}"/>
              </a:ext>
            </a:extLst>
          </p:cNvPr>
          <p:cNvSpPr txBox="1">
            <a:spLocks noChangeArrowheads="1"/>
          </p:cNvSpPr>
          <p:nvPr>
            <p:custDataLst>
              <p:tags r:id="rId1"/>
            </p:custDataLst>
          </p:nvPr>
        </p:nvSpPr>
        <p:spPr bwMode="auto">
          <a:xfrm>
            <a:off x="7397784" y="2465762"/>
            <a:ext cx="225574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OR = _____</a:t>
            </a:r>
          </a:p>
        </p:txBody>
      </p:sp>
      <p:sp>
        <p:nvSpPr>
          <p:cNvPr id="12" name="Text Box 47">
            <a:extLst>
              <a:ext uri="{FF2B5EF4-FFF2-40B4-BE49-F238E27FC236}">
                <a16:creationId xmlns:a16="http://schemas.microsoft.com/office/drawing/2014/main" id="{4AF60082-D2AB-994F-A617-979FAFC957C6}"/>
              </a:ext>
            </a:extLst>
          </p:cNvPr>
          <p:cNvSpPr txBox="1">
            <a:spLocks noChangeArrowheads="1"/>
          </p:cNvSpPr>
          <p:nvPr>
            <p:custDataLst>
              <p:tags r:id="rId2"/>
            </p:custDataLst>
          </p:nvPr>
        </p:nvSpPr>
        <p:spPr bwMode="auto">
          <a:xfrm>
            <a:off x="8587275" y="2980111"/>
            <a:ext cx="14652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b x c</a:t>
            </a:r>
          </a:p>
        </p:txBody>
      </p:sp>
      <p:sp>
        <p:nvSpPr>
          <p:cNvPr id="13" name="Text Box 46">
            <a:extLst>
              <a:ext uri="{FF2B5EF4-FFF2-40B4-BE49-F238E27FC236}">
                <a16:creationId xmlns:a16="http://schemas.microsoft.com/office/drawing/2014/main" id="{C4E0D58F-10CD-7C42-A9A1-E10C4B5BAF9C}"/>
              </a:ext>
            </a:extLst>
          </p:cNvPr>
          <p:cNvSpPr txBox="1">
            <a:spLocks noChangeArrowheads="1"/>
          </p:cNvSpPr>
          <p:nvPr>
            <p:custDataLst>
              <p:tags r:id="rId3"/>
            </p:custDataLst>
          </p:nvPr>
        </p:nvSpPr>
        <p:spPr bwMode="auto">
          <a:xfrm>
            <a:off x="8623335" y="2345111"/>
            <a:ext cx="14525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a x d</a:t>
            </a:r>
          </a:p>
        </p:txBody>
      </p:sp>
      <p:graphicFrame>
        <p:nvGraphicFramePr>
          <p:cNvPr id="16" name="Group 52">
            <a:extLst>
              <a:ext uri="{FF2B5EF4-FFF2-40B4-BE49-F238E27FC236}">
                <a16:creationId xmlns:a16="http://schemas.microsoft.com/office/drawing/2014/main" id="{2476E832-01D9-9E47-87E9-9E5E3D396EF3}"/>
              </a:ext>
            </a:extLst>
          </p:cNvPr>
          <p:cNvGraphicFramePr>
            <a:graphicFrameLocks/>
          </p:cNvGraphicFramePr>
          <p:nvPr>
            <p:custDataLst>
              <p:tags r:id="rId4"/>
            </p:custDataLst>
            <p:extLst>
              <p:ext uri="{D42A27DB-BD31-4B8C-83A1-F6EECF244321}">
                <p14:modId xmlns:p14="http://schemas.microsoft.com/office/powerpoint/2010/main" val="1210315916"/>
              </p:ext>
            </p:extLst>
          </p:nvPr>
        </p:nvGraphicFramePr>
        <p:xfrm>
          <a:off x="514168" y="1968212"/>
          <a:ext cx="6157762" cy="1920240"/>
        </p:xfrm>
        <a:graphic>
          <a:graphicData uri="http://schemas.openxmlformats.org/drawingml/2006/table">
            <a:tbl>
              <a:tblPr/>
              <a:tblGrid>
                <a:gridCol w="2981425">
                  <a:extLst>
                    <a:ext uri="{9D8B030D-6E8A-4147-A177-3AD203B41FA5}">
                      <a16:colId xmlns:a16="http://schemas.microsoft.com/office/drawing/2014/main" val="20000"/>
                    </a:ext>
                  </a:extLst>
                </a:gridCol>
                <a:gridCol w="1431758">
                  <a:extLst>
                    <a:ext uri="{9D8B030D-6E8A-4147-A177-3AD203B41FA5}">
                      <a16:colId xmlns:a16="http://schemas.microsoft.com/office/drawing/2014/main" val="20001"/>
                    </a:ext>
                  </a:extLst>
                </a:gridCol>
                <a:gridCol w="1744579">
                  <a:extLst>
                    <a:ext uri="{9D8B030D-6E8A-4147-A177-3AD203B41FA5}">
                      <a16:colId xmlns:a16="http://schemas.microsoft.com/office/drawing/2014/main" val="20002"/>
                    </a:ext>
                  </a:extLst>
                </a:gridCol>
              </a:tblGrid>
              <a:tr h="1009744">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Risk Factor</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Status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solidFill>
                  </a:tcPr>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   Case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solidFill>
                  </a:tcPr>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Control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solidFill>
                  </a:tcPr>
                </a:tc>
                <a:extLst>
                  <a:ext uri="{0D108BD9-81ED-4DB2-BD59-A6C34878D82A}">
                    <a16:rowId xmlns:a16="http://schemas.microsoft.com/office/drawing/2014/main" val="10000"/>
                  </a:ext>
                </a:extLst>
              </a:tr>
              <a:tr h="0">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Risk Factor Present</a:t>
                      </a:r>
                    </a:p>
                  </a:txBody>
                  <a:tcPr anchor="b"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solidFill>
                  </a:tcPr>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solidFill>
                  </a:tcPr>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b</a:t>
                      </a:r>
                    </a:p>
                  </a:txBody>
                  <a:tcPr anchor="b"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solidFill>
                  </a:tcPr>
                </a:tc>
                <a:extLst>
                  <a:ext uri="{0D108BD9-81ED-4DB2-BD59-A6C34878D82A}">
                    <a16:rowId xmlns:a16="http://schemas.microsoft.com/office/drawing/2014/main" val="10001"/>
                  </a:ext>
                </a:extLst>
              </a:tr>
              <a:tr h="0">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Risk Factor Absent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2"/>
                    </a:solidFill>
                  </a:tcPr>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c </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2"/>
                    </a:solidFill>
                  </a:tcPr>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rgbClr val="FFEB41"/>
                          </a:solidFill>
                          <a:effectLst/>
                          <a:latin typeface="Arial" panose="020B0604020202020204" pitchFamily="34" charset="0"/>
                          <a:cs typeface="Arial" panose="020B0604020202020204" pitchFamily="34" charset="0"/>
                        </a:rPr>
                        <a:t>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accent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82426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FEB4C-66E8-DE47-886A-61F78E8C0B48}"/>
              </a:ext>
            </a:extLst>
          </p:cNvPr>
          <p:cNvSpPr>
            <a:spLocks noGrp="1"/>
          </p:cNvSpPr>
          <p:nvPr>
            <p:ph type="title"/>
          </p:nvPr>
        </p:nvSpPr>
        <p:spPr>
          <a:xfrm>
            <a:off x="182880" y="188050"/>
            <a:ext cx="10058400" cy="717115"/>
          </a:xfrm>
        </p:spPr>
        <p:txBody>
          <a:bodyPr>
            <a:normAutofit/>
          </a:bodyPr>
          <a:lstStyle/>
          <a:p>
            <a:r>
              <a:rPr lang="en-US" sz="3600" dirty="0">
                <a:latin typeface="Arial" panose="020B0604020202020204" pitchFamily="34" charset="0"/>
                <a:cs typeface="Arial" panose="020B0604020202020204" pitchFamily="34" charset="0"/>
              </a:rPr>
              <a:t>Easy Formula to use</a:t>
            </a:r>
          </a:p>
        </p:txBody>
      </p:sp>
      <p:sp>
        <p:nvSpPr>
          <p:cNvPr id="3" name="Content Placeholder 2">
            <a:extLst>
              <a:ext uri="{FF2B5EF4-FFF2-40B4-BE49-F238E27FC236}">
                <a16:creationId xmlns:a16="http://schemas.microsoft.com/office/drawing/2014/main" id="{3EC06FFB-696C-D04B-9FE6-BF68706E29DB}"/>
              </a:ext>
            </a:extLst>
          </p:cNvPr>
          <p:cNvSpPr>
            <a:spLocks noGrp="1"/>
          </p:cNvSpPr>
          <p:nvPr>
            <p:ph idx="1"/>
          </p:nvPr>
        </p:nvSpPr>
        <p:spPr>
          <a:xfrm>
            <a:off x="319067" y="971336"/>
            <a:ext cx="10058400" cy="3760891"/>
          </a:xfrm>
        </p:spPr>
        <p:txBody>
          <a:bodyPr>
            <a:normAutofit/>
          </a:bodyPr>
          <a:lstStyle/>
          <a:p>
            <a:r>
              <a:rPr lang="en-US" sz="2000" dirty="0">
                <a:latin typeface="Arial" panose="020B0604020202020204" pitchFamily="34" charset="0"/>
                <a:cs typeface="Arial" panose="020B0604020202020204" pitchFamily="34" charset="0"/>
              </a:rPr>
              <a:t>Again, the question is: compute the odds ratio of having a child before (or at) age 25 among women who have cervical cancer and those who do not</a:t>
            </a:r>
          </a:p>
        </p:txBody>
      </p:sp>
      <p:sp>
        <p:nvSpPr>
          <p:cNvPr id="11" name="Text Box 45">
            <a:extLst>
              <a:ext uri="{FF2B5EF4-FFF2-40B4-BE49-F238E27FC236}">
                <a16:creationId xmlns:a16="http://schemas.microsoft.com/office/drawing/2014/main" id="{8E080D7B-AE11-8B48-A93C-512B80470714}"/>
              </a:ext>
            </a:extLst>
          </p:cNvPr>
          <p:cNvSpPr txBox="1">
            <a:spLocks noChangeArrowheads="1"/>
          </p:cNvSpPr>
          <p:nvPr>
            <p:custDataLst>
              <p:tags r:id="rId1"/>
            </p:custDataLst>
          </p:nvPr>
        </p:nvSpPr>
        <p:spPr bwMode="auto">
          <a:xfrm>
            <a:off x="8038587" y="2726607"/>
            <a:ext cx="31170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OR = _____</a:t>
            </a:r>
          </a:p>
        </p:txBody>
      </p:sp>
      <p:sp>
        <p:nvSpPr>
          <p:cNvPr id="12" name="Text Box 47">
            <a:extLst>
              <a:ext uri="{FF2B5EF4-FFF2-40B4-BE49-F238E27FC236}">
                <a16:creationId xmlns:a16="http://schemas.microsoft.com/office/drawing/2014/main" id="{4AF60082-D2AB-994F-A617-979FAFC957C6}"/>
              </a:ext>
            </a:extLst>
          </p:cNvPr>
          <p:cNvSpPr txBox="1">
            <a:spLocks noChangeArrowheads="1"/>
          </p:cNvSpPr>
          <p:nvPr>
            <p:custDataLst>
              <p:tags r:id="rId2"/>
            </p:custDataLst>
          </p:nvPr>
        </p:nvSpPr>
        <p:spPr bwMode="auto">
          <a:xfrm>
            <a:off x="8899934" y="3057970"/>
            <a:ext cx="21095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7 x 203</a:t>
            </a:r>
          </a:p>
        </p:txBody>
      </p:sp>
      <p:sp>
        <p:nvSpPr>
          <p:cNvPr id="13" name="Text Box 46">
            <a:extLst>
              <a:ext uri="{FF2B5EF4-FFF2-40B4-BE49-F238E27FC236}">
                <a16:creationId xmlns:a16="http://schemas.microsoft.com/office/drawing/2014/main" id="{C4E0D58F-10CD-7C42-A9A1-E10C4B5BAF9C}"/>
              </a:ext>
            </a:extLst>
          </p:cNvPr>
          <p:cNvSpPr txBox="1">
            <a:spLocks noChangeArrowheads="1"/>
          </p:cNvSpPr>
          <p:nvPr>
            <p:custDataLst>
              <p:tags r:id="rId3"/>
            </p:custDataLst>
          </p:nvPr>
        </p:nvSpPr>
        <p:spPr bwMode="auto">
          <a:xfrm>
            <a:off x="8839201" y="2721683"/>
            <a:ext cx="21095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42 x 114</a:t>
            </a:r>
          </a:p>
        </p:txBody>
      </p:sp>
      <p:graphicFrame>
        <p:nvGraphicFramePr>
          <p:cNvPr id="16" name="Group 52">
            <a:extLst>
              <a:ext uri="{FF2B5EF4-FFF2-40B4-BE49-F238E27FC236}">
                <a16:creationId xmlns:a16="http://schemas.microsoft.com/office/drawing/2014/main" id="{2476E832-01D9-9E47-87E9-9E5E3D396EF3}"/>
              </a:ext>
            </a:extLst>
          </p:cNvPr>
          <p:cNvGraphicFramePr>
            <a:graphicFrameLocks/>
          </p:cNvGraphicFramePr>
          <p:nvPr>
            <p:custDataLst>
              <p:tags r:id="rId4"/>
            </p:custDataLst>
            <p:extLst>
              <p:ext uri="{D42A27DB-BD31-4B8C-83A1-F6EECF244321}">
                <p14:modId xmlns:p14="http://schemas.microsoft.com/office/powerpoint/2010/main" val="454134244"/>
              </p:ext>
            </p:extLst>
          </p:nvPr>
        </p:nvGraphicFramePr>
        <p:xfrm>
          <a:off x="462348" y="1919029"/>
          <a:ext cx="5659437" cy="2538486"/>
        </p:xfrm>
        <a:graphic>
          <a:graphicData uri="http://schemas.openxmlformats.org/drawingml/2006/table">
            <a:tbl>
              <a:tblPr>
                <a:tableStyleId>{C4B1156A-380E-4F78-BDF5-A606A8083BF9}</a:tableStyleId>
              </a:tblPr>
              <a:tblGrid>
                <a:gridCol w="1885950">
                  <a:extLst>
                    <a:ext uri="{9D8B030D-6E8A-4147-A177-3AD203B41FA5}">
                      <a16:colId xmlns:a16="http://schemas.microsoft.com/office/drawing/2014/main" val="20000"/>
                    </a:ext>
                  </a:extLst>
                </a:gridCol>
                <a:gridCol w="1887537">
                  <a:extLst>
                    <a:ext uri="{9D8B030D-6E8A-4147-A177-3AD203B41FA5}">
                      <a16:colId xmlns:a16="http://schemas.microsoft.com/office/drawing/2014/main" val="20001"/>
                    </a:ext>
                  </a:extLst>
                </a:gridCol>
                <a:gridCol w="1885950">
                  <a:extLst>
                    <a:ext uri="{9D8B030D-6E8A-4147-A177-3AD203B41FA5}">
                      <a16:colId xmlns:a16="http://schemas.microsoft.com/office/drawing/2014/main" val="20002"/>
                    </a:ext>
                  </a:extLst>
                </a:gridCol>
              </a:tblGrid>
              <a:tr h="733573">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Age at 1</a:t>
                      </a:r>
                      <a:r>
                        <a:rPr kumimoji="0" lang="en-US" altLang="en-US" sz="2000" b="1" u="none" strike="noStrike" cap="none" normalizeH="0" baseline="30000" dirty="0">
                          <a:ln>
                            <a:noFill/>
                          </a:ln>
                          <a:solidFill>
                            <a:schemeClr val="tx1"/>
                          </a:solidFill>
                          <a:effectLst/>
                        </a:rPr>
                        <a:t>st</a:t>
                      </a:r>
                      <a:r>
                        <a:rPr kumimoji="0" lang="en-US" altLang="en-US" sz="2000" b="1" u="none" strike="noStrike" cap="none" normalizeH="0" baseline="0" dirty="0">
                          <a:ln>
                            <a:noFill/>
                          </a:ln>
                          <a:solidFill>
                            <a:schemeClr val="tx1"/>
                          </a:solidFill>
                          <a:effectLst/>
                        </a:rPr>
                        <a:t> Pregnancy</a:t>
                      </a:r>
                      <a:endParaRPr kumimoji="0" lang="en-US" altLang="en-US" sz="2000" b="1" i="0" u="none" strike="noStrike" cap="none" normalizeH="0" baseline="0" dirty="0">
                        <a:ln>
                          <a:noFill/>
                        </a:ln>
                        <a:solidFill>
                          <a:schemeClr val="tx1"/>
                        </a:solidFill>
                        <a:effectLst/>
                        <a:latin typeface="+mj-lt"/>
                      </a:endParaRPr>
                    </a:p>
                  </a:txBody>
                  <a:tcPr anchor="ctr" horzOverflow="overflow"/>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Cancer</a:t>
                      </a:r>
                      <a:endParaRPr kumimoji="0" lang="en-US" altLang="en-US" sz="2000" b="1" i="0" u="none" strike="noStrike" cap="none" normalizeH="0" baseline="0" dirty="0">
                        <a:ln>
                          <a:noFill/>
                        </a:ln>
                        <a:solidFill>
                          <a:schemeClr val="tx1"/>
                        </a:solidFill>
                        <a:effectLst/>
                        <a:latin typeface="+mj-lt"/>
                      </a:endParaRPr>
                    </a:p>
                  </a:txBody>
                  <a:tcPr anchor="ctr" horzOverflow="overflow"/>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No Cancer</a:t>
                      </a:r>
                      <a:endParaRPr kumimoji="0" lang="en-US" altLang="en-US" sz="2000" b="1" i="0" u="none" strike="noStrike" cap="none" normalizeH="0" baseline="0" dirty="0">
                        <a:ln>
                          <a:noFill/>
                        </a:ln>
                        <a:solidFill>
                          <a:schemeClr val="tx1"/>
                        </a:solidFill>
                        <a:effectLst/>
                        <a:latin typeface="+mj-lt"/>
                      </a:endParaRPr>
                    </a:p>
                  </a:txBody>
                  <a:tcPr anchor="ctr" horzOverflow="overflow"/>
                </a:tc>
                <a:extLst>
                  <a:ext uri="{0D108BD9-81ED-4DB2-BD59-A6C34878D82A}">
                    <a16:rowId xmlns:a16="http://schemas.microsoft.com/office/drawing/2014/main" val="10000"/>
                  </a:ext>
                </a:extLst>
              </a:tr>
              <a:tr h="799228">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Age &lt;= 25</a:t>
                      </a:r>
                      <a:endParaRPr kumimoji="0" lang="en-US" altLang="en-US" sz="2000" b="1" i="0" u="none" strike="noStrike" cap="none" normalizeH="0" baseline="0" dirty="0">
                        <a:ln>
                          <a:noFill/>
                        </a:ln>
                        <a:solidFill>
                          <a:schemeClr val="tx1"/>
                        </a:solidFill>
                        <a:effectLst/>
                        <a:latin typeface="+mj-lt"/>
                      </a:endParaRPr>
                    </a:p>
                  </a:txBody>
                  <a:tcPr anchor="ctr" horzOverflow="overflow"/>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u="none" strike="noStrike" cap="none" normalizeH="0" baseline="0" dirty="0">
                          <a:ln>
                            <a:noFill/>
                          </a:ln>
                          <a:solidFill>
                            <a:schemeClr val="tx1"/>
                          </a:solidFill>
                          <a:effectLst/>
                        </a:rPr>
                        <a:t>a = 42</a:t>
                      </a:r>
                      <a:endParaRPr kumimoji="0" lang="en-US" altLang="en-US" sz="2000" b="0" i="0" u="none" strike="noStrike" cap="none" normalizeH="0" baseline="0" dirty="0">
                        <a:ln>
                          <a:noFill/>
                        </a:ln>
                        <a:solidFill>
                          <a:schemeClr val="tx1"/>
                        </a:solidFill>
                        <a:effectLst/>
                        <a:latin typeface="+mj-lt"/>
                      </a:endParaRPr>
                    </a:p>
                  </a:txBody>
                  <a:tcPr anchor="ctr" horzOverflow="overflow"/>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u="none" strike="noStrike" cap="none" normalizeH="0" baseline="0" dirty="0">
                          <a:ln>
                            <a:noFill/>
                          </a:ln>
                          <a:solidFill>
                            <a:schemeClr val="tx1"/>
                          </a:solidFill>
                          <a:effectLst/>
                        </a:rPr>
                        <a:t>b = 7</a:t>
                      </a:r>
                      <a:endParaRPr kumimoji="0" lang="en-US" altLang="en-US" sz="2000" b="0" i="0" u="none" strike="noStrike" cap="none" normalizeH="0" baseline="0" dirty="0">
                        <a:ln>
                          <a:noFill/>
                        </a:ln>
                        <a:solidFill>
                          <a:schemeClr val="tx1"/>
                        </a:solidFill>
                        <a:effectLst/>
                        <a:latin typeface="+mj-lt"/>
                      </a:endParaRPr>
                    </a:p>
                  </a:txBody>
                  <a:tcPr anchor="ctr" horzOverflow="overflow"/>
                </a:tc>
                <a:extLst>
                  <a:ext uri="{0D108BD9-81ED-4DB2-BD59-A6C34878D82A}">
                    <a16:rowId xmlns:a16="http://schemas.microsoft.com/office/drawing/2014/main" val="10001"/>
                  </a:ext>
                </a:extLst>
              </a:tr>
              <a:tr h="1005685">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Age &gt; 25</a:t>
                      </a:r>
                      <a:endParaRPr kumimoji="0" lang="en-US" altLang="en-US" sz="2000" b="1" i="0" u="none" strike="noStrike" cap="none" normalizeH="0" baseline="0" dirty="0">
                        <a:ln>
                          <a:noFill/>
                        </a:ln>
                        <a:solidFill>
                          <a:schemeClr val="tx1"/>
                        </a:solidFill>
                        <a:effectLst/>
                        <a:latin typeface="+mj-lt"/>
                      </a:endParaRPr>
                    </a:p>
                  </a:txBody>
                  <a:tcPr anchor="ctr" horzOverflow="overflow"/>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u="none" strike="noStrike" cap="none" normalizeH="0" baseline="0" dirty="0">
                          <a:ln>
                            <a:noFill/>
                          </a:ln>
                          <a:solidFill>
                            <a:schemeClr val="tx1"/>
                          </a:solidFill>
                          <a:effectLst/>
                        </a:rPr>
                        <a:t>c = 203</a:t>
                      </a:r>
                      <a:endParaRPr kumimoji="0" lang="en-US" altLang="en-US" sz="2000" b="0" i="0" u="none" strike="noStrike" cap="none" normalizeH="0" baseline="0" dirty="0">
                        <a:ln>
                          <a:noFill/>
                        </a:ln>
                        <a:solidFill>
                          <a:schemeClr val="tx1"/>
                        </a:solidFill>
                        <a:effectLst/>
                        <a:latin typeface="+mj-lt"/>
                      </a:endParaRPr>
                    </a:p>
                  </a:txBody>
                  <a:tcPr anchor="ctr" horzOverflow="overflow"/>
                </a:tc>
                <a:tc>
                  <a:txBody>
                    <a:bodyPr/>
                    <a:lstStyle>
                      <a:lvl1pPr>
                        <a:spcBef>
                          <a:spcPct val="20000"/>
                        </a:spcBef>
                        <a:defRPr sz="2800">
                          <a:solidFill>
                            <a:schemeClr val="bg1"/>
                          </a:solidFill>
                          <a:latin typeface="Arial" charset="0"/>
                        </a:defRPr>
                      </a:lvl1pPr>
                      <a:lvl2pPr>
                        <a:spcBef>
                          <a:spcPct val="20000"/>
                        </a:spcBef>
                        <a:defRPr sz="2400">
                          <a:solidFill>
                            <a:schemeClr val="bg1"/>
                          </a:solidFill>
                          <a:latin typeface="Arial" charset="0"/>
                        </a:defRPr>
                      </a:lvl2pPr>
                      <a:lvl3pPr>
                        <a:spcBef>
                          <a:spcPct val="20000"/>
                        </a:spcBef>
                        <a:defRPr sz="2400">
                          <a:solidFill>
                            <a:schemeClr val="bg1"/>
                          </a:solidFill>
                          <a:latin typeface="Arial" charset="0"/>
                        </a:defRPr>
                      </a:lvl3pPr>
                      <a:lvl4pPr>
                        <a:spcBef>
                          <a:spcPct val="20000"/>
                        </a:spcBef>
                        <a:defRPr sz="2400">
                          <a:solidFill>
                            <a:schemeClr val="bg1"/>
                          </a:solidFill>
                          <a:latin typeface="Arial" charset="0"/>
                        </a:defRPr>
                      </a:lvl4pPr>
                      <a:lvl5pPr>
                        <a:spcBef>
                          <a:spcPct val="20000"/>
                        </a:spcBef>
                        <a:defRPr sz="2400">
                          <a:solidFill>
                            <a:schemeClr val="bg1"/>
                          </a:solidFill>
                          <a:latin typeface="Arial" charset="0"/>
                        </a:defRPr>
                      </a:lvl5pPr>
                      <a:lvl6pPr eaLnBrk="0" fontAlgn="base" hangingPunct="0">
                        <a:spcBef>
                          <a:spcPct val="20000"/>
                        </a:spcBef>
                        <a:spcAft>
                          <a:spcPct val="0"/>
                        </a:spcAft>
                        <a:defRPr sz="2400">
                          <a:solidFill>
                            <a:schemeClr val="bg1"/>
                          </a:solidFill>
                          <a:latin typeface="Arial" charset="0"/>
                        </a:defRPr>
                      </a:lvl6pPr>
                      <a:lvl7pPr eaLnBrk="0" fontAlgn="base" hangingPunct="0">
                        <a:spcBef>
                          <a:spcPct val="20000"/>
                        </a:spcBef>
                        <a:spcAft>
                          <a:spcPct val="0"/>
                        </a:spcAft>
                        <a:defRPr sz="2400">
                          <a:solidFill>
                            <a:schemeClr val="bg1"/>
                          </a:solidFill>
                          <a:latin typeface="Arial" charset="0"/>
                        </a:defRPr>
                      </a:lvl7pPr>
                      <a:lvl8pPr eaLnBrk="0" fontAlgn="base" hangingPunct="0">
                        <a:spcBef>
                          <a:spcPct val="20000"/>
                        </a:spcBef>
                        <a:spcAft>
                          <a:spcPct val="0"/>
                        </a:spcAft>
                        <a:defRPr sz="2400">
                          <a:solidFill>
                            <a:schemeClr val="bg1"/>
                          </a:solidFill>
                          <a:latin typeface="Arial" charset="0"/>
                        </a:defRPr>
                      </a:lvl8pPr>
                      <a:lvl9pPr eaLnBrk="0" fontAlgn="base" hangingPunct="0">
                        <a:spcBef>
                          <a:spcPct val="20000"/>
                        </a:spcBef>
                        <a:spcAft>
                          <a:spcPct val="0"/>
                        </a:spcAft>
                        <a:defRPr sz="2400">
                          <a:solidFill>
                            <a:schemeClr val="bg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u="none" strike="noStrike" cap="none" normalizeH="0" baseline="0" dirty="0">
                          <a:ln>
                            <a:noFill/>
                          </a:ln>
                          <a:solidFill>
                            <a:schemeClr val="tx1"/>
                          </a:solidFill>
                          <a:effectLst/>
                        </a:rPr>
                        <a:t>d = 114</a:t>
                      </a:r>
                      <a:endParaRPr kumimoji="0" lang="en-US" altLang="en-US" sz="2000" b="0" i="0" u="none" strike="noStrike" cap="none" normalizeH="0" baseline="0" dirty="0">
                        <a:ln>
                          <a:noFill/>
                        </a:ln>
                        <a:solidFill>
                          <a:schemeClr val="tx1"/>
                        </a:solidFill>
                        <a:effectLst/>
                        <a:latin typeface="+mj-lt"/>
                      </a:endParaRPr>
                    </a:p>
                  </a:txBody>
                  <a:tcPr anchor="ctr" horzOverflow="overflow"/>
                </a:tc>
                <a:extLst>
                  <a:ext uri="{0D108BD9-81ED-4DB2-BD59-A6C34878D82A}">
                    <a16:rowId xmlns:a16="http://schemas.microsoft.com/office/drawing/2014/main" val="10002"/>
                  </a:ext>
                </a:extLst>
              </a:tr>
            </a:tbl>
          </a:graphicData>
        </a:graphic>
      </p:graphicFrame>
      <p:sp>
        <p:nvSpPr>
          <p:cNvPr id="4" name="TextBox 3">
            <a:extLst>
              <a:ext uri="{FF2B5EF4-FFF2-40B4-BE49-F238E27FC236}">
                <a16:creationId xmlns:a16="http://schemas.microsoft.com/office/drawing/2014/main" id="{7A11DA23-9F19-914C-8ABD-4DD36F98DD1D}"/>
              </a:ext>
            </a:extLst>
          </p:cNvPr>
          <p:cNvSpPr txBox="1"/>
          <p:nvPr/>
        </p:nvSpPr>
        <p:spPr>
          <a:xfrm>
            <a:off x="7097842" y="3493473"/>
            <a:ext cx="392229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Franklin Gothic Book" panose="020F0502020204030204"/>
                <a:ea typeface="+mn-ea"/>
                <a:cs typeface="+mn-cs"/>
              </a:rPr>
              <a:t>4902 x 1421 = 3.4!</a:t>
            </a:r>
          </a:p>
        </p:txBody>
      </p:sp>
      <p:sp>
        <p:nvSpPr>
          <p:cNvPr id="9" name="Text Box 45">
            <a:extLst>
              <a:ext uri="{FF2B5EF4-FFF2-40B4-BE49-F238E27FC236}">
                <a16:creationId xmlns:a16="http://schemas.microsoft.com/office/drawing/2014/main" id="{7BD3DC17-D151-F748-9E05-1EF847D1C851}"/>
              </a:ext>
            </a:extLst>
          </p:cNvPr>
          <p:cNvSpPr txBox="1">
            <a:spLocks noChangeArrowheads="1"/>
          </p:cNvSpPr>
          <p:nvPr>
            <p:custDataLst>
              <p:tags r:id="rId5"/>
            </p:custDataLst>
          </p:nvPr>
        </p:nvSpPr>
        <p:spPr bwMode="auto">
          <a:xfrm>
            <a:off x="8899934" y="254221"/>
            <a:ext cx="225574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OR = _____</a:t>
            </a:r>
          </a:p>
        </p:txBody>
      </p:sp>
      <p:sp>
        <p:nvSpPr>
          <p:cNvPr id="10" name="Text Box 47">
            <a:extLst>
              <a:ext uri="{FF2B5EF4-FFF2-40B4-BE49-F238E27FC236}">
                <a16:creationId xmlns:a16="http://schemas.microsoft.com/office/drawing/2014/main" id="{64C64142-6068-1340-A041-3F95B4631D36}"/>
              </a:ext>
            </a:extLst>
          </p:cNvPr>
          <p:cNvSpPr txBox="1">
            <a:spLocks noChangeArrowheads="1"/>
          </p:cNvSpPr>
          <p:nvPr>
            <p:custDataLst>
              <p:tags r:id="rId6"/>
            </p:custDataLst>
          </p:nvPr>
        </p:nvSpPr>
        <p:spPr bwMode="auto">
          <a:xfrm>
            <a:off x="10089425" y="768570"/>
            <a:ext cx="14652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b x c</a:t>
            </a:r>
          </a:p>
        </p:txBody>
      </p:sp>
      <p:sp>
        <p:nvSpPr>
          <p:cNvPr id="14" name="Text Box 46">
            <a:extLst>
              <a:ext uri="{FF2B5EF4-FFF2-40B4-BE49-F238E27FC236}">
                <a16:creationId xmlns:a16="http://schemas.microsoft.com/office/drawing/2014/main" id="{1013A958-D68B-E040-9985-1C37BE9C618C}"/>
              </a:ext>
            </a:extLst>
          </p:cNvPr>
          <p:cNvSpPr txBox="1">
            <a:spLocks noChangeArrowheads="1"/>
          </p:cNvSpPr>
          <p:nvPr>
            <p:custDataLst>
              <p:tags r:id="rId7"/>
            </p:custDataLst>
          </p:nvPr>
        </p:nvSpPr>
        <p:spPr bwMode="auto">
          <a:xfrm>
            <a:off x="9991005" y="89499"/>
            <a:ext cx="14525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3200" b="1" i="0" u="none" strike="noStrike" kern="1200" cap="none" spc="0" normalizeH="0" baseline="0" noProof="0" dirty="0">
                <a:ln>
                  <a:noFill/>
                </a:ln>
                <a:solidFill>
                  <a:srgbClr val="000000"/>
                </a:solidFill>
                <a:effectLst/>
                <a:uLnTx/>
                <a:uFillTx/>
                <a:latin typeface="Palatino Linotype" panose="02040502050505030304" pitchFamily="18" charset="0"/>
                <a:ea typeface="+mn-ea"/>
                <a:cs typeface="+mn-cs"/>
              </a:rPr>
              <a:t>a x d</a:t>
            </a:r>
          </a:p>
        </p:txBody>
      </p:sp>
    </p:spTree>
    <p:extLst>
      <p:ext uri="{BB962C8B-B14F-4D97-AF65-F5344CB8AC3E}">
        <p14:creationId xmlns:p14="http://schemas.microsoft.com/office/powerpoint/2010/main" val="3775968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CB22E-3770-4D41-810B-434FFC5FDA26}"/>
              </a:ext>
            </a:extLst>
          </p:cNvPr>
          <p:cNvSpPr>
            <a:spLocks noGrp="1"/>
          </p:cNvSpPr>
          <p:nvPr>
            <p:ph type="title"/>
          </p:nvPr>
        </p:nvSpPr>
        <p:spPr>
          <a:xfrm>
            <a:off x="202335" y="179598"/>
            <a:ext cx="10058400" cy="702305"/>
          </a:xfrm>
        </p:spPr>
        <p:txBody>
          <a:bodyPr>
            <a:normAutofit/>
          </a:bodyPr>
          <a:lstStyle/>
          <a:p>
            <a:r>
              <a:rPr lang="en-US" sz="3600" dirty="0">
                <a:latin typeface="Arial" panose="020B0604020202020204" pitchFamily="34" charset="0"/>
                <a:cs typeface="Arial" panose="020B0604020202020204" pitchFamily="34" charset="0"/>
              </a:rPr>
              <a:t>Other interpretations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8B6D912-2E8E-4A35-A521-4D62C07D0C85}"/>
                  </a:ext>
                </a:extLst>
              </p:cNvPr>
              <p:cNvSpPr>
                <a:spLocks noGrp="1"/>
              </p:cNvSpPr>
              <p:nvPr>
                <p:ph idx="1"/>
              </p:nvPr>
            </p:nvSpPr>
            <p:spPr>
              <a:xfrm>
                <a:off x="338523" y="881903"/>
                <a:ext cx="10058400" cy="3760891"/>
              </a:xfrm>
            </p:spPr>
            <p:txBody>
              <a:bodyPr>
                <a:normAutofit lnSpcReduction="10000"/>
              </a:bodyPr>
              <a:lstStyle/>
              <a:p>
                <a:r>
                  <a:rPr lang="en-US" sz="2000" dirty="0">
                    <a:latin typeface="Arial" panose="020B0604020202020204" pitchFamily="34" charset="0"/>
                    <a:cs typeface="Arial" panose="020B0604020202020204" pitchFamily="34" charset="0"/>
                  </a:rPr>
                  <a:t>Compute the odds as a percent increase or decrease (this is often the better interpretation because people understand percentages better than they understand odds)</a:t>
                </a:r>
              </a:p>
              <a:p>
                <a:r>
                  <a:rPr lang="en-US" sz="2000" dirty="0">
                    <a:latin typeface="Arial" panose="020B0604020202020204" pitchFamily="34" charset="0"/>
                    <a:cs typeface="Arial" panose="020B0604020202020204" pitchFamily="34" charset="0"/>
                  </a:rPr>
                  <a:t>The percent change in the odds is defined as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𝑂𝑅</m:t>
                    </m:r>
                    <m:r>
                      <a:rPr lang="en-US" sz="2000" b="0" i="1" smtClean="0">
                        <a:latin typeface="Cambria Math" panose="02040503050406030204" pitchFamily="18" charset="0"/>
                      </a:rPr>
                      <m:t>−</m:t>
                    </m:r>
                    <m:r>
                      <a:rPr lang="en-US" sz="2000" b="0" i="1" smtClean="0">
                        <a:latin typeface="Cambria Math" panose="02040503050406030204" pitchFamily="18" charset="0"/>
                      </a:rPr>
                      <m:t>1</m:t>
                    </m:r>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r>
                      <a:rPr lang="en-US" sz="2000" b="0" i="1" smtClean="0">
                        <a:latin typeface="Cambria Math" panose="02040503050406030204" pitchFamily="18" charset="0"/>
                      </a:rPr>
                      <m:t>100</m:t>
                    </m:r>
                  </m:oMath>
                </a14:m>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Odds ratio = 1.89 calculate the percent change in the odds</a:t>
                </a:r>
              </a:p>
              <a:p>
                <a:r>
                  <a:rPr lang="en-US" sz="2000" dirty="0">
                    <a:latin typeface="Arial" panose="020B0604020202020204" pitchFamily="34" charset="0"/>
                    <a:cs typeface="Arial" panose="020B0604020202020204" pitchFamily="34" charset="0"/>
                  </a:rPr>
                  <a:t>|(1 – 1.89)| X 100 = 89% increase</a:t>
                </a:r>
              </a:p>
              <a:p>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the odds of a first pregnancy among women aged 25 or younger is [(3.4 - 1) * 100 =] 240% higher among women who had cervical cancer compared to those who have not</a:t>
                </a:r>
              </a:p>
            </p:txBody>
          </p:sp>
        </mc:Choice>
        <mc:Fallback>
          <p:sp>
            <p:nvSpPr>
              <p:cNvPr id="3" name="Content Placeholder 2">
                <a:extLst>
                  <a:ext uri="{FF2B5EF4-FFF2-40B4-BE49-F238E27FC236}">
                    <a16:creationId xmlns:a16="http://schemas.microsoft.com/office/drawing/2014/main" id="{C8B6D912-2E8E-4A35-A521-4D62C07D0C85}"/>
                  </a:ext>
                </a:extLst>
              </p:cNvPr>
              <p:cNvSpPr>
                <a:spLocks noGrp="1" noRot="1" noChangeAspect="1" noMove="1" noResize="1" noEditPoints="1" noAdjustHandles="1" noChangeArrowheads="1" noChangeShapeType="1" noTextEdit="1"/>
              </p:cNvSpPr>
              <p:nvPr>
                <p:ph idx="1"/>
              </p:nvPr>
            </p:nvSpPr>
            <p:spPr>
              <a:xfrm>
                <a:off x="338523" y="881903"/>
                <a:ext cx="10058400" cy="3760891"/>
              </a:xfrm>
              <a:blipFill>
                <a:blip r:embed="rId2"/>
                <a:stretch>
                  <a:fillRect l="-667" t="-810" r="-909"/>
                </a:stretch>
              </a:blipFill>
            </p:spPr>
            <p:txBody>
              <a:bodyPr/>
              <a:lstStyle/>
              <a:p>
                <a:r>
                  <a:rPr lang="en-US">
                    <a:noFill/>
                  </a:rPr>
                  <a:t> </a:t>
                </a:r>
              </a:p>
            </p:txBody>
          </p:sp>
        </mc:Fallback>
      </mc:AlternateContent>
    </p:spTree>
    <p:extLst>
      <p:ext uri="{BB962C8B-B14F-4D97-AF65-F5344CB8AC3E}">
        <p14:creationId xmlns:p14="http://schemas.microsoft.com/office/powerpoint/2010/main" val="3840285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5EF9D-9FBE-5650-1B26-DDB8519D204B}"/>
              </a:ext>
            </a:extLst>
          </p:cNvPr>
          <p:cNvSpPr>
            <a:spLocks noGrp="1"/>
          </p:cNvSpPr>
          <p:nvPr>
            <p:ph type="title" idx="4294967295"/>
          </p:nvPr>
        </p:nvSpPr>
        <p:spPr>
          <a:xfrm>
            <a:off x="209107" y="127590"/>
            <a:ext cx="10058400" cy="744279"/>
          </a:xfrm>
        </p:spPr>
        <p:txBody>
          <a:bodyPr>
            <a:normAutofit/>
          </a:bodyPr>
          <a:lstStyle/>
          <a:p>
            <a:r>
              <a:rPr lang="en-US" sz="4400" dirty="0">
                <a:latin typeface="Aptos Display" panose="020B0004020202020204" pitchFamily="34" charset="0"/>
                <a:ea typeface="Calibri" panose="020F0502020204030204" pitchFamily="34" charset="0"/>
                <a:cs typeface="Calibri" panose="020F0502020204030204" pitchFamily="34" charset="0"/>
              </a:rPr>
              <a:t>Introduction</a:t>
            </a:r>
          </a:p>
        </p:txBody>
      </p:sp>
      <p:sp>
        <p:nvSpPr>
          <p:cNvPr id="3" name="Content Placeholder 2">
            <a:extLst>
              <a:ext uri="{FF2B5EF4-FFF2-40B4-BE49-F238E27FC236}">
                <a16:creationId xmlns:a16="http://schemas.microsoft.com/office/drawing/2014/main" id="{2D456C36-BA8B-E098-8A6A-401001D4B761}"/>
              </a:ext>
            </a:extLst>
          </p:cNvPr>
          <p:cNvSpPr>
            <a:spLocks noGrp="1"/>
          </p:cNvSpPr>
          <p:nvPr>
            <p:ph idx="4294967295"/>
          </p:nvPr>
        </p:nvSpPr>
        <p:spPr>
          <a:xfrm>
            <a:off x="209107" y="871869"/>
            <a:ext cx="11982893" cy="4997119"/>
          </a:xfrm>
        </p:spPr>
        <p:txBody>
          <a:bodyPr>
            <a:normAutofit/>
          </a:bodyPr>
          <a:lstStyle/>
          <a:p>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Logistic</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regression is used when the dependent variable is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qualitative (e.g., Yes/No)</a:t>
            </a:r>
          </a:p>
          <a:p>
            <a:r>
              <a:rPr lang="en-US" sz="2000" b="1" dirty="0">
                <a:solidFill>
                  <a:srgbClr val="242424"/>
                </a:solidFill>
                <a:latin typeface="Calibri" panose="020F0502020204030204" pitchFamily="34" charset="0"/>
                <a:ea typeface="Calibri" panose="020F0502020204030204" pitchFamily="34" charset="0"/>
                <a:cs typeface="Calibri" panose="020F0502020204030204" pitchFamily="34" charset="0"/>
              </a:rPr>
              <a:t>Recall</a:t>
            </a:r>
            <a:endParaRPr lang="en-US" b="1" dirty="0">
              <a:solidFill>
                <a:srgbClr val="242424"/>
              </a:solidFill>
              <a:latin typeface="Calibri" panose="020F0502020204030204" pitchFamily="34" charset="0"/>
              <a:ea typeface="Calibri" panose="020F0502020204030204" pitchFamily="34" charset="0"/>
              <a:cs typeface="Calibri" panose="020F0502020204030204" pitchFamily="34" charset="0"/>
            </a:endParaRPr>
          </a:p>
          <a:p>
            <a:pPr algn="l"/>
            <a:r>
              <a:rPr lang="en-US" sz="18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 qualitative variable (also known as categorical) is not numerical, and its values fit into categories. It is also divided into two types:</a:t>
            </a:r>
          </a:p>
          <a:p>
            <a:pPr lvl="1"/>
            <a:r>
              <a:rPr lang="en-US" sz="16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Nominal: no ordering is possible or implied in the categories (for example </a:t>
            </a:r>
            <a:r>
              <a:rPr lang="en-US" sz="16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sex at birth</a:t>
            </a:r>
            <a:r>
              <a:rPr lang="en-US" sz="16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t>
            </a:r>
          </a:p>
          <a:p>
            <a:pPr lvl="1"/>
            <a:r>
              <a:rPr lang="en-US" sz="16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Ordinal: an order is implied in the categories (for example the health status, such as poor/reasonable/good, a Likert scale)</a:t>
            </a:r>
          </a:p>
          <a:p>
            <a:pPr algn="l"/>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binary</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variable, also known as dichotomous, is a special case of a qualitative nominal variable when there are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only two categories</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t>
            </a:r>
          </a:p>
          <a:p>
            <a:endParaRPr lang="en-US" dirty="0"/>
          </a:p>
        </p:txBody>
      </p:sp>
    </p:spTree>
    <p:extLst>
      <p:ext uri="{BB962C8B-B14F-4D97-AF65-F5344CB8AC3E}">
        <p14:creationId xmlns:p14="http://schemas.microsoft.com/office/powerpoint/2010/main" val="1523421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131A9-29DF-2285-A265-C66D4E486357}"/>
              </a:ext>
            </a:extLst>
          </p:cNvPr>
          <p:cNvSpPr>
            <a:spLocks noGrp="1"/>
          </p:cNvSpPr>
          <p:nvPr>
            <p:ph type="title" idx="4294967295"/>
          </p:nvPr>
        </p:nvSpPr>
        <p:spPr>
          <a:xfrm>
            <a:off x="85060" y="0"/>
            <a:ext cx="12106940" cy="797183"/>
          </a:xfrm>
        </p:spPr>
        <p:txBody>
          <a:bodyPr>
            <a:normAutofit/>
          </a:bodyPr>
          <a:lstStyle/>
          <a:p>
            <a:r>
              <a:rPr lang="en-US" sz="4000" dirty="0">
                <a:latin typeface="Aptos Display" panose="020B0004020202020204" pitchFamily="34" charset="0"/>
              </a:rPr>
              <a:t>Research Questions &amp; Methodological Approaches</a:t>
            </a:r>
            <a:endParaRPr lang="en-US" sz="4000" dirty="0">
              <a:latin typeface="Aptos Display" panose="020B000402020202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6C6E611A-72D1-EA71-D0E2-6540A6C0C083}"/>
              </a:ext>
            </a:extLst>
          </p:cNvPr>
          <p:cNvSpPr>
            <a:spLocks noGrp="1"/>
          </p:cNvSpPr>
          <p:nvPr>
            <p:ph idx="4294967295"/>
          </p:nvPr>
        </p:nvSpPr>
        <p:spPr>
          <a:xfrm>
            <a:off x="393405" y="1084521"/>
            <a:ext cx="11259879" cy="4784467"/>
          </a:xfrm>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Medicine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Estimate the risk factors associated with a disease or a harmful condition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Predict the risk of developing a disease based on a patient’s medical history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Determine the most “important” biological factors associated with a specific disease or condition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Economics/Business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Estimate a debtor’s likelihood to default on a loan based on creditworthiness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Model a customer’s propensity to buy a certain product or service given a demographic profile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Psychology/Social Work</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Estimate the probability of developing PTSD following trauma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Political Science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 question I examined ad nauseum in graduate school: What predicts voting behavior?</a:t>
            </a:r>
          </a:p>
        </p:txBody>
      </p:sp>
    </p:spTree>
    <p:extLst>
      <p:ext uri="{BB962C8B-B14F-4D97-AF65-F5344CB8AC3E}">
        <p14:creationId xmlns:p14="http://schemas.microsoft.com/office/powerpoint/2010/main" val="27485863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131A9-29DF-2285-A265-C66D4E486357}"/>
              </a:ext>
            </a:extLst>
          </p:cNvPr>
          <p:cNvSpPr>
            <a:spLocks noGrp="1"/>
          </p:cNvSpPr>
          <p:nvPr>
            <p:ph type="title" idx="4294967295"/>
          </p:nvPr>
        </p:nvSpPr>
        <p:spPr>
          <a:xfrm>
            <a:off x="145312" y="85504"/>
            <a:ext cx="10058400" cy="935406"/>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Generalized Linear Models</a:t>
            </a:r>
          </a:p>
        </p:txBody>
      </p:sp>
      <p:sp>
        <p:nvSpPr>
          <p:cNvPr id="3" name="Content Placeholder 2">
            <a:extLst>
              <a:ext uri="{FF2B5EF4-FFF2-40B4-BE49-F238E27FC236}">
                <a16:creationId xmlns:a16="http://schemas.microsoft.com/office/drawing/2014/main" id="{6C6E611A-72D1-EA71-D0E2-6540A6C0C083}"/>
              </a:ext>
            </a:extLst>
          </p:cNvPr>
          <p:cNvSpPr>
            <a:spLocks noGrp="1"/>
          </p:cNvSpPr>
          <p:nvPr>
            <p:ph idx="4294967295"/>
          </p:nvPr>
        </p:nvSpPr>
        <p:spPr>
          <a:xfrm>
            <a:off x="308344" y="935665"/>
            <a:ext cx="11089758" cy="4933323"/>
          </a:xfrm>
        </p:spPr>
        <p:txBody>
          <a:bodyPr>
            <a:normAutofit/>
          </a:bodyPr>
          <a:lstStyle/>
          <a:p>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Two categories: Binary</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logistic regression is used when the goal is to estimate the relationship between a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binary dependent variable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 two outcomes), and one or more independent variables (of any type)</a:t>
            </a:r>
          </a:p>
          <a:p>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More than two categories: Multinomial</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logistic regression is used when the goal is to estimate the relationship between a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nominal dependent variable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with three or more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unordered</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outcomes, and one or more independent variables (of any type).</a:t>
            </a:r>
          </a:p>
          <a:p>
            <a:r>
              <a:rPr lang="en-US" sz="2000" b="1" dirty="0">
                <a:solidFill>
                  <a:srgbClr val="242424"/>
                </a:solidFill>
                <a:latin typeface="Calibri" panose="020F0502020204030204" pitchFamily="34" charset="0"/>
                <a:ea typeface="Calibri" panose="020F0502020204030204" pitchFamily="34" charset="0"/>
                <a:cs typeface="Calibri" panose="020F0502020204030204" pitchFamily="34" charset="0"/>
              </a:rPr>
              <a:t>More than two </a:t>
            </a:r>
            <a:r>
              <a:rPr lang="en-US" sz="2000" b="1" i="1" dirty="0">
                <a:solidFill>
                  <a:srgbClr val="242424"/>
                </a:solidFill>
                <a:latin typeface="Calibri" panose="020F0502020204030204" pitchFamily="34" charset="0"/>
                <a:ea typeface="Calibri" panose="020F0502020204030204" pitchFamily="34" charset="0"/>
                <a:cs typeface="Calibri" panose="020F0502020204030204" pitchFamily="34" charset="0"/>
              </a:rPr>
              <a:t>ordered </a:t>
            </a:r>
            <a:r>
              <a:rPr lang="en-US" sz="2000" b="1" dirty="0">
                <a:solidFill>
                  <a:srgbClr val="242424"/>
                </a:solidFill>
                <a:latin typeface="Calibri" panose="020F0502020204030204" pitchFamily="34" charset="0"/>
                <a:ea typeface="Calibri" panose="020F0502020204030204" pitchFamily="34" charset="0"/>
                <a:cs typeface="Calibri" panose="020F0502020204030204" pitchFamily="34" charset="0"/>
              </a:rPr>
              <a:t>categories: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Ordinal</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logistic regression is used when the goal is to estimate the relationship between an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ordinal dependent variable</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with three or more </a:t>
            </a:r>
            <a:r>
              <a:rPr lang="en-US" sz="2000" b="0" i="1"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ordered</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outcomes, and one or more independent variables (of any type).</a:t>
            </a:r>
          </a:p>
          <a:p>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Categorical regressions (i.e., of the logistic family) (and Poisson regression) are both part of a broader type of model called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generalized linear models</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(abbreviated as </a:t>
            </a:r>
            <a:r>
              <a:rPr lang="en-US" sz="20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GLM</a:t>
            </a:r>
            <a:r>
              <a:rPr lang="en-US" sz="20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488001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2281D-467D-4832-A4E8-BB8AA28C0E9D}"/>
              </a:ext>
            </a:extLst>
          </p:cNvPr>
          <p:cNvSpPr>
            <a:spLocks noGrp="1"/>
          </p:cNvSpPr>
          <p:nvPr>
            <p:ph type="title"/>
          </p:nvPr>
        </p:nvSpPr>
        <p:spPr>
          <a:xfrm>
            <a:off x="321564" y="338328"/>
            <a:ext cx="11354620" cy="1608328"/>
          </a:xfrm>
        </p:spPr>
        <p:txBody>
          <a:bodyPr>
            <a:noAutofit/>
          </a:bodyPr>
          <a:lstStyle/>
          <a:p>
            <a:br>
              <a:rPr lang="en-US" sz="2800" dirty="0">
                <a:latin typeface="+mn-lt"/>
              </a:rPr>
            </a:br>
            <a:r>
              <a:rPr lang="en-US" sz="2000" dirty="0">
                <a:latin typeface="+mn-lt"/>
              </a:rPr>
              <a:t>The sigmoidal function models the probability that </a:t>
            </a:r>
            <a:r>
              <a:rPr lang="en-US" sz="2000" i="1" dirty="0">
                <a:latin typeface="+mn-lt"/>
              </a:rPr>
              <a:t>Y</a:t>
            </a:r>
            <a:r>
              <a:rPr lang="en-US" sz="2000" dirty="0">
                <a:latin typeface="+mn-lt"/>
              </a:rPr>
              <a:t> = 1 conditional on </a:t>
            </a:r>
            <a:r>
              <a:rPr lang="en-US" sz="2000" i="1" dirty="0">
                <a:latin typeface="+mn-lt"/>
              </a:rPr>
              <a:t>X</a:t>
            </a:r>
            <a:r>
              <a:rPr lang="en-US" sz="2000" dirty="0">
                <a:latin typeface="+mn-lt"/>
              </a:rPr>
              <a:t> (i.e., values falling along the x-axis); using the </a:t>
            </a:r>
            <a:r>
              <a:rPr lang="en-US" sz="2000" b="1" dirty="0">
                <a:latin typeface="+mn-lt"/>
              </a:rPr>
              <a:t>logit function ensures that the Y values will be between 0 and 1 for all values of </a:t>
            </a:r>
            <a:r>
              <a:rPr lang="en-US" sz="2000" b="1" i="1" dirty="0">
                <a:latin typeface="+mn-lt"/>
              </a:rPr>
              <a:t>X </a:t>
            </a:r>
            <a:r>
              <a:rPr lang="en-US" sz="2000" b="1" dirty="0">
                <a:latin typeface="+mn-lt"/>
              </a:rPr>
              <a:t>(i.e., no matter the range of </a:t>
            </a:r>
            <a:r>
              <a:rPr lang="en-US" sz="2000" b="1" i="1" dirty="0">
                <a:latin typeface="+mn-lt"/>
              </a:rPr>
              <a:t>X</a:t>
            </a:r>
            <a:r>
              <a:rPr lang="en-US" sz="2000" b="1" dirty="0">
                <a:latin typeface="+mn-lt"/>
              </a:rPr>
              <a:t>)</a:t>
            </a:r>
            <a:endParaRPr lang="en-US" sz="2400" dirty="0">
              <a:latin typeface="+mn-lt"/>
            </a:endParaRPr>
          </a:p>
        </p:txBody>
      </p:sp>
      <p:sp>
        <p:nvSpPr>
          <p:cNvPr id="73" name="Rectangle 72">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ounded Rectangle 26">
            <a:extLst>
              <a:ext uri="{FF2B5EF4-FFF2-40B4-BE49-F238E27FC236}">
                <a16:creationId xmlns:a16="http://schemas.microsoft.com/office/drawing/2014/main" id="{1B10F861-B8F1-49C7-BD58-EAB20CEE7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Content Placeholder 8" descr="Chart, scatter chart&#10;&#10;Description automatically generated">
            <a:extLst>
              <a:ext uri="{FF2B5EF4-FFF2-40B4-BE49-F238E27FC236}">
                <a16:creationId xmlns:a16="http://schemas.microsoft.com/office/drawing/2014/main" id="{70291898-414A-45B5-94D5-9EC0A31A07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426" y="2742397"/>
            <a:ext cx="4791844" cy="3291840"/>
          </a:xfrm>
          <a:prstGeom prst="rect">
            <a:avLst/>
          </a:prstGeom>
        </p:spPr>
      </p:pic>
      <p:sp>
        <p:nvSpPr>
          <p:cNvPr id="77" name="Rounded Rectangle 16">
            <a:extLst>
              <a:ext uri="{FF2B5EF4-FFF2-40B4-BE49-F238E27FC236}">
                <a16:creationId xmlns:a16="http://schemas.microsoft.com/office/drawing/2014/main" id="{61F6E425-22AB-4DA2-8FAC-58ADB58E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descr="Chart&#10;&#10;Description automatically generated with medium confidence">
            <a:extLst>
              <a:ext uri="{FF2B5EF4-FFF2-40B4-BE49-F238E27FC236}">
                <a16:creationId xmlns:a16="http://schemas.microsoft.com/office/drawing/2014/main" id="{736FE4E7-268E-4A16-A406-4E1E7D762F24}"/>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567055" y="2595405"/>
            <a:ext cx="4892519" cy="3596976"/>
          </a:xfrm>
        </p:spPr>
      </p:pic>
      <p:pic>
        <p:nvPicPr>
          <p:cNvPr id="13" name="Picture 12">
            <a:extLst>
              <a:ext uri="{FF2B5EF4-FFF2-40B4-BE49-F238E27FC236}">
                <a16:creationId xmlns:a16="http://schemas.microsoft.com/office/drawing/2014/main" id="{99DEABAA-813A-4874-B016-F313226DFF0E}"/>
              </a:ext>
            </a:extLst>
          </p:cNvPr>
          <p:cNvPicPr>
            <a:picLocks noChangeAspect="1"/>
          </p:cNvPicPr>
          <p:nvPr/>
        </p:nvPicPr>
        <p:blipFill>
          <a:blip r:embed="rId5"/>
          <a:stretch>
            <a:fillRect/>
          </a:stretch>
        </p:blipFill>
        <p:spPr>
          <a:xfrm>
            <a:off x="9276348" y="4897208"/>
            <a:ext cx="1835874" cy="551585"/>
          </a:xfrm>
          <a:prstGeom prst="rect">
            <a:avLst/>
          </a:prstGeom>
        </p:spPr>
      </p:pic>
      <p:sp>
        <p:nvSpPr>
          <p:cNvPr id="4" name="TextBox 3">
            <a:extLst>
              <a:ext uri="{FF2B5EF4-FFF2-40B4-BE49-F238E27FC236}">
                <a16:creationId xmlns:a16="http://schemas.microsoft.com/office/drawing/2014/main" id="{35840BD9-D205-EFE0-A16B-9094F5E415BA}"/>
              </a:ext>
            </a:extLst>
          </p:cNvPr>
          <p:cNvSpPr txBox="1"/>
          <p:nvPr/>
        </p:nvSpPr>
        <p:spPr>
          <a:xfrm>
            <a:off x="0" y="15689"/>
            <a:ext cx="9196886" cy="707886"/>
          </a:xfrm>
          <a:prstGeom prst="rect">
            <a:avLst/>
          </a:prstGeom>
          <a:noFill/>
        </p:spPr>
        <p:txBody>
          <a:bodyPr wrap="square">
            <a:spAutoFit/>
          </a:bodyPr>
          <a:lstStyle/>
          <a:p>
            <a:r>
              <a:rPr lang="en-US" sz="4000" dirty="0">
                <a:latin typeface="Aptos Display" panose="020B0004020202020204" pitchFamily="34" charset="0"/>
              </a:rPr>
              <a:t>Linear vs. Logistic Regression</a:t>
            </a:r>
          </a:p>
        </p:txBody>
      </p:sp>
    </p:spTree>
    <p:extLst>
      <p:ext uri="{BB962C8B-B14F-4D97-AF65-F5344CB8AC3E}">
        <p14:creationId xmlns:p14="http://schemas.microsoft.com/office/powerpoint/2010/main" val="2382938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1DE15-C4D6-030B-C542-A1B201DDBCA6}"/>
              </a:ext>
            </a:extLst>
          </p:cNvPr>
          <p:cNvSpPr>
            <a:spLocks noGrp="1"/>
          </p:cNvSpPr>
          <p:nvPr>
            <p:ph type="title" idx="4294967295"/>
          </p:nvPr>
        </p:nvSpPr>
        <p:spPr>
          <a:xfrm>
            <a:off x="124047" y="117217"/>
            <a:ext cx="10058400" cy="871795"/>
          </a:xfrm>
        </p:spPr>
        <p:txBody>
          <a:bodyPr>
            <a:normAutofit/>
          </a:bodyPr>
          <a:lstStyle/>
          <a:p>
            <a:r>
              <a:rPr lang="it-IT" sz="4000" i="0" dirty="0">
                <a:solidFill>
                  <a:srgbClr val="242424"/>
                </a:solidFill>
                <a:effectLst/>
                <a:latin typeface="Aptos Display" panose="020B0004020202020204" pitchFamily="34" charset="0"/>
                <a:ea typeface="Calibri" panose="020F0502020204030204" pitchFamily="34" charset="0"/>
                <a:cs typeface="Calibri" panose="020F0502020204030204" pitchFamily="34" charset="0"/>
              </a:rPr>
              <a:t>Univariate versus multivariate logistic regression</a:t>
            </a:r>
            <a:endParaRPr lang="en-US" sz="4000" dirty="0">
              <a:latin typeface="Aptos Display" panose="020B000402020202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ED7BBE09-854D-458D-6800-B74DEF58EFB7}"/>
              </a:ext>
            </a:extLst>
          </p:cNvPr>
          <p:cNvSpPr>
            <a:spLocks noGrp="1"/>
          </p:cNvSpPr>
          <p:nvPr>
            <p:ph idx="4294967295"/>
          </p:nvPr>
        </p:nvSpPr>
        <p:spPr>
          <a:xfrm>
            <a:off x="336696" y="864191"/>
            <a:ext cx="11359117" cy="3760788"/>
          </a:xfrm>
        </p:spPr>
        <p:txBody>
          <a:bodyPr/>
          <a:lstStyle/>
          <a:p>
            <a:pPr marL="0" indent="0" algn="l">
              <a:buNone/>
            </a:pPr>
            <a:r>
              <a:rPr lang="en-US" sz="24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Univariate</a:t>
            </a:r>
            <a:r>
              <a:rPr lang="en-US" sz="24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binary logistic regression includes </a:t>
            </a:r>
            <a:r>
              <a:rPr lang="en-US" sz="24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one independent variable</a:t>
            </a:r>
            <a:endParaRPr lang="en-US" sz="24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endParaRPr>
          </a:p>
          <a:p>
            <a:pPr marL="0" indent="0" algn="l">
              <a:buNone/>
            </a:pPr>
            <a:r>
              <a:rPr lang="en-US" sz="24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Multivariate</a:t>
            </a:r>
            <a:r>
              <a:rPr lang="en-US" sz="24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 binary logistic regression includes </a:t>
            </a:r>
            <a:r>
              <a:rPr lang="en-US" sz="2400" b="1"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two or more independent variables</a:t>
            </a:r>
          </a:p>
          <a:p>
            <a:pPr lvl="1">
              <a:buFont typeface="Arial" panose="020B0604020202020204" pitchFamily="34" charset="0"/>
              <a:buChar char="•"/>
            </a:pPr>
            <a:r>
              <a:rPr lang="en-US" sz="2200" b="0" i="0" dirty="0">
                <a:solidFill>
                  <a:srgbClr val="242424"/>
                </a:solidFill>
                <a:effectLst/>
                <a:latin typeface="Calibri" panose="020F0502020204030204" pitchFamily="34" charset="0"/>
                <a:ea typeface="Calibri" panose="020F0502020204030204" pitchFamily="34" charset="0"/>
                <a:cs typeface="Calibri" panose="020F0502020204030204" pitchFamily="34" charset="0"/>
              </a:rPr>
              <a:t>Variables can be quantitative or qualitative</a:t>
            </a:r>
          </a:p>
          <a:p>
            <a:endParaRPr lang="en-US" dirty="0"/>
          </a:p>
        </p:txBody>
      </p:sp>
    </p:spTree>
    <p:extLst>
      <p:ext uri="{BB962C8B-B14F-4D97-AF65-F5344CB8AC3E}">
        <p14:creationId xmlns:p14="http://schemas.microsoft.com/office/powerpoint/2010/main" val="1722894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2B9976F6-A221-45F9-95F8-2C25678B8257}"/>
              </a:ext>
            </a:extLst>
          </p:cNvPr>
          <p:cNvSpPr>
            <a:spLocks noGrp="1"/>
          </p:cNvSpPr>
          <p:nvPr>
            <p:ph type="title" idx="4294967295"/>
          </p:nvPr>
        </p:nvSpPr>
        <p:spPr>
          <a:xfrm>
            <a:off x="96396" y="73422"/>
            <a:ext cx="10058400" cy="753376"/>
          </a:xfrm>
        </p:spPr>
        <p:txBody>
          <a:bodyPr>
            <a:normAutofit/>
          </a:bodyPr>
          <a:lstStyle/>
          <a:p>
            <a:r>
              <a:rPr lang="en-US" altLang="en-US" sz="4000" dirty="0">
                <a:latin typeface="Aptos Display" panose="020B0004020202020204" pitchFamily="34" charset="0"/>
                <a:ea typeface="Calibri" panose="020F0502020204030204" pitchFamily="34" charset="0"/>
                <a:cs typeface="Calibri" panose="020F0502020204030204" pitchFamily="34" charset="0"/>
              </a:rPr>
              <a:t>Mechanics of Logistic Regression</a:t>
            </a:r>
          </a:p>
        </p:txBody>
      </p:sp>
      <p:sp>
        <p:nvSpPr>
          <p:cNvPr id="2" name="Content Placeholder 1">
            <a:extLst>
              <a:ext uri="{FF2B5EF4-FFF2-40B4-BE49-F238E27FC236}">
                <a16:creationId xmlns:a16="http://schemas.microsoft.com/office/drawing/2014/main" id="{B2CC54D2-80C9-4F83-8555-6438845ACA63}"/>
              </a:ext>
            </a:extLst>
          </p:cNvPr>
          <p:cNvSpPr>
            <a:spLocks/>
          </p:cNvSpPr>
          <p:nvPr/>
        </p:nvSpPr>
        <p:spPr>
          <a:xfrm>
            <a:off x="435935" y="1043413"/>
            <a:ext cx="9779907" cy="4652942"/>
          </a:xfrm>
          <a:prstGeom prst="rect">
            <a:avLst/>
          </a:prstGeom>
        </p:spPr>
        <p:txBody>
          <a:bodyPr>
            <a:normAutofit/>
          </a:bodyPr>
          <a:lstStyle/>
          <a:p>
            <a:pPr defTabSz="822960">
              <a:spcAft>
                <a:spcPts val="600"/>
              </a:spcAft>
            </a:pPr>
            <a:r>
              <a:rPr lang="en-US" altLang="en-US" sz="2160" kern="1200" dirty="0">
                <a:solidFill>
                  <a:schemeClr val="tx1"/>
                </a:solidFill>
                <a:latin typeface="Calibri" panose="020F0502020204030204" pitchFamily="34" charset="0"/>
                <a:ea typeface="+mn-ea"/>
                <a:cs typeface="Calibri" panose="020F0502020204030204" pitchFamily="34" charset="0"/>
              </a:rPr>
              <a:t>A regression where the dependent variable is measured 0/1 (pass/fail; vote/didn’t vote, etc.)</a:t>
            </a:r>
          </a:p>
          <a:p>
            <a:pPr>
              <a:spcAft>
                <a:spcPts val="600"/>
              </a:spcAft>
            </a:pPr>
            <a:endParaRPr lang="en-US" altLang="en-US" sz="2400" dirty="0">
              <a:solidFill>
                <a:schemeClr val="tx1"/>
              </a:solidFill>
              <a:latin typeface="Times New Roman" panose="02020603050405020304" pitchFamily="18" charset="0"/>
              <a:ea typeface="ＭＳ Ｐゴシック" panose="020B0600070205080204" pitchFamily="34" charset="-128"/>
            </a:endParaRPr>
          </a:p>
        </p:txBody>
      </p:sp>
      <p:sp>
        <p:nvSpPr>
          <p:cNvPr id="25602" name="TextBox 2">
            <a:extLst>
              <a:ext uri="{FF2B5EF4-FFF2-40B4-BE49-F238E27FC236}">
                <a16:creationId xmlns:a16="http://schemas.microsoft.com/office/drawing/2014/main" id="{BEF90FC6-BAD4-4DE4-888F-BE5386B1167E}"/>
              </a:ext>
            </a:extLst>
          </p:cNvPr>
          <p:cNvSpPr txBox="1">
            <a:spLocks noChangeArrowheads="1"/>
          </p:cNvSpPr>
          <p:nvPr/>
        </p:nvSpPr>
        <p:spPr bwMode="auto">
          <a:xfrm>
            <a:off x="435935" y="1822389"/>
            <a:ext cx="9956523" cy="75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822960">
              <a:spcAft>
                <a:spcPts val="600"/>
              </a:spcAft>
            </a:pPr>
            <a:r>
              <a:rPr lang="en-US"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In ordinary regression the model predicts the mean of </a:t>
            </a:r>
            <a:r>
              <a:rPr lang="en-US" altLang="en-US" sz="2160" i="1"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Y</a:t>
            </a:r>
            <a:r>
              <a:rPr lang="en-US"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 for any combination of predictors</a:t>
            </a:r>
            <a:endParaRPr lang="en-US" altLang="en-US"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 name="Object 2">
                <a:extLst>
                  <a:ext uri="{FF2B5EF4-FFF2-40B4-BE49-F238E27FC236}">
                    <a16:creationId xmlns:a16="http://schemas.microsoft.com/office/drawing/2014/main" id="{9793DB9C-5B4E-4917-A37D-D950BA04C119}"/>
                  </a:ext>
                </a:extLst>
              </p:cNvPr>
              <p:cNvSpPr txBox="1"/>
              <p:nvPr/>
            </p:nvSpPr>
            <p:spPr bwMode="auto">
              <a:xfrm>
                <a:off x="5554563" y="3710098"/>
                <a:ext cx="4939772" cy="673738"/>
              </a:xfrm>
              <a:prstGeom prst="rect">
                <a:avLst/>
              </a:prstGeom>
              <a:solidFill>
                <a:schemeClr val="bg1"/>
              </a:solidFill>
              <a:ln>
                <a:noFill/>
              </a:ln>
            </p:spPr>
            <p:txBody>
              <a:bodyPr>
                <a:noAutofit/>
              </a:bodyPr>
              <a:lstStyle/>
              <a:p>
                <a:pPr defTabSz="822960">
                  <a:spcAft>
                    <a:spcPts val="600"/>
                  </a:spcAft>
                </a:pPr>
                <a14:m>
                  <m:oMathPara xmlns:m="http://schemas.openxmlformats.org/officeDocument/2006/math">
                    <m:oMathParaPr>
                      <m:jc m:val="left"/>
                    </m:oMathParaPr>
                    <m:oMath xmlns:m="http://schemas.openxmlformats.org/officeDocument/2006/math">
                      <m:acc>
                        <m:accPr>
                          <m:chr m:val="̄"/>
                          <m:ctrlPr>
                            <a:rPr lang="en-US" sz="1800" i="1" kern="1200">
                              <a:solidFill>
                                <a:srgbClr val="000000"/>
                              </a:solidFill>
                              <a:latin typeface="Cambria Math" panose="02040503050406030204" pitchFamily="18" charset="0"/>
                              <a:ea typeface="+mn-ea"/>
                              <a:cs typeface="+mn-cs"/>
                            </a:rPr>
                          </m:ctrlPr>
                        </m:accPr>
                        <m:e>
                          <m:r>
                            <a:rPr lang="en-US" sz="1800" i="1" kern="1200">
                              <a:solidFill>
                                <a:srgbClr val="000000"/>
                              </a:solidFill>
                              <a:latin typeface="Cambria Math" panose="02040503050406030204" pitchFamily="18" charset="0"/>
                              <a:ea typeface="+mn-ea"/>
                              <a:cs typeface="+mn-cs"/>
                            </a:rPr>
                            <m:t>𝑦</m:t>
                          </m:r>
                        </m:e>
                      </m:acc>
                      <m:r>
                        <a:rPr lang="en-US" sz="1800" i="1" kern="1200">
                          <a:solidFill>
                            <a:srgbClr val="000000"/>
                          </a:solidFill>
                          <a:latin typeface="Cambria Math" panose="02040503050406030204" pitchFamily="18" charset="0"/>
                          <a:ea typeface="+mn-ea"/>
                          <a:cs typeface="+mn-cs"/>
                        </a:rPr>
                        <m:t>=</m:t>
                      </m:r>
                      <m:f>
                        <m:fPr>
                          <m:ctrlPr>
                            <a:rPr lang="en-US" sz="1800" i="1" kern="1200">
                              <a:solidFill>
                                <a:srgbClr val="000000"/>
                              </a:solidFill>
                              <a:latin typeface="Cambria Math" panose="02040503050406030204" pitchFamily="18" charset="0"/>
                              <a:ea typeface="+mn-ea"/>
                              <a:cs typeface="+mn-cs"/>
                            </a:rPr>
                          </m:ctrlPr>
                        </m:fPr>
                        <m:num>
                          <m:nary>
                            <m:naryPr>
                              <m:chr m:val="∑"/>
                              <m:subHide m:val="on"/>
                              <m:supHide m:val="on"/>
                              <m:ctrlPr>
                                <a:rPr lang="en-US" sz="1800" i="1" kern="1200">
                                  <a:solidFill>
                                    <a:srgbClr val="000000"/>
                                  </a:solidFill>
                                  <a:latin typeface="Cambria Math" panose="02040503050406030204" pitchFamily="18" charset="0"/>
                                  <a:ea typeface="+mn-ea"/>
                                  <a:cs typeface="+mn-cs"/>
                                </a:rPr>
                              </m:ctrlPr>
                            </m:naryPr>
                            <m:sub/>
                            <m:sup/>
                            <m:e>
                              <m:sSub>
                                <m:sSubPr>
                                  <m:ctrlPr>
                                    <a:rPr lang="en-US" sz="1800" i="1" kern="1200">
                                      <a:solidFill>
                                        <a:srgbClr val="000000"/>
                                      </a:solidFill>
                                      <a:latin typeface="Cambria Math" panose="02040503050406030204" pitchFamily="18" charset="0"/>
                                      <a:ea typeface="+mn-ea"/>
                                      <a:cs typeface="+mn-cs"/>
                                    </a:rPr>
                                  </m:ctrlPr>
                                </m:sSubPr>
                                <m:e>
                                  <m:r>
                                    <a:rPr lang="en-US" sz="1800" i="1" kern="1200">
                                      <a:solidFill>
                                        <a:srgbClr val="000000"/>
                                      </a:solidFill>
                                      <a:latin typeface="Cambria Math" panose="02040503050406030204" pitchFamily="18" charset="0"/>
                                      <a:ea typeface="+mn-ea"/>
                                      <a:cs typeface="+mn-cs"/>
                                    </a:rPr>
                                    <m:t>𝑦</m:t>
                                  </m:r>
                                </m:e>
                                <m:sub>
                                  <m:r>
                                    <a:rPr lang="en-US" sz="1800" i="1" kern="1200">
                                      <a:solidFill>
                                        <a:srgbClr val="000000"/>
                                      </a:solidFill>
                                      <a:latin typeface="Cambria Math" panose="02040503050406030204" pitchFamily="18" charset="0"/>
                                      <a:ea typeface="+mn-ea"/>
                                      <a:cs typeface="+mn-cs"/>
                                    </a:rPr>
                                    <m:t>𝑖</m:t>
                                  </m:r>
                                </m:sub>
                              </m:sSub>
                            </m:e>
                          </m:nary>
                        </m:num>
                        <m:den>
                          <m:r>
                            <a:rPr lang="en-US" sz="1800" i="1" kern="1200">
                              <a:solidFill>
                                <a:srgbClr val="000000"/>
                              </a:solidFill>
                              <a:latin typeface="Cambria Math" panose="02040503050406030204" pitchFamily="18" charset="0"/>
                              <a:ea typeface="+mn-ea"/>
                              <a:cs typeface="+mn-cs"/>
                            </a:rPr>
                            <m:t>𝑛</m:t>
                          </m:r>
                        </m:den>
                      </m:f>
                      <m:r>
                        <a:rPr lang="en-US" sz="1800" i="1" kern="1200">
                          <a:solidFill>
                            <a:srgbClr val="000000"/>
                          </a:solidFill>
                          <a:latin typeface="Cambria Math" panose="02040503050406030204" pitchFamily="18" charset="0"/>
                          <a:ea typeface="+mn-ea"/>
                          <a:cs typeface="+mn-cs"/>
                        </a:rPr>
                        <m:t>=</m:t>
                      </m:r>
                      <m:f>
                        <m:fPr>
                          <m:ctrlPr>
                            <a:rPr lang="en-US" sz="1800" i="1" kern="1200">
                              <a:solidFill>
                                <a:srgbClr val="000000"/>
                              </a:solidFill>
                              <a:latin typeface="Cambria Math" panose="02040503050406030204" pitchFamily="18" charset="0"/>
                              <a:ea typeface="+mn-ea"/>
                              <a:cs typeface="+mn-cs"/>
                            </a:rPr>
                          </m:ctrlPr>
                        </m:fPr>
                        <m:num>
                          <m:r>
                            <a:rPr lang="en-US" sz="1800" i="1" kern="1200">
                              <a:solidFill>
                                <a:srgbClr val="000000"/>
                              </a:solidFill>
                              <a:latin typeface="Cambria Math" panose="02040503050406030204" pitchFamily="18" charset="0"/>
                              <a:ea typeface="+mn-ea"/>
                              <a:cs typeface="+mn-cs"/>
                            </a:rPr>
                            <m:t>#</m:t>
                          </m:r>
                          <m:r>
                            <m:rPr>
                              <m:nor/>
                            </m:rPr>
                            <a:rPr lang="en-US" sz="1800" kern="1200">
                              <a:solidFill>
                                <a:srgbClr val="000000"/>
                              </a:solidFill>
                              <a:latin typeface="Cambria Math" panose="02040503050406030204" pitchFamily="18" charset="0"/>
                              <a:ea typeface="+mn-ea"/>
                              <a:cs typeface="+mn-cs"/>
                            </a:rPr>
                            <m:t> </m:t>
                          </m:r>
                          <m:r>
                            <m:rPr>
                              <m:nor/>
                            </m:rPr>
                            <a:rPr lang="en-US" sz="1800" kern="1200">
                              <a:solidFill>
                                <a:srgbClr val="000000"/>
                              </a:solidFill>
                              <a:latin typeface="Cambria Math" panose="02040503050406030204" pitchFamily="18" charset="0"/>
                              <a:ea typeface="+mn-ea"/>
                              <a:cs typeface="+mn-cs"/>
                            </a:rPr>
                            <m:t>of</m:t>
                          </m:r>
                          <m:r>
                            <m:rPr>
                              <m:nor/>
                            </m:rPr>
                            <a:rPr lang="en-US" sz="1800" kern="1200">
                              <a:solidFill>
                                <a:srgbClr val="000000"/>
                              </a:solidFill>
                              <a:latin typeface="Cambria Math" panose="02040503050406030204" pitchFamily="18" charset="0"/>
                              <a:ea typeface="+mn-ea"/>
                              <a:cs typeface="+mn-cs"/>
                            </a:rPr>
                            <m:t> </m:t>
                          </m:r>
                          <m:r>
                            <a:rPr lang="en-US" sz="1800" i="1" kern="1200">
                              <a:solidFill>
                                <a:srgbClr val="000000"/>
                              </a:solidFill>
                              <a:latin typeface="Cambria Math" panose="02040503050406030204" pitchFamily="18" charset="0"/>
                              <a:ea typeface="+mn-ea"/>
                              <a:cs typeface="+mn-cs"/>
                            </a:rPr>
                            <m:t>1</m:t>
                          </m:r>
                          <m:r>
                            <a:rPr lang="en-US" sz="1800" i="1" kern="1200">
                              <a:solidFill>
                                <a:srgbClr val="000000"/>
                              </a:solidFill>
                              <a:latin typeface="Cambria Math" panose="02040503050406030204" pitchFamily="18" charset="0"/>
                              <a:ea typeface="+mn-ea"/>
                              <a:cs typeface="+mn-cs"/>
                            </a:rPr>
                            <m:t>′</m:t>
                          </m:r>
                          <m:r>
                            <a:rPr lang="en-US" sz="1800" i="1" kern="1200">
                              <a:solidFill>
                                <a:srgbClr val="000000"/>
                              </a:solidFill>
                              <a:latin typeface="Cambria Math" panose="02040503050406030204" pitchFamily="18" charset="0"/>
                              <a:ea typeface="+mn-ea"/>
                              <a:cs typeface="+mn-cs"/>
                            </a:rPr>
                            <m:t>𝑠</m:t>
                          </m:r>
                        </m:num>
                        <m:den>
                          <m:r>
                            <a:rPr lang="en-US" sz="1800" i="1" kern="1200">
                              <a:solidFill>
                                <a:srgbClr val="000000"/>
                              </a:solidFill>
                              <a:latin typeface="Cambria Math" panose="02040503050406030204" pitchFamily="18" charset="0"/>
                              <a:ea typeface="+mn-ea"/>
                              <a:cs typeface="+mn-cs"/>
                            </a:rPr>
                            <m:t>#</m:t>
                          </m:r>
                          <m:r>
                            <m:rPr>
                              <m:nor/>
                            </m:rPr>
                            <a:rPr lang="en-US" sz="1800" kern="1200">
                              <a:solidFill>
                                <a:srgbClr val="000000"/>
                              </a:solidFill>
                              <a:latin typeface="Cambria Math" panose="02040503050406030204" pitchFamily="18" charset="0"/>
                              <a:ea typeface="+mn-ea"/>
                              <a:cs typeface="+mn-cs"/>
                            </a:rPr>
                            <m:t> </m:t>
                          </m:r>
                          <m:r>
                            <m:rPr>
                              <m:nor/>
                            </m:rPr>
                            <a:rPr lang="en-US" sz="1800" kern="1200">
                              <a:solidFill>
                                <a:srgbClr val="000000"/>
                              </a:solidFill>
                              <a:latin typeface="Cambria Math" panose="02040503050406030204" pitchFamily="18" charset="0"/>
                              <a:ea typeface="+mn-ea"/>
                              <a:cs typeface="+mn-cs"/>
                            </a:rPr>
                            <m:t>of</m:t>
                          </m:r>
                          <m:r>
                            <m:rPr>
                              <m:nor/>
                            </m:rPr>
                            <a:rPr lang="en-US" sz="1800" kern="1200">
                              <a:solidFill>
                                <a:srgbClr val="000000"/>
                              </a:solidFill>
                              <a:latin typeface="Cambria Math" panose="02040503050406030204" pitchFamily="18" charset="0"/>
                              <a:ea typeface="+mn-ea"/>
                              <a:cs typeface="+mn-cs"/>
                            </a:rPr>
                            <m:t> </m:t>
                          </m:r>
                          <m:r>
                            <m:rPr>
                              <m:nor/>
                            </m:rPr>
                            <a:rPr lang="en-US" sz="1800" kern="1200">
                              <a:solidFill>
                                <a:srgbClr val="000000"/>
                              </a:solidFill>
                              <a:latin typeface="Cambria Math" panose="02040503050406030204" pitchFamily="18" charset="0"/>
                              <a:ea typeface="+mn-ea"/>
                              <a:cs typeface="+mn-cs"/>
                            </a:rPr>
                            <m:t>trials</m:t>
                          </m:r>
                        </m:den>
                      </m:f>
                      <m:r>
                        <a:rPr lang="en-US" sz="1800" i="1" kern="1200">
                          <a:solidFill>
                            <a:srgbClr val="000000"/>
                          </a:solidFill>
                          <a:latin typeface="Cambria Math" panose="02040503050406030204" pitchFamily="18" charset="0"/>
                          <a:ea typeface="+mn-ea"/>
                          <a:cs typeface="+mn-cs"/>
                        </a:rPr>
                        <m:t>=</m:t>
                      </m:r>
                      <m:r>
                        <m:rPr>
                          <m:nor/>
                        </m:rPr>
                        <a:rPr lang="en-US" sz="1800" kern="1200">
                          <a:solidFill>
                            <a:srgbClr val="000000"/>
                          </a:solidFill>
                          <a:latin typeface="Calibri" panose="020F0502020204030204" pitchFamily="34" charset="0"/>
                          <a:ea typeface="+mn-ea"/>
                          <a:cs typeface="Calibri" panose="020F0502020204030204" pitchFamily="34" charset="0"/>
                        </a:rPr>
                        <m:t>Proportion</m:t>
                      </m:r>
                      <m:r>
                        <m:rPr>
                          <m:nor/>
                        </m:rPr>
                        <a:rPr lang="en-US" sz="1800" kern="1200">
                          <a:solidFill>
                            <a:srgbClr val="000000"/>
                          </a:solidFill>
                          <a:latin typeface="Calibri" panose="020F0502020204030204" pitchFamily="34" charset="0"/>
                          <a:ea typeface="+mn-ea"/>
                          <a:cs typeface="Calibri" panose="020F0502020204030204" pitchFamily="34" charset="0"/>
                        </a:rPr>
                        <m:t> </m:t>
                      </m:r>
                      <m:r>
                        <m:rPr>
                          <m:nor/>
                        </m:rPr>
                        <a:rPr lang="en-US" sz="1800" kern="1200">
                          <a:solidFill>
                            <a:srgbClr val="000000"/>
                          </a:solidFill>
                          <a:latin typeface="Calibri" panose="020F0502020204030204" pitchFamily="34" charset="0"/>
                          <a:ea typeface="+mn-ea"/>
                          <a:cs typeface="Calibri" panose="020F0502020204030204" pitchFamily="34" charset="0"/>
                        </a:rPr>
                        <m:t>of</m:t>
                      </m:r>
                      <m:r>
                        <m:rPr>
                          <m:nor/>
                        </m:rPr>
                        <a:rPr lang="en-US" sz="1800" kern="1200">
                          <a:solidFill>
                            <a:srgbClr val="000000"/>
                          </a:solidFill>
                          <a:latin typeface="Calibri" panose="020F0502020204030204" pitchFamily="34" charset="0"/>
                          <a:ea typeface="+mn-ea"/>
                          <a:cs typeface="Calibri" panose="020F0502020204030204" pitchFamily="34" charset="0"/>
                        </a:rPr>
                        <m:t> "</m:t>
                      </m:r>
                      <m:r>
                        <m:rPr>
                          <m:nor/>
                        </m:rPr>
                        <a:rPr lang="en-US" sz="1800" kern="1200">
                          <a:solidFill>
                            <a:srgbClr val="000000"/>
                          </a:solidFill>
                          <a:latin typeface="Calibri" panose="020F0502020204030204" pitchFamily="34" charset="0"/>
                          <a:ea typeface="+mn-ea"/>
                          <a:cs typeface="Calibri" panose="020F0502020204030204" pitchFamily="34" charset="0"/>
                        </a:rPr>
                        <m:t>success</m:t>
                      </m:r>
                      <m:r>
                        <m:rPr>
                          <m:nor/>
                        </m:rPr>
                        <a:rPr lang="en-US" sz="1800" kern="1200">
                          <a:solidFill>
                            <a:srgbClr val="000000"/>
                          </a:solidFill>
                          <a:latin typeface="Calibri" panose="020F0502020204030204" pitchFamily="34" charset="0"/>
                          <a:ea typeface="+mn-ea"/>
                          <a:cs typeface="Calibri" panose="020F0502020204030204" pitchFamily="34" charset="0"/>
                        </a:rPr>
                        <m:t>"</m:t>
                      </m:r>
                    </m:oMath>
                  </m:oMathPara>
                </a14:m>
                <a:endParaRPr lang="en-US" sz="200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 name="Object 2">
                <a:extLst>
                  <a:ext uri="{FF2B5EF4-FFF2-40B4-BE49-F238E27FC236}">
                    <a16:creationId xmlns:a16="http://schemas.microsoft.com/office/drawing/2014/main" id="{9793DB9C-5B4E-4917-A37D-D950BA04C119}"/>
                  </a:ext>
                </a:extLst>
              </p:cNvPr>
              <p:cNvSpPr txBox="1">
                <a:spLocks noRot="1" noChangeAspect="1" noMove="1" noResize="1" noEditPoints="1" noAdjustHandles="1" noChangeArrowheads="1" noChangeShapeType="1" noTextEdit="1"/>
              </p:cNvSpPr>
              <p:nvPr/>
            </p:nvSpPr>
            <p:spPr bwMode="auto">
              <a:xfrm>
                <a:off x="5554563" y="3710098"/>
                <a:ext cx="4939772" cy="673738"/>
              </a:xfrm>
              <a:prstGeom prst="rect">
                <a:avLst/>
              </a:prstGeom>
              <a:blipFill>
                <a:blip r:embed="rId2"/>
                <a:stretch>
                  <a:fillRect/>
                </a:stretch>
              </a:blipFill>
              <a:ln>
                <a:noFill/>
              </a:ln>
            </p:spPr>
            <p:txBody>
              <a:bodyPr/>
              <a:lstStyle/>
              <a:p>
                <a:r>
                  <a:rPr lang="en-US">
                    <a:noFill/>
                  </a:rPr>
                  <a:t> </a:t>
                </a:r>
              </a:p>
            </p:txBody>
          </p:sp>
        </mc:Fallback>
      </mc:AlternateContent>
      <p:sp>
        <p:nvSpPr>
          <p:cNvPr id="6" name="TextBox 5">
            <a:extLst>
              <a:ext uri="{FF2B5EF4-FFF2-40B4-BE49-F238E27FC236}">
                <a16:creationId xmlns:a16="http://schemas.microsoft.com/office/drawing/2014/main" id="{8C86280F-160A-4640-970F-EE9AAD65969F}"/>
              </a:ext>
            </a:extLst>
          </p:cNvPr>
          <p:cNvSpPr txBox="1">
            <a:spLocks noChangeArrowheads="1"/>
          </p:cNvSpPr>
          <p:nvPr/>
        </p:nvSpPr>
        <p:spPr bwMode="auto">
          <a:xfrm>
            <a:off x="435935" y="2857859"/>
            <a:ext cx="4827529"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822960">
              <a:spcAft>
                <a:spcPts val="600"/>
              </a:spcAft>
            </a:pPr>
            <a:r>
              <a:rPr lang="en-US"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Goal of logistic regression: Predict the </a:t>
            </a:r>
            <a:r>
              <a:rPr lang="ja-JP"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a:t>
            </a:r>
            <a:r>
              <a:rPr lang="en-US" altLang="ja-JP"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true</a:t>
            </a:r>
            <a:r>
              <a:rPr lang="ja-JP"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a:t>
            </a:r>
            <a:r>
              <a:rPr lang="en-US" altLang="ja-JP"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 proportion of success, </a:t>
            </a:r>
            <a:r>
              <a:rPr lang="en-US" altLang="ja-JP" sz="2160" i="1"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p</a:t>
            </a:r>
            <a:r>
              <a:rPr lang="en-US" altLang="ja-JP"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 at any value of the predictor. </a:t>
            </a:r>
            <a:endParaRPr lang="en-US" alt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B0DD36B6-FC3E-419A-83E4-27A65E08F4CF}"/>
              </a:ext>
            </a:extLst>
          </p:cNvPr>
          <p:cNvSpPr txBox="1">
            <a:spLocks noChangeArrowheads="1"/>
          </p:cNvSpPr>
          <p:nvPr/>
        </p:nvSpPr>
        <p:spPr bwMode="auto">
          <a:xfrm>
            <a:off x="5554562" y="2857859"/>
            <a:ext cx="4467027" cy="75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822960">
              <a:spcAft>
                <a:spcPts val="600"/>
              </a:spcAft>
            </a:pPr>
            <a:r>
              <a:rPr lang="en-US"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What’</a:t>
            </a:r>
            <a:r>
              <a:rPr lang="en-US" altLang="ja-JP"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s the </a:t>
            </a:r>
            <a:r>
              <a:rPr lang="ja-JP"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a:t>
            </a:r>
            <a:r>
              <a:rPr lang="en-US" altLang="ja-JP"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mean</a:t>
            </a:r>
            <a:r>
              <a:rPr lang="ja-JP" altLang="en-US"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a:t>
            </a:r>
            <a:r>
              <a:rPr lang="en-US" altLang="ja-JP" sz="2160" kern="1200" dirty="0">
                <a:solidFill>
                  <a:schemeClr val="tx1"/>
                </a:solidFill>
                <a:latin typeface="Calibri" panose="020F0502020204030204" pitchFamily="34" charset="0"/>
                <a:ea typeface="ＭＳ Ｐゴシック" panose="020B0600070205080204" pitchFamily="34" charset="-128"/>
                <a:cs typeface="Calibri" panose="020F0502020204030204" pitchFamily="34" charset="0"/>
              </a:rPr>
              <a:t> of a 0/1 indicator variable?</a:t>
            </a:r>
            <a:endParaRPr lang="en-US" alt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4776B74-CCBB-D7FD-BD13-0F2531D4F9B8}"/>
              </a:ext>
            </a:extLst>
          </p:cNvPr>
          <p:cNvSpPr txBox="1"/>
          <p:nvPr/>
        </p:nvSpPr>
        <p:spPr>
          <a:xfrm>
            <a:off x="435935" y="4036445"/>
            <a:ext cx="2790740" cy="369332"/>
          </a:xfrm>
          <a:prstGeom prst="rect">
            <a:avLst/>
          </a:prstGeom>
          <a:noFill/>
        </p:spPr>
        <p:txBody>
          <a:bodyPr wrap="square">
            <a:spAutoFit/>
          </a:bodyPr>
          <a:lstStyle/>
          <a:p>
            <a:pPr defTabSz="822960">
              <a:spcAft>
                <a:spcPts val="600"/>
              </a:spcAft>
            </a:pPr>
            <a:r>
              <a:rPr lang="en-US" altLang="en-US" i="1" kern="1200">
                <a:solidFill>
                  <a:schemeClr val="tx1"/>
                </a:solidFill>
                <a:latin typeface="Calibri" panose="020F0502020204030204" pitchFamily="34" charset="0"/>
                <a:ea typeface="+mn-ea"/>
                <a:cs typeface="Calibri" panose="020F0502020204030204" pitchFamily="34" charset="0"/>
              </a:rPr>
              <a:t>p</a:t>
            </a:r>
            <a:r>
              <a:rPr lang="en-US" altLang="en-US" kern="1200">
                <a:solidFill>
                  <a:schemeClr val="tx1"/>
                </a:solidFill>
                <a:latin typeface="Calibri" panose="020F0502020204030204" pitchFamily="34" charset="0"/>
                <a:ea typeface="+mn-ea"/>
                <a:cs typeface="Calibri" panose="020F0502020204030204" pitchFamily="34" charset="0"/>
              </a:rPr>
              <a:t> = Proportion of </a:t>
            </a:r>
            <a:r>
              <a:rPr lang="ja-JP" altLang="en-US" kern="1200">
                <a:solidFill>
                  <a:schemeClr val="tx1"/>
                </a:solidFill>
                <a:latin typeface="Calibri" panose="020F0502020204030204" pitchFamily="34" charset="0"/>
                <a:ea typeface="ＭＳ Ｐゴシック" panose="020B0600070205080204" pitchFamily="34" charset="-128"/>
                <a:cs typeface="Calibri" panose="020F0502020204030204" pitchFamily="34" charset="0"/>
              </a:rPr>
              <a:t>“</a:t>
            </a:r>
            <a:r>
              <a:rPr lang="en-US" altLang="ja-JP" kern="1200">
                <a:solidFill>
                  <a:schemeClr val="tx1"/>
                </a:solidFill>
                <a:latin typeface="Calibri" panose="020F0502020204030204" pitchFamily="34" charset="0"/>
                <a:ea typeface="+mn-ea"/>
                <a:cs typeface="Calibri" panose="020F0502020204030204" pitchFamily="34" charset="0"/>
              </a:rPr>
              <a:t>Success”</a:t>
            </a:r>
            <a:endParaRPr lang="en-US">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3928-F236-DAD8-1D74-DEE09BBA8A6A}"/>
              </a:ext>
            </a:extLst>
          </p:cNvPr>
          <p:cNvSpPr>
            <a:spLocks noGrp="1"/>
          </p:cNvSpPr>
          <p:nvPr>
            <p:ph type="title" idx="4294967295"/>
          </p:nvPr>
        </p:nvSpPr>
        <p:spPr>
          <a:xfrm>
            <a:off x="178981" y="112565"/>
            <a:ext cx="8794898" cy="770860"/>
          </a:xfrm>
        </p:spPr>
        <p:txBody>
          <a:bodyPr>
            <a:normAutofit/>
          </a:bodyPr>
          <a:lstStyle/>
          <a:p>
            <a:r>
              <a:rPr lang="en-US" sz="4000" dirty="0">
                <a:latin typeface="Aptos Display" panose="020B0004020202020204" pitchFamily="34" charset="0"/>
              </a:rPr>
              <a:t>From Odds to Probability and Back Again</a:t>
            </a:r>
            <a:endParaRPr lang="en-US"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F2C56164-ABED-E159-8AD9-B6980C27D785}"/>
              </a:ext>
            </a:extLst>
          </p:cNvPr>
          <p:cNvSpPr>
            <a:spLocks noGrp="1"/>
          </p:cNvSpPr>
          <p:nvPr>
            <p:ph idx="4294967295"/>
          </p:nvPr>
        </p:nvSpPr>
        <p:spPr>
          <a:xfrm>
            <a:off x="361506" y="883425"/>
            <a:ext cx="10643191" cy="4389585"/>
          </a:xfrm>
        </p:spPr>
        <p:txBody>
          <a:bodyPr anchor="t">
            <a:normAutofit/>
          </a:bodyPr>
          <a:lstStyle/>
          <a:p>
            <a:r>
              <a:rPr lang="en-US" sz="2000" dirty="0"/>
              <a:t>Binary logistic regression models the probability that Y = 1.</a:t>
            </a:r>
          </a:p>
          <a:p>
            <a:r>
              <a:rPr lang="en-US" sz="2000" dirty="0"/>
              <a:t>For example, if </a:t>
            </a:r>
            <a:r>
              <a:rPr lang="en-US" sz="2000" i="1" dirty="0"/>
              <a:t>Y</a:t>
            </a:r>
            <a:r>
              <a:rPr lang="en-US" sz="2000" dirty="0"/>
              <a:t> = 1 if the student passed, and 0 otherwise, we are modeling the likelihood that the student passes or not (conditional on the independent variables in the model)</a:t>
            </a:r>
          </a:p>
          <a:p>
            <a:r>
              <a:rPr lang="en-US" sz="2000" dirty="0"/>
              <a:t>This likelihood will be framed as a probability</a:t>
            </a:r>
          </a:p>
        </p:txBody>
      </p:sp>
    </p:spTree>
    <p:extLst>
      <p:ext uri="{BB962C8B-B14F-4D97-AF65-F5344CB8AC3E}">
        <p14:creationId xmlns:p14="http://schemas.microsoft.com/office/powerpoint/2010/main" val="37801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1137" y="117217"/>
            <a:ext cx="10058400" cy="722755"/>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Recall the relation between odds and probability</a:t>
            </a:r>
          </a:p>
        </p:txBody>
      </p:sp>
      <p:sp>
        <p:nvSpPr>
          <p:cNvPr id="3" name="Content Placeholder 2"/>
          <p:cNvSpPr>
            <a:spLocks noGrp="1"/>
          </p:cNvSpPr>
          <p:nvPr>
            <p:ph idx="4294967295"/>
          </p:nvPr>
        </p:nvSpPr>
        <p:spPr>
          <a:xfrm>
            <a:off x="468018" y="935003"/>
            <a:ext cx="10288587" cy="1489220"/>
          </a:xfrm>
        </p:spPr>
        <p:txBody>
          <a:bodyPr>
            <a:normAutofit fontScale="85000" lnSpcReduction="20000"/>
          </a:bodyPr>
          <a:lstStyle/>
          <a:p>
            <a:pPr>
              <a:lnSpc>
                <a:spcPct val="100000"/>
              </a:lnSpc>
            </a:pPr>
            <a:r>
              <a:rPr lang="en-US" dirty="0">
                <a:latin typeface="Calibri" panose="020F0502020204030204" pitchFamily="34" charset="0"/>
                <a:ea typeface="Calibri" panose="020F0502020204030204" pitchFamily="34" charset="0"/>
                <a:cs typeface="Calibri" panose="020F0502020204030204" pitchFamily="34" charset="0"/>
              </a:rPr>
              <a:t>Odds and logit (or log odds)</a:t>
            </a:r>
          </a:p>
          <a:p>
            <a:pPr>
              <a:lnSpc>
                <a:spcPct val="100000"/>
              </a:lnSpc>
            </a:pPr>
            <a:r>
              <a:rPr lang="en-US" b="1" dirty="0">
                <a:latin typeface="Calibri" panose="020F0502020204030204" pitchFamily="34" charset="0"/>
                <a:ea typeface="Calibri" panose="020F0502020204030204" pitchFamily="34" charset="0"/>
                <a:cs typeface="Calibri" panose="020F0502020204030204" pitchFamily="34" charset="0"/>
              </a:rPr>
              <a:t>Odds</a:t>
            </a:r>
            <a:r>
              <a:rPr lang="en-US" dirty="0">
                <a:latin typeface="Calibri" panose="020F0502020204030204" pitchFamily="34" charset="0"/>
                <a:ea typeface="Calibri" panose="020F0502020204030204" pitchFamily="34" charset="0"/>
                <a:cs typeface="Calibri" panose="020F0502020204030204" pitchFamily="34" charset="0"/>
              </a:rPr>
              <a:t> = the ratio of the probability of the dependent variable’s two outcomes</a:t>
            </a:r>
          </a:p>
          <a:p>
            <a:pPr lvl="1">
              <a:lnSpc>
                <a:spcPct val="100000"/>
              </a:lnSpc>
            </a:pPr>
            <a:r>
              <a:rPr lang="en-US" sz="2600" dirty="0">
                <a:latin typeface="Calibri" panose="020F0502020204030204" pitchFamily="34" charset="0"/>
                <a:ea typeface="Calibri" panose="020F0502020204030204" pitchFamily="34" charset="0"/>
                <a:cs typeface="Calibri" panose="020F0502020204030204" pitchFamily="34" charset="0"/>
              </a:rPr>
              <a:t>Taking the log odds of </a:t>
            </a:r>
            <a:r>
              <a:rPr lang="en-US" sz="2600" i="1" dirty="0">
                <a:latin typeface="Calibri" panose="020F0502020204030204" pitchFamily="34" charset="0"/>
                <a:ea typeface="Calibri" panose="020F0502020204030204" pitchFamily="34" charset="0"/>
                <a:cs typeface="Calibri" panose="020F0502020204030204" pitchFamily="34" charset="0"/>
              </a:rPr>
              <a:t>Y </a:t>
            </a:r>
            <a:r>
              <a:rPr lang="en-US" sz="2600" dirty="0">
                <a:latin typeface="Calibri" panose="020F0502020204030204" pitchFamily="34" charset="0"/>
                <a:ea typeface="Calibri" panose="020F0502020204030204" pitchFamily="34" charset="0"/>
                <a:cs typeface="Calibri" panose="020F0502020204030204" pitchFamily="34" charset="0"/>
              </a:rPr>
              <a:t>creates a linear relationship between </a:t>
            </a:r>
            <a:r>
              <a:rPr lang="en-US" sz="2600" i="1" dirty="0">
                <a:latin typeface="Calibri" panose="020F0502020204030204" pitchFamily="34" charset="0"/>
                <a:ea typeface="Calibri" panose="020F0502020204030204" pitchFamily="34" charset="0"/>
                <a:cs typeface="Calibri" panose="020F0502020204030204" pitchFamily="34" charset="0"/>
              </a:rPr>
              <a:t>X </a:t>
            </a:r>
            <a:r>
              <a:rPr lang="en-US" sz="2600" dirty="0">
                <a:latin typeface="Calibri" panose="020F0502020204030204" pitchFamily="34" charset="0"/>
                <a:ea typeface="Calibri" panose="020F0502020204030204" pitchFamily="34" charset="0"/>
                <a:cs typeface="Calibri" panose="020F0502020204030204" pitchFamily="34" charset="0"/>
              </a:rPr>
              <a:t>and the probability of </a:t>
            </a:r>
            <a:r>
              <a:rPr lang="en-US" sz="2600" i="1" dirty="0">
                <a:latin typeface="Calibri" panose="020F0502020204030204" pitchFamily="34" charset="0"/>
                <a:ea typeface="Calibri" panose="020F0502020204030204" pitchFamily="34" charset="0"/>
                <a:cs typeface="Calibri" panose="020F0502020204030204" pitchFamily="34" charset="0"/>
              </a:rPr>
              <a:t>Y </a:t>
            </a:r>
            <a:r>
              <a:rPr lang="en-US" sz="2600" dirty="0">
                <a:latin typeface="Calibri" panose="020F0502020204030204" pitchFamily="34" charset="0"/>
                <a:ea typeface="Calibri" panose="020F0502020204030204" pitchFamily="34" charset="0"/>
                <a:cs typeface="Calibri" panose="020F0502020204030204" pitchFamily="34" charset="0"/>
              </a:rPr>
              <a:t>(</a:t>
            </a:r>
            <a:r>
              <a:rPr lang="en-US" sz="2600" dirty="0" err="1">
                <a:latin typeface="Calibri" panose="020F0502020204030204" pitchFamily="34" charset="0"/>
                <a:ea typeface="Calibri" panose="020F0502020204030204" pitchFamily="34" charset="0"/>
                <a:cs typeface="Calibri" panose="020F0502020204030204" pitchFamily="34" charset="0"/>
              </a:rPr>
              <a:t>Pampel</a:t>
            </a:r>
            <a:r>
              <a:rPr lang="en-US" sz="2600" dirty="0">
                <a:latin typeface="Calibri" panose="020F0502020204030204" pitchFamily="34" charset="0"/>
                <a:ea typeface="Calibri" panose="020F0502020204030204" pitchFamily="34" charset="0"/>
                <a:cs typeface="Calibri" panose="020F0502020204030204" pitchFamily="34" charset="0"/>
              </a:rPr>
              <a:t>, 2000)</a:t>
            </a:r>
          </a:p>
        </p:txBody>
      </p:sp>
      <mc:AlternateContent xmlns:mc="http://schemas.openxmlformats.org/markup-compatibility/2006" xmlns:a14="http://schemas.microsoft.com/office/drawing/2010/main">
        <mc:Choice Requires="a14">
          <p:sp>
            <p:nvSpPr>
              <p:cNvPr id="5" name="Object 8">
                <a:extLst>
                  <a:ext uri="{FF2B5EF4-FFF2-40B4-BE49-F238E27FC236}">
                    <a16:creationId xmlns:a16="http://schemas.microsoft.com/office/drawing/2014/main" id="{787E5D80-AD4A-4396-B7F1-134C0F036960}"/>
                  </a:ext>
                </a:extLst>
              </p:cNvPr>
              <p:cNvSpPr txBox="1"/>
              <p:nvPr/>
            </p:nvSpPr>
            <p:spPr bwMode="auto">
              <a:xfrm>
                <a:off x="2273654" y="4001361"/>
                <a:ext cx="8901165" cy="886568"/>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func>
                        <m:funcPr>
                          <m:ctrlPr>
                            <a:rPr lang="en-US" sz="2400" i="1" smtClean="0">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ln</m:t>
                          </m:r>
                        </m:fName>
                        <m:e>
                          <m:d>
                            <m:dPr>
                              <m:begChr m:val="["/>
                              <m:endChr m:val="]"/>
                              <m:ctrlPr>
                                <a:rPr lang="en-US" sz="2400" i="1" smtClean="0">
                                  <a:solidFill>
                                    <a:srgbClr val="000000"/>
                                  </a:solidFill>
                                  <a:latin typeface="Cambria Math" panose="02040503050406030204" pitchFamily="18" charset="0"/>
                                </a:rPr>
                              </m:ctrlPr>
                            </m:dPr>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𝑃</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𝑌</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𝑃</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𝑌</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m:t>
                                  </m:r>
                                </m:den>
                              </m:f>
                            </m:e>
                          </m:d>
                        </m:e>
                      </m:fun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𝐿𝑜𝑔𝑖𝑡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𝑌</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1</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2</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𝑚</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𝑚</m:t>
                          </m:r>
                        </m:sub>
                      </m:sSub>
                    </m:oMath>
                  </m:oMathPara>
                </a14:m>
                <a:endParaRPr lang="en-US" sz="2400" dirty="0"/>
              </a:p>
            </p:txBody>
          </p:sp>
        </mc:Choice>
        <mc:Fallback xmlns="">
          <p:sp>
            <p:nvSpPr>
              <p:cNvPr id="5" name="Object 8">
                <a:extLst>
                  <a:ext uri="{FF2B5EF4-FFF2-40B4-BE49-F238E27FC236}">
                    <a16:creationId xmlns:a16="http://schemas.microsoft.com/office/drawing/2014/main" id="{787E5D80-AD4A-4396-B7F1-134C0F036960}"/>
                  </a:ext>
                </a:extLst>
              </p:cNvPr>
              <p:cNvSpPr txBox="1">
                <a:spLocks noRot="1" noChangeAspect="1" noMove="1" noResize="1" noEditPoints="1" noAdjustHandles="1" noChangeArrowheads="1" noChangeShapeType="1" noTextEdit="1"/>
              </p:cNvSpPr>
              <p:nvPr/>
            </p:nvSpPr>
            <p:spPr bwMode="auto">
              <a:xfrm>
                <a:off x="2273654" y="4001361"/>
                <a:ext cx="8901165" cy="88656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9852F1D-1343-CE8B-05C6-DCEBAA6FA0B6}"/>
                  </a:ext>
                </a:extLst>
              </p:cNvPr>
              <p:cNvSpPr txBox="1"/>
              <p:nvPr/>
            </p:nvSpPr>
            <p:spPr>
              <a:xfrm>
                <a:off x="3156155" y="3429000"/>
                <a:ext cx="609531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𝑌</m:t>
                      </m:r>
                      <m:r>
                        <a:rPr lang="en-US" sz="240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1</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2</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𝛽</m:t>
                          </m:r>
                        </m:e>
                        <m:sub>
                          <m:r>
                            <a:rPr lang="en-US" sz="2400" i="1">
                              <a:solidFill>
                                <a:srgbClr val="000000"/>
                              </a:solidFill>
                              <a:latin typeface="Cambria Math" panose="02040503050406030204" pitchFamily="18" charset="0"/>
                            </a:rPr>
                            <m:t>𝑚</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𝑋</m:t>
                          </m:r>
                        </m:e>
                        <m:sub>
                          <m:r>
                            <a:rPr lang="en-US" sz="2400" i="1">
                              <a:solidFill>
                                <a:srgbClr val="000000"/>
                              </a:solidFill>
                              <a:latin typeface="Cambria Math" panose="02040503050406030204" pitchFamily="18" charset="0"/>
                            </a:rPr>
                            <m:t>𝑚</m:t>
                          </m:r>
                        </m:sub>
                      </m:sSub>
                    </m:oMath>
                  </m:oMathPara>
                </a14:m>
                <a:endParaRPr lang="en-US" sz="2400" dirty="0"/>
              </a:p>
            </p:txBody>
          </p:sp>
        </mc:Choice>
        <mc:Fallback xmlns="">
          <p:sp>
            <p:nvSpPr>
              <p:cNvPr id="7" name="TextBox 6">
                <a:extLst>
                  <a:ext uri="{FF2B5EF4-FFF2-40B4-BE49-F238E27FC236}">
                    <a16:creationId xmlns:a16="http://schemas.microsoft.com/office/drawing/2014/main" id="{E9852F1D-1343-CE8B-05C6-DCEBAA6FA0B6}"/>
                  </a:ext>
                </a:extLst>
              </p:cNvPr>
              <p:cNvSpPr txBox="1">
                <a:spLocks noRot="1" noChangeAspect="1" noMove="1" noResize="1" noEditPoints="1" noAdjustHandles="1" noChangeArrowheads="1" noChangeShapeType="1" noTextEdit="1"/>
              </p:cNvSpPr>
              <p:nvPr/>
            </p:nvSpPr>
            <p:spPr>
              <a:xfrm>
                <a:off x="3156155" y="3429000"/>
                <a:ext cx="6095316" cy="461665"/>
              </a:xfrm>
              <a:prstGeom prst="rect">
                <a:avLst/>
              </a:prstGeom>
              <a:blipFill>
                <a:blip r:embed="rId3"/>
                <a:stretch>
                  <a:fillRect b="-17333"/>
                </a:stretch>
              </a:blipFill>
            </p:spPr>
            <p:txBody>
              <a:bodyPr/>
              <a:lstStyle/>
              <a:p>
                <a:r>
                  <a:rPr lang="en-US">
                    <a:noFill/>
                  </a:rPr>
                  <a:t> </a:t>
                </a:r>
              </a:p>
            </p:txBody>
          </p:sp>
        </mc:Fallback>
      </mc:AlternateContent>
    </p:spTree>
    <p:extLst>
      <p:ext uri="{BB962C8B-B14F-4D97-AF65-F5344CB8AC3E}">
        <p14:creationId xmlns:p14="http://schemas.microsoft.com/office/powerpoint/2010/main" val="308128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2E9C-DBDF-4A3D-BEAD-3BA4B47E5C32}"/>
              </a:ext>
            </a:extLst>
          </p:cNvPr>
          <p:cNvSpPr>
            <a:spLocks noGrp="1"/>
          </p:cNvSpPr>
          <p:nvPr>
            <p:ph type="title" idx="4294967295"/>
          </p:nvPr>
        </p:nvSpPr>
        <p:spPr>
          <a:xfrm>
            <a:off x="43292" y="39694"/>
            <a:ext cx="11320130" cy="862000"/>
          </a:xfrm>
        </p:spPr>
        <p:txBody>
          <a:bodyPr>
            <a:normAutofit/>
          </a:bodyPr>
          <a:lstStyle/>
          <a:p>
            <a:r>
              <a:rPr lang="en-US" altLang="en-US" sz="4000" dirty="0">
                <a:latin typeface="Aptos Display" panose="020B0004020202020204" pitchFamily="34" charset="0"/>
                <a:ea typeface="Calibri" panose="020F0502020204030204" pitchFamily="34" charset="0"/>
                <a:cs typeface="Calibri" panose="020F0502020204030204" pitchFamily="34" charset="0"/>
              </a:rPr>
              <a:t>Equivalent forms of the logistic regression model</a:t>
            </a:r>
            <a:endParaRPr lang="en-US" sz="3600" dirty="0">
              <a:latin typeface="Aptos Display" panose="020B000402020202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01497155-E329-4FDD-91DF-34B582DB4C79}"/>
                  </a:ext>
                </a:extLst>
              </p:cNvPr>
              <p:cNvSpPr txBox="1"/>
              <p:nvPr/>
            </p:nvSpPr>
            <p:spPr bwMode="auto">
              <a:xfrm>
                <a:off x="1387535" y="2400480"/>
                <a:ext cx="2956127" cy="646114"/>
              </a:xfrm>
              <a:prstGeom prst="rect">
                <a:avLst/>
              </a:prstGeom>
              <a:solidFill>
                <a:schemeClr val="bg1"/>
              </a:solid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func>
                        <m:funcPr>
                          <m:ctrlPr>
                            <a:rPr lang="en-US" i="1" smtClean="0">
                              <a:solidFill>
                                <a:srgbClr val="000000"/>
                              </a:solidFill>
                              <a:latin typeface="Cambria Math" panose="02040503050406030204" pitchFamily="18" charset="0"/>
                            </a:rPr>
                          </m:ctrlPr>
                        </m:funcPr>
                        <m:fName>
                          <m:r>
                            <m:rPr>
                              <m:sty m:val="p"/>
                            </m:rPr>
                            <a:rPr lang="en-US" b="0" i="0" smtClean="0">
                              <a:solidFill>
                                <a:srgbClr val="000000"/>
                              </a:solidFill>
                              <a:latin typeface="Cambria Math" panose="02040503050406030204" pitchFamily="18" charset="0"/>
                            </a:rPr>
                            <m:t>y</m:t>
                          </m:r>
                          <m:r>
                            <a:rPr lang="en-US" b="0" i="0" smtClean="0">
                              <a:solidFill>
                                <a:srgbClr val="000000"/>
                              </a:solidFill>
                              <a:latin typeface="Cambria Math" panose="02040503050406030204" pitchFamily="18" charset="0"/>
                            </a:rPr>
                            <m:t>=</m:t>
                          </m:r>
                          <m:r>
                            <m:rPr>
                              <m:sty m:val="p"/>
                            </m:rPr>
                            <a:rPr lang="en-US" i="0">
                              <a:solidFill>
                                <a:srgbClr val="000000"/>
                              </a:solidFill>
                              <a:latin typeface="Cambria Math" panose="02040503050406030204" pitchFamily="18" charset="0"/>
                            </a:rPr>
                            <m:t>log</m:t>
                          </m:r>
                        </m:fName>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𝑝</m:t>
                                  </m:r>
                                </m:num>
                                <m:den>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𝑝</m:t>
                                  </m:r>
                                </m:den>
                              </m:f>
                            </m:e>
                          </m:d>
                        </m:e>
                      </m:func>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𝑋</m:t>
                      </m:r>
                    </m:oMath>
                  </m:oMathPara>
                </a14:m>
                <a:endParaRPr lang="en-US" dirty="0"/>
              </a:p>
            </p:txBody>
          </p:sp>
        </mc:Choice>
        <mc:Fallback xmlns="">
          <p:sp>
            <p:nvSpPr>
              <p:cNvPr id="3" name="Object 3">
                <a:extLst>
                  <a:ext uri="{FF2B5EF4-FFF2-40B4-BE49-F238E27FC236}">
                    <a16:creationId xmlns:a16="http://schemas.microsoft.com/office/drawing/2014/main" id="{01497155-E329-4FDD-91DF-34B582DB4C79}"/>
                  </a:ext>
                </a:extLst>
              </p:cNvPr>
              <p:cNvSpPr txBox="1">
                <a:spLocks noRot="1" noChangeAspect="1" noMove="1" noResize="1" noEditPoints="1" noAdjustHandles="1" noChangeArrowheads="1" noChangeShapeType="1" noTextEdit="1"/>
              </p:cNvSpPr>
              <p:nvPr/>
            </p:nvSpPr>
            <p:spPr bwMode="auto">
              <a:xfrm>
                <a:off x="1387535" y="2400480"/>
                <a:ext cx="2956127" cy="646114"/>
              </a:xfrm>
              <a:prstGeom prst="rect">
                <a:avLst/>
              </a:prstGeom>
              <a:blipFill>
                <a:blip r:embed="rId3"/>
                <a:stretch>
                  <a:fillRect/>
                </a:stretch>
              </a:blipFill>
              <a:ln>
                <a:noFill/>
              </a:ln>
            </p:spPr>
            <p:txBody>
              <a:bodyPr/>
              <a:lstStyle/>
              <a:p>
                <a:r>
                  <a:rPr lang="en-US">
                    <a:noFill/>
                  </a:rPr>
                  <a:t> </a:t>
                </a:r>
              </a:p>
            </p:txBody>
          </p:sp>
        </mc:Fallback>
      </mc:AlternateContent>
      <p:sp>
        <p:nvSpPr>
          <p:cNvPr id="6" name="TextBox 5">
            <a:extLst>
              <a:ext uri="{FF2B5EF4-FFF2-40B4-BE49-F238E27FC236}">
                <a16:creationId xmlns:a16="http://schemas.microsoft.com/office/drawing/2014/main" id="{C81F2D02-B539-489A-84FD-97DEDFDB0DA5}"/>
              </a:ext>
            </a:extLst>
          </p:cNvPr>
          <p:cNvSpPr txBox="1"/>
          <p:nvPr/>
        </p:nvSpPr>
        <p:spPr>
          <a:xfrm>
            <a:off x="1382298" y="3077372"/>
            <a:ext cx="2935322" cy="369332"/>
          </a:xfrm>
          <a:prstGeom prst="rect">
            <a:avLst/>
          </a:prstGeom>
          <a:noFill/>
        </p:spPr>
        <p:txBody>
          <a:bodyPr wrap="square">
            <a:spAutoFit/>
          </a:bodyPr>
          <a:lstStyle/>
          <a:p>
            <a:r>
              <a:rPr lang="en-US" altLang="en-US" sz="1800" dirty="0">
                <a:latin typeface="Calibri" panose="020F0502020204030204" pitchFamily="34" charset="0"/>
                <a:ea typeface="Calibri" panose="020F0502020204030204" pitchFamily="34" charset="0"/>
                <a:cs typeface="Calibri" panose="020F0502020204030204" pitchFamily="34" charset="0"/>
              </a:rPr>
              <a:t>This is natural log (aka </a:t>
            </a:r>
            <a:r>
              <a:rPr lang="ja-JP" altLang="en-US" sz="1800" dirty="0">
                <a:latin typeface="Calibri" panose="020F0502020204030204" pitchFamily="34" charset="0"/>
                <a:cs typeface="Calibri" panose="020F0502020204030204" pitchFamily="34" charset="0"/>
              </a:rPr>
              <a:t>“</a:t>
            </a:r>
            <a:r>
              <a:rPr lang="en-US" altLang="ja-JP" sz="1800" dirty="0">
                <a:latin typeface="Calibri" panose="020F0502020204030204" pitchFamily="34" charset="0"/>
                <a:ea typeface="Calibri" panose="020F0502020204030204" pitchFamily="34" charset="0"/>
                <a:cs typeface="Calibri" panose="020F0502020204030204" pitchFamily="34" charset="0"/>
              </a:rPr>
              <a:t>ln</a:t>
            </a:r>
            <a:r>
              <a:rPr lang="ja-JP" altLang="en-US" sz="1800" dirty="0">
                <a:latin typeface="Calibri" panose="020F0502020204030204" pitchFamily="34" charset="0"/>
                <a:cs typeface="Calibri" panose="020F0502020204030204" pitchFamily="34" charset="0"/>
              </a:rPr>
              <a:t>”</a:t>
            </a:r>
            <a:r>
              <a:rPr lang="en-US" altLang="ja-JP" sz="1800"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C672F2F8-609B-4E41-83EB-E8B6A677D1E4}"/>
              </a:ext>
            </a:extLst>
          </p:cNvPr>
          <p:cNvSpPr txBox="1">
            <a:spLocks noChangeArrowheads="1"/>
          </p:cNvSpPr>
          <p:nvPr/>
        </p:nvSpPr>
        <p:spPr bwMode="auto">
          <a:xfrm>
            <a:off x="1387535" y="1657635"/>
            <a:ext cx="26114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3200" dirty="0">
                <a:latin typeface="Calibri" panose="020F0502020204030204" pitchFamily="34" charset="0"/>
                <a:ea typeface="Calibri" panose="020F0502020204030204" pitchFamily="34" charset="0"/>
                <a:cs typeface="Calibri" panose="020F0502020204030204" pitchFamily="34" charset="0"/>
              </a:rPr>
              <a:t>Logit form</a:t>
            </a:r>
          </a:p>
        </p:txBody>
      </p:sp>
      <p:sp>
        <p:nvSpPr>
          <p:cNvPr id="11" name="TextBox 10">
            <a:extLst>
              <a:ext uri="{FF2B5EF4-FFF2-40B4-BE49-F238E27FC236}">
                <a16:creationId xmlns:a16="http://schemas.microsoft.com/office/drawing/2014/main" id="{EB275860-03AE-4FCA-BBCF-9CE1A4C1166E}"/>
              </a:ext>
            </a:extLst>
          </p:cNvPr>
          <p:cNvSpPr txBox="1">
            <a:spLocks noChangeArrowheads="1"/>
          </p:cNvSpPr>
          <p:nvPr/>
        </p:nvSpPr>
        <p:spPr bwMode="auto">
          <a:xfrm>
            <a:off x="6179087" y="1663409"/>
            <a:ext cx="32972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3200" dirty="0">
                <a:latin typeface="Calibri" panose="020F0502020204030204" pitchFamily="34" charset="0"/>
                <a:ea typeface="Calibri" panose="020F0502020204030204" pitchFamily="34" charset="0"/>
                <a:cs typeface="Calibri" panose="020F0502020204030204" pitchFamily="34" charset="0"/>
              </a:rPr>
              <a:t>Probability form</a:t>
            </a:r>
          </a:p>
        </p:txBody>
      </p:sp>
      <p:sp>
        <p:nvSpPr>
          <p:cNvPr id="14" name="Text Box 5">
            <a:extLst>
              <a:ext uri="{FF2B5EF4-FFF2-40B4-BE49-F238E27FC236}">
                <a16:creationId xmlns:a16="http://schemas.microsoft.com/office/drawing/2014/main" id="{FDA5AE77-0ED1-44B7-8289-A15FC3847E98}"/>
              </a:ext>
            </a:extLst>
          </p:cNvPr>
          <p:cNvSpPr txBox="1">
            <a:spLocks noChangeArrowheads="1"/>
          </p:cNvSpPr>
          <p:nvPr/>
        </p:nvSpPr>
        <p:spPr bwMode="auto">
          <a:xfrm>
            <a:off x="5860840" y="3046594"/>
            <a:ext cx="4909817" cy="400110"/>
          </a:xfrm>
          <a:prstGeom prst="rect">
            <a:avLst/>
          </a:prstGeom>
          <a:noFill/>
          <a:ln>
            <a:noFill/>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i="1" dirty="0">
                <a:latin typeface="Calibri" panose="020F0502020204030204" pitchFamily="34" charset="0"/>
                <a:ea typeface="Calibri" panose="020F0502020204030204" pitchFamily="34" charset="0"/>
                <a:cs typeface="Calibri" panose="020F0502020204030204" pitchFamily="34" charset="0"/>
              </a:rPr>
              <a:t>p</a:t>
            </a:r>
            <a:r>
              <a:rPr lang="en-US" altLang="en-US" sz="2000" dirty="0">
                <a:latin typeface="Calibri" panose="020F0502020204030204" pitchFamily="34" charset="0"/>
                <a:ea typeface="Calibri" panose="020F0502020204030204" pitchFamily="34" charset="0"/>
                <a:cs typeface="Calibri" panose="020F0502020204030204" pitchFamily="34" charset="0"/>
              </a:rPr>
              <a:t> = proportion of 1</a:t>
            </a:r>
            <a:r>
              <a:rPr lang="ja-JP" altLang="en-US" sz="2000" dirty="0">
                <a:latin typeface="Calibri" panose="020F0502020204030204" pitchFamily="34" charset="0"/>
                <a:cs typeface="Calibri" panose="020F0502020204030204" pitchFamily="34" charset="0"/>
              </a:rPr>
              <a:t>’</a:t>
            </a:r>
            <a:r>
              <a:rPr lang="en-US" altLang="ja-JP" sz="2000" dirty="0">
                <a:latin typeface="Calibri" panose="020F0502020204030204" pitchFamily="34" charset="0"/>
                <a:ea typeface="Calibri" panose="020F0502020204030204" pitchFamily="34" charset="0"/>
                <a:cs typeface="Calibri" panose="020F0502020204030204" pitchFamily="34" charset="0"/>
              </a:rPr>
              <a:t>s (yes, success) at any X</a:t>
            </a:r>
            <a:endParaRPr lang="en-US" altLang="en-US" sz="20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C991B2-E8AB-463B-A80C-8457676EC668}"/>
                  </a:ext>
                </a:extLst>
              </p:cNvPr>
              <p:cNvSpPr txBox="1"/>
              <p:nvPr/>
            </p:nvSpPr>
            <p:spPr>
              <a:xfrm>
                <a:off x="6129307" y="2295071"/>
                <a:ext cx="3761709" cy="62241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ea typeface="Cambria Math" panose="02040503050406030204" pitchFamily="18" charset="0"/>
                        </a:rPr>
                        <m:t>Pr</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r>
                                <a:rPr lang="en-US" b="0" i="1" smtClean="0">
                                  <a:solidFill>
                                    <a:srgbClr val="000000"/>
                                  </a:solidFill>
                                  <a:latin typeface="Cambria Math" panose="02040503050406030204" pitchFamily="18" charset="0"/>
                                </a:rPr>
                                <m:t>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b="0" i="1" smtClean="0">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num>
                        <m:den>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r>
                                <a:rPr lang="en-US" b="0" i="1" smtClean="0">
                                  <a:solidFill>
                                    <a:srgbClr val="000000"/>
                                  </a:solidFill>
                                  <a:latin typeface="Cambria Math" panose="02040503050406030204" pitchFamily="18" charset="0"/>
                                </a:rPr>
                                <m:t>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den>
                      </m:f>
                    </m:oMath>
                  </m:oMathPara>
                </a14:m>
                <a:endParaRPr lang="en-US" dirty="0"/>
              </a:p>
            </p:txBody>
          </p:sp>
        </mc:Choice>
        <mc:Fallback xmlns="">
          <p:sp>
            <p:nvSpPr>
              <p:cNvPr id="17" name="TextBox 16">
                <a:extLst>
                  <a:ext uri="{FF2B5EF4-FFF2-40B4-BE49-F238E27FC236}">
                    <a16:creationId xmlns:a16="http://schemas.microsoft.com/office/drawing/2014/main" id="{7AC991B2-E8AB-463B-A80C-8457676EC668}"/>
                  </a:ext>
                </a:extLst>
              </p:cNvPr>
              <p:cNvSpPr txBox="1">
                <a:spLocks noRot="1" noChangeAspect="1" noMove="1" noResize="1" noEditPoints="1" noAdjustHandles="1" noChangeArrowheads="1" noChangeShapeType="1" noTextEdit="1"/>
              </p:cNvSpPr>
              <p:nvPr/>
            </p:nvSpPr>
            <p:spPr>
              <a:xfrm>
                <a:off x="6129307" y="2295071"/>
                <a:ext cx="3761709" cy="622414"/>
              </a:xfrm>
              <a:prstGeom prst="rect">
                <a:avLst/>
              </a:prstGeom>
              <a:blipFill>
                <a:blip r:embed="rId4"/>
                <a:stretch>
                  <a:fillRect/>
                </a:stretch>
              </a:blipFill>
            </p:spPr>
            <p:txBody>
              <a:bodyPr/>
              <a:lstStyle/>
              <a:p>
                <a:r>
                  <a:rPr lang="en-US">
                    <a:noFill/>
                  </a:rPr>
                  <a:t> </a:t>
                </a:r>
              </a:p>
            </p:txBody>
          </p:sp>
        </mc:Fallback>
      </mc:AlternateContent>
      <p:sp>
        <p:nvSpPr>
          <p:cNvPr id="20" name="Text Box 3">
            <a:extLst>
              <a:ext uri="{FF2B5EF4-FFF2-40B4-BE49-F238E27FC236}">
                <a16:creationId xmlns:a16="http://schemas.microsoft.com/office/drawing/2014/main" id="{62EC7582-A1C1-408E-B7C4-3FA5343A756A}"/>
              </a:ext>
            </a:extLst>
          </p:cNvPr>
          <p:cNvSpPr txBox="1">
            <a:spLocks noChangeArrowheads="1"/>
          </p:cNvSpPr>
          <p:nvPr/>
        </p:nvSpPr>
        <p:spPr bwMode="auto">
          <a:xfrm>
            <a:off x="1056743" y="971818"/>
            <a:ext cx="3962400" cy="523220"/>
          </a:xfrm>
          <a:prstGeom prst="rect">
            <a:avLst/>
          </a:prstGeom>
          <a:solidFill>
            <a:schemeClr val="accent1">
              <a:lumMod val="50000"/>
            </a:schemeClr>
          </a:solid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2800" i="1" dirty="0">
                <a:solidFill>
                  <a:schemeClr val="accent1">
                    <a:lumMod val="20000"/>
                    <a:lumOff val="80000"/>
                  </a:schemeClr>
                </a:solidFill>
                <a:latin typeface="Calibri" panose="020F0502020204030204" pitchFamily="34" charset="0"/>
                <a:ea typeface="Calibri" panose="020F0502020204030204" pitchFamily="34" charset="0"/>
                <a:cs typeface="Calibri" panose="020F0502020204030204" pitchFamily="34" charset="0"/>
              </a:rPr>
              <a:t>Y</a:t>
            </a:r>
            <a:r>
              <a:rPr lang="en-US" altLang="en-US" sz="2800" dirty="0">
                <a:solidFill>
                  <a:schemeClr val="accent1">
                    <a:lumMod val="20000"/>
                    <a:lumOff val="80000"/>
                  </a:schemeClr>
                </a:solidFill>
                <a:latin typeface="Calibri" panose="020F0502020204030204" pitchFamily="34" charset="0"/>
                <a:ea typeface="Calibri" panose="020F0502020204030204" pitchFamily="34" charset="0"/>
                <a:cs typeface="Calibri" panose="020F0502020204030204" pitchFamily="34" charset="0"/>
              </a:rPr>
              <a:t> = Binary response</a:t>
            </a:r>
          </a:p>
        </p:txBody>
      </p:sp>
      <p:sp>
        <p:nvSpPr>
          <p:cNvPr id="21" name="Text Box 4">
            <a:extLst>
              <a:ext uri="{FF2B5EF4-FFF2-40B4-BE49-F238E27FC236}">
                <a16:creationId xmlns:a16="http://schemas.microsoft.com/office/drawing/2014/main" id="{650432B5-16B0-4C5C-B9E9-B5DCF7B59FC3}"/>
              </a:ext>
            </a:extLst>
          </p:cNvPr>
          <p:cNvSpPr txBox="1">
            <a:spLocks noChangeArrowheads="1"/>
          </p:cNvSpPr>
          <p:nvPr/>
        </p:nvSpPr>
        <p:spPr bwMode="auto">
          <a:xfrm>
            <a:off x="5703357" y="981192"/>
            <a:ext cx="5067300" cy="523220"/>
          </a:xfrm>
          <a:prstGeom prst="rect">
            <a:avLst/>
          </a:prstGeom>
          <a:solidFill>
            <a:schemeClr val="accent1">
              <a:lumMod val="50000"/>
            </a:schemeClr>
          </a:solidFill>
          <a:ln>
            <a:noFill/>
          </a:ln>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2800" i="1" dirty="0">
                <a:solidFill>
                  <a:schemeClr val="accent1">
                    <a:lumMod val="20000"/>
                    <a:lumOff val="80000"/>
                  </a:schemeClr>
                </a:solidFill>
                <a:latin typeface="Calibri" panose="020F0502020204030204" pitchFamily="34" charset="0"/>
                <a:ea typeface="Calibri" panose="020F0502020204030204" pitchFamily="34" charset="0"/>
                <a:cs typeface="Calibri" panose="020F0502020204030204" pitchFamily="34" charset="0"/>
              </a:rPr>
              <a:t>X</a:t>
            </a:r>
            <a:r>
              <a:rPr lang="en-US" altLang="en-US" sz="2800" dirty="0">
                <a:solidFill>
                  <a:schemeClr val="accent1">
                    <a:lumMod val="20000"/>
                    <a:lumOff val="80000"/>
                  </a:schemeClr>
                </a:solidFill>
                <a:latin typeface="Calibri" panose="020F0502020204030204" pitchFamily="34" charset="0"/>
                <a:ea typeface="Calibri" panose="020F0502020204030204" pitchFamily="34" charset="0"/>
                <a:cs typeface="Calibri" panose="020F0502020204030204" pitchFamily="34" charset="0"/>
              </a:rPr>
              <a:t> = Quantitative predictor</a:t>
            </a:r>
          </a:p>
        </p:txBody>
      </p:sp>
      <p:cxnSp>
        <p:nvCxnSpPr>
          <p:cNvPr id="5" name="Straight Arrow Connector 4">
            <a:extLst>
              <a:ext uri="{FF2B5EF4-FFF2-40B4-BE49-F238E27FC236}">
                <a16:creationId xmlns:a16="http://schemas.microsoft.com/office/drawing/2014/main" id="{918B8C49-8ABD-4E57-957D-CA52695C6CA5}"/>
              </a:ext>
            </a:extLst>
          </p:cNvPr>
          <p:cNvCxnSpPr/>
          <p:nvPr/>
        </p:nvCxnSpPr>
        <p:spPr>
          <a:xfrm>
            <a:off x="2389450" y="2873892"/>
            <a:ext cx="1609522" cy="1743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5BA3F73-8720-4511-ADF5-3E05367E4A77}"/>
              </a:ext>
            </a:extLst>
          </p:cNvPr>
          <p:cNvSpPr txBox="1"/>
          <p:nvPr/>
        </p:nvSpPr>
        <p:spPr>
          <a:xfrm>
            <a:off x="3514362" y="4586249"/>
            <a:ext cx="1230312" cy="369332"/>
          </a:xfrm>
          <a:prstGeom prst="rect">
            <a:avLst/>
          </a:prstGeom>
          <a:noFill/>
        </p:spPr>
        <p:txBody>
          <a:bodyPr wrap="square" rtlCol="0">
            <a:spAutoFit/>
          </a:bodyPr>
          <a:lstStyle/>
          <a:p>
            <a:r>
              <a:rPr lang="en-US" dirty="0"/>
              <a:t>Log Odds</a:t>
            </a:r>
          </a:p>
        </p:txBody>
      </p:sp>
      <p:cxnSp>
        <p:nvCxnSpPr>
          <p:cNvPr id="15" name="Straight Arrow Connector 14">
            <a:extLst>
              <a:ext uri="{FF2B5EF4-FFF2-40B4-BE49-F238E27FC236}">
                <a16:creationId xmlns:a16="http://schemas.microsoft.com/office/drawing/2014/main" id="{B3DA766D-AB4A-45C7-A2BF-4252DC4E3E37}"/>
              </a:ext>
            </a:extLst>
          </p:cNvPr>
          <p:cNvCxnSpPr>
            <a:cxnSpLocks/>
          </p:cNvCxnSpPr>
          <p:nvPr/>
        </p:nvCxnSpPr>
        <p:spPr>
          <a:xfrm>
            <a:off x="7761550" y="2807217"/>
            <a:ext cx="733222" cy="1866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42DAC6C-97DF-40B6-ACE9-4F17987DD161}"/>
              </a:ext>
            </a:extLst>
          </p:cNvPr>
          <p:cNvSpPr txBox="1"/>
          <p:nvPr/>
        </p:nvSpPr>
        <p:spPr>
          <a:xfrm>
            <a:off x="8010162" y="4643275"/>
            <a:ext cx="1230312" cy="369332"/>
          </a:xfrm>
          <a:prstGeom prst="rect">
            <a:avLst/>
          </a:prstGeom>
          <a:noFill/>
        </p:spPr>
        <p:txBody>
          <a:bodyPr wrap="square" rtlCol="0">
            <a:spAutoFit/>
          </a:bodyPr>
          <a:lstStyle/>
          <a:p>
            <a:r>
              <a:rPr lang="en-US" dirty="0"/>
              <a:t>Probability</a:t>
            </a:r>
          </a:p>
        </p:txBody>
      </p:sp>
    </p:spTree>
    <p:extLst>
      <p:ext uri="{BB962C8B-B14F-4D97-AF65-F5344CB8AC3E}">
        <p14:creationId xmlns:p14="http://schemas.microsoft.com/office/powerpoint/2010/main" val="143601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p:bldP spid="20" grpId="0" animBg="1"/>
      <p:bldP spid="2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17500" y="166689"/>
            <a:ext cx="10058400" cy="779462"/>
          </a:xfrm>
        </p:spPr>
        <p:txBody>
          <a:bodyPr>
            <a:normAutofit/>
          </a:bodyPr>
          <a:lstStyle/>
          <a:p>
            <a:r>
              <a:rPr lang="en-US" altLang="en-US" sz="4000" dirty="0">
                <a:latin typeface="Aptos Display" panose="020B0004020202020204" pitchFamily="34" charset="0"/>
                <a:ea typeface="Calibri" panose="020F0502020204030204" pitchFamily="34" charset="0"/>
                <a:cs typeface="Calibri" panose="020F0502020204030204" pitchFamily="34" charset="0"/>
              </a:rPr>
              <a:t>Mechanics of Logistic Regression</a:t>
            </a:r>
            <a:endParaRPr lang="en-US" sz="4000" dirty="0">
              <a:latin typeface="Aptos Display" panose="020B0004020202020204" pitchFamily="34" charset="0"/>
              <a:ea typeface="Calibri" panose="020F0502020204030204" pitchFamily="34" charset="0"/>
              <a:cs typeface="Calibri" panose="020F0502020204030204" pitchFamily="34" charset="0"/>
            </a:endParaRPr>
          </a:p>
        </p:txBody>
      </p:sp>
      <p:sp>
        <p:nvSpPr>
          <p:cNvPr id="3" name="Content Placeholder 2"/>
          <p:cNvSpPr>
            <a:spLocks noGrp="1"/>
          </p:cNvSpPr>
          <p:nvPr>
            <p:ph idx="4294967295"/>
          </p:nvPr>
        </p:nvSpPr>
        <p:spPr>
          <a:xfrm>
            <a:off x="317500" y="946151"/>
            <a:ext cx="11264900" cy="3790950"/>
          </a:xfrm>
        </p:spPr>
        <p:txBody>
          <a:bodyPr>
            <a:normAutofit/>
          </a:bodyPr>
          <a:lstStyle/>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Logit of </a:t>
            </a:r>
            <a:r>
              <a:rPr lang="en-US" sz="2000" i="1" dirty="0">
                <a:latin typeface="Calibri" panose="020F0502020204030204" pitchFamily="34" charset="0"/>
                <a:ea typeface="Calibri" panose="020F0502020204030204" pitchFamily="34" charset="0"/>
                <a:cs typeface="Calibri" panose="020F0502020204030204" pitchFamily="34" charset="0"/>
              </a:rPr>
              <a:t>Y </a:t>
            </a:r>
            <a:r>
              <a:rPr lang="en-US" sz="2000" dirty="0">
                <a:latin typeface="Calibri" panose="020F0502020204030204" pitchFamily="34" charset="0"/>
                <a:ea typeface="Calibri" panose="020F0502020204030204" pitchFamily="34" charset="0"/>
                <a:cs typeface="Calibri" panose="020F0502020204030204" pitchFamily="34" charset="0"/>
              </a:rPr>
              <a:t>equation interpretation:  For each one-unit change in the independent variable, the </a:t>
            </a:r>
            <a:r>
              <a:rPr lang="en-US" sz="2000" b="1" dirty="0">
                <a:latin typeface="Calibri" panose="020F0502020204030204" pitchFamily="34" charset="0"/>
                <a:ea typeface="Calibri" panose="020F0502020204030204" pitchFamily="34" charset="0"/>
                <a:cs typeface="Calibri" panose="020F0502020204030204" pitchFamily="34" charset="0"/>
              </a:rPr>
              <a:t>log odds of Y</a:t>
            </a:r>
            <a:r>
              <a:rPr lang="en-US" sz="2000" dirty="0">
                <a:latin typeface="Calibri" panose="020F0502020204030204" pitchFamily="34" charset="0"/>
                <a:ea typeface="Calibri" panose="020F0502020204030204" pitchFamily="34" charset="0"/>
                <a:cs typeface="Calibri" panose="020F0502020204030204" pitchFamily="34" charset="0"/>
              </a:rPr>
              <a:t> increases (decreases) by the beta coefficient</a:t>
            </a:r>
          </a:p>
          <a:p>
            <a:pPr lvl="2">
              <a:lnSpc>
                <a:spcPct val="100000"/>
              </a:lnSpc>
            </a:pPr>
            <a:r>
              <a:rPr lang="en-US" sz="1800" b="1" dirty="0">
                <a:latin typeface="Calibri" panose="020F0502020204030204" pitchFamily="34" charset="0"/>
                <a:ea typeface="Calibri" panose="020F0502020204030204" pitchFamily="34" charset="0"/>
                <a:cs typeface="Calibri" panose="020F0502020204030204" pitchFamily="34" charset="0"/>
              </a:rPr>
              <a:t>Problem</a:t>
            </a:r>
            <a:r>
              <a:rPr lang="en-US" sz="1800" dirty="0">
                <a:latin typeface="Calibri" panose="020F0502020204030204" pitchFamily="34" charset="0"/>
                <a:ea typeface="Calibri" panose="020F0502020204030204" pitchFamily="34" charset="0"/>
                <a:cs typeface="Calibri" panose="020F0502020204030204" pitchFamily="34" charset="0"/>
              </a:rPr>
              <a:t>: nobody knows what log odds are!</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Exponentiate the logit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(i.e., the outcome of the logistic regression equation), to convert it back to the odds</a:t>
            </a:r>
          </a:p>
          <a:p>
            <a:pPr lvl="2">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Interpret the independent variables as affecting the odds (rather than log odds) of the outcome</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Convert odds to probability:  Probability values close to one indicate increased likelihood of occurrence</a:t>
            </a:r>
          </a:p>
          <a:p>
            <a:pPr lvl="2">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Much more intuitive</a:t>
            </a:r>
          </a:p>
        </p:txBody>
      </p:sp>
    </p:spTree>
    <p:extLst>
      <p:ext uri="{BB962C8B-B14F-4D97-AF65-F5344CB8AC3E}">
        <p14:creationId xmlns:p14="http://schemas.microsoft.com/office/powerpoint/2010/main" val="216719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5708" y="115216"/>
            <a:ext cx="10058400" cy="594789"/>
          </a:xfrm>
        </p:spPr>
        <p:txBody>
          <a:bodyPr>
            <a:normAutofit fontScale="90000"/>
          </a:bodyPr>
          <a:lstStyle/>
          <a:p>
            <a:pPr>
              <a:lnSpc>
                <a:spcPct val="100000"/>
              </a:lnSpc>
            </a:pPr>
            <a:r>
              <a:rPr lang="en-US" sz="4000" dirty="0">
                <a:latin typeface="Aptos Display" panose="020B0004020202020204" pitchFamily="34" charset="0"/>
                <a:ea typeface="Calibri" panose="020F0502020204030204" pitchFamily="34" charset="0"/>
                <a:cs typeface="Calibri" panose="020F0502020204030204" pitchFamily="34" charset="0"/>
              </a:rPr>
              <a:t>Model fit</a:t>
            </a:r>
          </a:p>
        </p:txBody>
      </p:sp>
      <p:sp>
        <p:nvSpPr>
          <p:cNvPr id="3" name="Content Placeholder 2"/>
          <p:cNvSpPr>
            <a:spLocks noGrp="1"/>
          </p:cNvSpPr>
          <p:nvPr>
            <p:ph idx="4294967295"/>
          </p:nvPr>
        </p:nvSpPr>
        <p:spPr>
          <a:xfrm>
            <a:off x="258184" y="710005"/>
            <a:ext cx="11933816" cy="5158983"/>
          </a:xfrm>
        </p:spPr>
        <p:txBody>
          <a:bodyPr/>
          <a:lstStyle/>
          <a:p>
            <a:pPr>
              <a:lnSpc>
                <a:spcPct val="100000"/>
              </a:lnSpc>
            </a:pPr>
            <a:r>
              <a:rPr lang="en-US" sz="2200" dirty="0">
                <a:latin typeface="Calibri" panose="020F0502020204030204" pitchFamily="34" charset="0"/>
                <a:ea typeface="Calibri" panose="020F0502020204030204" pitchFamily="34" charset="0"/>
                <a:cs typeface="Calibri" panose="020F0502020204030204" pitchFamily="34" charset="0"/>
              </a:rPr>
              <a:t>Overall logistic regression model determines the extent to which the predicted values accurately represent the observed values (Xie, Pendergast, &amp; Clarke, 2008) </a:t>
            </a:r>
          </a:p>
          <a:p>
            <a:pPr lvl="2">
              <a:lnSpc>
                <a:spcPct val="100000"/>
              </a:lnSpc>
            </a:pPr>
            <a:r>
              <a:rPr lang="en-US" sz="1800" b="1" dirty="0">
                <a:latin typeface="Calibri" panose="020F0502020204030204" pitchFamily="34" charset="0"/>
                <a:ea typeface="Calibri" panose="020F0502020204030204" pitchFamily="34" charset="0"/>
                <a:cs typeface="Calibri" panose="020F0502020204030204" pitchFamily="34" charset="0"/>
              </a:rPr>
              <a:t>Change in log likelihood</a:t>
            </a:r>
          </a:p>
          <a:p>
            <a:pPr lvl="2">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Hosmer and </a:t>
            </a:r>
            <a:r>
              <a:rPr lang="en-US" sz="1800" dirty="0" err="1">
                <a:latin typeface="Calibri" panose="020F0502020204030204" pitchFamily="34" charset="0"/>
                <a:ea typeface="Calibri" panose="020F0502020204030204" pitchFamily="34" charset="0"/>
                <a:cs typeface="Calibri" panose="020F0502020204030204" pitchFamily="34" charset="0"/>
              </a:rPr>
              <a:t>Lemeshow</a:t>
            </a:r>
            <a:r>
              <a:rPr lang="en-US" sz="1800" dirty="0">
                <a:latin typeface="Calibri" panose="020F0502020204030204" pitchFamily="34" charset="0"/>
                <a:ea typeface="Calibri" panose="020F0502020204030204" pitchFamily="34" charset="0"/>
                <a:cs typeface="Calibri" panose="020F0502020204030204" pitchFamily="34" charset="0"/>
              </a:rPr>
              <a:t> goodness-of-fit test</a:t>
            </a:r>
          </a:p>
          <a:p>
            <a:pPr lvl="2">
              <a:lnSpc>
                <a:spcPct val="100000"/>
              </a:lnSpc>
            </a:pPr>
            <a:r>
              <a:rPr lang="en-US" sz="1800" dirty="0">
                <a:latin typeface="Calibri" panose="020F0502020204030204" pitchFamily="34" charset="0"/>
                <a:ea typeface="Calibri" panose="020F0502020204030204" pitchFamily="34" charset="0"/>
                <a:cs typeface="Calibri" panose="020F0502020204030204" pitchFamily="34" charset="0"/>
              </a:rPr>
              <a:t>Pseudo-variance explained</a:t>
            </a:r>
          </a:p>
          <a:p>
            <a:pPr lvl="2">
              <a:lnSpc>
                <a:spcPct val="100000"/>
              </a:lnSpc>
            </a:pPr>
            <a:r>
              <a:rPr lang="en-US" sz="1800" b="1" dirty="0">
                <a:latin typeface="Calibri" panose="020F0502020204030204" pitchFamily="34" charset="0"/>
                <a:ea typeface="Calibri" panose="020F0502020204030204" pitchFamily="34" charset="0"/>
                <a:cs typeface="Calibri" panose="020F0502020204030204" pitchFamily="34" charset="0"/>
              </a:rPr>
              <a:t>Predicted group membership</a:t>
            </a:r>
          </a:p>
          <a:p>
            <a:pPr marL="201168" lvl="1" indent="0">
              <a:lnSpc>
                <a:spcPct val="100000"/>
              </a:lnSpc>
              <a:buNone/>
            </a:pPr>
            <a:r>
              <a:rPr lang="en-US" sz="2000" b="1" dirty="0">
                <a:latin typeface="Calibri" panose="020F0502020204030204" pitchFamily="34" charset="0"/>
                <a:ea typeface="Calibri" panose="020F0502020204030204" pitchFamily="34" charset="0"/>
                <a:cs typeface="Calibri" panose="020F0502020204030204" pitchFamily="34" charset="0"/>
              </a:rPr>
              <a:t>Significance tests</a:t>
            </a:r>
            <a:r>
              <a:rPr lang="en-US" sz="2000" dirty="0">
                <a:latin typeface="Calibri" panose="020F0502020204030204" pitchFamily="34" charset="0"/>
                <a:ea typeface="Calibri" panose="020F0502020204030204" pitchFamily="34" charset="0"/>
                <a:cs typeface="Calibri" panose="020F0502020204030204" pitchFamily="34" charset="0"/>
              </a:rPr>
              <a:t>: Beta coefficients</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Each logistic regression coefficient determines if the individual coefficients are statistically significantly different from zero</a:t>
            </a:r>
          </a:p>
        </p:txBody>
      </p:sp>
    </p:spTree>
    <p:extLst>
      <p:ext uri="{BB962C8B-B14F-4D97-AF65-F5344CB8AC3E}">
        <p14:creationId xmlns:p14="http://schemas.microsoft.com/office/powerpoint/2010/main" val="28572343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D4041-CBC4-4575-9F14-5FDD20197454}"/>
              </a:ext>
            </a:extLst>
          </p:cNvPr>
          <p:cNvSpPr>
            <a:spLocks noGrp="1"/>
          </p:cNvSpPr>
          <p:nvPr>
            <p:ph type="title" idx="4294967295"/>
          </p:nvPr>
        </p:nvSpPr>
        <p:spPr>
          <a:xfrm>
            <a:off x="132678" y="103766"/>
            <a:ext cx="10058400" cy="885246"/>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Change in Log Likelihood test for model fit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A372F2-1624-402A-8468-B2A48F23DD56}"/>
                  </a:ext>
                </a:extLst>
              </p:cNvPr>
              <p:cNvSpPr>
                <a:spLocks noGrp="1"/>
              </p:cNvSpPr>
              <p:nvPr>
                <p:ph idx="4294967295"/>
              </p:nvPr>
            </p:nvSpPr>
            <p:spPr>
              <a:xfrm>
                <a:off x="376518" y="871369"/>
                <a:ext cx="11815482" cy="4997619"/>
              </a:xfrm>
            </p:spPr>
            <p:txBody>
              <a:bodyPr>
                <a:norm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Test of overall model fit</a:t>
                </a:r>
              </a:p>
              <a:p>
                <a:pPr lvl="1"/>
                <a:r>
                  <a:rPr lang="en-US" sz="2000" dirty="0">
                    <a:latin typeface="Calibri" panose="020F0502020204030204" pitchFamily="34" charset="0"/>
                    <a:ea typeface="Calibri" panose="020F0502020204030204" pitchFamily="34" charset="0"/>
                    <a:cs typeface="Calibri" panose="020F0502020204030204" pitchFamily="34" charset="0"/>
                  </a:rPr>
                  <a:t>Useful when </a:t>
                </a:r>
                <a:r>
                  <a:rPr lang="en-US" sz="2000" b="1" dirty="0">
                    <a:latin typeface="Calibri" panose="020F0502020204030204" pitchFamily="34" charset="0"/>
                    <a:ea typeface="Calibri" panose="020F0502020204030204" pitchFamily="34" charset="0"/>
                    <a:cs typeface="Calibri" panose="020F0502020204030204" pitchFamily="34" charset="0"/>
                  </a:rPr>
                  <a:t>comparing two </a:t>
                </a:r>
                <a:r>
                  <a:rPr lang="en-US" sz="2000" b="1" u="sng" dirty="0">
                    <a:latin typeface="Calibri" panose="020F0502020204030204" pitchFamily="34" charset="0"/>
                    <a:ea typeface="Calibri" panose="020F0502020204030204" pitchFamily="34" charset="0"/>
                    <a:cs typeface="Calibri" panose="020F0502020204030204" pitchFamily="34" charset="0"/>
                  </a:rPr>
                  <a:t>nested</a:t>
                </a:r>
                <a:r>
                  <a:rPr lang="en-US" sz="2000" b="1" dirty="0">
                    <a:latin typeface="Calibri" panose="020F0502020204030204" pitchFamily="34" charset="0"/>
                    <a:ea typeface="Calibri" panose="020F0502020204030204" pitchFamily="34" charset="0"/>
                    <a:cs typeface="Calibri" panose="020F0502020204030204" pitchFamily="34" charset="0"/>
                  </a:rPr>
                  <a:t> models</a:t>
                </a:r>
              </a:p>
              <a:p>
                <a:pPr lvl="1"/>
                <a:r>
                  <a:rPr lang="en-US" sz="2000" dirty="0">
                    <a:latin typeface="Calibri" panose="020F0502020204030204" pitchFamily="34" charset="0"/>
                    <a:ea typeface="Calibri" panose="020F0502020204030204" pitchFamily="34" charset="0"/>
                    <a:cs typeface="Calibri" panose="020F0502020204030204" pitchFamily="34" charset="0"/>
                  </a:rPr>
                  <a:t>The test is based on the change in the log likelihood function from the smaller model (with fewer variables) to a larger model (with the same variables in the smaller model and one or more additional variables)</a:t>
                </a:r>
              </a:p>
              <a:p>
                <a:pPr lvl="1"/>
                <a:r>
                  <a:rPr lang="en-US" sz="1900" b="1" dirty="0">
                    <a:latin typeface="Calibri" panose="020F0502020204030204" pitchFamily="34" charset="0"/>
                    <a:ea typeface="Calibri" panose="020F0502020204030204" pitchFamily="34" charset="0"/>
                    <a:cs typeface="Calibri" panose="020F0502020204030204" pitchFamily="34" charset="0"/>
                  </a:rPr>
                  <a:t>Note</a:t>
                </a:r>
                <a:r>
                  <a:rPr lang="en-US" sz="1900" dirty="0">
                    <a:latin typeface="Calibri" panose="020F0502020204030204" pitchFamily="34" charset="0"/>
                    <a:ea typeface="Calibri" panose="020F0502020204030204" pitchFamily="34" charset="0"/>
                    <a:cs typeface="Calibri" panose="020F0502020204030204" pitchFamily="34" charset="0"/>
                  </a:rPr>
                  <a:t>: this includes the intercept-only model with no predictors</a:t>
                </a:r>
              </a:p>
              <a:p>
                <a:r>
                  <a:rPr lang="en-US" dirty="0">
                    <a:latin typeface="Calibri" panose="020F0502020204030204" pitchFamily="34" charset="0"/>
                    <a:ea typeface="Calibri" panose="020F0502020204030204" pitchFamily="34" charset="0"/>
                    <a:cs typeface="Calibri" panose="020F0502020204030204" pitchFamily="34" charset="0"/>
                  </a:rPr>
                  <a:t>The test is all regression coefficients are 0 </a:t>
                </a: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The test statistic computed as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-2 * </a:t>
                </a:r>
                <a:r>
                  <a:rPr lang="en-US" i="1" dirty="0">
                    <a:latin typeface="Calibri" panose="020F0502020204030204" pitchFamily="34" charset="0"/>
                    <a:ea typeface="Calibri" panose="020F0502020204030204" pitchFamily="34" charset="0"/>
                    <a:cs typeface="Calibri" panose="020F0502020204030204" pitchFamily="34" charset="0"/>
                  </a:rPr>
                  <a:t>LL</a:t>
                </a:r>
                <a:r>
                  <a:rPr lang="en-US" sz="1400" dirty="0">
                    <a:latin typeface="Calibri" panose="020F0502020204030204" pitchFamily="34" charset="0"/>
                    <a:ea typeface="Calibri" panose="020F0502020204030204" pitchFamily="34" charset="0"/>
                    <a:cs typeface="Calibri" panose="020F0502020204030204" pitchFamily="34" charset="0"/>
                  </a:rPr>
                  <a:t>[diff]</a:t>
                </a:r>
                <a:r>
                  <a:rPr lang="en-US" i="1"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is distributed as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𝜒</m:t>
                        </m:r>
                      </m:e>
                      <m:sub>
                        <m:r>
                          <a:rPr lang="en-US" b="0" i="1" smtClean="0">
                            <a:latin typeface="Cambria Math" panose="02040503050406030204" pitchFamily="18" charset="0"/>
                          </a:rPr>
                          <m:t>2</m:t>
                        </m:r>
                      </m:sub>
                    </m:sSub>
                  </m:oMath>
                </a14:m>
                <a:r>
                  <a:rPr lang="en-US" dirty="0">
                    <a:latin typeface="Calibri" panose="020F0502020204030204" pitchFamily="34" charset="0"/>
                    <a:ea typeface="Calibri" panose="020F0502020204030204" pitchFamily="34" charset="0"/>
                    <a:cs typeface="Calibri" panose="020F0502020204030204" pitchFamily="34" charset="0"/>
                  </a:rPr>
                  <a:t> with </a:t>
                </a:r>
                <a:r>
                  <a:rPr lang="en-US" i="1" dirty="0">
                    <a:latin typeface="Calibri" panose="020F0502020204030204" pitchFamily="34" charset="0"/>
                    <a:ea typeface="Calibri" panose="020F0502020204030204" pitchFamily="34" charset="0"/>
                    <a:cs typeface="Calibri" panose="020F0502020204030204" pitchFamily="34" charset="0"/>
                  </a:rPr>
                  <a:t>df </a:t>
                </a:r>
                <a:r>
                  <a:rPr lang="en-US" dirty="0">
                    <a:latin typeface="Calibri" panose="020F0502020204030204" pitchFamily="34" charset="0"/>
                    <a:ea typeface="Calibri" panose="020F0502020204030204" pitchFamily="34" charset="0"/>
                    <a:cs typeface="Calibri" panose="020F0502020204030204" pitchFamily="34" charset="0"/>
                  </a:rPr>
                  <a:t>= </a:t>
                </a:r>
                <a:r>
                  <a:rPr lang="en-US" i="1" dirty="0">
                    <a:latin typeface="Calibri" panose="020F0502020204030204" pitchFamily="34" charset="0"/>
                    <a:ea typeface="Calibri" panose="020F0502020204030204" pitchFamily="34" charset="0"/>
                    <a:cs typeface="Calibri" panose="020F0502020204030204" pitchFamily="34" charset="0"/>
                  </a:rPr>
                  <a:t>df</a:t>
                </a:r>
                <a:r>
                  <a:rPr lang="en-US" sz="2000" dirty="0">
                    <a:latin typeface="Calibri" panose="020F0502020204030204" pitchFamily="34" charset="0"/>
                    <a:ea typeface="Calibri" panose="020F0502020204030204" pitchFamily="34" charset="0"/>
                    <a:cs typeface="Calibri" panose="020F0502020204030204" pitchFamily="34" charset="0"/>
                  </a:rPr>
                  <a:t>[larger model] </a:t>
                </a:r>
                <a:r>
                  <a:rPr lang="en-US" i="1" dirty="0">
                    <a:latin typeface="Calibri" panose="020F0502020204030204" pitchFamily="34" charset="0"/>
                    <a:ea typeface="Calibri" panose="020F0502020204030204" pitchFamily="34" charset="0"/>
                    <a:cs typeface="Calibri" panose="020F0502020204030204" pitchFamily="34" charset="0"/>
                  </a:rPr>
                  <a:t>– df</a:t>
                </a:r>
                <a:r>
                  <a:rPr lang="en-US" sz="2000" dirty="0">
                    <a:latin typeface="Calibri" panose="020F0502020204030204" pitchFamily="34" charset="0"/>
                    <a:ea typeface="Calibri" panose="020F0502020204030204" pitchFamily="34" charset="0"/>
                    <a:cs typeface="Calibri" panose="020F0502020204030204" pitchFamily="34" charset="0"/>
                  </a:rPr>
                  <a:t>[smaller model] </a:t>
                </a:r>
              </a:p>
              <a:p>
                <a:r>
                  <a:rPr lang="en-US" dirty="0">
                    <a:latin typeface="Calibri" panose="020F0502020204030204" pitchFamily="34" charset="0"/>
                    <a:ea typeface="Calibri" panose="020F0502020204030204" pitchFamily="34" charset="0"/>
                    <a:cs typeface="Calibri" panose="020F0502020204030204" pitchFamily="34" charset="0"/>
                  </a:rPr>
                  <a:t>The larger the difference, the better the model fit</a:t>
                </a:r>
              </a:p>
            </p:txBody>
          </p:sp>
        </mc:Choice>
        <mc:Fallback xmlns="">
          <p:sp>
            <p:nvSpPr>
              <p:cNvPr id="3" name="Content Placeholder 2">
                <a:extLst>
                  <a:ext uri="{FF2B5EF4-FFF2-40B4-BE49-F238E27FC236}">
                    <a16:creationId xmlns:a16="http://schemas.microsoft.com/office/drawing/2014/main" id="{C6A372F2-1624-402A-8468-B2A48F23DD56}"/>
                  </a:ext>
                </a:extLst>
              </p:cNvPr>
              <p:cNvSpPr>
                <a:spLocks noGrp="1" noRot="1" noChangeAspect="1" noMove="1" noResize="1" noEditPoints="1" noAdjustHandles="1" noChangeArrowheads="1" noChangeShapeType="1" noTextEdit="1"/>
              </p:cNvSpPr>
              <p:nvPr>
                <p:ph idx="4294967295"/>
              </p:nvPr>
            </p:nvSpPr>
            <p:spPr>
              <a:xfrm>
                <a:off x="376518" y="871369"/>
                <a:ext cx="11815482" cy="4997619"/>
              </a:xfrm>
              <a:blipFill>
                <a:blip r:embed="rId3"/>
                <a:stretch>
                  <a:fillRect l="-929" t="-15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B987E29-92CE-43BA-A41E-F22554E96866}"/>
                  </a:ext>
                </a:extLst>
              </p:cNvPr>
              <p:cNvSpPr txBox="1"/>
              <p:nvPr/>
            </p:nvSpPr>
            <p:spPr>
              <a:xfrm>
                <a:off x="1655039" y="3429000"/>
                <a:ext cx="2345386" cy="307777"/>
              </a:xfrm>
              <a:prstGeom prst="rect">
                <a:avLst/>
              </a:prstGeom>
              <a:noFill/>
            </p:spPr>
            <p:txBody>
              <a:bodyPr wrap="none" lIns="0" tIns="0" rIns="0" bIns="0" rtlCol="0">
                <a:spAutoFit/>
              </a:bodyPr>
              <a:lstStyle/>
              <a:p>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𝑚</m:t>
                        </m:r>
                      </m:sub>
                    </m:sSub>
                    <m:r>
                      <a:rPr lang="en-US" sz="2000" b="0" i="1" smtClean="0">
                        <a:latin typeface="Cambria Math" panose="02040503050406030204" pitchFamily="18" charset="0"/>
                      </a:rPr>
                      <m:t>=</m:t>
                    </m:r>
                    <m:r>
                      <a:rPr lang="en-US" sz="2000" b="0" i="1" smtClean="0">
                        <a:latin typeface="Cambria Math" panose="02040503050406030204" pitchFamily="18" charset="0"/>
                      </a:rPr>
                      <m:t>0</m:t>
                    </m:r>
                  </m:oMath>
                </a14:m>
                <a:endParaRPr lang="en-US" sz="2000" dirty="0"/>
              </a:p>
            </p:txBody>
          </p:sp>
        </mc:Choice>
        <mc:Fallback xmlns="">
          <p:sp>
            <p:nvSpPr>
              <p:cNvPr id="5" name="TextBox 4">
                <a:extLst>
                  <a:ext uri="{FF2B5EF4-FFF2-40B4-BE49-F238E27FC236}">
                    <a16:creationId xmlns:a16="http://schemas.microsoft.com/office/drawing/2014/main" id="{4B987E29-92CE-43BA-A41E-F22554E96866}"/>
                  </a:ext>
                </a:extLst>
              </p:cNvPr>
              <p:cNvSpPr txBox="1">
                <a:spLocks noRot="1" noChangeAspect="1" noMove="1" noResize="1" noEditPoints="1" noAdjustHandles="1" noChangeArrowheads="1" noChangeShapeType="1" noTextEdit="1"/>
              </p:cNvSpPr>
              <p:nvPr/>
            </p:nvSpPr>
            <p:spPr>
              <a:xfrm>
                <a:off x="1655039" y="3429000"/>
                <a:ext cx="2345386" cy="307777"/>
              </a:xfrm>
              <a:prstGeom prst="rect">
                <a:avLst/>
              </a:prstGeom>
              <a:blipFill>
                <a:blip r:embed="rId4"/>
                <a:stretch>
                  <a:fillRect l="-3636" r="-2857" b="-3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9CDCBE-0518-4FD6-816F-4726773A7022}"/>
                  </a:ext>
                </a:extLst>
              </p:cNvPr>
              <p:cNvSpPr txBox="1"/>
              <p:nvPr/>
            </p:nvSpPr>
            <p:spPr>
              <a:xfrm>
                <a:off x="4685944" y="3428811"/>
                <a:ext cx="256050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𝑎𝑡</m:t>
                      </m:r>
                      <m:r>
                        <a:rPr lang="en-US" sz="2000" b="0" i="1" smtClean="0">
                          <a:latin typeface="Cambria Math" panose="02040503050406030204" pitchFamily="18" charset="0"/>
                        </a:rPr>
                        <m:t> </m:t>
                      </m:r>
                      <m:r>
                        <a:rPr lang="en-US" sz="2000" b="0" i="1" smtClean="0">
                          <a:latin typeface="Cambria Math" panose="02040503050406030204" pitchFamily="18" charset="0"/>
                        </a:rPr>
                        <m:t>𝑙𝑒𝑎𝑠𝑡</m:t>
                      </m:r>
                      <m:r>
                        <a:rPr lang="en-US" sz="2000" b="0" i="1" smtClean="0">
                          <a:latin typeface="Cambria Math" panose="02040503050406030204" pitchFamily="18" charset="0"/>
                        </a:rPr>
                        <m:t> </m:t>
                      </m:r>
                      <m:r>
                        <a:rPr lang="en-US" sz="2000" b="0" i="1" smtClean="0">
                          <a:latin typeface="Cambria Math" panose="02040503050406030204" pitchFamily="18" charset="0"/>
                        </a:rPr>
                        <m:t>𝑜𝑛𝑒</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𝛽</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0</m:t>
                      </m:r>
                    </m:oMath>
                  </m:oMathPara>
                </a14:m>
                <a:endParaRPr lang="en-US" sz="2000" dirty="0"/>
              </a:p>
            </p:txBody>
          </p:sp>
        </mc:Choice>
        <mc:Fallback xmlns="">
          <p:sp>
            <p:nvSpPr>
              <p:cNvPr id="6" name="TextBox 5">
                <a:extLst>
                  <a:ext uri="{FF2B5EF4-FFF2-40B4-BE49-F238E27FC236}">
                    <a16:creationId xmlns:a16="http://schemas.microsoft.com/office/drawing/2014/main" id="{D39CDCBE-0518-4FD6-816F-4726773A7022}"/>
                  </a:ext>
                </a:extLst>
              </p:cNvPr>
              <p:cNvSpPr txBox="1">
                <a:spLocks noRot="1" noChangeAspect="1" noMove="1" noResize="1" noEditPoints="1" noAdjustHandles="1" noChangeArrowheads="1" noChangeShapeType="1" noTextEdit="1"/>
              </p:cNvSpPr>
              <p:nvPr/>
            </p:nvSpPr>
            <p:spPr>
              <a:xfrm>
                <a:off x="4685944" y="3428811"/>
                <a:ext cx="2560509" cy="307777"/>
              </a:xfrm>
              <a:prstGeom prst="rect">
                <a:avLst/>
              </a:prstGeom>
              <a:blipFill>
                <a:blip r:embed="rId5"/>
                <a:stretch>
                  <a:fillRect l="-1905" r="-1667" b="-33333"/>
                </a:stretch>
              </a:blipFill>
            </p:spPr>
            <p:txBody>
              <a:bodyPr/>
              <a:lstStyle/>
              <a:p>
                <a:r>
                  <a:rPr lang="en-US">
                    <a:noFill/>
                  </a:rPr>
                  <a:t> </a:t>
                </a:r>
              </a:p>
            </p:txBody>
          </p:sp>
        </mc:Fallback>
      </mc:AlternateContent>
    </p:spTree>
    <p:extLst>
      <p:ext uri="{BB962C8B-B14F-4D97-AF65-F5344CB8AC3E}">
        <p14:creationId xmlns:p14="http://schemas.microsoft.com/office/powerpoint/2010/main" val="1783572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087E-DD38-4FDC-8EB7-BB05AA3CF1E0}"/>
              </a:ext>
            </a:extLst>
          </p:cNvPr>
          <p:cNvSpPr>
            <a:spLocks noGrp="1"/>
          </p:cNvSpPr>
          <p:nvPr>
            <p:ph type="title" idx="4294967295"/>
          </p:nvPr>
        </p:nvSpPr>
        <p:spPr>
          <a:xfrm>
            <a:off x="-1" y="1"/>
            <a:ext cx="12027049" cy="989012"/>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Predicted Group Membership for determining model fit (2)</a:t>
            </a:r>
          </a:p>
        </p:txBody>
      </p:sp>
      <p:sp>
        <p:nvSpPr>
          <p:cNvPr id="3" name="Content Placeholder 2">
            <a:extLst>
              <a:ext uri="{FF2B5EF4-FFF2-40B4-BE49-F238E27FC236}">
                <a16:creationId xmlns:a16="http://schemas.microsoft.com/office/drawing/2014/main" id="{D9D81530-2B9E-4FE1-95DA-69F42BFFA8D1}"/>
              </a:ext>
            </a:extLst>
          </p:cNvPr>
          <p:cNvSpPr>
            <a:spLocks noGrp="1"/>
          </p:cNvSpPr>
          <p:nvPr>
            <p:ph idx="4294967295"/>
          </p:nvPr>
        </p:nvSpPr>
        <p:spPr>
          <a:xfrm>
            <a:off x="258184" y="989013"/>
            <a:ext cx="11933816" cy="4879975"/>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If the predicted probability is above a cutoff (usually .5) assign 1, otherwise 0</a:t>
            </a:r>
          </a:p>
          <a:p>
            <a:r>
              <a:rPr lang="en-US" sz="2000" dirty="0">
                <a:latin typeface="Calibri" panose="020F0502020204030204" pitchFamily="34" charset="0"/>
                <a:ea typeface="Calibri" panose="020F0502020204030204" pitchFamily="34" charset="0"/>
                <a:cs typeface="Calibri" panose="020F0502020204030204" pitchFamily="34" charset="0"/>
              </a:rPr>
              <a:t>A crosstab table of predicted to observed probabilities provides the frequency and percentage of cases correctly classified</a:t>
            </a:r>
          </a:p>
          <a:p>
            <a:r>
              <a:rPr lang="en-US" sz="2000" dirty="0">
                <a:latin typeface="Calibri" panose="020F0502020204030204" pitchFamily="34" charset="0"/>
                <a:ea typeface="Calibri" panose="020F0502020204030204" pitchFamily="34" charset="0"/>
                <a:cs typeface="Calibri" panose="020F0502020204030204" pitchFamily="34" charset="0"/>
              </a:rPr>
              <a:t>A perfect model produces 100% correctly classified cases</a:t>
            </a:r>
          </a:p>
          <a:p>
            <a:r>
              <a:rPr lang="en-US" sz="2000" dirty="0">
                <a:latin typeface="Calibri" panose="020F0502020204030204" pitchFamily="34" charset="0"/>
                <a:ea typeface="Calibri" panose="020F0502020204030204" pitchFamily="34" charset="0"/>
                <a:cs typeface="Calibri" panose="020F0502020204030204" pitchFamily="34" charset="0"/>
              </a:rPr>
              <a:t>A model that classifies no better than chance would provide 50% correctly classified cases.</a:t>
            </a:r>
          </a:p>
        </p:txBody>
      </p:sp>
    </p:spTree>
    <p:extLst>
      <p:ext uri="{BB962C8B-B14F-4D97-AF65-F5344CB8AC3E}">
        <p14:creationId xmlns:p14="http://schemas.microsoft.com/office/powerpoint/2010/main" val="27038185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9F38-35B4-4F8E-BADA-C5AE210B75D6}"/>
              </a:ext>
            </a:extLst>
          </p:cNvPr>
          <p:cNvSpPr>
            <a:spLocks noGrp="1"/>
          </p:cNvSpPr>
          <p:nvPr>
            <p:ph type="title" idx="4294967295"/>
          </p:nvPr>
        </p:nvSpPr>
        <p:spPr>
          <a:xfrm>
            <a:off x="86061" y="104458"/>
            <a:ext cx="12019878" cy="788427"/>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Terminology for Predicted Group Membership table (1)</a:t>
            </a:r>
          </a:p>
        </p:txBody>
      </p:sp>
      <p:sp>
        <p:nvSpPr>
          <p:cNvPr id="3" name="Content Placeholder 2">
            <a:extLst>
              <a:ext uri="{FF2B5EF4-FFF2-40B4-BE49-F238E27FC236}">
                <a16:creationId xmlns:a16="http://schemas.microsoft.com/office/drawing/2014/main" id="{AB1AA21B-7A98-4758-B57D-B260C537174C}"/>
              </a:ext>
            </a:extLst>
          </p:cNvPr>
          <p:cNvSpPr>
            <a:spLocks noGrp="1"/>
          </p:cNvSpPr>
          <p:nvPr>
            <p:ph idx="4294967295"/>
          </p:nvPr>
        </p:nvSpPr>
        <p:spPr>
          <a:xfrm>
            <a:off x="322729" y="892885"/>
            <a:ext cx="11327803" cy="4976103"/>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Sensitivity is the probability that the dependent variable was coded as a “1” and our model predicted a “1” i.e., it was </a:t>
            </a:r>
            <a:r>
              <a:rPr lang="en-US" sz="2000" b="1" dirty="0">
                <a:latin typeface="Calibri" panose="020F0502020204030204" pitchFamily="34" charset="0"/>
                <a:ea typeface="Calibri" panose="020F0502020204030204" pitchFamily="34" charset="0"/>
                <a:cs typeface="Calibri" panose="020F0502020204030204" pitchFamily="34" charset="0"/>
              </a:rPr>
              <a:t>classified correctly</a:t>
            </a:r>
          </a:p>
          <a:p>
            <a:pPr lvl="1"/>
            <a:r>
              <a:rPr lang="en-US" sz="1800" dirty="0">
                <a:latin typeface="Calibri" panose="020F0502020204030204" pitchFamily="34" charset="0"/>
                <a:ea typeface="Calibri" panose="020F0502020204030204" pitchFamily="34" charset="0"/>
                <a:cs typeface="Calibri" panose="020F0502020204030204" pitchFamily="34" charset="0"/>
              </a:rPr>
              <a:t>The percentage of correct predictions of the cases that are coded as 1 for the dependent variable</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You have the disease and we said you did</a:t>
            </a:r>
          </a:p>
          <a:p>
            <a:r>
              <a:rPr lang="en-US" sz="2000" dirty="0">
                <a:latin typeface="Calibri" panose="020F0502020204030204" pitchFamily="34" charset="0"/>
                <a:ea typeface="Calibri" panose="020F0502020204030204" pitchFamily="34" charset="0"/>
                <a:cs typeface="Calibri" panose="020F0502020204030204" pitchFamily="34" charset="0"/>
              </a:rPr>
              <a:t>Specificity is the probability that a case-coded dependent variable was coded as a “0” and our model predicted a “0” i.e., it was </a:t>
            </a:r>
            <a:r>
              <a:rPr lang="en-US" sz="2000" b="1" dirty="0">
                <a:latin typeface="Calibri" panose="020F0502020204030204" pitchFamily="34" charset="0"/>
                <a:ea typeface="Calibri" panose="020F0502020204030204" pitchFamily="34" charset="0"/>
                <a:cs typeface="Calibri" panose="020F0502020204030204" pitchFamily="34" charset="0"/>
              </a:rPr>
              <a:t>classified correctly</a:t>
            </a:r>
          </a:p>
          <a:p>
            <a:pPr lvl="1"/>
            <a:r>
              <a:rPr lang="en-US" sz="1800" dirty="0">
                <a:latin typeface="Calibri" panose="020F0502020204030204" pitchFamily="34" charset="0"/>
                <a:ea typeface="Calibri" panose="020F0502020204030204" pitchFamily="34" charset="0"/>
                <a:cs typeface="Calibri" panose="020F0502020204030204" pitchFamily="34" charset="0"/>
              </a:rPr>
              <a:t>The percentage of correct predictions of the cases that are coded as 0 for the dependent variable</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You don’t have the disease and we said you didn’t</a:t>
            </a:r>
          </a:p>
          <a:p>
            <a:r>
              <a:rPr lang="en-US" dirty="0">
                <a:latin typeface="Calibri" panose="020F0502020204030204" pitchFamily="34" charset="0"/>
                <a:ea typeface="Calibri" panose="020F0502020204030204" pitchFamily="34" charset="0"/>
                <a:cs typeface="Calibri" panose="020F0502020204030204" pitchFamily="34" charset="0"/>
              </a:rPr>
              <a:t>This should sound really familiar</a:t>
            </a:r>
          </a:p>
        </p:txBody>
      </p:sp>
    </p:spTree>
    <p:extLst>
      <p:ext uri="{BB962C8B-B14F-4D97-AF65-F5344CB8AC3E}">
        <p14:creationId xmlns:p14="http://schemas.microsoft.com/office/powerpoint/2010/main" val="202442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09F38-35B4-4F8E-BADA-C5AE210B75D6}"/>
              </a:ext>
            </a:extLst>
          </p:cNvPr>
          <p:cNvSpPr>
            <a:spLocks noGrp="1"/>
          </p:cNvSpPr>
          <p:nvPr>
            <p:ph type="title" idx="4294967295"/>
          </p:nvPr>
        </p:nvSpPr>
        <p:spPr>
          <a:xfrm>
            <a:off x="96819" y="104458"/>
            <a:ext cx="11998362" cy="788427"/>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Terminology for Predicted Group Membership table (2)</a:t>
            </a:r>
            <a:endParaRPr lang="en-US" sz="4000" dirty="0">
              <a:latin typeface="Aptos Display" panose="020B0004020202020204" pitchFamily="34" charset="0"/>
            </a:endParaRPr>
          </a:p>
        </p:txBody>
      </p:sp>
      <p:sp>
        <p:nvSpPr>
          <p:cNvPr id="3" name="Content Placeholder 2">
            <a:extLst>
              <a:ext uri="{FF2B5EF4-FFF2-40B4-BE49-F238E27FC236}">
                <a16:creationId xmlns:a16="http://schemas.microsoft.com/office/drawing/2014/main" id="{AB1AA21B-7A98-4758-B57D-B260C537174C}"/>
              </a:ext>
            </a:extLst>
          </p:cNvPr>
          <p:cNvSpPr>
            <a:spLocks noGrp="1"/>
          </p:cNvSpPr>
          <p:nvPr>
            <p:ph idx="4294967295"/>
          </p:nvPr>
        </p:nvSpPr>
        <p:spPr>
          <a:xfrm>
            <a:off x="193638" y="796066"/>
            <a:ext cx="11998362" cy="5072922"/>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False positive rate </a:t>
            </a:r>
            <a:r>
              <a:rPr lang="en-US" sz="2000" dirty="0">
                <a:latin typeface="Calibri" panose="020F0502020204030204" pitchFamily="34" charset="0"/>
                <a:ea typeface="Calibri" panose="020F0502020204030204" pitchFamily="34" charset="0"/>
                <a:cs typeface="Calibri" panose="020F0502020204030204" pitchFamily="34" charset="0"/>
              </a:rPr>
              <a:t>is the probability that a case coded as 0 for the dependent variable (aka ‘negative’) is classified incorrectly. </a:t>
            </a:r>
          </a:p>
          <a:p>
            <a:pPr lvl="1"/>
            <a:r>
              <a:rPr lang="en-US" sz="1800" dirty="0">
                <a:latin typeface="Calibri" panose="020F0502020204030204" pitchFamily="34" charset="0"/>
                <a:ea typeface="Calibri" panose="020F0502020204030204" pitchFamily="34" charset="0"/>
                <a:cs typeface="Calibri" panose="020F0502020204030204" pitchFamily="34" charset="0"/>
              </a:rPr>
              <a:t>In other words, this is the percentage of cases in error where the dependent variable is predicted to be 1 (i.e., disease), but in fact the observed value is 0 (i.e., no disease)</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you have the disease, but you don’t</a:t>
            </a:r>
          </a:p>
          <a:p>
            <a:r>
              <a:rPr lang="en-US" sz="2000" dirty="0">
                <a:latin typeface="Calibri" panose="020F0502020204030204" pitchFamily="34" charset="0"/>
                <a:ea typeface="Calibri" panose="020F0502020204030204" pitchFamily="34" charset="0"/>
                <a:cs typeface="Calibri" panose="020F0502020204030204" pitchFamily="34" charset="0"/>
              </a:rPr>
              <a:t>False negative rate is the probability that a case coded as 1 for the dependent variable (aka ‘positive’) is classified incorrectly. </a:t>
            </a:r>
          </a:p>
          <a:p>
            <a:pPr lvl="1"/>
            <a:r>
              <a:rPr lang="en-US" sz="1800" dirty="0">
                <a:latin typeface="Calibri" panose="020F0502020204030204" pitchFamily="34" charset="0"/>
                <a:ea typeface="Calibri" panose="020F0502020204030204" pitchFamily="34" charset="0"/>
                <a:cs typeface="Calibri" panose="020F0502020204030204" pitchFamily="34" charset="0"/>
              </a:rPr>
              <a:t>In other words, this is the percentage of cases in error where the dependent variable is predicted to be 0 (i.e., unprepared), but in fact the observed value is 1 (i.e., prepared)</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you don’t have the disease, but you we said you did</a:t>
            </a:r>
          </a:p>
          <a:p>
            <a:pPr lvl="1"/>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920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C4A59-E9A6-4DE9-AE99-8AB720FC813A}"/>
              </a:ext>
            </a:extLst>
          </p:cNvPr>
          <p:cNvSpPr>
            <a:spLocks noGrp="1"/>
          </p:cNvSpPr>
          <p:nvPr>
            <p:ph type="title" idx="4294967295"/>
          </p:nvPr>
        </p:nvSpPr>
        <p:spPr>
          <a:xfrm>
            <a:off x="64546" y="141393"/>
            <a:ext cx="12062908" cy="820700"/>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Test of Significance of the Logistic Regression Coefficients</a:t>
            </a:r>
          </a:p>
        </p:txBody>
      </p:sp>
      <p:sp>
        <p:nvSpPr>
          <p:cNvPr id="3" name="Content Placeholder 2">
            <a:extLst>
              <a:ext uri="{FF2B5EF4-FFF2-40B4-BE49-F238E27FC236}">
                <a16:creationId xmlns:a16="http://schemas.microsoft.com/office/drawing/2014/main" id="{6C1E1859-49F3-489B-9D8E-C5E62CC5419F}"/>
              </a:ext>
            </a:extLst>
          </p:cNvPr>
          <p:cNvSpPr>
            <a:spLocks noGrp="1"/>
          </p:cNvSpPr>
          <p:nvPr>
            <p:ph idx="4294967295"/>
          </p:nvPr>
        </p:nvSpPr>
        <p:spPr>
          <a:xfrm>
            <a:off x="315557" y="962093"/>
            <a:ext cx="10058400" cy="3760788"/>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The second test in logistic regression is the test of the statistical significance of each regression coefficient, b</a:t>
            </a:r>
            <a:r>
              <a:rPr lang="en-US" sz="2000" i="1" baseline="-25000" dirty="0">
                <a:latin typeface="Calibri" panose="020F0502020204030204" pitchFamily="34" charset="0"/>
                <a:ea typeface="Calibri" panose="020F0502020204030204" pitchFamily="34" charset="0"/>
                <a:cs typeface="Calibri" panose="020F0502020204030204" pitchFamily="34" charset="0"/>
              </a:rPr>
              <a:t>k</a:t>
            </a:r>
          </a:p>
          <a:p>
            <a:endParaRPr lang="en-US" baseline="-25000" dirty="0"/>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The test statistic is called a Wald test computed as</a:t>
            </a:r>
          </a:p>
          <a:p>
            <a:endParaRPr lang="en-US" baseline="-250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005E3DE-E098-4903-9E24-6B4A43D36FD4}"/>
                  </a:ext>
                </a:extLst>
              </p:cNvPr>
              <p:cNvSpPr txBox="1"/>
              <p:nvPr/>
            </p:nvSpPr>
            <p:spPr>
              <a:xfrm>
                <a:off x="1818043" y="1754721"/>
                <a:ext cx="1451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r>
                        <a:rPr lang="en-US" sz="2400" b="0" i="1" smtClean="0">
                          <a:latin typeface="Cambria Math" panose="02040503050406030204" pitchFamily="18" charset="0"/>
                        </a:rPr>
                        <m:t>0</m:t>
                      </m:r>
                    </m:oMath>
                  </m:oMathPara>
                </a14:m>
                <a:endParaRPr lang="en-US" sz="2400" dirty="0"/>
              </a:p>
            </p:txBody>
          </p:sp>
        </mc:Choice>
        <mc:Fallback xmlns="">
          <p:sp>
            <p:nvSpPr>
              <p:cNvPr id="4" name="TextBox 3">
                <a:extLst>
                  <a:ext uri="{FF2B5EF4-FFF2-40B4-BE49-F238E27FC236}">
                    <a16:creationId xmlns:a16="http://schemas.microsoft.com/office/drawing/2014/main" id="{E005E3DE-E098-4903-9E24-6B4A43D36FD4}"/>
                  </a:ext>
                </a:extLst>
              </p:cNvPr>
              <p:cNvSpPr txBox="1">
                <a:spLocks noRot="1" noChangeAspect="1" noMove="1" noResize="1" noEditPoints="1" noAdjustHandles="1" noChangeArrowheads="1" noChangeShapeType="1" noTextEdit="1"/>
              </p:cNvSpPr>
              <p:nvPr/>
            </p:nvSpPr>
            <p:spPr>
              <a:xfrm>
                <a:off x="1818043" y="1754721"/>
                <a:ext cx="1451103" cy="369332"/>
              </a:xfrm>
              <a:prstGeom prst="rect">
                <a:avLst/>
              </a:prstGeom>
              <a:blipFill>
                <a:blip r:embed="rId2"/>
                <a:stretch>
                  <a:fillRect l="-4202" r="-4622"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49A721C-42DB-441D-BA47-D7CB91A7F8BA}"/>
                  </a:ext>
                </a:extLst>
              </p:cNvPr>
              <p:cNvSpPr txBox="1"/>
              <p:nvPr/>
            </p:nvSpPr>
            <p:spPr>
              <a:xfrm>
                <a:off x="3597318" y="1765787"/>
                <a:ext cx="1451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𝐻</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rPr>
                            <m:t>𝑘</m:t>
                          </m:r>
                        </m:sub>
                      </m:sSub>
                      <m:r>
                        <a:rPr lang="en-US" sz="2400" i="1">
                          <a:latin typeface="Cambria Math" panose="02040503050406030204" pitchFamily="18" charset="0"/>
                        </a:rPr>
                        <m:t>≠</m:t>
                      </m:r>
                      <m:r>
                        <a:rPr lang="en-US" sz="2400" b="0" i="1" smtClean="0">
                          <a:latin typeface="Cambria Math" panose="02040503050406030204" pitchFamily="18" charset="0"/>
                        </a:rPr>
                        <m:t>0</m:t>
                      </m:r>
                    </m:oMath>
                  </m:oMathPara>
                </a14:m>
                <a:endParaRPr lang="en-US" sz="2400" dirty="0"/>
              </a:p>
            </p:txBody>
          </p:sp>
        </mc:Choice>
        <mc:Fallback xmlns="">
          <p:sp>
            <p:nvSpPr>
              <p:cNvPr id="5" name="TextBox 4">
                <a:extLst>
                  <a:ext uri="{FF2B5EF4-FFF2-40B4-BE49-F238E27FC236}">
                    <a16:creationId xmlns:a16="http://schemas.microsoft.com/office/drawing/2014/main" id="{249A721C-42DB-441D-BA47-D7CB91A7F8BA}"/>
                  </a:ext>
                </a:extLst>
              </p:cNvPr>
              <p:cNvSpPr txBox="1">
                <a:spLocks noRot="1" noChangeAspect="1" noMove="1" noResize="1" noEditPoints="1" noAdjustHandles="1" noChangeArrowheads="1" noChangeShapeType="1" noTextEdit="1"/>
              </p:cNvSpPr>
              <p:nvPr/>
            </p:nvSpPr>
            <p:spPr>
              <a:xfrm>
                <a:off x="3597318" y="1765787"/>
                <a:ext cx="1451103" cy="369332"/>
              </a:xfrm>
              <a:prstGeom prst="rect">
                <a:avLst/>
              </a:prstGeom>
              <a:blipFill>
                <a:blip r:embed="rId3"/>
                <a:stretch>
                  <a:fillRect l="-3782" r="-4202"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10B12-E0EC-4E8B-AA22-533671D070CC}"/>
                  </a:ext>
                </a:extLst>
              </p:cNvPr>
              <p:cNvSpPr txBox="1"/>
              <p:nvPr/>
            </p:nvSpPr>
            <p:spPr>
              <a:xfrm>
                <a:off x="1818043" y="2973715"/>
                <a:ext cx="2768593" cy="9105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𝑊</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Sup>
                            <m:sSubSupPr>
                              <m:ctrlPr>
                                <a:rPr lang="en-US" sz="2400" b="0" i="1" smtClean="0">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rPr>
                                <m:t>𝑘</m:t>
                              </m:r>
                            </m:sub>
                            <m:sup>
                              <m:r>
                                <a:rPr lang="en-US" sz="2400" b="0" i="1" smtClean="0">
                                  <a:latin typeface="Cambria Math" panose="02040503050406030204" pitchFamily="18" charset="0"/>
                                </a:rPr>
                                <m:t>2</m:t>
                              </m:r>
                            </m:sup>
                          </m:sSubSup>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𝑆𝐸</m:t>
                              </m:r>
                            </m:e>
                            <m:sub>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rPr>
                                    <m:t>𝑘</m:t>
                                  </m:r>
                                </m:sub>
                                <m:sup>
                                  <m:r>
                                    <a:rPr lang="en-US" sz="2400" i="1">
                                      <a:latin typeface="Cambria Math" panose="02040503050406030204" pitchFamily="18" charset="0"/>
                                    </a:rPr>
                                    <m:t>2</m:t>
                                  </m:r>
                                </m:sup>
                              </m:sSubSup>
                            </m:sub>
                          </m:sSub>
                        </m:den>
                      </m:f>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𝜒</m:t>
                          </m:r>
                        </m:e>
                        <m:sub>
                          <m:r>
                            <a:rPr lang="en-US" sz="2400" i="1">
                              <a:latin typeface="Cambria Math" panose="02040503050406030204" pitchFamily="18" charset="0"/>
                            </a:rPr>
                            <m:t>2</m:t>
                          </m:r>
                        </m:sub>
                      </m:sSub>
                    </m:oMath>
                  </m:oMathPara>
                </a14:m>
                <a:endParaRPr lang="en-US" dirty="0"/>
              </a:p>
            </p:txBody>
          </p:sp>
        </mc:Choice>
        <mc:Fallback xmlns="">
          <p:sp>
            <p:nvSpPr>
              <p:cNvPr id="6" name="TextBox 5">
                <a:extLst>
                  <a:ext uri="{FF2B5EF4-FFF2-40B4-BE49-F238E27FC236}">
                    <a16:creationId xmlns:a16="http://schemas.microsoft.com/office/drawing/2014/main" id="{A5610B12-E0EC-4E8B-AA22-533671D070CC}"/>
                  </a:ext>
                </a:extLst>
              </p:cNvPr>
              <p:cNvSpPr txBox="1">
                <a:spLocks noRot="1" noChangeAspect="1" noMove="1" noResize="1" noEditPoints="1" noAdjustHandles="1" noChangeArrowheads="1" noChangeShapeType="1" noTextEdit="1"/>
              </p:cNvSpPr>
              <p:nvPr/>
            </p:nvSpPr>
            <p:spPr>
              <a:xfrm>
                <a:off x="1818043" y="2973715"/>
                <a:ext cx="2768593" cy="91057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360155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80682" y="93700"/>
            <a:ext cx="12030635" cy="1025095"/>
          </a:xfrm>
        </p:spPr>
        <p:txBody>
          <a:bodyPr>
            <a:normAutofit fontScale="90000"/>
          </a:bodyPr>
          <a:lstStyle/>
          <a:p>
            <a:r>
              <a:rPr lang="en-US" sz="4000" dirty="0">
                <a:latin typeface="Aptos Display" panose="020B0004020202020204" pitchFamily="34" charset="0"/>
                <a:ea typeface="Calibri" panose="020F0502020204030204" pitchFamily="34" charset="0"/>
                <a:cs typeface="Calibri" panose="020F0502020204030204" pitchFamily="34" charset="0"/>
              </a:rPr>
              <a:t>What Logistic Regression Is and How It Works: Assumptions </a:t>
            </a:r>
          </a:p>
        </p:txBody>
      </p:sp>
      <p:sp>
        <p:nvSpPr>
          <p:cNvPr id="5" name="Content Placeholder 4"/>
          <p:cNvSpPr>
            <a:spLocks noGrp="1"/>
          </p:cNvSpPr>
          <p:nvPr>
            <p:ph idx="4294967295"/>
          </p:nvPr>
        </p:nvSpPr>
        <p:spPr>
          <a:xfrm>
            <a:off x="261769" y="903343"/>
            <a:ext cx="10058400" cy="376078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Noncollinearity</a:t>
            </a:r>
          </a:p>
          <a:p>
            <a:r>
              <a:rPr lang="en-US" sz="2000" dirty="0">
                <a:latin typeface="Calibri" panose="020F0502020204030204" pitchFamily="34" charset="0"/>
                <a:ea typeface="Calibri" panose="020F0502020204030204" pitchFamily="34" charset="0"/>
                <a:cs typeface="Calibri" panose="020F0502020204030204" pitchFamily="34" charset="0"/>
              </a:rPr>
              <a:t>Linearity</a:t>
            </a:r>
          </a:p>
          <a:p>
            <a:r>
              <a:rPr lang="en-US" sz="2000" dirty="0">
                <a:latin typeface="Calibri" panose="020F0502020204030204" pitchFamily="34" charset="0"/>
                <a:ea typeface="Calibri" panose="020F0502020204030204" pitchFamily="34" charset="0"/>
                <a:cs typeface="Calibri" panose="020F0502020204030204" pitchFamily="34" charset="0"/>
              </a:rPr>
              <a:t>Independence of errors</a:t>
            </a:r>
          </a:p>
          <a:p>
            <a:r>
              <a:rPr lang="en-US" sz="2000" dirty="0">
                <a:latin typeface="Calibri" panose="020F0502020204030204" pitchFamily="34" charset="0"/>
                <a:ea typeface="Calibri" panose="020F0502020204030204" pitchFamily="34" charset="0"/>
                <a:cs typeface="Calibri" panose="020F0502020204030204" pitchFamily="34" charset="0"/>
              </a:rPr>
              <a:t>Values of </a:t>
            </a:r>
            <a:r>
              <a:rPr lang="en-US" sz="2000" i="1" dirty="0">
                <a:latin typeface="Calibri" panose="020F0502020204030204" pitchFamily="34" charset="0"/>
                <a:ea typeface="Calibri" panose="020F0502020204030204" pitchFamily="34" charset="0"/>
                <a:cs typeface="Calibri" panose="020F0502020204030204" pitchFamily="34" charset="0"/>
              </a:rPr>
              <a:t>X </a:t>
            </a:r>
            <a:r>
              <a:rPr lang="en-US" sz="2000" dirty="0">
                <a:latin typeface="Calibri" panose="020F0502020204030204" pitchFamily="34" charset="0"/>
                <a:ea typeface="Calibri" panose="020F0502020204030204" pitchFamily="34" charset="0"/>
                <a:cs typeface="Calibri" panose="020F0502020204030204" pitchFamily="34" charset="0"/>
              </a:rPr>
              <a:t>are fixed</a:t>
            </a:r>
          </a:p>
          <a:p>
            <a:r>
              <a:rPr lang="en-US" sz="2000" dirty="0">
                <a:latin typeface="Calibri" panose="020F0502020204030204" pitchFamily="34" charset="0"/>
                <a:ea typeface="Calibri" panose="020F0502020204030204" pitchFamily="34" charset="0"/>
                <a:cs typeface="Calibri" panose="020F0502020204030204" pitchFamily="34" charset="0"/>
              </a:rPr>
              <a:t>Conditions</a:t>
            </a:r>
          </a:p>
          <a:p>
            <a:pPr lvl="1"/>
            <a:r>
              <a:rPr lang="en-US" sz="1800" dirty="0">
                <a:latin typeface="Calibri" panose="020F0502020204030204" pitchFamily="34" charset="0"/>
                <a:ea typeface="Calibri" panose="020F0502020204030204" pitchFamily="34" charset="0"/>
                <a:cs typeface="Calibri" panose="020F0502020204030204" pitchFamily="34" charset="0"/>
              </a:rPr>
              <a:t>Nonzero cell counts</a:t>
            </a:r>
          </a:p>
          <a:p>
            <a:pPr lvl="1"/>
            <a:r>
              <a:rPr lang="en-US" sz="1800" dirty="0">
                <a:latin typeface="Calibri" panose="020F0502020204030204" pitchFamily="34" charset="0"/>
                <a:ea typeface="Calibri" panose="020F0502020204030204" pitchFamily="34" charset="0"/>
                <a:cs typeface="Calibri" panose="020F0502020204030204" pitchFamily="34" charset="0"/>
              </a:rPr>
              <a:t>Nonseparation of data</a:t>
            </a:r>
          </a:p>
          <a:p>
            <a:pPr lvl="1"/>
            <a:r>
              <a:rPr lang="en-US" sz="1800" dirty="0">
                <a:latin typeface="Calibri" panose="020F0502020204030204" pitchFamily="34" charset="0"/>
                <a:ea typeface="Calibri" panose="020F0502020204030204" pitchFamily="34" charset="0"/>
                <a:cs typeface="Calibri" panose="020F0502020204030204" pitchFamily="34" charset="0"/>
              </a:rPr>
              <a:t>Lack of influential points</a:t>
            </a:r>
          </a:p>
          <a:p>
            <a:pPr lvl="1"/>
            <a:r>
              <a:rPr lang="en-US" sz="1800" dirty="0">
                <a:latin typeface="Calibri" panose="020F0502020204030204" pitchFamily="34" charset="0"/>
                <a:ea typeface="Calibri" panose="020F0502020204030204" pitchFamily="34" charset="0"/>
                <a:cs typeface="Calibri" panose="020F0502020204030204" pitchFamily="34" charset="0"/>
              </a:rPr>
              <a:t>Sufficient sample size</a:t>
            </a:r>
          </a:p>
        </p:txBody>
      </p:sp>
    </p:spTree>
    <p:extLst>
      <p:ext uri="{BB962C8B-B14F-4D97-AF65-F5344CB8AC3E}">
        <p14:creationId xmlns:p14="http://schemas.microsoft.com/office/powerpoint/2010/main" val="8152016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68249-B226-456F-95E1-AA631EEC95EA}"/>
              </a:ext>
            </a:extLst>
          </p:cNvPr>
          <p:cNvSpPr>
            <a:spLocks noGrp="1"/>
          </p:cNvSpPr>
          <p:nvPr>
            <p:ph type="title"/>
          </p:nvPr>
        </p:nvSpPr>
        <p:spPr>
          <a:xfrm>
            <a:off x="117437" y="193004"/>
            <a:ext cx="10515600" cy="818216"/>
          </a:xfrm>
        </p:spPr>
        <p:txBody>
          <a:bodyPr>
            <a:normAutofit/>
          </a:bodyPr>
          <a:lstStyle/>
          <a:p>
            <a:r>
              <a:rPr lang="en-US" sz="4000" dirty="0">
                <a:latin typeface="Aptos Display" panose="020B0004020202020204" pitchFamily="34" charset="0"/>
              </a:rPr>
              <a:t>Recall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312C49-5026-4454-89FE-2A46E52B08E4}"/>
                  </a:ext>
                </a:extLst>
              </p:cNvPr>
              <p:cNvSpPr>
                <a:spLocks noGrp="1"/>
              </p:cNvSpPr>
              <p:nvPr>
                <p:ph idx="1"/>
              </p:nvPr>
            </p:nvSpPr>
            <p:spPr>
              <a:xfrm>
                <a:off x="228599" y="1029560"/>
                <a:ext cx="10515600" cy="4351338"/>
              </a:xfrm>
            </p:spPr>
            <p:txBody>
              <a:bodyPr/>
              <a:lstStyle/>
              <a:p>
                <a:pPr marL="0" indent="0">
                  <a:buNone/>
                </a:pPr>
                <a:r>
                  <a:rPr lang="en-US" dirty="0"/>
                  <a:t>				</a:t>
                </a:r>
                <a:r>
                  <a:rPr lang="en-US" i="1" dirty="0"/>
                  <a:t>Y</a:t>
                </a:r>
                <a:r>
                  <a:rPr lang="en-US" dirty="0"/>
                  <a:t> = </a:t>
                </a:r>
                <a14:m>
                  <m:oMath xmlns:m="http://schemas.openxmlformats.org/officeDocument/2006/math">
                    <m:d>
                      <m:dPr>
                        <m:begChr m:val="{"/>
                        <m:endChr m:val=""/>
                        <m:ctrlPr>
                          <a:rPr lang="en-US"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m:t>
                            </m:r>
                          </m:e>
                          <m:e>
                            <m:r>
                              <a:rPr lang="en-US" b="0" i="1" smtClean="0">
                                <a:latin typeface="Cambria Math" panose="02040503050406030204" pitchFamily="18" charset="0"/>
                              </a:rPr>
                              <m:t>1</m:t>
                            </m:r>
                          </m:e>
                        </m:eqArr>
                      </m:e>
                    </m:d>
                  </m:oMath>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i="1" dirty="0" smtClean="0">
                              <a:latin typeface="Cambria Math" panose="02040503050406030204" pitchFamily="18" charset="0"/>
                            </a:rPr>
                          </m:ctrlPr>
                        </m:fPr>
                        <m:num>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𝑒𝑥𝑝</m:t>
                              </m:r>
                            </m:e>
                            <m:sup>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𝛽</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𝛽</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𝑋</m:t>
                              </m:r>
                              <m:r>
                                <a:rPr lang="en-US" b="0" i="1" dirty="0" smtClean="0">
                                  <a:latin typeface="Cambria Math" panose="02040503050406030204" pitchFamily="18" charset="0"/>
                                </a:rPr>
                                <m:t>)</m:t>
                              </m:r>
                            </m:sup>
                          </m:sSup>
                        </m:num>
                        <m:den>
                          <m:r>
                            <a:rPr lang="en-US" b="0" i="1" dirty="0" smtClean="0">
                              <a:latin typeface="Cambria Math" panose="02040503050406030204" pitchFamily="18" charset="0"/>
                            </a:rPr>
                            <m:t>1</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𝑒𝑥𝑝</m:t>
                              </m:r>
                            </m:e>
                            <m:sup>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𝛽</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𝛽</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𝑋</m:t>
                              </m:r>
                              <m:r>
                                <a:rPr lang="en-US" b="0" i="1" dirty="0" smtClean="0">
                                  <a:latin typeface="Cambria Math" panose="02040503050406030204" pitchFamily="18" charset="0"/>
                                </a:rPr>
                                <m:t>)</m:t>
                              </m:r>
                            </m:sup>
                          </m:sSup>
                        </m:den>
                      </m:f>
                    </m:oMath>
                  </m:oMathPara>
                </a14:m>
                <a:endParaRPr lang="en-US" dirty="0"/>
              </a:p>
            </p:txBody>
          </p:sp>
        </mc:Choice>
        <mc:Fallback xmlns="">
          <p:sp>
            <p:nvSpPr>
              <p:cNvPr id="3" name="Content Placeholder 2">
                <a:extLst>
                  <a:ext uri="{FF2B5EF4-FFF2-40B4-BE49-F238E27FC236}">
                    <a16:creationId xmlns:a16="http://schemas.microsoft.com/office/drawing/2014/main" id="{C6312C49-5026-4454-89FE-2A46E52B08E4}"/>
                  </a:ext>
                </a:extLst>
              </p:cNvPr>
              <p:cNvSpPr>
                <a:spLocks noGrp="1" noRot="1" noChangeAspect="1" noMove="1" noResize="1" noEditPoints="1" noAdjustHandles="1" noChangeArrowheads="1" noChangeShapeType="1" noTextEdit="1"/>
              </p:cNvSpPr>
              <p:nvPr>
                <p:ph idx="1"/>
              </p:nvPr>
            </p:nvSpPr>
            <p:spPr>
              <a:xfrm>
                <a:off x="228599" y="1029560"/>
                <a:ext cx="10515600" cy="4351338"/>
              </a:xfr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148F5C5-499D-4BC9-9285-BE0C4067476A}"/>
              </a:ext>
            </a:extLst>
          </p:cNvPr>
          <p:cNvSpPr txBox="1"/>
          <p:nvPr/>
        </p:nvSpPr>
        <p:spPr>
          <a:xfrm>
            <a:off x="5034578" y="1139007"/>
            <a:ext cx="3059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the condition is false</a:t>
            </a:r>
          </a:p>
        </p:txBody>
      </p:sp>
      <p:sp>
        <p:nvSpPr>
          <p:cNvPr id="5" name="TextBox 4">
            <a:extLst>
              <a:ext uri="{FF2B5EF4-FFF2-40B4-BE49-F238E27FC236}">
                <a16:creationId xmlns:a16="http://schemas.microsoft.com/office/drawing/2014/main" id="{C6D95A28-087D-495A-AD91-F9A84FEC4D7A}"/>
              </a:ext>
            </a:extLst>
          </p:cNvPr>
          <p:cNvSpPr txBox="1"/>
          <p:nvPr/>
        </p:nvSpPr>
        <p:spPr>
          <a:xfrm>
            <a:off x="5034578" y="1617786"/>
            <a:ext cx="30597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the condition is true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30F3C21-4A56-4C6F-BB5B-1FFF3DC8B8CD}"/>
                  </a:ext>
                </a:extLst>
              </p:cNvPr>
              <p:cNvSpPr txBox="1"/>
              <p:nvPr/>
            </p:nvSpPr>
            <p:spPr>
              <a:xfrm>
                <a:off x="2020507" y="3707332"/>
                <a:ext cx="7153048" cy="4816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cs typeface="+mn-cs"/>
                  </a:rPr>
                  <a:t>Our goal is to estimate the unknown parameters,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acc>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0</m:t>
                        </m:r>
                      </m:sub>
                    </m:sSub>
                  </m:oMath>
                </a14:m>
                <a:r>
                  <a:rPr kumimoji="0" lang="en-US" sz="2400" b="0" i="0" u="none" strike="noStrike" kern="1200" cap="none" spc="0" normalizeH="0" baseline="0" noProof="0" dirty="0">
                    <a:ln>
                      <a:noFill/>
                    </a:ln>
                    <a:solidFill>
                      <a:prstClr val="black"/>
                    </a:solidFill>
                    <a:effectLst/>
                    <a:uLnTx/>
                    <a:uFillTx/>
                    <a:cs typeface="+mn-cs"/>
                  </a:rPr>
                  <a:t>,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acc>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oMath>
                </a14:m>
                <a:endParaRPr kumimoji="0" lang="en-US" sz="2400" b="0" i="0" u="none" strike="noStrike" kern="1200" cap="none" spc="0" normalizeH="0" baseline="0" noProof="0" dirty="0">
                  <a:ln>
                    <a:noFill/>
                  </a:ln>
                  <a:solidFill>
                    <a:prstClr val="black"/>
                  </a:solidFill>
                  <a:effectLst/>
                  <a:uLnTx/>
                  <a:uFillTx/>
                  <a:cs typeface="+mn-cs"/>
                </a:endParaRPr>
              </a:p>
            </p:txBody>
          </p:sp>
        </mc:Choice>
        <mc:Fallback xmlns="">
          <p:sp>
            <p:nvSpPr>
              <p:cNvPr id="6" name="TextBox 5">
                <a:extLst>
                  <a:ext uri="{FF2B5EF4-FFF2-40B4-BE49-F238E27FC236}">
                    <a16:creationId xmlns:a16="http://schemas.microsoft.com/office/drawing/2014/main" id="{130F3C21-4A56-4C6F-BB5B-1FFF3DC8B8CD}"/>
                  </a:ext>
                </a:extLst>
              </p:cNvPr>
              <p:cNvSpPr txBox="1">
                <a:spLocks noRot="1" noChangeAspect="1" noMove="1" noResize="1" noEditPoints="1" noAdjustHandles="1" noChangeArrowheads="1" noChangeShapeType="1" noTextEdit="1"/>
              </p:cNvSpPr>
              <p:nvPr/>
            </p:nvSpPr>
            <p:spPr>
              <a:xfrm>
                <a:off x="2020507" y="3707332"/>
                <a:ext cx="7153048" cy="481670"/>
              </a:xfrm>
              <a:prstGeom prst="rect">
                <a:avLst/>
              </a:prstGeom>
              <a:blipFill>
                <a:blip r:embed="rId3"/>
                <a:stretch>
                  <a:fillRect l="-1278" t="-6329" b="-27848"/>
                </a:stretch>
              </a:blipFill>
            </p:spPr>
            <p:txBody>
              <a:bodyPr/>
              <a:lstStyle/>
              <a:p>
                <a:r>
                  <a:rPr lang="en-US">
                    <a:noFill/>
                  </a:rPr>
                  <a:t> </a:t>
                </a:r>
              </a:p>
            </p:txBody>
          </p:sp>
        </mc:Fallback>
      </mc:AlternateContent>
    </p:spTree>
    <p:extLst>
      <p:ext uri="{BB962C8B-B14F-4D97-AF65-F5344CB8AC3E}">
        <p14:creationId xmlns:p14="http://schemas.microsoft.com/office/powerpoint/2010/main" val="10492137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53788" y="0"/>
            <a:ext cx="12084424" cy="1100398"/>
          </a:xfrm>
        </p:spPr>
        <p:txBody>
          <a:bodyPr>
            <a:normAutofit fontScale="90000"/>
          </a:bodyPr>
          <a:lstStyle/>
          <a:p>
            <a:r>
              <a:rPr lang="en-US" sz="4000" dirty="0">
                <a:latin typeface="Aptos Display" panose="020B0004020202020204" pitchFamily="34" charset="0"/>
              </a:rPr>
              <a:t>What Logistic Regression Is and How It Works: Sample Size</a:t>
            </a:r>
          </a:p>
        </p:txBody>
      </p:sp>
      <p:sp>
        <p:nvSpPr>
          <p:cNvPr id="5" name="Content Placeholder 4"/>
          <p:cNvSpPr>
            <a:spLocks noGrp="1"/>
          </p:cNvSpPr>
          <p:nvPr>
            <p:ph idx="4294967295"/>
          </p:nvPr>
        </p:nvSpPr>
        <p:spPr>
          <a:xfrm>
            <a:off x="261769" y="838797"/>
            <a:ext cx="10058400" cy="3760788"/>
          </a:xfrm>
        </p:spPr>
        <p:txBody>
          <a:bodyPr>
            <a:normAutofit/>
          </a:bodyPr>
          <a:lstStyle/>
          <a:p>
            <a:r>
              <a:rPr lang="en-US" sz="2000" dirty="0"/>
              <a:t>Logistic regression is a large sample procedure</a:t>
            </a:r>
          </a:p>
          <a:p>
            <a:r>
              <a:rPr lang="en-US" sz="2000" dirty="0"/>
              <a:t>Samples of size 100 or greater are needed to accurately conduct tests of significance for logistic regression coefficients</a:t>
            </a:r>
          </a:p>
        </p:txBody>
      </p:sp>
    </p:spTree>
    <p:extLst>
      <p:ext uri="{BB962C8B-B14F-4D97-AF65-F5344CB8AC3E}">
        <p14:creationId xmlns:p14="http://schemas.microsoft.com/office/powerpoint/2010/main" val="30097056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75303" y="115216"/>
            <a:ext cx="12041393" cy="971307"/>
          </a:xfrm>
        </p:spPr>
        <p:txBody>
          <a:bodyPr>
            <a:normAutofit/>
          </a:bodyPr>
          <a:lstStyle/>
          <a:p>
            <a:r>
              <a:rPr lang="en-US" sz="4000" dirty="0">
                <a:latin typeface="Aptos Display" panose="020B0004020202020204" pitchFamily="34" charset="0"/>
              </a:rPr>
              <a:t>What Logistic Regression Is and How It Works: Effect Size</a:t>
            </a:r>
          </a:p>
        </p:txBody>
      </p:sp>
      <p:sp>
        <p:nvSpPr>
          <p:cNvPr id="5" name="Content Placeholder 4"/>
          <p:cNvSpPr>
            <a:spLocks noGrp="1"/>
          </p:cNvSpPr>
          <p:nvPr>
            <p:ph idx="4294967295"/>
          </p:nvPr>
        </p:nvSpPr>
        <p:spPr>
          <a:xfrm>
            <a:off x="164951" y="924859"/>
            <a:ext cx="10058400" cy="3760788"/>
          </a:xfrm>
        </p:spPr>
        <p:txBody>
          <a:bodyPr>
            <a:normAutofit/>
          </a:bodyPr>
          <a:lstStyle/>
          <a:p>
            <a:r>
              <a:rPr lang="en-US" sz="2000" dirty="0"/>
              <a:t>Multiple </a:t>
            </a:r>
            <a:r>
              <a:rPr lang="en-US" sz="2000" i="1" dirty="0"/>
              <a:t>R</a:t>
            </a:r>
            <a:r>
              <a:rPr lang="en-US" sz="2000" i="1" baseline="30000" dirty="0"/>
              <a:t>2</a:t>
            </a:r>
            <a:r>
              <a:rPr lang="en-US" sz="2000" i="1" dirty="0"/>
              <a:t> </a:t>
            </a:r>
            <a:r>
              <a:rPr lang="en-US" sz="2000" dirty="0"/>
              <a:t>pseudo-variance explained values </a:t>
            </a:r>
          </a:p>
          <a:p>
            <a:r>
              <a:rPr lang="en-US" sz="2000" dirty="0"/>
              <a:t>Odds Ratio</a:t>
            </a:r>
          </a:p>
        </p:txBody>
      </p:sp>
    </p:spTree>
    <p:extLst>
      <p:ext uri="{BB962C8B-B14F-4D97-AF65-F5344CB8AC3E}">
        <p14:creationId xmlns:p14="http://schemas.microsoft.com/office/powerpoint/2010/main" val="30457526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1D315B-0A04-4813-9215-7394D8BA60FC}"/>
              </a:ext>
            </a:extLst>
          </p:cNvPr>
          <p:cNvSpPr>
            <a:spLocks noGrp="1"/>
          </p:cNvSpPr>
          <p:nvPr>
            <p:ph type="title" idx="4294967295"/>
          </p:nvPr>
        </p:nvSpPr>
        <p:spPr>
          <a:xfrm>
            <a:off x="78889" y="141119"/>
            <a:ext cx="10058400" cy="863730"/>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Review Algebra</a:t>
            </a:r>
          </a:p>
        </p:txBody>
      </p:sp>
      <p:sp>
        <p:nvSpPr>
          <p:cNvPr id="5" name="Content Placeholder 4">
            <a:extLst>
              <a:ext uri="{FF2B5EF4-FFF2-40B4-BE49-F238E27FC236}">
                <a16:creationId xmlns:a16="http://schemas.microsoft.com/office/drawing/2014/main" id="{E0CEF6C8-21BD-4B38-BB06-EF64D0D2D434}"/>
              </a:ext>
            </a:extLst>
          </p:cNvPr>
          <p:cNvSpPr>
            <a:spLocks noGrp="1"/>
          </p:cNvSpPr>
          <p:nvPr>
            <p:ph idx="4294967295"/>
          </p:nvPr>
        </p:nvSpPr>
        <p:spPr>
          <a:xfrm>
            <a:off x="78889" y="1145479"/>
            <a:ext cx="10058400" cy="3760788"/>
          </a:xfrm>
        </p:spPr>
        <p:txBody>
          <a:bodyPr/>
          <a:lstStyle/>
          <a:p>
            <a:r>
              <a:rPr lang="en-US" dirty="0"/>
              <a:t>Properties of exponents</a:t>
            </a:r>
          </a:p>
          <a:p>
            <a:endParaRPr lang="en-US" dirty="0"/>
          </a:p>
          <a:p>
            <a:endParaRPr lang="en-US" dirty="0"/>
          </a:p>
          <a:p>
            <a:r>
              <a:rPr lang="en-US" dirty="0"/>
              <a:t>Properties of logarithms</a:t>
            </a:r>
          </a:p>
          <a:p>
            <a:endParaRPr lang="en-US" sz="20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F5AE2A1-43C0-47EE-86DA-1D6BF0AF1F24}"/>
                  </a:ext>
                </a:extLst>
              </p:cNvPr>
              <p:cNvSpPr txBox="1"/>
              <p:nvPr/>
            </p:nvSpPr>
            <p:spPr>
              <a:xfrm>
                <a:off x="348462" y="1760822"/>
                <a:ext cx="2620649"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𝑥</m:t>
                          </m:r>
                        </m:sup>
                      </m:sSup>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b="0" i="1" smtClean="0">
                              <a:latin typeface="Cambria Math" panose="02040503050406030204" pitchFamily="18" charset="0"/>
                            </a:rPr>
                            <m:t>𝑦</m:t>
                          </m:r>
                        </m:sup>
                      </m:sSup>
                      <m:r>
                        <a:rPr lang="en-US" sz="240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𝑥</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b="0" i="1" smtClean="0">
                              <a:latin typeface="Cambria Math" panose="02040503050406030204" pitchFamily="18" charset="0"/>
                            </a:rPr>
                            <m:t>𝑦</m:t>
                          </m:r>
                        </m:sup>
                      </m:sSup>
                    </m:oMath>
                  </m:oMathPara>
                </a14:m>
                <a:endParaRPr lang="en-US" dirty="0"/>
              </a:p>
            </p:txBody>
          </p:sp>
        </mc:Choice>
        <mc:Fallback xmlns="">
          <p:sp>
            <p:nvSpPr>
              <p:cNvPr id="6" name="TextBox 5">
                <a:extLst>
                  <a:ext uri="{FF2B5EF4-FFF2-40B4-BE49-F238E27FC236}">
                    <a16:creationId xmlns:a16="http://schemas.microsoft.com/office/drawing/2014/main" id="{DF5AE2A1-43C0-47EE-86DA-1D6BF0AF1F24}"/>
                  </a:ext>
                </a:extLst>
              </p:cNvPr>
              <p:cNvSpPr txBox="1">
                <a:spLocks noRot="1" noChangeAspect="1" noMove="1" noResize="1" noEditPoints="1" noAdjustHandles="1" noChangeArrowheads="1" noChangeShapeType="1" noTextEdit="1"/>
              </p:cNvSpPr>
              <p:nvPr/>
            </p:nvSpPr>
            <p:spPr>
              <a:xfrm>
                <a:off x="348462" y="1760822"/>
                <a:ext cx="2620649" cy="369332"/>
              </a:xfrm>
              <a:prstGeom prst="rect">
                <a:avLst/>
              </a:prstGeom>
              <a:blipFill>
                <a:blip r:embed="rId2"/>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E60CE5-24BC-4E00-9D8B-148812D1ED3A}"/>
                  </a:ext>
                </a:extLst>
              </p:cNvPr>
              <p:cNvSpPr txBox="1"/>
              <p:nvPr/>
            </p:nvSpPr>
            <p:spPr>
              <a:xfrm>
                <a:off x="504450" y="3160896"/>
                <a:ext cx="15483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m:rPr>
                              <m:sty m:val="p"/>
                            </m:rPr>
                            <a:rPr lang="en-US" sz="2400" b="0" i="0" smtClean="0">
                              <a:latin typeface="Cambria Math" panose="02040503050406030204" pitchFamily="18" charset="0"/>
                            </a:rPr>
                            <m:t>ln</m:t>
                          </m:r>
                          <m:r>
                            <a:rPr lang="en-US" sz="2400" b="0" i="1" smtClean="0">
                              <a:latin typeface="Cambria Math" panose="02040503050406030204" pitchFamily="18" charset="0"/>
                            </a:rPr>
                            <m:t>⁡(</m:t>
                          </m:r>
                          <m:r>
                            <a:rPr lang="en-US" sz="2400" b="0" i="1" smtClean="0">
                              <a:latin typeface="Cambria Math" panose="02040503050406030204" pitchFamily="18" charset="0"/>
                            </a:rPr>
                            <m:t>𝑒</m:t>
                          </m:r>
                        </m:e>
                        <m:sup>
                          <m:r>
                            <a:rPr lang="en-US" sz="2400" b="0" i="1" smtClean="0">
                              <a:latin typeface="Cambria Math" panose="02040503050406030204" pitchFamily="18" charset="0"/>
                            </a:rPr>
                            <m:t>𝑥</m:t>
                          </m:r>
                        </m:sup>
                      </m:sSup>
                      <m:r>
                        <a:rPr lang="en-US" sz="2400" b="0" i="1" smtClean="0">
                          <a:latin typeface="Cambria Math" panose="02040503050406030204" pitchFamily="18" charset="0"/>
                        </a:rPr>
                        <m:t>)</m:t>
                      </m:r>
                      <m:r>
                        <a:rPr lang="en-US" sz="2400" i="1" smtClean="0">
                          <a:latin typeface="Cambria Math" panose="02040503050406030204" pitchFamily="18" charset="0"/>
                        </a:rPr>
                        <m:t> =</m:t>
                      </m:r>
                      <m:r>
                        <a:rPr lang="en-US" sz="2400" b="0" i="1" smtClean="0">
                          <a:latin typeface="Cambria Math" panose="02040503050406030204" pitchFamily="18" charset="0"/>
                        </a:rPr>
                        <m:t>𝑥</m:t>
                      </m:r>
                    </m:oMath>
                  </m:oMathPara>
                </a14:m>
                <a:endParaRPr lang="en-US" sz="2400" i="1" dirty="0"/>
              </a:p>
            </p:txBody>
          </p:sp>
        </mc:Choice>
        <mc:Fallback xmlns="">
          <p:sp>
            <p:nvSpPr>
              <p:cNvPr id="7" name="TextBox 6">
                <a:extLst>
                  <a:ext uri="{FF2B5EF4-FFF2-40B4-BE49-F238E27FC236}">
                    <a16:creationId xmlns:a16="http://schemas.microsoft.com/office/drawing/2014/main" id="{31E60CE5-24BC-4E00-9D8B-148812D1ED3A}"/>
                  </a:ext>
                </a:extLst>
              </p:cNvPr>
              <p:cNvSpPr txBox="1">
                <a:spLocks noRot="1" noChangeAspect="1" noMove="1" noResize="1" noEditPoints="1" noAdjustHandles="1" noChangeArrowheads="1" noChangeShapeType="1" noTextEdit="1"/>
              </p:cNvSpPr>
              <p:nvPr/>
            </p:nvSpPr>
            <p:spPr>
              <a:xfrm>
                <a:off x="504450" y="3160896"/>
                <a:ext cx="1548308" cy="369332"/>
              </a:xfrm>
              <a:prstGeom prst="rect">
                <a:avLst/>
              </a:prstGeom>
              <a:blipFill>
                <a:blip r:embed="rId3"/>
                <a:stretch>
                  <a:fillRect l="-4331" r="-1575"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01E23CE-C477-47FC-8C3D-E658CAD5C28A}"/>
                  </a:ext>
                </a:extLst>
              </p:cNvPr>
              <p:cNvSpPr txBox="1"/>
              <p:nvPr/>
            </p:nvSpPr>
            <p:spPr>
              <a:xfrm>
                <a:off x="504450" y="3662672"/>
                <a:ext cx="1360052" cy="3857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𝑒</m:t>
                          </m:r>
                        </m:e>
                        <m:sup>
                          <m:r>
                            <m:rPr>
                              <m:sty m:val="p"/>
                            </m:rPr>
                            <a:rPr lang="en-US" sz="2400" b="0" i="0" smtClean="0">
                              <a:latin typeface="Cambria Math" panose="02040503050406030204" pitchFamily="18" charset="0"/>
                            </a:rPr>
                            <m:t>ln</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𝑥</m:t>
                      </m:r>
                    </m:oMath>
                  </m:oMathPara>
                </a14:m>
                <a:endParaRPr lang="en-US" sz="2400" i="1" dirty="0"/>
              </a:p>
            </p:txBody>
          </p:sp>
        </mc:Choice>
        <mc:Fallback xmlns="">
          <p:sp>
            <p:nvSpPr>
              <p:cNvPr id="8" name="TextBox 7">
                <a:extLst>
                  <a:ext uri="{FF2B5EF4-FFF2-40B4-BE49-F238E27FC236}">
                    <a16:creationId xmlns:a16="http://schemas.microsoft.com/office/drawing/2014/main" id="{E01E23CE-C477-47FC-8C3D-E658CAD5C28A}"/>
                  </a:ext>
                </a:extLst>
              </p:cNvPr>
              <p:cNvSpPr txBox="1">
                <a:spLocks noRot="1" noChangeAspect="1" noMove="1" noResize="1" noEditPoints="1" noAdjustHandles="1" noChangeArrowheads="1" noChangeShapeType="1" noTextEdit="1"/>
              </p:cNvSpPr>
              <p:nvPr/>
            </p:nvSpPr>
            <p:spPr>
              <a:xfrm>
                <a:off x="504450" y="3662672"/>
                <a:ext cx="1360052" cy="385747"/>
              </a:xfrm>
              <a:prstGeom prst="rect">
                <a:avLst/>
              </a:prstGeom>
              <a:blipFill>
                <a:blip r:embed="rId4"/>
                <a:stretch>
                  <a:fillRect l="-2691" t="-4762" r="-17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4ABBBE0-2E3A-4BEF-B149-F74872B5E652}"/>
                  </a:ext>
                </a:extLst>
              </p:cNvPr>
              <p:cNvSpPr txBox="1"/>
              <p:nvPr/>
            </p:nvSpPr>
            <p:spPr>
              <a:xfrm>
                <a:off x="528074" y="4169313"/>
                <a:ext cx="79528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0</m:t>
                          </m:r>
                        </m:sup>
                      </m:sSup>
                      <m:r>
                        <a:rPr lang="en-US" sz="2000" i="1" smtClean="0">
                          <a:latin typeface="Cambria Math" panose="02040503050406030204" pitchFamily="18" charset="0"/>
                        </a:rPr>
                        <m:t>=</m:t>
                      </m:r>
                      <m:r>
                        <a:rPr lang="en-US" sz="2000" b="0" i="1" smtClean="0">
                          <a:latin typeface="Cambria Math" panose="02040503050406030204" pitchFamily="18" charset="0"/>
                        </a:rPr>
                        <m:t>1</m:t>
                      </m:r>
                    </m:oMath>
                  </m:oMathPara>
                </a14:m>
                <a:endParaRPr lang="en-US" sz="2000" dirty="0"/>
              </a:p>
            </p:txBody>
          </p:sp>
        </mc:Choice>
        <mc:Fallback xmlns="">
          <p:sp>
            <p:nvSpPr>
              <p:cNvPr id="9" name="TextBox 8">
                <a:extLst>
                  <a:ext uri="{FF2B5EF4-FFF2-40B4-BE49-F238E27FC236}">
                    <a16:creationId xmlns:a16="http://schemas.microsoft.com/office/drawing/2014/main" id="{F4ABBBE0-2E3A-4BEF-B149-F74872B5E652}"/>
                  </a:ext>
                </a:extLst>
              </p:cNvPr>
              <p:cNvSpPr txBox="1">
                <a:spLocks noRot="1" noChangeAspect="1" noMove="1" noResize="1" noEditPoints="1" noAdjustHandles="1" noChangeArrowheads="1" noChangeShapeType="1" noTextEdit="1"/>
              </p:cNvSpPr>
              <p:nvPr/>
            </p:nvSpPr>
            <p:spPr>
              <a:xfrm>
                <a:off x="528074" y="4169313"/>
                <a:ext cx="795282" cy="307777"/>
              </a:xfrm>
              <a:prstGeom prst="rect">
                <a:avLst/>
              </a:prstGeom>
              <a:blipFill>
                <a:blip r:embed="rId5"/>
                <a:stretch>
                  <a:fillRect l="-4615" t="-4000" r="-6923" b="-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C96C62B-3D23-4D82-AE5C-349FBF06EFDD}"/>
                  </a:ext>
                </a:extLst>
              </p:cNvPr>
              <p:cNvSpPr txBox="1"/>
              <p:nvPr/>
            </p:nvSpPr>
            <p:spPr>
              <a:xfrm>
                <a:off x="348462" y="2176321"/>
                <a:ext cx="6486525" cy="461665"/>
              </a:xfrm>
              <a:prstGeom prst="rect">
                <a:avLst/>
              </a:prstGeom>
              <a:noFill/>
            </p:spPr>
            <p:txBody>
              <a:bodyPr wrap="square">
                <a:spAutoFit/>
              </a:bodyPr>
              <a:lstStyle/>
              <a:p>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𝑒</m:t>
                        </m:r>
                      </m:e>
                      <m:sup>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𝑥</m:t>
                        </m:r>
                      </m:sup>
                    </m:sSup>
                  </m:oMath>
                </a14:m>
                <a:r>
                  <a:rPr lang="en-US" sz="2400" dirty="0"/>
                  <a:t> +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b="0" i="1" smtClean="0">
                            <a:latin typeface="Cambria Math" panose="02040503050406030204" pitchFamily="18" charset="0"/>
                          </a:rPr>
                          <m:t>𝑦</m:t>
                        </m:r>
                      </m:sup>
                    </m:sSup>
                  </m:oMath>
                </a14:m>
                <a:endParaRPr lang="en-US" sz="2400" dirty="0"/>
              </a:p>
            </p:txBody>
          </p:sp>
        </mc:Choice>
        <mc:Fallback xmlns="">
          <p:sp>
            <p:nvSpPr>
              <p:cNvPr id="10" name="TextBox 9">
                <a:extLst>
                  <a:ext uri="{FF2B5EF4-FFF2-40B4-BE49-F238E27FC236}">
                    <a16:creationId xmlns:a16="http://schemas.microsoft.com/office/drawing/2014/main" id="{CC96C62B-3D23-4D82-AE5C-349FBF06EFDD}"/>
                  </a:ext>
                </a:extLst>
              </p:cNvPr>
              <p:cNvSpPr txBox="1">
                <a:spLocks noRot="1" noChangeAspect="1" noMove="1" noResize="1" noEditPoints="1" noAdjustHandles="1" noChangeArrowheads="1" noChangeShapeType="1" noTextEdit="1"/>
              </p:cNvSpPr>
              <p:nvPr/>
            </p:nvSpPr>
            <p:spPr>
              <a:xfrm>
                <a:off x="348462" y="2176321"/>
                <a:ext cx="6486525" cy="461665"/>
              </a:xfrm>
              <a:prstGeom prst="rect">
                <a:avLst/>
              </a:prstGeom>
              <a:blipFill>
                <a:blip r:embed="rId6"/>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38408708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160338"/>
            <a:ext cx="10058400" cy="646112"/>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Mathematical Snapshot</a:t>
            </a:r>
          </a:p>
        </p:txBody>
      </p:sp>
      <p:sp>
        <p:nvSpPr>
          <p:cNvPr id="6" name="Rectangle 2"/>
          <p:cNvSpPr>
            <a:spLocks noChangeArrowheads="1"/>
          </p:cNvSpPr>
          <p:nvPr/>
        </p:nvSpPr>
        <p:spPr bwMode="auto">
          <a:xfrm>
            <a:off x="-634701" y="-9227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11ED671-7C71-718E-BECE-C9FDF83C58A2}"/>
                  </a:ext>
                </a:extLst>
              </p:cNvPr>
              <p:cNvSpPr txBox="1"/>
              <p:nvPr/>
            </p:nvSpPr>
            <p:spPr>
              <a:xfrm>
                <a:off x="381877" y="1017330"/>
                <a:ext cx="479821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rPr>
                        <m:t>𝐿𝑜𝑔𝑖𝑡</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𝑌</m:t>
                      </m:r>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b="0" i="1" smtClean="0">
                              <a:solidFill>
                                <a:srgbClr val="000000"/>
                              </a:solidFill>
                              <a:latin typeface="Cambria Math" panose="02040503050406030204" pitchFamily="18" charset="0"/>
                            </a:rPr>
                            <m:t>0</m:t>
                          </m:r>
                        </m:sub>
                      </m:sSub>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2</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𝑚</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𝑚</m:t>
                          </m:r>
                        </m:sub>
                      </m:sSub>
                    </m:oMath>
                  </m:oMathPara>
                </a14:m>
                <a:endParaRPr lang="en-US" dirty="0"/>
              </a:p>
            </p:txBody>
          </p:sp>
        </mc:Choice>
        <mc:Fallback xmlns="">
          <p:sp>
            <p:nvSpPr>
              <p:cNvPr id="3" name="TextBox 2">
                <a:extLst>
                  <a:ext uri="{FF2B5EF4-FFF2-40B4-BE49-F238E27FC236}">
                    <a16:creationId xmlns:a16="http://schemas.microsoft.com/office/drawing/2014/main" id="{311ED671-7C71-718E-BECE-C9FDF83C58A2}"/>
                  </a:ext>
                </a:extLst>
              </p:cNvPr>
              <p:cNvSpPr txBox="1">
                <a:spLocks noRot="1" noChangeAspect="1" noMove="1" noResize="1" noEditPoints="1" noAdjustHandles="1" noChangeArrowheads="1" noChangeShapeType="1" noTextEdit="1"/>
              </p:cNvSpPr>
              <p:nvPr/>
            </p:nvSpPr>
            <p:spPr>
              <a:xfrm>
                <a:off x="381877" y="1017330"/>
                <a:ext cx="4798219" cy="369332"/>
              </a:xfrm>
              <a:prstGeom prst="rect">
                <a:avLst/>
              </a:prstGeom>
              <a:blipFill>
                <a:blip r:embed="rId2"/>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133345E-7221-B1DA-C100-A40069917444}"/>
                  </a:ext>
                </a:extLst>
              </p:cNvPr>
              <p:cNvSpPr txBox="1"/>
              <p:nvPr/>
            </p:nvSpPr>
            <p:spPr>
              <a:xfrm>
                <a:off x="411563" y="1589414"/>
                <a:ext cx="280939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rPr>
                        <m:t>𝐿𝑜𝑔𝑖𝑡</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𝑌</m:t>
                      </m:r>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b="0" i="1" smtClean="0">
                              <a:solidFill>
                                <a:srgbClr val="000000"/>
                              </a:solidFill>
                              <a:latin typeface="Cambria Math" panose="02040503050406030204" pitchFamily="18" charset="0"/>
                            </a:rPr>
                            <m:t>0</m:t>
                          </m:r>
                        </m:sub>
                      </m:sSub>
                      <m:r>
                        <a:rPr lang="en-US"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oMath>
                  </m:oMathPara>
                </a14:m>
                <a:endParaRPr lang="en-US" dirty="0"/>
              </a:p>
            </p:txBody>
          </p:sp>
        </mc:Choice>
        <mc:Fallback xmlns="">
          <p:sp>
            <p:nvSpPr>
              <p:cNvPr id="14" name="TextBox 13">
                <a:extLst>
                  <a:ext uri="{FF2B5EF4-FFF2-40B4-BE49-F238E27FC236}">
                    <a16:creationId xmlns:a16="http://schemas.microsoft.com/office/drawing/2014/main" id="{B133345E-7221-B1DA-C100-A40069917444}"/>
                  </a:ext>
                </a:extLst>
              </p:cNvPr>
              <p:cNvSpPr txBox="1">
                <a:spLocks noRot="1" noChangeAspect="1" noMove="1" noResize="1" noEditPoints="1" noAdjustHandles="1" noChangeArrowheads="1" noChangeShapeType="1" noTextEdit="1"/>
              </p:cNvSpPr>
              <p:nvPr/>
            </p:nvSpPr>
            <p:spPr>
              <a:xfrm>
                <a:off x="411563" y="1589414"/>
                <a:ext cx="2809399" cy="369332"/>
              </a:xfrm>
              <a:prstGeom prst="rect">
                <a:avLst/>
              </a:prstGeom>
              <a:blipFill>
                <a:blip r:embed="rId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AF38747-4A77-E96E-1272-F4A63823A2B7}"/>
                  </a:ext>
                </a:extLst>
              </p:cNvPr>
              <p:cNvSpPr txBox="1"/>
              <p:nvPr/>
            </p:nvSpPr>
            <p:spPr>
              <a:xfrm>
                <a:off x="5533859" y="1097721"/>
                <a:ext cx="3925883" cy="369332"/>
              </a:xfrm>
              <a:prstGeom prst="rect">
                <a:avLst/>
              </a:prstGeom>
              <a:noFill/>
            </p:spPr>
            <p:txBody>
              <a:bodyPr wrap="none" rtlCol="0">
                <a:spAutoFit/>
              </a:bodyPr>
              <a:lstStyle/>
              <a:p>
                <a14:m>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b="0" i="1" smtClean="0">
                            <a:solidFill>
                              <a:srgbClr val="000000"/>
                            </a:solidFill>
                            <a:latin typeface="Cambria Math" panose="02040503050406030204" pitchFamily="18" charset="0"/>
                          </a:rPr>
                          <m:t>0</m:t>
                        </m:r>
                      </m:sub>
                    </m:sSub>
                    <m:r>
                      <a:rPr lang="en-US" b="0" i="1" smtClean="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oMath>
                </a14:m>
                <a:r>
                  <a:rPr lang="en-US" dirty="0"/>
                  <a:t> is interpreted as “log odds of Y”</a:t>
                </a:r>
              </a:p>
            </p:txBody>
          </p:sp>
        </mc:Choice>
        <mc:Fallback xmlns="">
          <p:sp>
            <p:nvSpPr>
              <p:cNvPr id="15" name="TextBox 14">
                <a:extLst>
                  <a:ext uri="{FF2B5EF4-FFF2-40B4-BE49-F238E27FC236}">
                    <a16:creationId xmlns:a16="http://schemas.microsoft.com/office/drawing/2014/main" id="{2AF38747-4A77-E96E-1272-F4A63823A2B7}"/>
                  </a:ext>
                </a:extLst>
              </p:cNvPr>
              <p:cNvSpPr txBox="1">
                <a:spLocks noRot="1" noChangeAspect="1" noMove="1" noResize="1" noEditPoints="1" noAdjustHandles="1" noChangeArrowheads="1" noChangeShapeType="1" noTextEdit="1"/>
              </p:cNvSpPr>
              <p:nvPr/>
            </p:nvSpPr>
            <p:spPr>
              <a:xfrm>
                <a:off x="5533859" y="1097721"/>
                <a:ext cx="3925883" cy="369332"/>
              </a:xfrm>
              <a:prstGeom prst="rect">
                <a:avLst/>
              </a:prstGeom>
              <a:blipFill>
                <a:blip r:embed="rId4"/>
                <a:stretch>
                  <a:fillRect l="-46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BC12C92-916F-58B2-5DCE-F11AB8CCF465}"/>
                  </a:ext>
                </a:extLst>
              </p:cNvPr>
              <p:cNvSpPr txBox="1"/>
              <p:nvPr/>
            </p:nvSpPr>
            <p:spPr>
              <a:xfrm>
                <a:off x="7549785" y="2264904"/>
                <a:ext cx="1217184" cy="3215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m:rPr>
                              <m:sty m:val="p"/>
                            </m:rPr>
                            <a:rPr lang="en-US" sz="2000" b="0" i="0" smtClean="0">
                              <a:latin typeface="Cambria Math" panose="02040503050406030204" pitchFamily="18" charset="0"/>
                            </a:rPr>
                            <m:t>ln</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𝑥</m:t>
                      </m:r>
                    </m:oMath>
                  </m:oMathPara>
                </a14:m>
                <a:endParaRPr lang="en-US" sz="2000" i="1" dirty="0"/>
              </a:p>
            </p:txBody>
          </p:sp>
        </mc:Choice>
        <mc:Fallback xmlns="">
          <p:sp>
            <p:nvSpPr>
              <p:cNvPr id="16" name="TextBox 15">
                <a:extLst>
                  <a:ext uri="{FF2B5EF4-FFF2-40B4-BE49-F238E27FC236}">
                    <a16:creationId xmlns:a16="http://schemas.microsoft.com/office/drawing/2014/main" id="{FBC12C92-916F-58B2-5DCE-F11AB8CCF465}"/>
                  </a:ext>
                </a:extLst>
              </p:cNvPr>
              <p:cNvSpPr txBox="1">
                <a:spLocks noRot="1" noChangeAspect="1" noMove="1" noResize="1" noEditPoints="1" noAdjustHandles="1" noChangeArrowheads="1" noChangeShapeType="1" noTextEdit="1"/>
              </p:cNvSpPr>
              <p:nvPr/>
            </p:nvSpPr>
            <p:spPr>
              <a:xfrm>
                <a:off x="7549785" y="2264904"/>
                <a:ext cx="1217184" cy="321563"/>
              </a:xfrm>
              <a:prstGeom prst="rect">
                <a:avLst/>
              </a:prstGeom>
              <a:blipFill>
                <a:blip r:embed="rId5"/>
                <a:stretch>
                  <a:fillRect t="-5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B08787E-438E-B360-B5A4-D2B8FF073193}"/>
                  </a:ext>
                </a:extLst>
              </p:cNvPr>
              <p:cNvSpPr txBox="1"/>
              <p:nvPr/>
            </p:nvSpPr>
            <p:spPr>
              <a:xfrm>
                <a:off x="549809" y="2149883"/>
                <a:ext cx="2809399" cy="3822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𝑒𝑥𝑝</m:t>
                          </m:r>
                        </m:e>
                        <m:sup>
                          <m:r>
                            <a:rPr lang="en-US" i="1">
                              <a:solidFill>
                                <a:srgbClr val="000000"/>
                              </a:solidFill>
                              <a:latin typeface="Cambria Math" panose="02040503050406030204" pitchFamily="18" charset="0"/>
                            </a:rPr>
                            <m:t>𝐿𝑜𝑔𝑖𝑡</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𝑌</m:t>
                          </m:r>
                          <m:r>
                            <a:rPr lang="en-US" i="1">
                              <a:solidFill>
                                <a:srgbClr val="000000"/>
                              </a:solidFill>
                              <a:latin typeface="Cambria Math" panose="02040503050406030204" pitchFamily="18" charset="0"/>
                            </a:rPr>
                            <m:t>)</m:t>
                          </m:r>
                        </m:sup>
                      </m:sSup>
                      <m:r>
                        <a:rPr lang="en-US" i="1" smtClean="0">
                          <a:solidFill>
                            <a:srgbClr val="000000"/>
                          </a:solidFill>
                          <a:latin typeface="Cambria Math" panose="02040503050406030204" pitchFamily="18" charset="0"/>
                        </a:rPr>
                        <m:t>=</m:t>
                      </m:r>
                      <m:sSup>
                        <m:sSupPr>
                          <m:ctrlPr>
                            <a:rPr lang="en-US"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𝑒𝑥𝑝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oMath>
                  </m:oMathPara>
                </a14:m>
                <a:endParaRPr lang="en-US" dirty="0"/>
              </a:p>
            </p:txBody>
          </p:sp>
        </mc:Choice>
        <mc:Fallback xmlns="">
          <p:sp>
            <p:nvSpPr>
              <p:cNvPr id="17" name="TextBox 16">
                <a:extLst>
                  <a:ext uri="{FF2B5EF4-FFF2-40B4-BE49-F238E27FC236}">
                    <a16:creationId xmlns:a16="http://schemas.microsoft.com/office/drawing/2014/main" id="{BB08787E-438E-B360-B5A4-D2B8FF073193}"/>
                  </a:ext>
                </a:extLst>
              </p:cNvPr>
              <p:cNvSpPr txBox="1">
                <a:spLocks noRot="1" noChangeAspect="1" noMove="1" noResize="1" noEditPoints="1" noAdjustHandles="1" noChangeArrowheads="1" noChangeShapeType="1" noTextEdit="1"/>
              </p:cNvSpPr>
              <p:nvPr/>
            </p:nvSpPr>
            <p:spPr>
              <a:xfrm>
                <a:off x="549809" y="2149883"/>
                <a:ext cx="2809399" cy="382284"/>
              </a:xfrm>
              <a:prstGeom prst="rect">
                <a:avLst/>
              </a:prstGeom>
              <a:blipFill>
                <a:blip r:embed="rId6"/>
                <a:stretch>
                  <a:fillRect b="-8065"/>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DC5DC3CC-DCD2-DA21-D873-3010D3546D7C}"/>
              </a:ext>
            </a:extLst>
          </p:cNvPr>
          <p:cNvSpPr txBox="1"/>
          <p:nvPr/>
        </p:nvSpPr>
        <p:spPr>
          <a:xfrm>
            <a:off x="5533859" y="1691207"/>
            <a:ext cx="3206134" cy="369332"/>
          </a:xfrm>
          <a:prstGeom prst="rect">
            <a:avLst/>
          </a:prstGeom>
          <a:noFill/>
        </p:spPr>
        <p:txBody>
          <a:bodyPr wrap="none" rtlCol="0">
            <a:spAutoFit/>
          </a:bodyPr>
          <a:lstStyle/>
          <a:p>
            <a:r>
              <a:rPr lang="en-US" dirty="0"/>
              <a:t>Take the exponent of each side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83DE6E7-90C5-9EEC-BED6-EC6FC5BCCF7B}"/>
                  </a:ext>
                </a:extLst>
              </p:cNvPr>
              <p:cNvSpPr txBox="1"/>
              <p:nvPr/>
            </p:nvSpPr>
            <p:spPr>
              <a:xfrm>
                <a:off x="582270" y="2839145"/>
                <a:ext cx="1768634" cy="3822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rPr>
                        <m:t>𝑌</m:t>
                      </m:r>
                      <m:r>
                        <a:rPr lang="en-US" i="1" smtClean="0">
                          <a:solidFill>
                            <a:srgbClr val="000000"/>
                          </a:solidFill>
                          <a:latin typeface="Cambria Math" panose="02040503050406030204" pitchFamily="18" charset="0"/>
                        </a:rPr>
                        <m:t>=</m:t>
                      </m:r>
                      <m:sSup>
                        <m:sSupPr>
                          <m:ctrlPr>
                            <a:rPr lang="en-US"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𝑒𝑥𝑝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oMath>
                  </m:oMathPara>
                </a14:m>
                <a:endParaRPr lang="en-US" dirty="0"/>
              </a:p>
            </p:txBody>
          </p:sp>
        </mc:Choice>
        <mc:Fallback xmlns="">
          <p:sp>
            <p:nvSpPr>
              <p:cNvPr id="19" name="TextBox 18">
                <a:extLst>
                  <a:ext uri="{FF2B5EF4-FFF2-40B4-BE49-F238E27FC236}">
                    <a16:creationId xmlns:a16="http://schemas.microsoft.com/office/drawing/2014/main" id="{A83DE6E7-90C5-9EEC-BED6-EC6FC5BCCF7B}"/>
                  </a:ext>
                </a:extLst>
              </p:cNvPr>
              <p:cNvSpPr txBox="1">
                <a:spLocks noRot="1" noChangeAspect="1" noMove="1" noResize="1" noEditPoints="1" noAdjustHandles="1" noChangeArrowheads="1" noChangeShapeType="1" noTextEdit="1"/>
              </p:cNvSpPr>
              <p:nvPr/>
            </p:nvSpPr>
            <p:spPr>
              <a:xfrm>
                <a:off x="582270" y="2839145"/>
                <a:ext cx="1768634" cy="382284"/>
              </a:xfrm>
              <a:prstGeom prst="rect">
                <a:avLst/>
              </a:prstGeom>
              <a:blipFill>
                <a:blip r:embed="rId7"/>
                <a:stretch>
                  <a:fillRect b="-806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FC0F1A63-A609-19E6-7A21-387729387AB4}"/>
              </a:ext>
            </a:extLst>
          </p:cNvPr>
          <p:cNvSpPr txBox="1"/>
          <p:nvPr/>
        </p:nvSpPr>
        <p:spPr>
          <a:xfrm>
            <a:off x="5476017" y="2217135"/>
            <a:ext cx="2191306" cy="369332"/>
          </a:xfrm>
          <a:prstGeom prst="rect">
            <a:avLst/>
          </a:prstGeom>
          <a:noFill/>
        </p:spPr>
        <p:txBody>
          <a:bodyPr wrap="none" rtlCol="0">
            <a:spAutoFit/>
          </a:bodyPr>
          <a:lstStyle/>
          <a:p>
            <a:r>
              <a:rPr lang="en-US" dirty="0"/>
              <a:t>This follows because</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096A4B7-F534-E4D3-6452-E27AF9479FCA}"/>
                  </a:ext>
                </a:extLst>
              </p:cNvPr>
              <p:cNvSpPr txBox="1"/>
              <p:nvPr/>
            </p:nvSpPr>
            <p:spPr>
              <a:xfrm>
                <a:off x="5486781" y="2766291"/>
                <a:ext cx="4993803" cy="369332"/>
              </a:xfrm>
              <a:prstGeom prst="rect">
                <a:avLst/>
              </a:prstGeom>
              <a:noFill/>
            </p:spPr>
            <p:txBody>
              <a:bodyPr wrap="none" rtlCol="0">
                <a:spAutoFit/>
              </a:bodyPr>
              <a:lstStyle/>
              <a:p>
                <a14:m>
                  <m:oMath xmlns:m="http://schemas.openxmlformats.org/officeDocument/2006/math">
                    <m:func>
                      <m:funcPr>
                        <m:ctrlPr>
                          <a:rPr lang="en-US" i="1" smtClean="0">
                            <a:solidFill>
                              <a:srgbClr val="000000"/>
                            </a:solidFill>
                            <a:latin typeface="Cambria Math" panose="02040503050406030204" pitchFamily="18" charset="0"/>
                          </a:rPr>
                        </m:ctrlPr>
                      </m:funcPr>
                      <m:fName>
                        <m:r>
                          <m:rPr>
                            <m:sty m:val="p"/>
                          </m:rPr>
                          <a:rPr lang="en-US" smtClean="0">
                            <a:solidFill>
                              <a:srgbClr val="000000"/>
                            </a:solidFill>
                            <a:latin typeface="Cambria Math" panose="02040503050406030204" pitchFamily="18" charset="0"/>
                          </a:rPr>
                          <m:t>exp</m:t>
                        </m:r>
                      </m:fName>
                      <m:e>
                        <m:d>
                          <m:dPr>
                            <m:ctrlPr>
                              <a:rPr lang="en-US" i="1" smtClean="0">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b="0" i="1" smtClean="0">
                                    <a:solidFill>
                                      <a:srgbClr val="000000"/>
                                    </a:solidFill>
                                    <a:latin typeface="Cambria Math" panose="02040503050406030204" pitchFamily="18" charset="0"/>
                                  </a:rPr>
                                  <m:t>0</m:t>
                                </m:r>
                              </m:sub>
                            </m:sSub>
                          </m:e>
                        </m:d>
                        <m:r>
                          <a:rPr lang="en-US" b="0" i="1" smtClean="0">
                            <a:solidFill>
                              <a:srgbClr val="000000"/>
                            </a:solidFill>
                            <a:latin typeface="Cambria Math" panose="02040503050406030204" pitchFamily="18" charset="0"/>
                          </a:rPr>
                          <m:t>,</m:t>
                        </m:r>
                      </m:e>
                    </m:func>
                    <m:r>
                      <a:rPr lang="en-US" b="0" i="0" smtClean="0">
                        <a:solidFill>
                          <a:srgbClr val="000000"/>
                        </a:solidFill>
                        <a:latin typeface="Cambria Math" panose="02040503050406030204" pitchFamily="18" charset="0"/>
                      </a:rPr>
                      <m:t> </m:t>
                    </m:r>
                    <m:r>
                      <m:rPr>
                        <m:sty m:val="p"/>
                      </m:rPr>
                      <a:rPr lang="en-US" i="0">
                        <a:solidFill>
                          <a:srgbClr val="000000"/>
                        </a:solidFill>
                        <a:latin typeface="Cambria Math" panose="02040503050406030204" pitchFamily="18" charset="0"/>
                      </a:rPr>
                      <m:t>exp</m:t>
                    </m:r>
                    <m:r>
                      <a:rPr lang="en-US" b="0" i="1" smtClean="0">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r>
                      <a:rPr lang="en-US" b="0" i="1" smtClean="0">
                        <a:solidFill>
                          <a:srgbClr val="000000"/>
                        </a:solidFill>
                        <a:latin typeface="Cambria Math" panose="02040503050406030204" pitchFamily="18" charset="0"/>
                      </a:rPr>
                      <m:t>)</m:t>
                    </m:r>
                  </m:oMath>
                </a14:m>
                <a:r>
                  <a:rPr lang="en-US" dirty="0"/>
                  <a:t>is interpreted as the “odds of Y”</a:t>
                </a:r>
              </a:p>
            </p:txBody>
          </p:sp>
        </mc:Choice>
        <mc:Fallback xmlns="">
          <p:sp>
            <p:nvSpPr>
              <p:cNvPr id="21" name="TextBox 20">
                <a:extLst>
                  <a:ext uri="{FF2B5EF4-FFF2-40B4-BE49-F238E27FC236}">
                    <a16:creationId xmlns:a16="http://schemas.microsoft.com/office/drawing/2014/main" id="{D096A4B7-F534-E4D3-6452-E27AF9479FCA}"/>
                  </a:ext>
                </a:extLst>
              </p:cNvPr>
              <p:cNvSpPr txBox="1">
                <a:spLocks noRot="1" noChangeAspect="1" noMove="1" noResize="1" noEditPoints="1" noAdjustHandles="1" noChangeArrowheads="1" noChangeShapeType="1" noTextEdit="1"/>
              </p:cNvSpPr>
              <p:nvPr/>
            </p:nvSpPr>
            <p:spPr>
              <a:xfrm>
                <a:off x="5486781" y="2766291"/>
                <a:ext cx="4993803" cy="369332"/>
              </a:xfrm>
              <a:prstGeom prst="rect">
                <a:avLst/>
              </a:prstGeom>
              <a:blipFill>
                <a:blip r:embed="rId8"/>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365513E-049A-9793-5FCA-91B16A3C3D82}"/>
                  </a:ext>
                </a:extLst>
              </p:cNvPr>
              <p:cNvSpPr txBox="1"/>
              <p:nvPr/>
            </p:nvSpPr>
            <p:spPr>
              <a:xfrm>
                <a:off x="7514730" y="3300661"/>
                <a:ext cx="1185861" cy="6228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𝑂𝑑𝑑𝑠</m:t>
                          </m:r>
                        </m:num>
                        <m:den>
                          <m:r>
                            <a:rPr lang="en-US" i="1">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𝑂𝑑𝑑𝑠</m:t>
                          </m:r>
                        </m:den>
                      </m:f>
                    </m:oMath>
                  </m:oMathPara>
                </a14:m>
                <a:endParaRPr lang="en-US" dirty="0"/>
              </a:p>
            </p:txBody>
          </p:sp>
        </mc:Choice>
        <mc:Fallback xmlns="">
          <p:sp>
            <p:nvSpPr>
              <p:cNvPr id="23" name="TextBox 22">
                <a:extLst>
                  <a:ext uri="{FF2B5EF4-FFF2-40B4-BE49-F238E27FC236}">
                    <a16:creationId xmlns:a16="http://schemas.microsoft.com/office/drawing/2014/main" id="{F365513E-049A-9793-5FCA-91B16A3C3D82}"/>
                  </a:ext>
                </a:extLst>
              </p:cNvPr>
              <p:cNvSpPr txBox="1">
                <a:spLocks noRot="1" noChangeAspect="1" noMove="1" noResize="1" noEditPoints="1" noAdjustHandles="1" noChangeArrowheads="1" noChangeShapeType="1" noTextEdit="1"/>
              </p:cNvSpPr>
              <p:nvPr/>
            </p:nvSpPr>
            <p:spPr>
              <a:xfrm>
                <a:off x="7514730" y="3300661"/>
                <a:ext cx="1185861" cy="62286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9AE9B02-41DF-BC0B-FB6C-058B66EC3F59}"/>
                  </a:ext>
                </a:extLst>
              </p:cNvPr>
              <p:cNvSpPr txBox="1"/>
              <p:nvPr/>
            </p:nvSpPr>
            <p:spPr>
              <a:xfrm>
                <a:off x="582270" y="3223365"/>
                <a:ext cx="2532906" cy="7147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000000"/>
                          </a:solidFill>
                          <a:latin typeface="Cambria Math" panose="02040503050406030204" pitchFamily="18" charset="0"/>
                        </a:rPr>
                        <m:t>Pr</m:t>
                      </m:r>
                      <m:r>
                        <a:rPr lang="en-US" b="0"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𝑌</m:t>
                      </m:r>
                      <m:r>
                        <a:rPr lang="en-US" b="0"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m:t>
                      </m:r>
                      <m:f>
                        <m:fPr>
                          <m:ctrlPr>
                            <a:rPr lang="en-US" i="1" smtClean="0">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num>
                        <m:den>
                          <m:r>
                            <a:rPr lang="en-US" b="0"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den>
                      </m:f>
                    </m:oMath>
                  </m:oMathPara>
                </a14:m>
                <a:endParaRPr lang="en-US" dirty="0"/>
              </a:p>
            </p:txBody>
          </p:sp>
        </mc:Choice>
        <mc:Fallback xmlns="">
          <p:sp>
            <p:nvSpPr>
              <p:cNvPr id="24" name="TextBox 23">
                <a:extLst>
                  <a:ext uri="{FF2B5EF4-FFF2-40B4-BE49-F238E27FC236}">
                    <a16:creationId xmlns:a16="http://schemas.microsoft.com/office/drawing/2014/main" id="{D9AE9B02-41DF-BC0B-FB6C-058B66EC3F59}"/>
                  </a:ext>
                </a:extLst>
              </p:cNvPr>
              <p:cNvSpPr txBox="1">
                <a:spLocks noRot="1" noChangeAspect="1" noMove="1" noResize="1" noEditPoints="1" noAdjustHandles="1" noChangeArrowheads="1" noChangeShapeType="1" noTextEdit="1"/>
              </p:cNvSpPr>
              <p:nvPr/>
            </p:nvSpPr>
            <p:spPr>
              <a:xfrm>
                <a:off x="582270" y="3223365"/>
                <a:ext cx="2532906" cy="714747"/>
              </a:xfrm>
              <a:prstGeom prst="rect">
                <a:avLst/>
              </a:prstGeom>
              <a:blipFill>
                <a:blip r:embed="rId10"/>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63537F7A-5F48-9077-5A0E-1A3C41816B9D}"/>
              </a:ext>
            </a:extLst>
          </p:cNvPr>
          <p:cNvSpPr txBox="1"/>
          <p:nvPr/>
        </p:nvSpPr>
        <p:spPr>
          <a:xfrm>
            <a:off x="5476017" y="3429181"/>
            <a:ext cx="2828925" cy="369332"/>
          </a:xfrm>
          <a:prstGeom prst="rect">
            <a:avLst/>
          </a:prstGeom>
          <a:noFill/>
        </p:spPr>
        <p:txBody>
          <a:bodyPr wrap="square">
            <a:spAutoFit/>
          </a:bodyPr>
          <a:lstStyle/>
          <a:p>
            <a:r>
              <a:rPr lang="en-US" dirty="0"/>
              <a:t>This follows because</a:t>
            </a:r>
          </a:p>
        </p:txBody>
      </p:sp>
      <p:sp>
        <p:nvSpPr>
          <p:cNvPr id="27" name="TextBox 26">
            <a:extLst>
              <a:ext uri="{FF2B5EF4-FFF2-40B4-BE49-F238E27FC236}">
                <a16:creationId xmlns:a16="http://schemas.microsoft.com/office/drawing/2014/main" id="{C3CDC405-50B2-AA85-B634-DE800A51EA3D}"/>
              </a:ext>
            </a:extLst>
          </p:cNvPr>
          <p:cNvSpPr txBox="1"/>
          <p:nvPr/>
        </p:nvSpPr>
        <p:spPr>
          <a:xfrm>
            <a:off x="8581168" y="3453947"/>
            <a:ext cx="971432" cy="369332"/>
          </a:xfrm>
          <a:prstGeom prst="rect">
            <a:avLst/>
          </a:prstGeom>
          <a:noFill/>
        </p:spPr>
        <p:txBody>
          <a:bodyPr wrap="square">
            <a:spAutoFit/>
          </a:bodyPr>
          <a:lstStyle/>
          <a:p>
            <a:r>
              <a:rPr lang="en-US" dirty="0"/>
              <a:t>so that</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29EB3EA-2E0B-640F-0C6E-12948C9709A2}"/>
                  </a:ext>
                </a:extLst>
              </p:cNvPr>
              <p:cNvSpPr txBox="1"/>
              <p:nvPr/>
            </p:nvSpPr>
            <p:spPr>
              <a:xfrm>
                <a:off x="9289827" y="3352929"/>
                <a:ext cx="954404" cy="6228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𝑌</m:t>
                          </m:r>
                        </m:num>
                        <m:den>
                          <m:r>
                            <a:rPr lang="en-US" i="1">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𝑌</m:t>
                          </m:r>
                        </m:den>
                      </m:f>
                    </m:oMath>
                  </m:oMathPara>
                </a14:m>
                <a:endParaRPr lang="en-US" dirty="0"/>
              </a:p>
            </p:txBody>
          </p:sp>
        </mc:Choice>
        <mc:Fallback xmlns="">
          <p:sp>
            <p:nvSpPr>
              <p:cNvPr id="28" name="TextBox 27">
                <a:extLst>
                  <a:ext uri="{FF2B5EF4-FFF2-40B4-BE49-F238E27FC236}">
                    <a16:creationId xmlns:a16="http://schemas.microsoft.com/office/drawing/2014/main" id="{E29EB3EA-2E0B-640F-0C6E-12948C9709A2}"/>
                  </a:ext>
                </a:extLst>
              </p:cNvPr>
              <p:cNvSpPr txBox="1">
                <a:spLocks noRot="1" noChangeAspect="1" noMove="1" noResize="1" noEditPoints="1" noAdjustHandles="1" noChangeArrowheads="1" noChangeShapeType="1" noTextEdit="1"/>
              </p:cNvSpPr>
              <p:nvPr/>
            </p:nvSpPr>
            <p:spPr>
              <a:xfrm>
                <a:off x="9289827" y="3352929"/>
                <a:ext cx="954404" cy="622863"/>
              </a:xfrm>
              <a:prstGeom prst="rect">
                <a:avLst/>
              </a:prstGeom>
              <a:blipFill>
                <a:blip r:embed="rId11"/>
                <a:stretch>
                  <a:fillRect/>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79F37A20-BCA6-5C8F-FC88-AE98D50186FB}"/>
              </a:ext>
            </a:extLst>
          </p:cNvPr>
          <p:cNvSpPr txBox="1"/>
          <p:nvPr/>
        </p:nvSpPr>
        <p:spPr>
          <a:xfrm>
            <a:off x="10214584" y="3315447"/>
            <a:ext cx="1289736" cy="646331"/>
          </a:xfrm>
          <a:prstGeom prst="rect">
            <a:avLst/>
          </a:prstGeom>
          <a:noFill/>
        </p:spPr>
        <p:txBody>
          <a:bodyPr wrap="square">
            <a:spAutoFit/>
          </a:bodyPr>
          <a:lstStyle/>
          <a:p>
            <a:r>
              <a:rPr lang="en-US" dirty="0"/>
              <a:t>is a probability</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F2C2F6A-E6E3-2F58-E50E-369BBDD116B6}"/>
                  </a:ext>
                </a:extLst>
              </p:cNvPr>
              <p:cNvSpPr txBox="1"/>
              <p:nvPr/>
            </p:nvSpPr>
            <p:spPr>
              <a:xfrm>
                <a:off x="411563" y="3961778"/>
                <a:ext cx="3687394" cy="7147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rgbClr val="000000"/>
                          </a:solidFill>
                          <a:latin typeface="Cambria Math" panose="02040503050406030204" pitchFamily="18" charset="0"/>
                        </a:rPr>
                        <m:t>Pr</m:t>
                      </m:r>
                      <m:r>
                        <a:rPr lang="en-US" b="0"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𝑌</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𝑋</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f>
                        <m:fPr>
                          <m:ctrlPr>
                            <a:rPr lang="en-US" i="1" smtClean="0">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num>
                        <m:den>
                          <m:r>
                            <a:rPr lang="en-US" b="0"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𝑒𝑥𝑝</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den>
                      </m:f>
                    </m:oMath>
                  </m:oMathPara>
                </a14:m>
                <a:endParaRPr lang="en-US" dirty="0"/>
              </a:p>
            </p:txBody>
          </p:sp>
        </mc:Choice>
        <mc:Fallback xmlns="">
          <p:sp>
            <p:nvSpPr>
              <p:cNvPr id="30" name="TextBox 29">
                <a:extLst>
                  <a:ext uri="{FF2B5EF4-FFF2-40B4-BE49-F238E27FC236}">
                    <a16:creationId xmlns:a16="http://schemas.microsoft.com/office/drawing/2014/main" id="{DF2C2F6A-E6E3-2F58-E50E-369BBDD116B6}"/>
                  </a:ext>
                </a:extLst>
              </p:cNvPr>
              <p:cNvSpPr txBox="1">
                <a:spLocks noRot="1" noChangeAspect="1" noMove="1" noResize="1" noEditPoints="1" noAdjustHandles="1" noChangeArrowheads="1" noChangeShapeType="1" noTextEdit="1"/>
              </p:cNvSpPr>
              <p:nvPr/>
            </p:nvSpPr>
            <p:spPr>
              <a:xfrm>
                <a:off x="411563" y="3961778"/>
                <a:ext cx="3687394" cy="714747"/>
              </a:xfrm>
              <a:prstGeom prst="rect">
                <a:avLst/>
              </a:prstGeom>
              <a:blipFill>
                <a:blip r:embed="rId12"/>
                <a:stretch>
                  <a:fillRect/>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99508CF7-2331-E401-6427-759A87AE3535}"/>
              </a:ext>
            </a:extLst>
          </p:cNvPr>
          <p:cNvSpPr txBox="1"/>
          <p:nvPr/>
        </p:nvSpPr>
        <p:spPr>
          <a:xfrm>
            <a:off x="5510398" y="4175792"/>
            <a:ext cx="4946568" cy="369332"/>
          </a:xfrm>
          <a:prstGeom prst="rect">
            <a:avLst/>
          </a:prstGeom>
          <a:noFill/>
        </p:spPr>
        <p:txBody>
          <a:bodyPr wrap="square">
            <a:spAutoFit/>
          </a:bodyPr>
          <a:lstStyle/>
          <a:p>
            <a:r>
              <a:rPr lang="en-US" dirty="0"/>
              <a:t>This is interpreted as a ‘conditional’ probability</a:t>
            </a:r>
          </a:p>
        </p:txBody>
      </p:sp>
    </p:spTree>
    <p:extLst>
      <p:ext uri="{BB962C8B-B14F-4D97-AF65-F5344CB8AC3E}">
        <p14:creationId xmlns:p14="http://schemas.microsoft.com/office/powerpoint/2010/main" val="387196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additive="base">
                                        <p:cTn id="45" dur="500" fill="hold"/>
                                        <p:tgtEl>
                                          <p:spTgt spid="29"/>
                                        </p:tgtEl>
                                        <p:attrNameLst>
                                          <p:attrName>ppt_x</p:attrName>
                                        </p:attrNameLst>
                                      </p:cBhvr>
                                      <p:tavLst>
                                        <p:tav tm="0">
                                          <p:val>
                                            <p:strVal val="#ppt_x"/>
                                          </p:val>
                                        </p:tav>
                                        <p:tav tm="100000">
                                          <p:val>
                                            <p:strVal val="#ppt_x"/>
                                          </p:val>
                                        </p:tav>
                                      </p:tavLst>
                                    </p:anim>
                                    <p:anim calcmode="lin" valueType="num">
                                      <p:cBhvr additive="base">
                                        <p:cTn id="46" dur="500" fill="hold"/>
                                        <p:tgtEl>
                                          <p:spTgt spid="2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 calcmode="lin" valueType="num">
                                      <p:cBhvr additive="base">
                                        <p:cTn id="49" dur="500" fill="hold"/>
                                        <p:tgtEl>
                                          <p:spTgt spid="28"/>
                                        </p:tgtEl>
                                        <p:attrNameLst>
                                          <p:attrName>ppt_x</p:attrName>
                                        </p:attrNameLst>
                                      </p:cBhvr>
                                      <p:tavLst>
                                        <p:tav tm="0">
                                          <p:val>
                                            <p:strVal val="#ppt_x"/>
                                          </p:val>
                                        </p:tav>
                                        <p:tav tm="100000">
                                          <p:val>
                                            <p:strVal val="#ppt_x"/>
                                          </p:val>
                                        </p:tav>
                                      </p:tavLst>
                                    </p:anim>
                                    <p:anim calcmode="lin" valueType="num">
                                      <p:cBhvr additive="base">
                                        <p:cTn id="50" dur="500" fill="hold"/>
                                        <p:tgtEl>
                                          <p:spTgt spid="2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additive="base">
                                        <p:cTn id="53" dur="500" fill="hold"/>
                                        <p:tgtEl>
                                          <p:spTgt spid="27"/>
                                        </p:tgtEl>
                                        <p:attrNameLst>
                                          <p:attrName>ppt_x</p:attrName>
                                        </p:attrNameLst>
                                      </p:cBhvr>
                                      <p:tavLst>
                                        <p:tav tm="0">
                                          <p:val>
                                            <p:strVal val="#ppt_x"/>
                                          </p:val>
                                        </p:tav>
                                        <p:tav tm="100000">
                                          <p:val>
                                            <p:strVal val="#ppt_x"/>
                                          </p:val>
                                        </p:tav>
                                      </p:tavLst>
                                    </p:anim>
                                    <p:anim calcmode="lin" valueType="num">
                                      <p:cBhvr additive="base">
                                        <p:cTn id="54" dur="500" fill="hold"/>
                                        <p:tgtEl>
                                          <p:spTgt spid="27"/>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500" fill="hold"/>
                                        <p:tgtEl>
                                          <p:spTgt spid="26"/>
                                        </p:tgtEl>
                                        <p:attrNameLst>
                                          <p:attrName>ppt_x</p:attrName>
                                        </p:attrNameLst>
                                      </p:cBhvr>
                                      <p:tavLst>
                                        <p:tav tm="0">
                                          <p:val>
                                            <p:strVal val="#ppt_x"/>
                                          </p:val>
                                        </p:tav>
                                        <p:tav tm="100000">
                                          <p:val>
                                            <p:strVal val="#ppt_x"/>
                                          </p:val>
                                        </p:tav>
                                      </p:tavLst>
                                    </p:anim>
                                    <p:anim calcmode="lin" valueType="num">
                                      <p:cBhvr additive="base">
                                        <p:cTn id="58" dur="500" fill="hold"/>
                                        <p:tgtEl>
                                          <p:spTgt spid="26"/>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additive="base">
                                        <p:cTn id="61" dur="500" fill="hold"/>
                                        <p:tgtEl>
                                          <p:spTgt spid="23"/>
                                        </p:tgtEl>
                                        <p:attrNameLst>
                                          <p:attrName>ppt_x</p:attrName>
                                        </p:attrNameLst>
                                      </p:cBhvr>
                                      <p:tavLst>
                                        <p:tav tm="0">
                                          <p:val>
                                            <p:strVal val="#ppt_x"/>
                                          </p:val>
                                        </p:tav>
                                        <p:tav tm="100000">
                                          <p:val>
                                            <p:strVal val="#ppt_x"/>
                                          </p:val>
                                        </p:tav>
                                      </p:tavLst>
                                    </p:anim>
                                    <p:anim calcmode="lin" valueType="num">
                                      <p:cBhvr additive="base">
                                        <p:cTn id="62" dur="500" fill="hold"/>
                                        <p:tgtEl>
                                          <p:spTgt spid="23"/>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fill="hold"/>
                                        <p:tgtEl>
                                          <p:spTgt spid="24"/>
                                        </p:tgtEl>
                                        <p:attrNameLst>
                                          <p:attrName>ppt_x</p:attrName>
                                        </p:attrNameLst>
                                      </p:cBhvr>
                                      <p:tavLst>
                                        <p:tav tm="0">
                                          <p:val>
                                            <p:strVal val="#ppt_x"/>
                                          </p:val>
                                        </p:tav>
                                        <p:tav tm="100000">
                                          <p:val>
                                            <p:strVal val="#ppt_x"/>
                                          </p:val>
                                        </p:tav>
                                      </p:tavLst>
                                    </p:anim>
                                    <p:anim calcmode="lin" valueType="num">
                                      <p:cBhvr additive="base">
                                        <p:cTn id="6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anim calcmode="lin" valueType="num">
                                      <p:cBhvr additive="base">
                                        <p:cTn id="71" dur="500" fill="hold"/>
                                        <p:tgtEl>
                                          <p:spTgt spid="30"/>
                                        </p:tgtEl>
                                        <p:attrNameLst>
                                          <p:attrName>ppt_x</p:attrName>
                                        </p:attrNameLst>
                                      </p:cBhvr>
                                      <p:tavLst>
                                        <p:tav tm="0">
                                          <p:val>
                                            <p:strVal val="#ppt_x"/>
                                          </p:val>
                                        </p:tav>
                                        <p:tav tm="100000">
                                          <p:val>
                                            <p:strVal val="#ppt_x"/>
                                          </p:val>
                                        </p:tav>
                                      </p:tavLst>
                                    </p:anim>
                                    <p:anim calcmode="lin" valueType="num">
                                      <p:cBhvr additive="base">
                                        <p:cTn id="72" dur="500" fill="hold"/>
                                        <p:tgtEl>
                                          <p:spTgt spid="3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 calcmode="lin" valueType="num">
                                      <p:cBhvr additive="base">
                                        <p:cTn id="75" dur="500" fill="hold"/>
                                        <p:tgtEl>
                                          <p:spTgt spid="31"/>
                                        </p:tgtEl>
                                        <p:attrNameLst>
                                          <p:attrName>ppt_x</p:attrName>
                                        </p:attrNameLst>
                                      </p:cBhvr>
                                      <p:tavLst>
                                        <p:tav tm="0">
                                          <p:val>
                                            <p:strVal val="#ppt_x"/>
                                          </p:val>
                                        </p:tav>
                                        <p:tav tm="100000">
                                          <p:val>
                                            <p:strVal val="#ppt_x"/>
                                          </p:val>
                                        </p:tav>
                                      </p:tavLst>
                                    </p:anim>
                                    <p:anim calcmode="lin" valueType="num">
                                      <p:cBhvr additive="base">
                                        <p:cTn id="7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1" grpId="0"/>
      <p:bldP spid="23" grpId="0"/>
      <p:bldP spid="24" grpId="0"/>
      <p:bldP spid="26" grpId="0"/>
      <p:bldP spid="27" grpId="0"/>
      <p:bldP spid="28" grpId="0"/>
      <p:bldP spid="29" grpId="0"/>
      <p:bldP spid="30" grpId="0"/>
      <p:bldP spid="3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B3177-9003-436F-A9D5-6D351AC317B1}"/>
              </a:ext>
            </a:extLst>
          </p:cNvPr>
          <p:cNvSpPr>
            <a:spLocks noGrp="1"/>
          </p:cNvSpPr>
          <p:nvPr>
            <p:ph type="title" idx="4294967295"/>
          </p:nvPr>
        </p:nvSpPr>
        <p:spPr>
          <a:xfrm>
            <a:off x="0" y="32274"/>
            <a:ext cx="10058400" cy="820700"/>
          </a:xfrm>
        </p:spPr>
        <p:txBody>
          <a:bodyPr>
            <a:normAutofit/>
          </a:bodyPr>
          <a:lstStyle/>
          <a:p>
            <a:r>
              <a:rPr lang="en-US" sz="4000" dirty="0">
                <a:latin typeface="Aptos Display" panose="020B0004020202020204" pitchFamily="34" charset="0"/>
                <a:ea typeface="Calibri" panose="020F0502020204030204" pitchFamily="34" charset="0"/>
                <a:cs typeface="Calibri" panose="020F0502020204030204" pitchFamily="34" charset="0"/>
              </a:rPr>
              <a:t>Binary Logistic Regression in JASP</a:t>
            </a:r>
          </a:p>
        </p:txBody>
      </p:sp>
      <p:sp>
        <p:nvSpPr>
          <p:cNvPr id="3" name="Content Placeholder 2">
            <a:extLst>
              <a:ext uri="{FF2B5EF4-FFF2-40B4-BE49-F238E27FC236}">
                <a16:creationId xmlns:a16="http://schemas.microsoft.com/office/drawing/2014/main" id="{EA605CA9-287C-4726-94BD-C6CA296BD0BC}"/>
              </a:ext>
            </a:extLst>
          </p:cNvPr>
          <p:cNvSpPr>
            <a:spLocks noGrp="1"/>
          </p:cNvSpPr>
          <p:nvPr>
            <p:ph idx="4294967295"/>
          </p:nvPr>
        </p:nvSpPr>
        <p:spPr>
          <a:xfrm>
            <a:off x="154193" y="738001"/>
            <a:ext cx="10058400" cy="3355975"/>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Use the file </a:t>
            </a:r>
            <a:r>
              <a:rPr lang="en-US" sz="2000" b="1" dirty="0" err="1">
                <a:latin typeface="Calibri" panose="020F0502020204030204" pitchFamily="34" charset="0"/>
                <a:ea typeface="Calibri" panose="020F0502020204030204" pitchFamily="34" charset="0"/>
                <a:cs typeface="Calibri" panose="020F0502020204030204" pitchFamily="34" charset="0"/>
              </a:rPr>
              <a:t>gpa</a:t>
            </a:r>
            <a:r>
              <a:rPr lang="en-US" sz="2000" b="1" dirty="0">
                <a:latin typeface="Calibri" panose="020F0502020204030204" pitchFamily="34" charset="0"/>
                <a:ea typeface="Calibri" panose="020F0502020204030204" pitchFamily="34" charset="0"/>
                <a:cs typeface="Calibri" panose="020F0502020204030204" pitchFamily="34" charset="0"/>
              </a:rPr>
              <a:t>-college-</a:t>
            </a:r>
            <a:r>
              <a:rPr lang="en-US" sz="2000" b="1" dirty="0" err="1">
                <a:latin typeface="Calibri" panose="020F0502020204030204" pitchFamily="34" charset="0"/>
                <a:ea typeface="Calibri" panose="020F0502020204030204" pitchFamily="34" charset="0"/>
                <a:cs typeface="Calibri" panose="020F0502020204030204" pitchFamily="34" charset="0"/>
              </a:rPr>
              <a:t>enroll.JASP</a:t>
            </a:r>
            <a:r>
              <a:rPr lang="en-US" sz="2000" b="1" dirty="0">
                <a:latin typeface="Calibri" panose="020F0502020204030204" pitchFamily="34" charset="0"/>
                <a:ea typeface="Calibri" panose="020F0502020204030204" pitchFamily="34" charset="0"/>
                <a:cs typeface="Calibri" panose="020F0502020204030204" pitchFamily="34" charset="0"/>
              </a:rPr>
              <a:t>/</a:t>
            </a:r>
            <a:r>
              <a:rPr lang="en-US" sz="2000" b="1" dirty="0" err="1">
                <a:latin typeface="Calibri" panose="020F0502020204030204" pitchFamily="34" charset="0"/>
                <a:ea typeface="Calibri" panose="020F0502020204030204" pitchFamily="34" charset="0"/>
                <a:cs typeface="Calibri" panose="020F0502020204030204" pitchFamily="34" charset="0"/>
              </a:rPr>
              <a:t>gpa</a:t>
            </a:r>
            <a:r>
              <a:rPr lang="en-US" sz="2000" b="1" dirty="0">
                <a:latin typeface="Calibri" panose="020F0502020204030204" pitchFamily="34" charset="0"/>
                <a:ea typeface="Calibri" panose="020F0502020204030204" pitchFamily="34" charset="0"/>
                <a:cs typeface="Calibri" panose="020F0502020204030204" pitchFamily="34" charset="0"/>
              </a:rPr>
              <a:t>-college-</a:t>
            </a:r>
            <a:r>
              <a:rPr lang="en-US" sz="2000" b="1" dirty="0" err="1">
                <a:latin typeface="Calibri" panose="020F0502020204030204" pitchFamily="34" charset="0"/>
                <a:ea typeface="Calibri" panose="020F0502020204030204" pitchFamily="34" charset="0"/>
                <a:cs typeface="Calibri" panose="020F0502020204030204" pitchFamily="34" charset="0"/>
              </a:rPr>
              <a:t>enroll.sav</a:t>
            </a:r>
            <a:endParaRPr lang="en-US" sz="2000" b="1" dirty="0">
              <a:latin typeface="Calibri" panose="020F0502020204030204" pitchFamily="34" charset="0"/>
              <a:ea typeface="Calibri" panose="020F0502020204030204" pitchFamily="34" charset="0"/>
              <a:cs typeface="Calibri" panose="020F0502020204030204" pitchFamily="34" charset="0"/>
            </a:endParaRPr>
          </a:p>
          <a:p>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Analyze </a:t>
            </a: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Regression  Binary Logistic</a:t>
            </a:r>
          </a:p>
          <a:p>
            <a:r>
              <a:rPr lang="en-US" sz="2000" dirty="0">
                <a:latin typeface="Calibri" panose="020F0502020204030204" pitchFamily="34" charset="0"/>
                <a:ea typeface="Calibri" panose="020F0502020204030204" pitchFamily="34" charset="0"/>
                <a:cs typeface="Calibri" panose="020F0502020204030204" pitchFamily="34" charset="0"/>
              </a:rPr>
              <a:t>In this example we have</a:t>
            </a:r>
          </a:p>
          <a:p>
            <a:r>
              <a:rPr lang="en-US" sz="2000" i="1" dirty="0">
                <a:latin typeface="Calibri" panose="020F0502020204030204" pitchFamily="34" charset="0"/>
                <a:ea typeface="Calibri" panose="020F0502020204030204" pitchFamily="34" charset="0"/>
                <a:cs typeface="Calibri" panose="020F0502020204030204" pitchFamily="34" charset="0"/>
              </a:rPr>
              <a:t>Y = </a:t>
            </a:r>
            <a:r>
              <a:rPr lang="en-US" sz="2000" dirty="0">
                <a:latin typeface="Calibri" panose="020F0502020204030204" pitchFamily="34" charset="0"/>
                <a:ea typeface="Calibri" panose="020F0502020204030204" pitchFamily="34" charset="0"/>
                <a:cs typeface="Calibri" panose="020F0502020204030204" pitchFamily="34" charset="0"/>
              </a:rPr>
              <a:t>college enrollment</a:t>
            </a:r>
          </a:p>
          <a:p>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i="1" baseline="-25000" dirty="0">
                <a:latin typeface="Calibri" panose="020F0502020204030204" pitchFamily="34" charset="0"/>
                <a:ea typeface="Calibri" panose="020F0502020204030204" pitchFamily="34" charset="0"/>
                <a:cs typeface="Calibri" panose="020F0502020204030204" pitchFamily="34" charset="0"/>
              </a:rPr>
              <a:t>1</a:t>
            </a:r>
            <a:r>
              <a:rPr lang="en-US" sz="2000" i="1" dirty="0">
                <a:latin typeface="Calibri" panose="020F0502020204030204" pitchFamily="34" charset="0"/>
                <a:ea typeface="Calibri" panose="020F0502020204030204" pitchFamily="34" charset="0"/>
                <a:cs typeface="Calibri" panose="020F0502020204030204" pitchFamily="34" charset="0"/>
              </a:rPr>
              <a:t> = </a:t>
            </a:r>
            <a:r>
              <a:rPr lang="en-US" sz="2000" dirty="0">
                <a:latin typeface="Calibri" panose="020F0502020204030204" pitchFamily="34" charset="0"/>
                <a:ea typeface="Calibri" panose="020F0502020204030204" pitchFamily="34" charset="0"/>
                <a:cs typeface="Calibri" panose="020F0502020204030204" pitchFamily="34" charset="0"/>
              </a:rPr>
              <a:t>undergraduate GPA</a:t>
            </a:r>
          </a:p>
        </p:txBody>
      </p:sp>
    </p:spTree>
    <p:extLst>
      <p:ext uri="{BB962C8B-B14F-4D97-AF65-F5344CB8AC3E}">
        <p14:creationId xmlns:p14="http://schemas.microsoft.com/office/powerpoint/2010/main" val="866706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06E92F5-FB21-E444-3F2F-D1E66FCABF53}"/>
              </a:ext>
            </a:extLst>
          </p:cNvPr>
          <p:cNvGraphicFramePr>
            <a:graphicFrameLocks noGrp="1"/>
          </p:cNvGraphicFramePr>
          <p:nvPr>
            <p:extLst>
              <p:ext uri="{D42A27DB-BD31-4B8C-83A1-F6EECF244321}">
                <p14:modId xmlns:p14="http://schemas.microsoft.com/office/powerpoint/2010/main" val="1572415773"/>
              </p:ext>
            </p:extLst>
          </p:nvPr>
        </p:nvGraphicFramePr>
        <p:xfrm>
          <a:off x="381312" y="801611"/>
          <a:ext cx="10515600" cy="2952750"/>
        </p:xfrm>
        <a:graphic>
          <a:graphicData uri="http://schemas.openxmlformats.org/drawingml/2006/table">
            <a:tbl>
              <a:tblPr/>
              <a:tblGrid>
                <a:gridCol w="1168400">
                  <a:extLst>
                    <a:ext uri="{9D8B030D-6E8A-4147-A177-3AD203B41FA5}">
                      <a16:colId xmlns:a16="http://schemas.microsoft.com/office/drawing/2014/main" val="3843200138"/>
                    </a:ext>
                  </a:extLst>
                </a:gridCol>
                <a:gridCol w="1514501">
                  <a:extLst>
                    <a:ext uri="{9D8B030D-6E8A-4147-A177-3AD203B41FA5}">
                      <a16:colId xmlns:a16="http://schemas.microsoft.com/office/drawing/2014/main" val="1434266747"/>
                    </a:ext>
                  </a:extLst>
                </a:gridCol>
                <a:gridCol w="822299">
                  <a:extLst>
                    <a:ext uri="{9D8B030D-6E8A-4147-A177-3AD203B41FA5}">
                      <a16:colId xmlns:a16="http://schemas.microsoft.com/office/drawing/2014/main" val="4189228005"/>
                    </a:ext>
                  </a:extLst>
                </a:gridCol>
                <a:gridCol w="1168400">
                  <a:extLst>
                    <a:ext uri="{9D8B030D-6E8A-4147-A177-3AD203B41FA5}">
                      <a16:colId xmlns:a16="http://schemas.microsoft.com/office/drawing/2014/main" val="4166501099"/>
                    </a:ext>
                  </a:extLst>
                </a:gridCol>
                <a:gridCol w="1168400">
                  <a:extLst>
                    <a:ext uri="{9D8B030D-6E8A-4147-A177-3AD203B41FA5}">
                      <a16:colId xmlns:a16="http://schemas.microsoft.com/office/drawing/2014/main" val="2487579483"/>
                    </a:ext>
                  </a:extLst>
                </a:gridCol>
                <a:gridCol w="1168400">
                  <a:extLst>
                    <a:ext uri="{9D8B030D-6E8A-4147-A177-3AD203B41FA5}">
                      <a16:colId xmlns:a16="http://schemas.microsoft.com/office/drawing/2014/main" val="353040413"/>
                    </a:ext>
                  </a:extLst>
                </a:gridCol>
                <a:gridCol w="1168400">
                  <a:extLst>
                    <a:ext uri="{9D8B030D-6E8A-4147-A177-3AD203B41FA5}">
                      <a16:colId xmlns:a16="http://schemas.microsoft.com/office/drawing/2014/main" val="4232493274"/>
                    </a:ext>
                  </a:extLst>
                </a:gridCol>
                <a:gridCol w="1168400">
                  <a:extLst>
                    <a:ext uri="{9D8B030D-6E8A-4147-A177-3AD203B41FA5}">
                      <a16:colId xmlns:a16="http://schemas.microsoft.com/office/drawing/2014/main" val="2757346752"/>
                    </a:ext>
                  </a:extLst>
                </a:gridCol>
                <a:gridCol w="1168400">
                  <a:extLst>
                    <a:ext uri="{9D8B030D-6E8A-4147-A177-3AD203B41FA5}">
                      <a16:colId xmlns:a16="http://schemas.microsoft.com/office/drawing/2014/main" val="2995893854"/>
                    </a:ext>
                  </a:extLst>
                </a:gridCol>
              </a:tblGrid>
              <a:tr h="0">
                <a:tc gridSpan="9">
                  <a:txBody>
                    <a:bodyPr/>
                    <a:lstStyle/>
                    <a:p>
                      <a:pPr algn="l">
                        <a:buNone/>
                      </a:pPr>
                      <a:r>
                        <a:rPr lang="en-US" sz="1600" b="0" i="1" dirty="0">
                          <a:solidFill>
                            <a:srgbClr val="000000"/>
                          </a:solidFill>
                          <a:effectLst/>
                          <a:latin typeface="Arial" panose="020B0604020202020204" pitchFamily="34" charset="0"/>
                        </a:rPr>
                        <a:t>Coefficients</a:t>
                      </a:r>
                      <a:r>
                        <a:rPr lang="en-US" sz="16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77531734"/>
                  </a:ext>
                </a:extLst>
              </a:tr>
              <a:tr h="0">
                <a:tc gridSpan="6">
                  <a:txBody>
                    <a:bodyPr/>
                    <a:lstStyle/>
                    <a:p>
                      <a:pPr algn="ctr">
                        <a:buNone/>
                      </a:pPr>
                      <a:endParaRPr lang="en-US" sz="1600" b="0" dirty="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buNone/>
                      </a:pPr>
                      <a:r>
                        <a:rPr lang="en-US" sz="1600" b="0">
                          <a:solidFill>
                            <a:srgbClr val="000000"/>
                          </a:solidFill>
                          <a:effectLst/>
                          <a:latin typeface="Arial" panose="020B0604020202020204" pitchFamily="34" charset="0"/>
                        </a:rPr>
                        <a:t>Wald Test</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89794940"/>
                  </a:ext>
                </a:extLst>
              </a:tr>
              <a:tr h="0">
                <a:tc>
                  <a:txBody>
                    <a:bodyPr/>
                    <a:lstStyle/>
                    <a:p>
                      <a:pPr algn="ctr">
                        <a:buNone/>
                      </a:pPr>
                      <a:r>
                        <a:rPr lang="en-US" b="0">
                          <a:solidFill>
                            <a:srgbClr val="000000"/>
                          </a:solidFill>
                          <a:effectLst/>
                          <a:latin typeface="Arial" panose="020B0604020202020204" pitchFamily="34" charset="0"/>
                        </a:rPr>
                        <a:t>Model</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 </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Estimate</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Standard Error</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Odds Ratio</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z</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Wald Statistic</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df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016072"/>
                  </a:ext>
                </a:extLst>
              </a:tr>
              <a:tr h="0">
                <a:tc>
                  <a:txBody>
                    <a:bodyPr/>
                    <a:lstStyle/>
                    <a:p>
                      <a:pPr algn="l">
                        <a:buNone/>
                      </a:pPr>
                      <a:r>
                        <a:rPr lang="en-US"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l">
                        <a:buNone/>
                      </a:pPr>
                      <a:r>
                        <a:rPr lang="en-US" sz="1600" b="0">
                          <a:solidFill>
                            <a:srgbClr val="000000"/>
                          </a:solidFill>
                          <a:effectLst/>
                          <a:latin typeface="Arial" panose="020B0604020202020204" pitchFamily="34" charset="0"/>
                        </a:rPr>
                        <a:t>(Intercept)</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0.405</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0.645</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1.500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0.628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0.395</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.530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89158875"/>
                  </a:ext>
                </a:extLst>
              </a:tr>
              <a:tr h="0">
                <a:tc>
                  <a:txBody>
                    <a:bodyPr/>
                    <a:lstStyle/>
                    <a:p>
                      <a:pPr algn="l">
                        <a:buNone/>
                      </a:pPr>
                      <a:r>
                        <a:rPr lang="en-US" b="0">
                          <a:solidFill>
                            <a:srgbClr val="000000"/>
                          </a:solidFill>
                          <a:effectLst/>
                          <a:latin typeface="Arial" panose="020B0604020202020204" pitchFamily="34" charset="0"/>
                        </a:rPr>
                        <a:t>M₁</a:t>
                      </a:r>
                    </a:p>
                  </a:txBody>
                  <a:tcPr marL="114300" marR="114300" marT="102870" marB="28575" anchor="ctr">
                    <a:lnL>
                      <a:noFill/>
                    </a:lnL>
                    <a:lnR>
                      <a:noFill/>
                    </a:lnR>
                    <a:lnT>
                      <a:noFill/>
                    </a:lnT>
                    <a:lnB>
                      <a:noFill/>
                    </a:lnB>
                    <a:solidFill>
                      <a:srgbClr val="EBEBEB"/>
                    </a:solidFill>
                  </a:tcPr>
                </a:tc>
                <a:tc>
                  <a:txBody>
                    <a:bodyPr/>
                    <a:lstStyle/>
                    <a:p>
                      <a:pPr algn="l">
                        <a:buNone/>
                      </a:pPr>
                      <a:r>
                        <a:rPr lang="en-US" sz="1600" b="0">
                          <a:solidFill>
                            <a:srgbClr val="000000"/>
                          </a:solidFill>
                          <a:effectLst/>
                          <a:latin typeface="Arial" panose="020B0604020202020204" pitchFamily="34" charset="0"/>
                        </a:rPr>
                        <a:t>(Intercept)</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-2.144</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2.416</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0.117</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-0.888</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0.788</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dirty="0">
                          <a:solidFill>
                            <a:srgbClr val="000000"/>
                          </a:solidFill>
                          <a:effectLst/>
                          <a:latin typeface="Arial" panose="020B0604020202020204" pitchFamily="34" charset="0"/>
                        </a:rPr>
                        <a:t>1</a:t>
                      </a:r>
                    </a:p>
                  </a:txBody>
                  <a:tcPr marL="114300" marR="114300" marT="102870" marB="28575" anchor="ctr">
                    <a:lnL>
                      <a:noFill/>
                    </a:lnL>
                    <a:lnR>
                      <a:noFill/>
                    </a:lnR>
                    <a:lnT>
                      <a:noFill/>
                    </a:lnT>
                    <a:lnB>
                      <a:noFill/>
                    </a:lnB>
                    <a:solidFill>
                      <a:srgbClr val="EBEBEB"/>
                    </a:solidFill>
                  </a:tcPr>
                </a:tc>
                <a:tc>
                  <a:txBody>
                    <a:bodyPr/>
                    <a:lstStyle/>
                    <a:p>
                      <a:pPr algn="r">
                        <a:buNone/>
                      </a:pPr>
                      <a:r>
                        <a:rPr lang="en-US" sz="1600" b="0">
                          <a:solidFill>
                            <a:srgbClr val="000000"/>
                          </a:solidFill>
                          <a:effectLst/>
                          <a:latin typeface="Arial" panose="020B0604020202020204" pitchFamily="34" charset="0"/>
                        </a:rPr>
                        <a:t>.375</a:t>
                      </a:r>
                    </a:p>
                  </a:txBody>
                  <a:tcPr marL="114300" marR="114300" marT="102870" marB="28575" anchor="ctr">
                    <a:lnL>
                      <a:noFill/>
                    </a:lnL>
                    <a:lnR>
                      <a:noFill/>
                    </a:lnR>
                    <a:lnT>
                      <a:noFill/>
                    </a:lnT>
                    <a:lnB>
                      <a:noFill/>
                    </a:lnB>
                    <a:solidFill>
                      <a:srgbClr val="EBEBEB"/>
                    </a:solidFill>
                  </a:tcPr>
                </a:tc>
                <a:extLst>
                  <a:ext uri="{0D108BD9-81ED-4DB2-BD59-A6C34878D82A}">
                    <a16:rowId xmlns:a16="http://schemas.microsoft.com/office/drawing/2014/main" val="81483116"/>
                  </a:ext>
                </a:extLst>
              </a:tr>
              <a:tr h="0">
                <a:tc>
                  <a:txBody>
                    <a:bodyPr/>
                    <a:lstStyle/>
                    <a:p>
                      <a:pPr algn="l">
                        <a:spcAft>
                          <a:spcPts val="720"/>
                        </a:spcAft>
                        <a:buNone/>
                      </a:pPr>
                      <a:r>
                        <a:rPr lang="en-US" b="0">
                          <a:solidFill>
                            <a:srgbClr val="000000"/>
                          </a:solidFill>
                          <a:effectLst/>
                          <a:latin typeface="Arial" panose="020B0604020202020204" pitchFamily="34" charset="0"/>
                        </a:rPr>
                        <a:t> </a:t>
                      </a:r>
                    </a:p>
                  </a:txBody>
                  <a:tcPr marL="114300" marR="114300" marT="9525" marB="28575" anchor="ctr">
                    <a:lnL>
                      <a:noFill/>
                    </a:lnL>
                    <a:lnR>
                      <a:noFill/>
                    </a:lnR>
                    <a:lnT>
                      <a:noFill/>
                    </a:lnT>
                    <a:lnB>
                      <a:noFill/>
                    </a:lnB>
                    <a:solidFill>
                      <a:srgbClr val="FFFFFF"/>
                    </a:solidFill>
                  </a:tcPr>
                </a:tc>
                <a:tc>
                  <a:txBody>
                    <a:bodyPr/>
                    <a:lstStyle/>
                    <a:p>
                      <a:pPr algn="l">
                        <a:spcAft>
                          <a:spcPts val="720"/>
                        </a:spcAft>
                        <a:buNone/>
                      </a:pPr>
                      <a:r>
                        <a:rPr lang="en-US" sz="1600" b="0">
                          <a:solidFill>
                            <a:srgbClr val="000000"/>
                          </a:solidFill>
                          <a:effectLst/>
                          <a:latin typeface="Arial" panose="020B0604020202020204" pitchFamily="34" charset="0"/>
                        </a:rPr>
                        <a:t>gpa</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0.883</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0.821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2.419</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1.076</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1.157</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a:solidFill>
                            <a:srgbClr val="000000"/>
                          </a:solidFill>
                          <a:effectLst/>
                          <a:latin typeface="Arial" panose="020B0604020202020204" pitchFamily="34" charset="0"/>
                        </a:rPr>
                        <a:t>1</a:t>
                      </a: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sz="1600" b="0" dirty="0">
                          <a:solidFill>
                            <a:srgbClr val="000000"/>
                          </a:solidFill>
                          <a:effectLst/>
                          <a:latin typeface="Arial" panose="020B0604020202020204" pitchFamily="34" charset="0"/>
                        </a:rPr>
                        <a:t>.282</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2331998952"/>
                  </a:ext>
                </a:extLst>
              </a:tr>
              <a:tr h="0">
                <a:tc gridSpan="9">
                  <a:txBody>
                    <a:bodyPr/>
                    <a:lstStyle/>
                    <a:p>
                      <a:pPr algn="r">
                        <a:buNone/>
                      </a:pPr>
                      <a:endParaRPr lang="en-US" b="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6483715"/>
                  </a:ext>
                </a:extLst>
              </a:tr>
              <a:tr h="0">
                <a:tc gridSpan="9">
                  <a:txBody>
                    <a:bodyPr/>
                    <a:lstStyle/>
                    <a:p>
                      <a:pPr algn="l">
                        <a:buNone/>
                      </a:pPr>
                      <a:r>
                        <a:rPr lang="en-US" b="0" i="1" dirty="0">
                          <a:solidFill>
                            <a:srgbClr val="000000"/>
                          </a:solidFill>
                          <a:effectLst/>
                          <a:latin typeface="Arial" panose="020B0604020202020204" pitchFamily="34" charset="0"/>
                        </a:rPr>
                        <a:t>Note.</a:t>
                      </a:r>
                      <a:r>
                        <a:rPr lang="en-US" b="0" dirty="0">
                          <a:solidFill>
                            <a:srgbClr val="000000"/>
                          </a:solidFill>
                          <a:effectLst/>
                          <a:latin typeface="Arial" panose="020B0604020202020204" pitchFamily="34" charset="0"/>
                        </a:rPr>
                        <a:t>  enroll level '1' coded as class 1.</a:t>
                      </a: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00740603"/>
                  </a:ext>
                </a:extLst>
              </a:tr>
            </a:tbl>
          </a:graphicData>
        </a:graphic>
      </p:graphicFrame>
      <p:sp>
        <p:nvSpPr>
          <p:cNvPr id="2" name="Title 1">
            <a:extLst>
              <a:ext uri="{FF2B5EF4-FFF2-40B4-BE49-F238E27FC236}">
                <a16:creationId xmlns:a16="http://schemas.microsoft.com/office/drawing/2014/main" id="{1C92702B-4E32-4C91-B645-6FD9BA970A36}"/>
              </a:ext>
            </a:extLst>
          </p:cNvPr>
          <p:cNvSpPr>
            <a:spLocks noGrp="1"/>
          </p:cNvSpPr>
          <p:nvPr>
            <p:ph type="title" idx="4294967295"/>
          </p:nvPr>
        </p:nvSpPr>
        <p:spPr>
          <a:xfrm>
            <a:off x="0" y="129550"/>
            <a:ext cx="10058400" cy="690601"/>
          </a:xfrm>
        </p:spPr>
        <p:txBody>
          <a:bodyPr>
            <a:normAutofit/>
          </a:bodyPr>
          <a:lstStyle/>
          <a:p>
            <a:r>
              <a:rPr lang="en-US" sz="4000" dirty="0">
                <a:latin typeface="Aptos Display" panose="020B0004020202020204" pitchFamily="34" charset="0"/>
              </a:rPr>
              <a:t>Focus on the results first</a:t>
            </a:r>
          </a:p>
        </p:txBody>
      </p:sp>
      <p:sp>
        <p:nvSpPr>
          <p:cNvPr id="5" name="Rectangle 4">
            <a:extLst>
              <a:ext uri="{FF2B5EF4-FFF2-40B4-BE49-F238E27FC236}">
                <a16:creationId xmlns:a16="http://schemas.microsoft.com/office/drawing/2014/main" id="{D910FF22-9FD9-4FA6-8A65-B2DCFFE45870}"/>
              </a:ext>
            </a:extLst>
          </p:cNvPr>
          <p:cNvSpPr/>
          <p:nvPr/>
        </p:nvSpPr>
        <p:spPr>
          <a:xfrm>
            <a:off x="5316591" y="1425364"/>
            <a:ext cx="645042" cy="57853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0D74A25-255B-4E55-893E-357A6016F7AF}"/>
              </a:ext>
            </a:extLst>
          </p:cNvPr>
          <p:cNvSpPr/>
          <p:nvPr/>
        </p:nvSpPr>
        <p:spPr>
          <a:xfrm>
            <a:off x="3077359" y="1459068"/>
            <a:ext cx="970428" cy="55212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AC2E61-6BF9-4FD0-808B-8C770B9F8F05}"/>
              </a:ext>
            </a:extLst>
          </p:cNvPr>
          <p:cNvSpPr/>
          <p:nvPr/>
        </p:nvSpPr>
        <p:spPr>
          <a:xfrm>
            <a:off x="8692126" y="1081107"/>
            <a:ext cx="970428" cy="39525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4F72237-FA41-3DDD-DC24-1BA17F7B2FB5}"/>
                  </a:ext>
                </a:extLst>
              </p:cNvPr>
              <p:cNvSpPr txBox="1"/>
              <p:nvPr/>
            </p:nvSpPr>
            <p:spPr>
              <a:xfrm>
                <a:off x="3773061" y="3938813"/>
                <a:ext cx="4087016"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𝑙𝑜𝑔𝑖𝑡</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144</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833</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𝐺𝑃𝐴</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6" name="TextBox 5">
                <a:extLst>
                  <a:ext uri="{FF2B5EF4-FFF2-40B4-BE49-F238E27FC236}">
                    <a16:creationId xmlns:a16="http://schemas.microsoft.com/office/drawing/2014/main" id="{04F72237-FA41-3DDD-DC24-1BA17F7B2FB5}"/>
                  </a:ext>
                </a:extLst>
              </p:cNvPr>
              <p:cNvSpPr txBox="1">
                <a:spLocks noRot="1" noChangeAspect="1" noMove="1" noResize="1" noEditPoints="1" noAdjustHandles="1" noChangeArrowheads="1" noChangeShapeType="1" noTextEdit="1"/>
              </p:cNvSpPr>
              <p:nvPr/>
            </p:nvSpPr>
            <p:spPr>
              <a:xfrm>
                <a:off x="3773061" y="3938813"/>
                <a:ext cx="4087016" cy="369332"/>
              </a:xfrm>
              <a:prstGeom prst="rect">
                <a:avLst/>
              </a:prstGeom>
              <a:blipFill>
                <a:blip r:embed="rId2"/>
                <a:stretch>
                  <a:fillRect l="-2239" r="-1343" b="-344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3DA7642-41E1-5A3F-D821-A3170E51A496}"/>
                  </a:ext>
                </a:extLst>
              </p:cNvPr>
              <p:cNvSpPr txBox="1"/>
              <p:nvPr/>
            </p:nvSpPr>
            <p:spPr>
              <a:xfrm>
                <a:off x="2456745" y="4413682"/>
                <a:ext cx="6096000" cy="7805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𝑃𝑟</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144</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 .</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883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num>
                        <m:den>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144</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883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den>
                      </m:f>
                    </m:oMath>
                  </m:oMathPara>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7" name="TextBox 6">
                <a:extLst>
                  <a:ext uri="{FF2B5EF4-FFF2-40B4-BE49-F238E27FC236}">
                    <a16:creationId xmlns:a16="http://schemas.microsoft.com/office/drawing/2014/main" id="{C3DA7642-41E1-5A3F-D821-A3170E51A496}"/>
                  </a:ext>
                </a:extLst>
              </p:cNvPr>
              <p:cNvSpPr txBox="1">
                <a:spLocks noRot="1" noChangeAspect="1" noMove="1" noResize="1" noEditPoints="1" noAdjustHandles="1" noChangeArrowheads="1" noChangeShapeType="1" noTextEdit="1"/>
              </p:cNvSpPr>
              <p:nvPr/>
            </p:nvSpPr>
            <p:spPr>
              <a:xfrm>
                <a:off x="2456745" y="4413682"/>
                <a:ext cx="6096000" cy="780598"/>
              </a:xfrm>
              <a:prstGeom prst="rect">
                <a:avLst/>
              </a:prstGeom>
              <a:blipFill>
                <a:blip r:embed="rId3"/>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E06CA87-D927-9DF7-318A-ABE3341E237B}"/>
              </a:ext>
            </a:extLst>
          </p:cNvPr>
          <p:cNvSpPr txBox="1"/>
          <p:nvPr/>
        </p:nvSpPr>
        <p:spPr>
          <a:xfrm>
            <a:off x="8389949" y="4383398"/>
            <a:ext cx="3109506" cy="923330"/>
          </a:xfrm>
          <a:prstGeom prst="rect">
            <a:avLst/>
          </a:prstGeom>
          <a:noFill/>
        </p:spPr>
        <p:txBody>
          <a:bodyPr wrap="none" rtlCol="0">
            <a:spAutoFit/>
          </a:bodyPr>
          <a:lstStyle/>
          <a:p>
            <a:r>
              <a:rPr lang="en-US" dirty="0"/>
              <a:t>Probability of enrolling in</a:t>
            </a:r>
          </a:p>
          <a:p>
            <a:r>
              <a:rPr lang="en-US" dirty="0"/>
              <a:t>college ‘conditional on’ values</a:t>
            </a:r>
          </a:p>
          <a:p>
            <a:r>
              <a:rPr lang="en-US" dirty="0"/>
              <a:t>of one’s grade point average</a:t>
            </a:r>
          </a:p>
        </p:txBody>
      </p:sp>
      <p:sp>
        <p:nvSpPr>
          <p:cNvPr id="8" name="Content Placeholder 7">
            <a:extLst>
              <a:ext uri="{FF2B5EF4-FFF2-40B4-BE49-F238E27FC236}">
                <a16:creationId xmlns:a16="http://schemas.microsoft.com/office/drawing/2014/main" id="{6E8D735E-394D-4A2C-8B4C-5CCAB1D083C0}"/>
              </a:ext>
            </a:extLst>
          </p:cNvPr>
          <p:cNvSpPr txBox="1">
            <a:spLocks/>
          </p:cNvSpPr>
          <p:nvPr/>
        </p:nvSpPr>
        <p:spPr>
          <a:xfrm>
            <a:off x="730415" y="5341764"/>
            <a:ext cx="10462436" cy="17416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The Wald test is the test statistic for the logistic regression model</a:t>
            </a:r>
          </a:p>
          <a:p>
            <a:r>
              <a:rPr lang="en-US" sz="1800" dirty="0"/>
              <a:t>The sig. is the </a:t>
            </a:r>
            <a:r>
              <a:rPr lang="en-US" sz="1800" i="1" dirty="0"/>
              <a:t>p-</a:t>
            </a:r>
            <a:r>
              <a:rPr lang="en-US" sz="1800" dirty="0"/>
              <a:t>value</a:t>
            </a:r>
          </a:p>
          <a:p>
            <a:r>
              <a:rPr lang="en-US" sz="1800" dirty="0"/>
              <a:t>EXP(B) is the odds ratio – the interpretation is: the odds of enrolling in college are about 2.5 times greater for each one unit increase in undergraduate </a:t>
            </a:r>
            <a:r>
              <a:rPr lang="en-US" sz="1800" dirty="0" err="1"/>
              <a:t>gpa</a:t>
            </a:r>
            <a:r>
              <a:rPr lang="en-US" sz="1800" dirty="0"/>
              <a:t>, but the result is not statistically significant</a:t>
            </a:r>
          </a:p>
        </p:txBody>
      </p:sp>
    </p:spTree>
    <p:extLst>
      <p:ext uri="{BB962C8B-B14F-4D97-AF65-F5344CB8AC3E}">
        <p14:creationId xmlns:p14="http://schemas.microsoft.com/office/powerpoint/2010/main" val="4147087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4F3E-5BAE-409A-9807-42BDE840E0FF}"/>
              </a:ext>
            </a:extLst>
          </p:cNvPr>
          <p:cNvSpPr>
            <a:spLocks noGrp="1"/>
          </p:cNvSpPr>
          <p:nvPr>
            <p:ph type="title" idx="4294967295"/>
          </p:nvPr>
        </p:nvSpPr>
        <p:spPr>
          <a:xfrm>
            <a:off x="132677" y="115215"/>
            <a:ext cx="10058400" cy="662933"/>
          </a:xfrm>
        </p:spPr>
        <p:txBody>
          <a:bodyPr>
            <a:normAutofit fontScale="90000"/>
          </a:bodyPr>
          <a:lstStyle/>
          <a:p>
            <a:r>
              <a:rPr lang="en-US" dirty="0">
                <a:latin typeface="Aptos Display" panose="020B0004020202020204" pitchFamily="34" charset="0"/>
              </a:rPr>
              <a:t>Computing probabilities</a:t>
            </a:r>
          </a:p>
        </p:txBody>
      </p:sp>
      <p:sp>
        <p:nvSpPr>
          <p:cNvPr id="3" name="Content Placeholder 2">
            <a:extLst>
              <a:ext uri="{FF2B5EF4-FFF2-40B4-BE49-F238E27FC236}">
                <a16:creationId xmlns:a16="http://schemas.microsoft.com/office/drawing/2014/main" id="{674AD625-5B64-45E1-8616-FA6D80695422}"/>
              </a:ext>
            </a:extLst>
          </p:cNvPr>
          <p:cNvSpPr>
            <a:spLocks noGrp="1"/>
          </p:cNvSpPr>
          <p:nvPr>
            <p:ph idx="4294967295"/>
          </p:nvPr>
        </p:nvSpPr>
        <p:spPr>
          <a:xfrm>
            <a:off x="321012" y="775072"/>
            <a:ext cx="10058400" cy="3760788"/>
          </a:xfrm>
        </p:spPr>
        <p:txBody>
          <a:bodyPr>
            <a:normAutofit/>
          </a:bodyPr>
          <a:lstStyle/>
          <a:p>
            <a:r>
              <a:rPr lang="en-US" sz="2000" dirty="0"/>
              <a:t>The most useful part of logistic regression is the ability to predict the conditional probability of Y given values of the independent variables</a:t>
            </a:r>
          </a:p>
          <a:p>
            <a:r>
              <a:rPr lang="en-US" sz="2000" dirty="0"/>
              <a:t>For example: what is the probability of college enrollment given that your </a:t>
            </a:r>
            <a:r>
              <a:rPr lang="en-US" sz="2000" dirty="0" err="1"/>
              <a:t>gpa</a:t>
            </a:r>
            <a:r>
              <a:rPr lang="en-US" sz="2000" dirty="0"/>
              <a:t> is 1.0, 2.0, 3.0 and 4.0?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7EE2294-70E7-43BD-AD6A-D565B45E79FD}"/>
                  </a:ext>
                </a:extLst>
              </p:cNvPr>
              <p:cNvSpPr txBox="1"/>
              <p:nvPr/>
            </p:nvSpPr>
            <p:spPr>
              <a:xfrm>
                <a:off x="3564215" y="2038759"/>
                <a:ext cx="3985169" cy="580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ea typeface="Cambria Math" panose="02040503050406030204" pitchFamily="18" charset="0"/>
                        </a:rPr>
                        <m:t>Pr</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b="0" i="1" smtClean="0">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num>
                        <m:den>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𝛽</m:t>
                                  </m:r>
                                </m:e>
                                <m:sub>
                                  <m:r>
                                    <a:rPr lang="en-US" i="1">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sup>
                          </m:sSup>
                        </m:den>
                      </m:f>
                    </m:oMath>
                  </m:oMathPara>
                </a14:m>
                <a:endParaRPr lang="en-US" dirty="0"/>
              </a:p>
            </p:txBody>
          </p:sp>
        </mc:Choice>
        <mc:Fallback xmlns="">
          <p:sp>
            <p:nvSpPr>
              <p:cNvPr id="5" name="TextBox 4">
                <a:extLst>
                  <a:ext uri="{FF2B5EF4-FFF2-40B4-BE49-F238E27FC236}">
                    <a16:creationId xmlns:a16="http://schemas.microsoft.com/office/drawing/2014/main" id="{97EE2294-70E7-43BD-AD6A-D565B45E79FD}"/>
                  </a:ext>
                </a:extLst>
              </p:cNvPr>
              <p:cNvSpPr txBox="1">
                <a:spLocks noRot="1" noChangeAspect="1" noMove="1" noResize="1" noEditPoints="1" noAdjustHandles="1" noChangeArrowheads="1" noChangeShapeType="1" noTextEdit="1"/>
              </p:cNvSpPr>
              <p:nvPr/>
            </p:nvSpPr>
            <p:spPr>
              <a:xfrm>
                <a:off x="3564215" y="2038759"/>
                <a:ext cx="3985169" cy="58035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61E837-8F63-40F7-82D9-A4355D7593B7}"/>
                  </a:ext>
                </a:extLst>
              </p:cNvPr>
              <p:cNvSpPr txBox="1"/>
              <p:nvPr/>
            </p:nvSpPr>
            <p:spPr>
              <a:xfrm>
                <a:off x="731520" y="2989952"/>
                <a:ext cx="9282133" cy="594715"/>
              </a:xfrm>
              <a:prstGeom prst="rect">
                <a:avLst/>
              </a:prstGeom>
              <a:noFill/>
            </p:spPr>
            <p:txBody>
              <a:bodyPr wrap="square" lIns="0" tIns="0" rIns="0" bIns="0" rtlCol="0">
                <a:spAutoFit/>
              </a:bodyPr>
              <a:lstStyle/>
              <a:p>
                <a14:m>
                  <m:oMath xmlns:m="http://schemas.openxmlformats.org/officeDocument/2006/math">
                    <m:r>
                      <m:rPr>
                        <m:sty m:val="p"/>
                      </m:rPr>
                      <a:rPr lang="en-US" sz="2400" b="0" i="0" smtClean="0">
                        <a:latin typeface="Cambria Math" panose="02040503050406030204" pitchFamily="18" charset="0"/>
                        <a:ea typeface="Cambria Math" panose="02040503050406030204" pitchFamily="18" charset="0"/>
                      </a:rPr>
                      <m:t>Pr</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𝑌</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144</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883</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sup>
                        </m:sSup>
                      </m:num>
                      <m:den>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144</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883</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sup>
                        </m:sSup>
                      </m:den>
                    </m:f>
                  </m:oMath>
                </a14:m>
                <a:r>
                  <a:rPr lang="en-US" sz="2400" dirty="0">
                    <a:ea typeface="Cambria Math" panose="02040503050406030204" pitchFamily="18"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144</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883</m:t>
                            </m:r>
                          </m:sup>
                        </m:sSup>
                      </m:num>
                      <m:den>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144</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883</m:t>
                            </m:r>
                          </m:sup>
                        </m:sSup>
                      </m:den>
                    </m:f>
                  </m:oMath>
                </a14:m>
                <a:r>
                  <a:rPr lang="en-US" dirty="0"/>
                  <a:t>=</a:t>
                </a:r>
                <a:r>
                  <a:rPr lang="en-US" dirty="0">
                    <a:ea typeface="Cambria Math" panose="02040503050406030204" pitchFamily="18" charset="0"/>
                  </a:rPr>
                  <a:t>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261</m:t>
                            </m:r>
                          </m:sup>
                        </m:sSup>
                      </m:num>
                      <m:den>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261</m:t>
                            </m:r>
                          </m:sup>
                        </m:sSup>
                      </m:den>
                    </m:f>
                  </m:oMath>
                </a14:m>
                <a:r>
                  <a:rPr lang="en-US" dirty="0"/>
                  <a:t>=</a:t>
                </a:r>
                <a:r>
                  <a:rPr lang="en-US" dirty="0">
                    <a:ea typeface="Cambria Math" panose="02040503050406030204" pitchFamily="18" charset="0"/>
                  </a:rPr>
                  <a:t>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283371</m:t>
                        </m:r>
                      </m:num>
                      <m:den>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283371</m:t>
                        </m:r>
                      </m:den>
                    </m:f>
                  </m:oMath>
                </a14:m>
                <a:r>
                  <a:rPr lang="en-US" dirty="0"/>
                  <a:t>=.221</a:t>
                </a:r>
              </a:p>
            </p:txBody>
          </p:sp>
        </mc:Choice>
        <mc:Fallback xmlns="">
          <p:sp>
            <p:nvSpPr>
              <p:cNvPr id="6" name="TextBox 5">
                <a:extLst>
                  <a:ext uri="{FF2B5EF4-FFF2-40B4-BE49-F238E27FC236}">
                    <a16:creationId xmlns:a16="http://schemas.microsoft.com/office/drawing/2014/main" id="{0B61E837-8F63-40F7-82D9-A4355D7593B7}"/>
                  </a:ext>
                </a:extLst>
              </p:cNvPr>
              <p:cNvSpPr txBox="1">
                <a:spLocks noRot="1" noChangeAspect="1" noMove="1" noResize="1" noEditPoints="1" noAdjustHandles="1" noChangeArrowheads="1" noChangeShapeType="1" noTextEdit="1"/>
              </p:cNvSpPr>
              <p:nvPr/>
            </p:nvSpPr>
            <p:spPr>
              <a:xfrm>
                <a:off x="731520" y="2989952"/>
                <a:ext cx="9282133" cy="594715"/>
              </a:xfrm>
              <a:prstGeom prst="rect">
                <a:avLst/>
              </a:prstGeom>
              <a:blipFill>
                <a:blip r:embed="rId3"/>
                <a:stretch>
                  <a:fillRect b="-173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08E333-4387-48F5-A215-9C520E7DA9D1}"/>
                  </a:ext>
                </a:extLst>
              </p:cNvPr>
              <p:cNvSpPr txBox="1"/>
              <p:nvPr/>
            </p:nvSpPr>
            <p:spPr>
              <a:xfrm>
                <a:off x="731519" y="3767106"/>
                <a:ext cx="9282133" cy="594715"/>
              </a:xfrm>
              <a:prstGeom prst="rect">
                <a:avLst/>
              </a:prstGeom>
              <a:noFill/>
            </p:spPr>
            <p:txBody>
              <a:bodyPr wrap="square" lIns="0" tIns="0" rIns="0" bIns="0" rtlCol="0">
                <a:spAutoFit/>
              </a:bodyPr>
              <a:lstStyle/>
              <a:p>
                <a14:m>
                  <m:oMath xmlns:m="http://schemas.openxmlformats.org/officeDocument/2006/math">
                    <m:r>
                      <m:rPr>
                        <m:sty m:val="p"/>
                      </m:rPr>
                      <a:rPr lang="en-US" sz="2400" b="0" i="0" smtClean="0">
                        <a:latin typeface="Cambria Math" panose="02040503050406030204" pitchFamily="18" charset="0"/>
                        <a:ea typeface="Cambria Math" panose="02040503050406030204" pitchFamily="18" charset="0"/>
                      </a:rPr>
                      <m:t>Pr</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𝑌</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144</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883</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m:t>
                            </m:r>
                          </m:sup>
                        </m:sSup>
                      </m:num>
                      <m:den>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144</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883</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sup>
                        </m:sSup>
                      </m:den>
                    </m:f>
                  </m:oMath>
                </a14:m>
                <a:r>
                  <a:rPr lang="en-US" sz="2400" dirty="0">
                    <a:ea typeface="Cambria Math" panose="02040503050406030204" pitchFamily="18"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144</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766</m:t>
                            </m:r>
                          </m:sup>
                        </m:sSup>
                      </m:num>
                      <m:den>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144</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766</m:t>
                            </m:r>
                          </m:sup>
                        </m:sSup>
                      </m:den>
                    </m:f>
                  </m:oMath>
                </a14:m>
                <a:r>
                  <a:rPr lang="en-US" dirty="0"/>
                  <a:t>=</a:t>
                </a:r>
                <a:r>
                  <a:rPr lang="en-US" dirty="0">
                    <a:ea typeface="Cambria Math" panose="02040503050406030204" pitchFamily="18" charset="0"/>
                  </a:rPr>
                  <a:t>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378</m:t>
                            </m:r>
                          </m:sup>
                        </m:sSup>
                      </m:num>
                      <m:den>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378</m:t>
                            </m:r>
                          </m:sup>
                        </m:sSup>
                      </m:den>
                    </m:f>
                  </m:oMath>
                </a14:m>
                <a:r>
                  <a:rPr lang="en-US" dirty="0"/>
                  <a:t>=</a:t>
                </a:r>
                <a:r>
                  <a:rPr lang="en-US" dirty="0">
                    <a:ea typeface="Cambria Math" panose="02040503050406030204" pitchFamily="18" charset="0"/>
                  </a:rPr>
                  <a:t>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283371</m:t>
                        </m:r>
                      </m:num>
                      <m:den>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283371</m:t>
                        </m:r>
                      </m:den>
                    </m:f>
                  </m:oMath>
                </a14:m>
                <a:r>
                  <a:rPr lang="en-US" dirty="0"/>
                  <a:t>=.407</a:t>
                </a:r>
              </a:p>
            </p:txBody>
          </p:sp>
        </mc:Choice>
        <mc:Fallback xmlns="">
          <p:sp>
            <p:nvSpPr>
              <p:cNvPr id="7" name="TextBox 6">
                <a:extLst>
                  <a:ext uri="{FF2B5EF4-FFF2-40B4-BE49-F238E27FC236}">
                    <a16:creationId xmlns:a16="http://schemas.microsoft.com/office/drawing/2014/main" id="{9C08E333-4387-48F5-A215-9C520E7DA9D1}"/>
                  </a:ext>
                </a:extLst>
              </p:cNvPr>
              <p:cNvSpPr txBox="1">
                <a:spLocks noRot="1" noChangeAspect="1" noMove="1" noResize="1" noEditPoints="1" noAdjustHandles="1" noChangeArrowheads="1" noChangeShapeType="1" noTextEdit="1"/>
              </p:cNvSpPr>
              <p:nvPr/>
            </p:nvSpPr>
            <p:spPr>
              <a:xfrm>
                <a:off x="731519" y="3767106"/>
                <a:ext cx="9282133" cy="594715"/>
              </a:xfrm>
              <a:prstGeom prst="rect">
                <a:avLst/>
              </a:prstGeom>
              <a:blipFill>
                <a:blip r:embed="rId4"/>
                <a:stretch>
                  <a:fillRect b="-16327"/>
                </a:stretch>
              </a:blipFill>
            </p:spPr>
            <p:txBody>
              <a:bodyPr/>
              <a:lstStyle/>
              <a:p>
                <a:r>
                  <a:rPr lang="en-US">
                    <a:noFill/>
                  </a:rPr>
                  <a:t> </a:t>
                </a:r>
              </a:p>
            </p:txBody>
          </p:sp>
        </mc:Fallback>
      </mc:AlternateContent>
    </p:spTree>
    <p:extLst>
      <p:ext uri="{BB962C8B-B14F-4D97-AF65-F5344CB8AC3E}">
        <p14:creationId xmlns:p14="http://schemas.microsoft.com/office/powerpoint/2010/main" val="24621419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88592-CE93-4392-BBC5-60190B89BDD9}"/>
              </a:ext>
            </a:extLst>
          </p:cNvPr>
          <p:cNvSpPr>
            <a:spLocks noGrp="1"/>
          </p:cNvSpPr>
          <p:nvPr>
            <p:ph type="title" idx="4294967295"/>
          </p:nvPr>
        </p:nvSpPr>
        <p:spPr>
          <a:xfrm>
            <a:off x="154193" y="136732"/>
            <a:ext cx="10058400" cy="756154"/>
          </a:xfrm>
        </p:spPr>
        <p:txBody>
          <a:bodyPr>
            <a:normAutofit/>
          </a:bodyPr>
          <a:lstStyle/>
          <a:p>
            <a:r>
              <a:rPr lang="en-US" sz="4000" dirty="0">
                <a:latin typeface="Aptos Display" panose="020B0004020202020204" pitchFamily="34" charset="0"/>
              </a:rPr>
              <a:t>Table of predicted probabilities</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377D854E-34D6-463D-AC09-5E8448F25F1E}"/>
                  </a:ext>
                </a:extLst>
              </p:cNvPr>
              <p:cNvGraphicFramePr>
                <a:graphicFrameLocks noGrp="1"/>
              </p:cNvGraphicFramePr>
              <p:nvPr>
                <p:ph idx="4294967295"/>
                <p:extLst>
                  <p:ext uri="{D42A27DB-BD31-4B8C-83A1-F6EECF244321}">
                    <p14:modId xmlns:p14="http://schemas.microsoft.com/office/powerpoint/2010/main" val="382643130"/>
                  </p:ext>
                </p:extLst>
              </p:nvPr>
            </p:nvGraphicFramePr>
            <p:xfrm>
              <a:off x="874955" y="1284033"/>
              <a:ext cx="10058400" cy="2144967"/>
            </p:xfrm>
            <a:graphic>
              <a:graphicData uri="http://schemas.openxmlformats.org/drawingml/2006/table">
                <a:tbl>
                  <a:tblPr firstRow="1" bandRow="1">
                    <a:tableStyleId>{93296810-A885-4BE3-A3E7-6D5BEEA58F35}</a:tableStyleId>
                  </a:tblPr>
                  <a:tblGrid>
                    <a:gridCol w="1676400">
                      <a:extLst>
                        <a:ext uri="{9D8B030D-6E8A-4147-A177-3AD203B41FA5}">
                          <a16:colId xmlns:a16="http://schemas.microsoft.com/office/drawing/2014/main" val="1709964738"/>
                        </a:ext>
                      </a:extLst>
                    </a:gridCol>
                    <a:gridCol w="1676400">
                      <a:extLst>
                        <a:ext uri="{9D8B030D-6E8A-4147-A177-3AD203B41FA5}">
                          <a16:colId xmlns:a16="http://schemas.microsoft.com/office/drawing/2014/main" val="99993849"/>
                        </a:ext>
                      </a:extLst>
                    </a:gridCol>
                    <a:gridCol w="1676400">
                      <a:extLst>
                        <a:ext uri="{9D8B030D-6E8A-4147-A177-3AD203B41FA5}">
                          <a16:colId xmlns:a16="http://schemas.microsoft.com/office/drawing/2014/main" val="1550207710"/>
                        </a:ext>
                      </a:extLst>
                    </a:gridCol>
                    <a:gridCol w="1676400">
                      <a:extLst>
                        <a:ext uri="{9D8B030D-6E8A-4147-A177-3AD203B41FA5}">
                          <a16:colId xmlns:a16="http://schemas.microsoft.com/office/drawing/2014/main" val="3701893358"/>
                        </a:ext>
                      </a:extLst>
                    </a:gridCol>
                    <a:gridCol w="1676400">
                      <a:extLst>
                        <a:ext uri="{9D8B030D-6E8A-4147-A177-3AD203B41FA5}">
                          <a16:colId xmlns:a16="http://schemas.microsoft.com/office/drawing/2014/main" val="3035241444"/>
                        </a:ext>
                      </a:extLst>
                    </a:gridCol>
                    <a:gridCol w="1676400">
                      <a:extLst>
                        <a:ext uri="{9D8B030D-6E8A-4147-A177-3AD203B41FA5}">
                          <a16:colId xmlns:a16="http://schemas.microsoft.com/office/drawing/2014/main" val="3875918851"/>
                        </a:ext>
                      </a:extLst>
                    </a:gridCol>
                  </a:tblGrid>
                  <a:tr h="370840">
                    <a:tc>
                      <a:txBody>
                        <a:bodyPr/>
                        <a:lstStyle/>
                        <a:p>
                          <a:pPr algn="ctr"/>
                          <a:r>
                            <a:rPr lang="en-US" dirty="0"/>
                            <a:t>GPA (</a:t>
                          </a:r>
                          <a:r>
                            <a:rPr lang="en-US" i="1" dirty="0"/>
                            <a:t>X)</a:t>
                          </a:r>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b="0" i="1" smtClean="0">
                                        <a:solidFill>
                                          <a:schemeClr val="bg1"/>
                                        </a:solidFill>
                                        <a:latin typeface="Cambria Math" panose="02040503050406030204" pitchFamily="18" charset="0"/>
                                      </a:rPr>
                                      <m:t>0</m:t>
                                    </m:r>
                                  </m:sub>
                                </m:sSub>
                              </m:oMath>
                            </m:oMathPara>
                          </a14:m>
                          <a:endParaRPr lang="en-US" dirty="0">
                            <a:solidFill>
                              <a:schemeClr val="bg1"/>
                            </a:solidFill>
                          </a:endParaRP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i="1" smtClean="0">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𝑒</m:t>
                                    </m:r>
                                  </m:e>
                                  <m:sup>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b="0" i="1" smtClean="0">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i="1">
                                            <a:solidFill>
                                              <a:schemeClr val="bg1"/>
                                            </a:solidFill>
                                            <a:latin typeface="Cambria Math" panose="02040503050406030204" pitchFamily="18" charset="0"/>
                                          </a:rPr>
                                          <m:t>1</m:t>
                                        </m:r>
                                      </m:sub>
                                    </m:s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𝑋</m:t>
                                        </m:r>
                                      </m:e>
                                      <m:sub>
                                        <m:r>
                                          <a:rPr lang="en-US" i="1">
                                            <a:solidFill>
                                              <a:schemeClr val="bg1"/>
                                            </a:solidFill>
                                            <a:latin typeface="Cambria Math" panose="02040503050406030204" pitchFamily="18" charset="0"/>
                                          </a:rPr>
                                          <m:t>1</m:t>
                                        </m:r>
                                      </m:sub>
                                    </m:sSub>
                                  </m:sup>
                                </m:sSup>
                              </m:oMath>
                            </m:oMathPara>
                          </a14:m>
                          <a:endParaRPr lang="en-US" dirty="0"/>
                        </a:p>
                      </a:txBody>
                      <a:tcPr/>
                    </a:tc>
                    <a:tc>
                      <a:txBody>
                        <a:bodyPr/>
                        <a:lstStyle/>
                        <a:p>
                          <a:pPr algn="ctr"/>
                          <a:r>
                            <a:rPr lang="en-US" dirty="0"/>
                            <a:t>1+</a:t>
                          </a:r>
                          <a14:m>
                            <m:oMath xmlns:m="http://schemas.openxmlformats.org/officeDocument/2006/math">
                              <m:sSup>
                                <m:sSupPr>
                                  <m:ctrlPr>
                                    <a:rPr lang="en-US" i="1" smtClean="0">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𝑒</m:t>
                                  </m:r>
                                </m:e>
                                <m:sup>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b="0" i="1" smtClean="0">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i="1">
                                          <a:solidFill>
                                            <a:schemeClr val="bg1"/>
                                          </a:solidFill>
                                          <a:latin typeface="Cambria Math" panose="02040503050406030204" pitchFamily="18" charset="0"/>
                                        </a:rPr>
                                        <m:t>1</m:t>
                                      </m:r>
                                    </m:sub>
                                  </m:s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𝑋</m:t>
                                      </m:r>
                                    </m:e>
                                    <m:sub>
                                      <m:r>
                                        <a:rPr lang="en-US" i="1">
                                          <a:solidFill>
                                            <a:schemeClr val="bg1"/>
                                          </a:solidFill>
                                          <a:latin typeface="Cambria Math" panose="02040503050406030204" pitchFamily="18" charset="0"/>
                                        </a:rPr>
                                        <m:t>1</m:t>
                                      </m:r>
                                    </m:sub>
                                  </m:sSub>
                                </m:sup>
                              </m:sSup>
                            </m:oMath>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p>
                                      <m:sSupPr>
                                        <m:ctrlPr>
                                          <a:rPr lang="en-US" i="1" smtClean="0">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𝑒</m:t>
                                        </m:r>
                                      </m:e>
                                      <m:sup>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b="0" i="1" smtClean="0">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i="1">
                                                <a:solidFill>
                                                  <a:schemeClr val="bg1"/>
                                                </a:solidFill>
                                                <a:latin typeface="Cambria Math" panose="02040503050406030204" pitchFamily="18" charset="0"/>
                                              </a:rPr>
                                              <m:t>1</m:t>
                                            </m:r>
                                          </m:sub>
                                        </m:s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𝑋</m:t>
                                            </m:r>
                                          </m:e>
                                          <m:sub>
                                            <m:r>
                                              <a:rPr lang="en-US" i="1">
                                                <a:solidFill>
                                                  <a:schemeClr val="bg1"/>
                                                </a:solidFill>
                                                <a:latin typeface="Cambria Math" panose="02040503050406030204" pitchFamily="18" charset="0"/>
                                              </a:rPr>
                                              <m:t>1</m:t>
                                            </m:r>
                                          </m:sub>
                                        </m:sSub>
                                      </m:sup>
                                    </m:sSup>
                                    <m:r>
                                      <m:rPr>
                                        <m:nor/>
                                      </m:rPr>
                                      <a:rPr lang="en-US" dirty="0"/>
                                      <m:t> </m:t>
                                    </m:r>
                                  </m:num>
                                  <m:den>
                                    <m:r>
                                      <m:rPr>
                                        <m:nor/>
                                      </m:rPr>
                                      <a:rPr lang="en-US" dirty="0" smtClean="0"/>
                                      <m:t>1+</m:t>
                                    </m:r>
                                    <m:sSup>
                                      <m:sSupPr>
                                        <m:ctrlPr>
                                          <a:rPr lang="en-US" i="1" smtClean="0">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𝑒</m:t>
                                        </m:r>
                                      </m:e>
                                      <m:sup>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b="0" i="1" smtClean="0">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𝛽</m:t>
                                            </m:r>
                                          </m:e>
                                          <m:sub>
                                            <m:r>
                                              <a:rPr lang="en-US" i="1">
                                                <a:solidFill>
                                                  <a:schemeClr val="bg1"/>
                                                </a:solidFill>
                                                <a:latin typeface="Cambria Math" panose="02040503050406030204" pitchFamily="18" charset="0"/>
                                              </a:rPr>
                                              <m:t>1</m:t>
                                            </m:r>
                                          </m:sub>
                                        </m:s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𝑋</m:t>
                                            </m:r>
                                          </m:e>
                                          <m:sub>
                                            <m:r>
                                              <a:rPr lang="en-US" i="1">
                                                <a:solidFill>
                                                  <a:schemeClr val="bg1"/>
                                                </a:solidFill>
                                                <a:latin typeface="Cambria Math" panose="02040503050406030204" pitchFamily="18" charset="0"/>
                                              </a:rPr>
                                              <m:t>1</m:t>
                                            </m:r>
                                          </m:sub>
                                        </m:sSub>
                                      </m:sup>
                                    </m:sSup>
                                    <m:r>
                                      <m:rPr>
                                        <m:nor/>
                                      </m:rPr>
                                      <a:rPr lang="en-US" dirty="0"/>
                                      <m:t> </m:t>
                                    </m:r>
                                  </m:den>
                                </m:f>
                              </m:oMath>
                            </m:oMathPara>
                          </a14:m>
                          <a:endParaRPr lang="en-US" dirty="0"/>
                        </a:p>
                      </a:txBody>
                      <a:tcPr/>
                    </a:tc>
                    <a:extLst>
                      <a:ext uri="{0D108BD9-81ED-4DB2-BD59-A6C34878D82A}">
                        <a16:rowId xmlns:a16="http://schemas.microsoft.com/office/drawing/2014/main" val="857598395"/>
                      </a:ext>
                    </a:extLst>
                  </a:tr>
                  <a:tr h="370840">
                    <a:tc>
                      <a:txBody>
                        <a:bodyPr/>
                        <a:lstStyle/>
                        <a:p>
                          <a:pPr algn="ctr"/>
                          <a:r>
                            <a:rPr lang="en-US" dirty="0"/>
                            <a:t>1</a:t>
                          </a:r>
                        </a:p>
                      </a:txBody>
                      <a:tcPr/>
                    </a:tc>
                    <a:tc>
                      <a:txBody>
                        <a:bodyPr/>
                        <a:lstStyle/>
                        <a:p>
                          <a:pPr algn="ctr"/>
                          <a:r>
                            <a:rPr lang="en-US"/>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0.283370514</a:t>
                          </a:r>
                        </a:p>
                      </a:txBody>
                      <a:tcPr marL="9525" marR="9525" marT="9525" marB="0" anchor="b"/>
                    </a:tc>
                    <a:tc>
                      <a:txBody>
                        <a:bodyPr/>
                        <a:lstStyle/>
                        <a:p>
                          <a:pPr algn="ctr" fontAlgn="b"/>
                          <a:r>
                            <a:rPr lang="en-US" sz="1800" b="0" i="0" u="none" strike="noStrike" dirty="0">
                              <a:solidFill>
                                <a:srgbClr val="000000"/>
                              </a:solidFill>
                              <a:effectLst/>
                              <a:latin typeface="+mn-lt"/>
                            </a:rPr>
                            <a:t>1.2833705</a:t>
                          </a:r>
                        </a:p>
                      </a:txBody>
                      <a:tcPr marL="9525" marR="9525" marT="9525" marB="0" anchor="b"/>
                    </a:tc>
                    <a:tc>
                      <a:txBody>
                        <a:bodyPr/>
                        <a:lstStyle/>
                        <a:p>
                          <a:pPr algn="ctr" fontAlgn="b"/>
                          <a:r>
                            <a:rPr lang="en-US" sz="1800" b="0" i="0" u="none" strike="noStrike" dirty="0">
                              <a:solidFill>
                                <a:srgbClr val="000000"/>
                              </a:solidFill>
                              <a:effectLst/>
                              <a:latin typeface="+mn-lt"/>
                            </a:rPr>
                            <a:t>0.220801796</a:t>
                          </a:r>
                        </a:p>
                      </a:txBody>
                      <a:tcPr marL="9525" marR="9525" marT="9525" marB="0" anchor="b"/>
                    </a:tc>
                    <a:extLst>
                      <a:ext uri="{0D108BD9-81ED-4DB2-BD59-A6C34878D82A}">
                        <a16:rowId xmlns:a16="http://schemas.microsoft.com/office/drawing/2014/main" val="2162621600"/>
                      </a:ext>
                    </a:extLst>
                  </a:tr>
                  <a:tr h="370840">
                    <a:tc>
                      <a:txBody>
                        <a:bodyPr/>
                        <a:lstStyle/>
                        <a:p>
                          <a:pPr algn="ctr"/>
                          <a:r>
                            <a:rPr lang="en-US"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0.685230501</a:t>
                          </a:r>
                        </a:p>
                      </a:txBody>
                      <a:tcPr marL="9525" marR="9525" marT="9525" marB="0" anchor="b"/>
                    </a:tc>
                    <a:tc>
                      <a:txBody>
                        <a:bodyPr/>
                        <a:lstStyle/>
                        <a:p>
                          <a:pPr algn="ctr" fontAlgn="b"/>
                          <a:r>
                            <a:rPr lang="en-US" sz="1800" b="0" i="0" u="none" strike="noStrike" dirty="0">
                              <a:solidFill>
                                <a:srgbClr val="000000"/>
                              </a:solidFill>
                              <a:effectLst/>
                              <a:latin typeface="+mn-lt"/>
                            </a:rPr>
                            <a:t>1.6852305</a:t>
                          </a:r>
                        </a:p>
                      </a:txBody>
                      <a:tcPr marL="9525" marR="9525" marT="9525" marB="0" anchor="b"/>
                    </a:tc>
                    <a:tc>
                      <a:txBody>
                        <a:bodyPr/>
                        <a:lstStyle/>
                        <a:p>
                          <a:pPr algn="ctr" fontAlgn="b"/>
                          <a:r>
                            <a:rPr lang="en-US" sz="1800" b="0" i="0" u="none" strike="noStrike" dirty="0">
                              <a:solidFill>
                                <a:srgbClr val="000000"/>
                              </a:solidFill>
                              <a:effectLst/>
                              <a:latin typeface="+mn-lt"/>
                            </a:rPr>
                            <a:t>0.406609363</a:t>
                          </a:r>
                        </a:p>
                      </a:txBody>
                      <a:tcPr marL="9525" marR="9525" marT="9525" marB="0" anchor="b"/>
                    </a:tc>
                    <a:extLst>
                      <a:ext uri="{0D108BD9-81ED-4DB2-BD59-A6C34878D82A}">
                        <a16:rowId xmlns:a16="http://schemas.microsoft.com/office/drawing/2014/main" val="4066524575"/>
                      </a:ext>
                    </a:extLst>
                  </a:tr>
                  <a:tr h="370840">
                    <a:tc>
                      <a:txBody>
                        <a:bodyPr/>
                        <a:lstStyle/>
                        <a:p>
                          <a:pPr algn="ctr"/>
                          <a:r>
                            <a:rPr lang="en-US"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1.65698552</a:t>
                          </a:r>
                        </a:p>
                      </a:txBody>
                      <a:tcPr marL="9525" marR="9525" marT="9525" marB="0" anchor="b"/>
                    </a:tc>
                    <a:tc>
                      <a:txBody>
                        <a:bodyPr/>
                        <a:lstStyle/>
                        <a:p>
                          <a:pPr algn="ctr" fontAlgn="b"/>
                          <a:r>
                            <a:rPr lang="en-US" sz="1800" b="0" i="0" u="none" strike="noStrike" dirty="0">
                              <a:solidFill>
                                <a:srgbClr val="000000"/>
                              </a:solidFill>
                              <a:effectLst/>
                              <a:latin typeface="+mn-lt"/>
                            </a:rPr>
                            <a:t>2.6569855</a:t>
                          </a:r>
                        </a:p>
                      </a:txBody>
                      <a:tcPr marL="9525" marR="9525" marT="9525" marB="0" anchor="b"/>
                    </a:tc>
                    <a:tc>
                      <a:txBody>
                        <a:bodyPr/>
                        <a:lstStyle/>
                        <a:p>
                          <a:pPr algn="ctr" fontAlgn="b"/>
                          <a:r>
                            <a:rPr lang="en-US" sz="1800" b="0" i="0" u="none" strike="noStrike" dirty="0">
                              <a:solidFill>
                                <a:srgbClr val="000000"/>
                              </a:solidFill>
                              <a:effectLst/>
                              <a:latin typeface="+mn-lt"/>
                            </a:rPr>
                            <a:t>0.623633628</a:t>
                          </a:r>
                        </a:p>
                      </a:txBody>
                      <a:tcPr marL="9525" marR="9525" marT="9525" marB="0" anchor="b"/>
                    </a:tc>
                    <a:extLst>
                      <a:ext uri="{0D108BD9-81ED-4DB2-BD59-A6C34878D82A}">
                        <a16:rowId xmlns:a16="http://schemas.microsoft.com/office/drawing/2014/main" val="1787265191"/>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4.006828377</a:t>
                          </a:r>
                        </a:p>
                      </a:txBody>
                      <a:tcPr marL="9525" marR="9525" marT="9525" marB="0" anchor="b"/>
                    </a:tc>
                    <a:tc>
                      <a:txBody>
                        <a:bodyPr/>
                        <a:lstStyle/>
                        <a:p>
                          <a:pPr algn="ctr" fontAlgn="b"/>
                          <a:r>
                            <a:rPr lang="en-US" sz="1800" b="0" i="0" u="none" strike="noStrike" dirty="0">
                              <a:solidFill>
                                <a:srgbClr val="000000"/>
                              </a:solidFill>
                              <a:effectLst/>
                              <a:latin typeface="+mn-lt"/>
                            </a:rPr>
                            <a:t>5.0068284</a:t>
                          </a:r>
                        </a:p>
                      </a:txBody>
                      <a:tcPr marL="9525" marR="9525" marT="9525" marB="0" anchor="b"/>
                    </a:tc>
                    <a:tc>
                      <a:txBody>
                        <a:bodyPr/>
                        <a:lstStyle/>
                        <a:p>
                          <a:pPr algn="ctr" fontAlgn="b"/>
                          <a:r>
                            <a:rPr lang="en-US" sz="1800" b="0" i="0" u="none" strike="noStrike" dirty="0">
                              <a:solidFill>
                                <a:srgbClr val="000000"/>
                              </a:solidFill>
                              <a:effectLst/>
                              <a:latin typeface="+mn-lt"/>
                            </a:rPr>
                            <a:t>0.800272763</a:t>
                          </a:r>
                        </a:p>
                      </a:txBody>
                      <a:tcPr marL="9525" marR="9525" marT="9525" marB="0" anchor="b"/>
                    </a:tc>
                    <a:extLst>
                      <a:ext uri="{0D108BD9-81ED-4DB2-BD59-A6C34878D82A}">
                        <a16:rowId xmlns:a16="http://schemas.microsoft.com/office/drawing/2014/main" val="1795260793"/>
                      </a:ext>
                    </a:extLst>
                  </a:tr>
                </a:tbl>
              </a:graphicData>
            </a:graphic>
          </p:graphicFrame>
        </mc:Choice>
        <mc:Fallback xmlns="">
          <p:graphicFrame>
            <p:nvGraphicFramePr>
              <p:cNvPr id="4" name="Table 4">
                <a:extLst>
                  <a:ext uri="{FF2B5EF4-FFF2-40B4-BE49-F238E27FC236}">
                    <a16:creationId xmlns:a16="http://schemas.microsoft.com/office/drawing/2014/main" id="{377D854E-34D6-463D-AC09-5E8448F25F1E}"/>
                  </a:ext>
                </a:extLst>
              </p:cNvPr>
              <p:cNvGraphicFramePr>
                <a:graphicFrameLocks noGrp="1"/>
              </p:cNvGraphicFramePr>
              <p:nvPr>
                <p:ph idx="4294967295"/>
                <p:extLst>
                  <p:ext uri="{D42A27DB-BD31-4B8C-83A1-F6EECF244321}">
                    <p14:modId xmlns:p14="http://schemas.microsoft.com/office/powerpoint/2010/main" val="382643130"/>
                  </p:ext>
                </p:extLst>
              </p:nvPr>
            </p:nvGraphicFramePr>
            <p:xfrm>
              <a:off x="874955" y="1284033"/>
              <a:ext cx="10058400" cy="2144967"/>
            </p:xfrm>
            <a:graphic>
              <a:graphicData uri="http://schemas.openxmlformats.org/drawingml/2006/table">
                <a:tbl>
                  <a:tblPr firstRow="1" bandRow="1">
                    <a:tableStyleId>{93296810-A885-4BE3-A3E7-6D5BEEA58F35}</a:tableStyleId>
                  </a:tblPr>
                  <a:tblGrid>
                    <a:gridCol w="1676400">
                      <a:extLst>
                        <a:ext uri="{9D8B030D-6E8A-4147-A177-3AD203B41FA5}">
                          <a16:colId xmlns:a16="http://schemas.microsoft.com/office/drawing/2014/main" val="1709964738"/>
                        </a:ext>
                      </a:extLst>
                    </a:gridCol>
                    <a:gridCol w="1676400">
                      <a:extLst>
                        <a:ext uri="{9D8B030D-6E8A-4147-A177-3AD203B41FA5}">
                          <a16:colId xmlns:a16="http://schemas.microsoft.com/office/drawing/2014/main" val="99993849"/>
                        </a:ext>
                      </a:extLst>
                    </a:gridCol>
                    <a:gridCol w="1676400">
                      <a:extLst>
                        <a:ext uri="{9D8B030D-6E8A-4147-A177-3AD203B41FA5}">
                          <a16:colId xmlns:a16="http://schemas.microsoft.com/office/drawing/2014/main" val="1550207710"/>
                        </a:ext>
                      </a:extLst>
                    </a:gridCol>
                    <a:gridCol w="1676400">
                      <a:extLst>
                        <a:ext uri="{9D8B030D-6E8A-4147-A177-3AD203B41FA5}">
                          <a16:colId xmlns:a16="http://schemas.microsoft.com/office/drawing/2014/main" val="3701893358"/>
                        </a:ext>
                      </a:extLst>
                    </a:gridCol>
                    <a:gridCol w="1676400">
                      <a:extLst>
                        <a:ext uri="{9D8B030D-6E8A-4147-A177-3AD203B41FA5}">
                          <a16:colId xmlns:a16="http://schemas.microsoft.com/office/drawing/2014/main" val="3035241444"/>
                        </a:ext>
                      </a:extLst>
                    </a:gridCol>
                    <a:gridCol w="1676400">
                      <a:extLst>
                        <a:ext uri="{9D8B030D-6E8A-4147-A177-3AD203B41FA5}">
                          <a16:colId xmlns:a16="http://schemas.microsoft.com/office/drawing/2014/main" val="3875918851"/>
                        </a:ext>
                      </a:extLst>
                    </a:gridCol>
                  </a:tblGrid>
                  <a:tr h="661607">
                    <a:tc>
                      <a:txBody>
                        <a:bodyPr/>
                        <a:lstStyle/>
                        <a:p>
                          <a:pPr algn="ctr"/>
                          <a:r>
                            <a:rPr lang="en-US" dirty="0"/>
                            <a:t>GPA (</a:t>
                          </a:r>
                          <a:r>
                            <a:rPr lang="en-US" i="1" dirty="0"/>
                            <a:t>X)</a:t>
                          </a:r>
                          <a:endParaRPr lang="en-US" dirty="0"/>
                        </a:p>
                      </a:txBody>
                      <a:tcPr/>
                    </a:tc>
                    <a:tc>
                      <a:txBody>
                        <a:bodyPr/>
                        <a:lstStyle/>
                        <a:p>
                          <a:endParaRPr lang="en-US"/>
                        </a:p>
                      </a:txBody>
                      <a:tcPr>
                        <a:blipFill>
                          <a:blip r:embed="rId2"/>
                          <a:stretch>
                            <a:fillRect l="-100364" t="-4587" r="-401818" b="-244954"/>
                          </a:stretch>
                        </a:blipFill>
                      </a:tcPr>
                    </a:tc>
                    <a:tc>
                      <a:txBody>
                        <a:bodyPr/>
                        <a:lstStyle/>
                        <a:p>
                          <a:endParaRPr lang="en-US"/>
                        </a:p>
                      </a:txBody>
                      <a:tcPr>
                        <a:blipFill>
                          <a:blip r:embed="rId2"/>
                          <a:stretch>
                            <a:fillRect l="-199638" t="-4587" r="-300362" b="-244954"/>
                          </a:stretch>
                        </a:blipFill>
                      </a:tcPr>
                    </a:tc>
                    <a:tc>
                      <a:txBody>
                        <a:bodyPr/>
                        <a:lstStyle/>
                        <a:p>
                          <a:endParaRPr lang="en-US"/>
                        </a:p>
                      </a:txBody>
                      <a:tcPr>
                        <a:blipFill>
                          <a:blip r:embed="rId2"/>
                          <a:stretch>
                            <a:fillRect l="-300727" t="-4587" r="-201455" b="-244954"/>
                          </a:stretch>
                        </a:blipFill>
                      </a:tcPr>
                    </a:tc>
                    <a:tc>
                      <a:txBody>
                        <a:bodyPr/>
                        <a:lstStyle/>
                        <a:p>
                          <a:endParaRPr lang="en-US"/>
                        </a:p>
                      </a:txBody>
                      <a:tcPr>
                        <a:blipFill>
                          <a:blip r:embed="rId2"/>
                          <a:stretch>
                            <a:fillRect l="-400727" t="-4587" r="-101455" b="-244954"/>
                          </a:stretch>
                        </a:blipFill>
                      </a:tcPr>
                    </a:tc>
                    <a:tc>
                      <a:txBody>
                        <a:bodyPr/>
                        <a:lstStyle/>
                        <a:p>
                          <a:endParaRPr lang="en-US"/>
                        </a:p>
                      </a:txBody>
                      <a:tcPr>
                        <a:blipFill>
                          <a:blip r:embed="rId2"/>
                          <a:stretch>
                            <a:fillRect l="-500727" t="-4587" r="-1455" b="-244954"/>
                          </a:stretch>
                        </a:blipFill>
                      </a:tcPr>
                    </a:tc>
                    <a:extLst>
                      <a:ext uri="{0D108BD9-81ED-4DB2-BD59-A6C34878D82A}">
                        <a16:rowId xmlns:a16="http://schemas.microsoft.com/office/drawing/2014/main" val="857598395"/>
                      </a:ext>
                    </a:extLst>
                  </a:tr>
                  <a:tr h="370840">
                    <a:tc>
                      <a:txBody>
                        <a:bodyPr/>
                        <a:lstStyle/>
                        <a:p>
                          <a:pPr algn="ctr"/>
                          <a:r>
                            <a:rPr lang="en-US" dirty="0"/>
                            <a:t>1</a:t>
                          </a:r>
                        </a:p>
                      </a:txBody>
                      <a:tcPr/>
                    </a:tc>
                    <a:tc>
                      <a:txBody>
                        <a:bodyPr/>
                        <a:lstStyle/>
                        <a:p>
                          <a:pPr algn="ctr"/>
                          <a:r>
                            <a:rPr lang="en-US"/>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0.283370514</a:t>
                          </a:r>
                        </a:p>
                      </a:txBody>
                      <a:tcPr marL="9525" marR="9525" marT="9525" marB="0" anchor="b"/>
                    </a:tc>
                    <a:tc>
                      <a:txBody>
                        <a:bodyPr/>
                        <a:lstStyle/>
                        <a:p>
                          <a:pPr algn="ctr" fontAlgn="b"/>
                          <a:r>
                            <a:rPr lang="en-US" sz="1800" b="0" i="0" u="none" strike="noStrike" dirty="0">
                              <a:solidFill>
                                <a:srgbClr val="000000"/>
                              </a:solidFill>
                              <a:effectLst/>
                              <a:latin typeface="+mn-lt"/>
                            </a:rPr>
                            <a:t>1.2833705</a:t>
                          </a:r>
                        </a:p>
                      </a:txBody>
                      <a:tcPr marL="9525" marR="9525" marT="9525" marB="0" anchor="b"/>
                    </a:tc>
                    <a:tc>
                      <a:txBody>
                        <a:bodyPr/>
                        <a:lstStyle/>
                        <a:p>
                          <a:pPr algn="ctr" fontAlgn="b"/>
                          <a:r>
                            <a:rPr lang="en-US" sz="1800" b="0" i="0" u="none" strike="noStrike" dirty="0">
                              <a:solidFill>
                                <a:srgbClr val="000000"/>
                              </a:solidFill>
                              <a:effectLst/>
                              <a:latin typeface="+mn-lt"/>
                            </a:rPr>
                            <a:t>0.220801796</a:t>
                          </a:r>
                        </a:p>
                      </a:txBody>
                      <a:tcPr marL="9525" marR="9525" marT="9525" marB="0" anchor="b"/>
                    </a:tc>
                    <a:extLst>
                      <a:ext uri="{0D108BD9-81ED-4DB2-BD59-A6C34878D82A}">
                        <a16:rowId xmlns:a16="http://schemas.microsoft.com/office/drawing/2014/main" val="2162621600"/>
                      </a:ext>
                    </a:extLst>
                  </a:tr>
                  <a:tr h="370840">
                    <a:tc>
                      <a:txBody>
                        <a:bodyPr/>
                        <a:lstStyle/>
                        <a:p>
                          <a:pPr algn="ctr"/>
                          <a:r>
                            <a:rPr lang="en-US"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0.685230501</a:t>
                          </a:r>
                        </a:p>
                      </a:txBody>
                      <a:tcPr marL="9525" marR="9525" marT="9525" marB="0" anchor="b"/>
                    </a:tc>
                    <a:tc>
                      <a:txBody>
                        <a:bodyPr/>
                        <a:lstStyle/>
                        <a:p>
                          <a:pPr algn="ctr" fontAlgn="b"/>
                          <a:r>
                            <a:rPr lang="en-US" sz="1800" b="0" i="0" u="none" strike="noStrike" dirty="0">
                              <a:solidFill>
                                <a:srgbClr val="000000"/>
                              </a:solidFill>
                              <a:effectLst/>
                              <a:latin typeface="+mn-lt"/>
                            </a:rPr>
                            <a:t>1.6852305</a:t>
                          </a:r>
                        </a:p>
                      </a:txBody>
                      <a:tcPr marL="9525" marR="9525" marT="9525" marB="0" anchor="b"/>
                    </a:tc>
                    <a:tc>
                      <a:txBody>
                        <a:bodyPr/>
                        <a:lstStyle/>
                        <a:p>
                          <a:pPr algn="ctr" fontAlgn="b"/>
                          <a:r>
                            <a:rPr lang="en-US" sz="1800" b="0" i="0" u="none" strike="noStrike" dirty="0">
                              <a:solidFill>
                                <a:srgbClr val="000000"/>
                              </a:solidFill>
                              <a:effectLst/>
                              <a:latin typeface="+mn-lt"/>
                            </a:rPr>
                            <a:t>0.406609363</a:t>
                          </a:r>
                        </a:p>
                      </a:txBody>
                      <a:tcPr marL="9525" marR="9525" marT="9525" marB="0" anchor="b"/>
                    </a:tc>
                    <a:extLst>
                      <a:ext uri="{0D108BD9-81ED-4DB2-BD59-A6C34878D82A}">
                        <a16:rowId xmlns:a16="http://schemas.microsoft.com/office/drawing/2014/main" val="4066524575"/>
                      </a:ext>
                    </a:extLst>
                  </a:tr>
                  <a:tr h="370840">
                    <a:tc>
                      <a:txBody>
                        <a:bodyPr/>
                        <a:lstStyle/>
                        <a:p>
                          <a:pPr algn="ctr"/>
                          <a:r>
                            <a:rPr lang="en-US"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1.65698552</a:t>
                          </a:r>
                        </a:p>
                      </a:txBody>
                      <a:tcPr marL="9525" marR="9525" marT="9525" marB="0" anchor="b"/>
                    </a:tc>
                    <a:tc>
                      <a:txBody>
                        <a:bodyPr/>
                        <a:lstStyle/>
                        <a:p>
                          <a:pPr algn="ctr" fontAlgn="b"/>
                          <a:r>
                            <a:rPr lang="en-US" sz="1800" b="0" i="0" u="none" strike="noStrike" dirty="0">
                              <a:solidFill>
                                <a:srgbClr val="000000"/>
                              </a:solidFill>
                              <a:effectLst/>
                              <a:latin typeface="+mn-lt"/>
                            </a:rPr>
                            <a:t>2.6569855</a:t>
                          </a:r>
                        </a:p>
                      </a:txBody>
                      <a:tcPr marL="9525" marR="9525" marT="9525" marB="0" anchor="b"/>
                    </a:tc>
                    <a:tc>
                      <a:txBody>
                        <a:bodyPr/>
                        <a:lstStyle/>
                        <a:p>
                          <a:pPr algn="ctr" fontAlgn="b"/>
                          <a:r>
                            <a:rPr lang="en-US" sz="1800" b="0" i="0" u="none" strike="noStrike" dirty="0">
                              <a:solidFill>
                                <a:srgbClr val="000000"/>
                              </a:solidFill>
                              <a:effectLst/>
                              <a:latin typeface="+mn-lt"/>
                            </a:rPr>
                            <a:t>0.623633628</a:t>
                          </a:r>
                        </a:p>
                      </a:txBody>
                      <a:tcPr marL="9525" marR="9525" marT="9525" marB="0" anchor="b"/>
                    </a:tc>
                    <a:extLst>
                      <a:ext uri="{0D108BD9-81ED-4DB2-BD59-A6C34878D82A}">
                        <a16:rowId xmlns:a16="http://schemas.microsoft.com/office/drawing/2014/main" val="1787265191"/>
                      </a:ext>
                    </a:extLst>
                  </a:tr>
                  <a:tr h="370840">
                    <a:tc>
                      <a:txBody>
                        <a:bodyPr/>
                        <a:lstStyle/>
                        <a:p>
                          <a:pPr algn="ctr"/>
                          <a:r>
                            <a:rPr lang="en-US"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-2.144</a:t>
                          </a:r>
                        </a:p>
                      </a:txBody>
                      <a:tcPr/>
                    </a:tc>
                    <a:tc>
                      <a:txBody>
                        <a:bodyPr/>
                        <a:lstStyle/>
                        <a:p>
                          <a:pPr algn="ctr"/>
                          <a:r>
                            <a:rPr lang="en-US" dirty="0"/>
                            <a:t>0.883</a:t>
                          </a:r>
                        </a:p>
                      </a:txBody>
                      <a:tcPr/>
                    </a:tc>
                    <a:tc>
                      <a:txBody>
                        <a:bodyPr/>
                        <a:lstStyle/>
                        <a:p>
                          <a:pPr algn="ctr" fontAlgn="b"/>
                          <a:r>
                            <a:rPr lang="en-US" sz="1800" b="0" i="0" u="none" strike="noStrike" dirty="0">
                              <a:solidFill>
                                <a:srgbClr val="000000"/>
                              </a:solidFill>
                              <a:effectLst/>
                              <a:latin typeface="+mn-lt"/>
                            </a:rPr>
                            <a:t>4.006828377</a:t>
                          </a:r>
                        </a:p>
                      </a:txBody>
                      <a:tcPr marL="9525" marR="9525" marT="9525" marB="0" anchor="b"/>
                    </a:tc>
                    <a:tc>
                      <a:txBody>
                        <a:bodyPr/>
                        <a:lstStyle/>
                        <a:p>
                          <a:pPr algn="ctr" fontAlgn="b"/>
                          <a:r>
                            <a:rPr lang="en-US" sz="1800" b="0" i="0" u="none" strike="noStrike" dirty="0">
                              <a:solidFill>
                                <a:srgbClr val="000000"/>
                              </a:solidFill>
                              <a:effectLst/>
                              <a:latin typeface="+mn-lt"/>
                            </a:rPr>
                            <a:t>5.0068284</a:t>
                          </a:r>
                        </a:p>
                      </a:txBody>
                      <a:tcPr marL="9525" marR="9525" marT="9525" marB="0" anchor="b"/>
                    </a:tc>
                    <a:tc>
                      <a:txBody>
                        <a:bodyPr/>
                        <a:lstStyle/>
                        <a:p>
                          <a:pPr algn="ctr" fontAlgn="b"/>
                          <a:r>
                            <a:rPr lang="en-US" sz="1800" b="0" i="0" u="none" strike="noStrike" dirty="0">
                              <a:solidFill>
                                <a:srgbClr val="000000"/>
                              </a:solidFill>
                              <a:effectLst/>
                              <a:latin typeface="+mn-lt"/>
                            </a:rPr>
                            <a:t>0.800272763</a:t>
                          </a:r>
                        </a:p>
                      </a:txBody>
                      <a:tcPr marL="9525" marR="9525" marT="9525" marB="0" anchor="b"/>
                    </a:tc>
                    <a:extLst>
                      <a:ext uri="{0D108BD9-81ED-4DB2-BD59-A6C34878D82A}">
                        <a16:rowId xmlns:a16="http://schemas.microsoft.com/office/drawing/2014/main" val="1795260793"/>
                      </a:ext>
                    </a:extLst>
                  </a:tr>
                </a:tbl>
              </a:graphicData>
            </a:graphic>
          </p:graphicFrame>
        </mc:Fallback>
      </mc:AlternateContent>
      <p:sp>
        <p:nvSpPr>
          <p:cNvPr id="7" name="TextBox 6">
            <a:extLst>
              <a:ext uri="{FF2B5EF4-FFF2-40B4-BE49-F238E27FC236}">
                <a16:creationId xmlns:a16="http://schemas.microsoft.com/office/drawing/2014/main" id="{8EC701E6-5502-4197-874B-1292E30CE029}"/>
              </a:ext>
            </a:extLst>
          </p:cNvPr>
          <p:cNvSpPr txBox="1"/>
          <p:nvPr/>
        </p:nvSpPr>
        <p:spPr>
          <a:xfrm>
            <a:off x="1245140" y="4844374"/>
            <a:ext cx="8628434" cy="369332"/>
          </a:xfrm>
          <a:prstGeom prst="rect">
            <a:avLst/>
          </a:prstGeom>
          <a:noFill/>
        </p:spPr>
        <p:txBody>
          <a:bodyPr wrap="square" rtlCol="0">
            <a:spAutoFit/>
          </a:bodyPr>
          <a:lstStyle/>
          <a:p>
            <a:r>
              <a:rPr lang="en-US" dirty="0"/>
              <a:t>See excel file gpa_college_enrollment_example.xlsx </a:t>
            </a:r>
          </a:p>
        </p:txBody>
      </p:sp>
    </p:spTree>
    <p:extLst>
      <p:ext uri="{BB962C8B-B14F-4D97-AF65-F5344CB8AC3E}">
        <p14:creationId xmlns:p14="http://schemas.microsoft.com/office/powerpoint/2010/main" val="12159149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AE8189E-3779-F1C7-693C-33EDDBC9799D}"/>
              </a:ext>
            </a:extLst>
          </p:cNvPr>
          <p:cNvGraphicFramePr>
            <a:graphicFrameLocks noGrp="1"/>
          </p:cNvGraphicFramePr>
          <p:nvPr>
            <p:extLst>
              <p:ext uri="{D42A27DB-BD31-4B8C-83A1-F6EECF244321}">
                <p14:modId xmlns:p14="http://schemas.microsoft.com/office/powerpoint/2010/main" val="3728138078"/>
              </p:ext>
            </p:extLst>
          </p:nvPr>
        </p:nvGraphicFramePr>
        <p:xfrm>
          <a:off x="692285" y="2585576"/>
          <a:ext cx="10515600" cy="2707005"/>
        </p:xfrm>
        <a:graphic>
          <a:graphicData uri="http://schemas.openxmlformats.org/drawingml/2006/table">
            <a:tbl>
              <a:tblPr/>
              <a:tblGrid>
                <a:gridCol w="2628900">
                  <a:extLst>
                    <a:ext uri="{9D8B030D-6E8A-4147-A177-3AD203B41FA5}">
                      <a16:colId xmlns:a16="http://schemas.microsoft.com/office/drawing/2014/main" val="409427032"/>
                    </a:ext>
                  </a:extLst>
                </a:gridCol>
                <a:gridCol w="2628900">
                  <a:extLst>
                    <a:ext uri="{9D8B030D-6E8A-4147-A177-3AD203B41FA5}">
                      <a16:colId xmlns:a16="http://schemas.microsoft.com/office/drawing/2014/main" val="1770315175"/>
                    </a:ext>
                  </a:extLst>
                </a:gridCol>
                <a:gridCol w="2628900">
                  <a:extLst>
                    <a:ext uri="{9D8B030D-6E8A-4147-A177-3AD203B41FA5}">
                      <a16:colId xmlns:a16="http://schemas.microsoft.com/office/drawing/2014/main" val="3363804917"/>
                    </a:ext>
                  </a:extLst>
                </a:gridCol>
                <a:gridCol w="2628900">
                  <a:extLst>
                    <a:ext uri="{9D8B030D-6E8A-4147-A177-3AD203B41FA5}">
                      <a16:colId xmlns:a16="http://schemas.microsoft.com/office/drawing/2014/main" val="3314407287"/>
                    </a:ext>
                  </a:extLst>
                </a:gridCol>
              </a:tblGrid>
              <a:tr h="0">
                <a:tc gridSpan="4">
                  <a:txBody>
                    <a:bodyPr/>
                    <a:lstStyle/>
                    <a:p>
                      <a:pPr algn="l">
                        <a:buNone/>
                      </a:pPr>
                      <a:r>
                        <a:rPr lang="en-US" b="0" i="1">
                          <a:solidFill>
                            <a:srgbClr val="000000"/>
                          </a:solidFill>
                          <a:effectLst/>
                          <a:latin typeface="Arial" panose="020B0604020202020204" pitchFamily="34" charset="0"/>
                        </a:rPr>
                        <a:t>Confusion matrix</a:t>
                      </a:r>
                      <a:r>
                        <a:rPr lang="en-US"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24601365"/>
                  </a:ext>
                </a:extLst>
              </a:tr>
              <a:tr h="0">
                <a:tc>
                  <a:txBody>
                    <a:bodyPr/>
                    <a:lstStyle/>
                    <a:p>
                      <a:pPr algn="ctr">
                        <a:buNone/>
                      </a:pPr>
                      <a:endParaRPr lang="en-US" b="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tc gridSpan="2">
                  <a:txBody>
                    <a:bodyPr/>
                    <a:lstStyle/>
                    <a:p>
                      <a:pPr algn="ctr">
                        <a:buNone/>
                      </a:pPr>
                      <a:r>
                        <a:rPr lang="en-US" b="0" dirty="0">
                          <a:solidFill>
                            <a:srgbClr val="000000"/>
                          </a:solidFill>
                          <a:effectLst/>
                          <a:latin typeface="Arial" panose="020B0604020202020204" pitchFamily="34" charset="0"/>
                        </a:rPr>
                        <a:t>Predicted</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a:buNone/>
                      </a:pPr>
                      <a:endParaRPr lang="en-US" b="0">
                        <a:solidFill>
                          <a:srgbClr val="000000"/>
                        </a:solidFill>
                        <a:effectLst/>
                        <a:latin typeface="Arial" panose="020B0604020202020204" pitchFamily="34" charset="0"/>
                      </a:endParaRPr>
                    </a:p>
                  </a:txBody>
                  <a:tcPr marL="114300" marR="114300" marT="28575" marB="28575" anchor="ctr">
                    <a:lnL>
                      <a:noFill/>
                    </a:lnL>
                    <a:lnR>
                      <a:noFill/>
                    </a:lnR>
                    <a:lnT w="7934"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230693075"/>
                  </a:ext>
                </a:extLst>
              </a:tr>
              <a:tr h="0">
                <a:tc>
                  <a:txBody>
                    <a:bodyPr/>
                    <a:lstStyle/>
                    <a:p>
                      <a:pPr algn="ctr">
                        <a:buNone/>
                      </a:pPr>
                      <a:r>
                        <a:rPr lang="en-US" b="0">
                          <a:solidFill>
                            <a:srgbClr val="000000"/>
                          </a:solidFill>
                          <a:effectLst/>
                          <a:latin typeface="Arial" panose="020B0604020202020204" pitchFamily="34" charset="0"/>
                        </a:rPr>
                        <a:t>Observed</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0</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dirty="0">
                          <a:solidFill>
                            <a:srgbClr val="000000"/>
                          </a:solidFill>
                          <a:effectLst/>
                          <a:latin typeface="Arial" panose="020B0604020202020204" pitchFamily="34" charset="0"/>
                        </a:rPr>
                        <a:t>1</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b="0">
                          <a:solidFill>
                            <a:srgbClr val="000000"/>
                          </a:solidFill>
                          <a:effectLst/>
                          <a:latin typeface="Arial" panose="020B0604020202020204" pitchFamily="34" charset="0"/>
                        </a:rPr>
                        <a:t>% Correct</a:t>
                      </a:r>
                    </a:p>
                  </a:txBody>
                  <a:tcPr marL="114300" marR="114300" marT="28575" marB="28575" anchor="ctr">
                    <a:lnL>
                      <a:noFill/>
                    </a:lnL>
                    <a:lnR>
                      <a:noFill/>
                    </a:lnR>
                    <a:lnT>
                      <a:noFill/>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2513681"/>
                  </a:ext>
                </a:extLst>
              </a:tr>
              <a:tr h="0">
                <a:tc>
                  <a:txBody>
                    <a:bodyPr/>
                    <a:lstStyle/>
                    <a:p>
                      <a:pPr algn="l">
                        <a:buNone/>
                      </a:pPr>
                      <a:r>
                        <a:rPr lang="en-US" b="0">
                          <a:solidFill>
                            <a:srgbClr val="000000"/>
                          </a:solidFill>
                          <a:effectLst/>
                          <a:latin typeface="Arial" panose="020B0604020202020204" pitchFamily="34" charset="0"/>
                        </a:rPr>
                        <a:t>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ctr">
                        <a:buNone/>
                      </a:pPr>
                      <a:r>
                        <a:rPr lang="en-US" b="0" dirty="0">
                          <a:solidFill>
                            <a:srgbClr val="000000"/>
                          </a:solidFill>
                          <a:effectLst/>
                          <a:latin typeface="Arial" panose="020B0604020202020204" pitchFamily="34" charset="0"/>
                        </a:rPr>
                        <a:t>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ctr">
                        <a:buNone/>
                      </a:pPr>
                      <a:r>
                        <a:rPr lang="en-US" b="0" dirty="0">
                          <a:solidFill>
                            <a:srgbClr val="000000"/>
                          </a:solidFill>
                          <a:effectLst/>
                          <a:latin typeface="Arial" panose="020B0604020202020204" pitchFamily="34" charset="0"/>
                        </a:rPr>
                        <a:t>2</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b="0">
                          <a:solidFill>
                            <a:srgbClr val="000000"/>
                          </a:solidFill>
                          <a:effectLst/>
                          <a:latin typeface="Arial" panose="020B0604020202020204" pitchFamily="34" charset="0"/>
                        </a:rPr>
                        <a:t>50.000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702936195"/>
                  </a:ext>
                </a:extLst>
              </a:tr>
              <a:tr h="0">
                <a:tc>
                  <a:txBody>
                    <a:bodyPr/>
                    <a:lstStyle/>
                    <a:p>
                      <a:pPr algn="l">
                        <a:buNone/>
                      </a:pPr>
                      <a:r>
                        <a:rPr lang="en-US" b="0">
                          <a:solidFill>
                            <a:srgbClr val="000000"/>
                          </a:solidFill>
                          <a:effectLst/>
                          <a:latin typeface="Arial" panose="020B0604020202020204" pitchFamily="34" charset="0"/>
                        </a:rPr>
                        <a:t>1</a:t>
                      </a:r>
                    </a:p>
                  </a:txBody>
                  <a:tcPr marL="114300" marR="114300" marT="9525" marB="28575" anchor="ctr">
                    <a:lnL>
                      <a:noFill/>
                    </a:lnL>
                    <a:lnR>
                      <a:noFill/>
                    </a:lnR>
                    <a:lnT>
                      <a:noFill/>
                    </a:lnT>
                    <a:lnB>
                      <a:noFill/>
                    </a:lnB>
                    <a:solidFill>
                      <a:srgbClr val="EBEBEB"/>
                    </a:solidFill>
                  </a:tcPr>
                </a:tc>
                <a:tc>
                  <a:txBody>
                    <a:bodyPr/>
                    <a:lstStyle/>
                    <a:p>
                      <a:pPr algn="ctr">
                        <a:buNone/>
                      </a:pPr>
                      <a:r>
                        <a:rPr lang="en-US" b="0">
                          <a:solidFill>
                            <a:srgbClr val="000000"/>
                          </a:solidFill>
                          <a:effectLst/>
                          <a:latin typeface="Arial" panose="020B0604020202020204" pitchFamily="34" charset="0"/>
                        </a:rPr>
                        <a:t>2</a:t>
                      </a:r>
                    </a:p>
                  </a:txBody>
                  <a:tcPr marL="114300" marR="114300" marT="9525" marB="28575" anchor="ctr">
                    <a:lnL>
                      <a:noFill/>
                    </a:lnL>
                    <a:lnR>
                      <a:noFill/>
                    </a:lnR>
                    <a:lnT>
                      <a:noFill/>
                    </a:lnT>
                    <a:lnB>
                      <a:noFill/>
                    </a:lnB>
                    <a:solidFill>
                      <a:srgbClr val="EBEBEB"/>
                    </a:solidFill>
                  </a:tcPr>
                </a:tc>
                <a:tc>
                  <a:txBody>
                    <a:bodyPr/>
                    <a:lstStyle/>
                    <a:p>
                      <a:pPr algn="ctr">
                        <a:buNone/>
                      </a:pPr>
                      <a:r>
                        <a:rPr lang="en-US" b="0" dirty="0">
                          <a:solidFill>
                            <a:srgbClr val="000000"/>
                          </a:solidFill>
                          <a:effectLst/>
                          <a:latin typeface="Arial" panose="020B0604020202020204" pitchFamily="34" charset="0"/>
                        </a:rPr>
                        <a:t>4</a:t>
                      </a:r>
                    </a:p>
                  </a:txBody>
                  <a:tcPr marL="114300" marR="114300" marT="9525" marB="28575" anchor="ctr">
                    <a:lnL>
                      <a:noFill/>
                    </a:lnL>
                    <a:lnR>
                      <a:noFill/>
                    </a:lnR>
                    <a:lnT>
                      <a:noFill/>
                    </a:lnT>
                    <a:lnB>
                      <a:noFill/>
                    </a:lnB>
                    <a:solidFill>
                      <a:srgbClr val="EBEBEB"/>
                    </a:solidFill>
                  </a:tcPr>
                </a:tc>
                <a:tc>
                  <a:txBody>
                    <a:bodyPr/>
                    <a:lstStyle/>
                    <a:p>
                      <a:pPr algn="r">
                        <a:buNone/>
                      </a:pPr>
                      <a:r>
                        <a:rPr lang="en-US" b="0">
                          <a:solidFill>
                            <a:srgbClr val="000000"/>
                          </a:solidFill>
                          <a:effectLst/>
                          <a:latin typeface="Arial" panose="020B0604020202020204" pitchFamily="34" charset="0"/>
                        </a:rPr>
                        <a:t>66.667</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94060932"/>
                  </a:ext>
                </a:extLst>
              </a:tr>
              <a:tr h="0">
                <a:tc>
                  <a:txBody>
                    <a:bodyPr/>
                    <a:lstStyle/>
                    <a:p>
                      <a:pPr algn="l">
                        <a:spcAft>
                          <a:spcPts val="720"/>
                        </a:spcAft>
                        <a:buNone/>
                      </a:pPr>
                      <a:r>
                        <a:rPr lang="en-US" b="0">
                          <a:solidFill>
                            <a:srgbClr val="000000"/>
                          </a:solidFill>
                          <a:effectLst/>
                          <a:latin typeface="Arial" panose="020B0604020202020204" pitchFamily="34" charset="0"/>
                        </a:rPr>
                        <a:t>Overall % Correct</a:t>
                      </a:r>
                    </a:p>
                  </a:txBody>
                  <a:tcPr marL="114300" marR="114300" marT="9525" marB="28575" anchor="ctr">
                    <a:lnL>
                      <a:noFill/>
                    </a:lnL>
                    <a:lnR>
                      <a:noFill/>
                    </a:lnR>
                    <a:lnT>
                      <a:noFill/>
                    </a:lnT>
                    <a:lnB>
                      <a:noFill/>
                    </a:lnB>
                    <a:solidFill>
                      <a:srgbClr val="FFFFFF"/>
                    </a:solidFill>
                  </a:tcPr>
                </a:tc>
                <a:tc>
                  <a:txBody>
                    <a:bodyPr/>
                    <a:lstStyle/>
                    <a:p>
                      <a:pPr algn="ctr">
                        <a:spcAft>
                          <a:spcPts val="720"/>
                        </a:spcAft>
                        <a:buNone/>
                      </a:pPr>
                      <a:endParaRPr lang="en-US" b="0">
                        <a:solidFill>
                          <a:srgbClr val="000000"/>
                        </a:solidFill>
                        <a:effectLst/>
                        <a:latin typeface="Arial" panose="020B0604020202020204" pitchFamily="34" charset="0"/>
                      </a:endParaRPr>
                    </a:p>
                  </a:txBody>
                  <a:tcPr marL="114300" marR="114300" marT="9525" marB="28575" anchor="ctr">
                    <a:lnL>
                      <a:noFill/>
                    </a:lnL>
                    <a:lnR>
                      <a:noFill/>
                    </a:lnR>
                    <a:lnT>
                      <a:noFill/>
                    </a:lnT>
                    <a:lnB>
                      <a:noFill/>
                    </a:lnB>
                    <a:solidFill>
                      <a:srgbClr val="FFFFFF"/>
                    </a:solidFill>
                  </a:tcPr>
                </a:tc>
                <a:tc>
                  <a:txBody>
                    <a:bodyPr/>
                    <a:lstStyle/>
                    <a:p>
                      <a:pPr algn="ctr">
                        <a:spcAft>
                          <a:spcPts val="720"/>
                        </a:spcAft>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a:noFill/>
                    </a:lnB>
                    <a:solidFill>
                      <a:srgbClr val="FFFFFF"/>
                    </a:solidFill>
                  </a:tcPr>
                </a:tc>
                <a:tc>
                  <a:txBody>
                    <a:bodyPr/>
                    <a:lstStyle/>
                    <a:p>
                      <a:pPr algn="r">
                        <a:spcAft>
                          <a:spcPts val="720"/>
                        </a:spcAft>
                        <a:buNone/>
                      </a:pPr>
                      <a:r>
                        <a:rPr lang="en-US" b="0">
                          <a:solidFill>
                            <a:srgbClr val="000000"/>
                          </a:solidFill>
                          <a:effectLst/>
                          <a:latin typeface="Arial" panose="020B0604020202020204" pitchFamily="34" charset="0"/>
                        </a:rPr>
                        <a:t>60.000</a:t>
                      </a:r>
                    </a:p>
                  </a:txBody>
                  <a:tcPr marL="114300" marR="114300" marT="9525" marB="28575" anchor="ctr">
                    <a:lnL>
                      <a:noFill/>
                    </a:lnL>
                    <a:lnR>
                      <a:noFill/>
                    </a:lnR>
                    <a:lnT>
                      <a:noFill/>
                    </a:lnT>
                    <a:lnB>
                      <a:noFill/>
                    </a:lnB>
                    <a:solidFill>
                      <a:srgbClr val="FFFFFF"/>
                    </a:solidFill>
                  </a:tcPr>
                </a:tc>
                <a:extLst>
                  <a:ext uri="{0D108BD9-81ED-4DB2-BD59-A6C34878D82A}">
                    <a16:rowId xmlns:a16="http://schemas.microsoft.com/office/drawing/2014/main" val="3685635772"/>
                  </a:ext>
                </a:extLst>
              </a:tr>
              <a:tr h="0">
                <a:tc gridSpan="4">
                  <a:txBody>
                    <a:bodyPr/>
                    <a:lstStyle/>
                    <a:p>
                      <a:pPr algn="r">
                        <a:buNone/>
                      </a:pPr>
                      <a:endParaRPr lang="en-US"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EBEBEB"/>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13098960"/>
                  </a:ext>
                </a:extLst>
              </a:tr>
              <a:tr h="0">
                <a:tc gridSpan="4">
                  <a:txBody>
                    <a:bodyPr/>
                    <a:lstStyle/>
                    <a:p>
                      <a:pPr algn="l">
                        <a:buNone/>
                      </a:pPr>
                      <a:r>
                        <a:rPr lang="en-US" b="0" i="1" dirty="0">
                          <a:solidFill>
                            <a:srgbClr val="000000"/>
                          </a:solidFill>
                          <a:effectLst/>
                          <a:latin typeface="Arial" panose="020B0604020202020204" pitchFamily="34" charset="0"/>
                        </a:rPr>
                        <a:t>Note.</a:t>
                      </a:r>
                      <a:r>
                        <a:rPr lang="en-US" b="0" dirty="0">
                          <a:solidFill>
                            <a:srgbClr val="000000"/>
                          </a:solidFill>
                          <a:effectLst/>
                          <a:latin typeface="Arial" panose="020B0604020202020204" pitchFamily="34" charset="0"/>
                        </a:rPr>
                        <a:t>  The cut-off value is set to 0.5</a:t>
                      </a: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7156272"/>
                  </a:ext>
                </a:extLst>
              </a:tr>
            </a:tbl>
          </a:graphicData>
        </a:graphic>
      </p:graphicFrame>
      <p:sp>
        <p:nvSpPr>
          <p:cNvPr id="9" name="Oval 8">
            <a:extLst>
              <a:ext uri="{FF2B5EF4-FFF2-40B4-BE49-F238E27FC236}">
                <a16:creationId xmlns:a16="http://schemas.microsoft.com/office/drawing/2014/main" id="{2739AF46-B258-0AD3-FA4B-457A4DF19058}"/>
              </a:ext>
            </a:extLst>
          </p:cNvPr>
          <p:cNvSpPr/>
          <p:nvPr/>
        </p:nvSpPr>
        <p:spPr>
          <a:xfrm>
            <a:off x="6772231" y="6187259"/>
            <a:ext cx="775290" cy="492546"/>
          </a:xfrm>
          <a:prstGeom prst="ellipse">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 name="Title 1">
            <a:extLst>
              <a:ext uri="{FF2B5EF4-FFF2-40B4-BE49-F238E27FC236}">
                <a16:creationId xmlns:a16="http://schemas.microsoft.com/office/drawing/2014/main" id="{D3857490-60E8-4A13-BD6E-B91E64C0AE1B}"/>
              </a:ext>
            </a:extLst>
          </p:cNvPr>
          <p:cNvSpPr>
            <a:spLocks noGrp="1"/>
          </p:cNvSpPr>
          <p:nvPr>
            <p:ph type="title" idx="4294967295"/>
          </p:nvPr>
        </p:nvSpPr>
        <p:spPr>
          <a:xfrm>
            <a:off x="145915" y="124573"/>
            <a:ext cx="10058400" cy="777669"/>
          </a:xfrm>
        </p:spPr>
        <p:txBody>
          <a:bodyPr>
            <a:normAutofit/>
          </a:bodyPr>
          <a:lstStyle/>
          <a:p>
            <a:r>
              <a:rPr lang="en-US" sz="4000" dirty="0">
                <a:latin typeface="Aptos Display" panose="020B0004020202020204" pitchFamily="34" charset="0"/>
              </a:rPr>
              <a:t>Model Summary &amp; Classification</a:t>
            </a:r>
          </a:p>
        </p:txBody>
      </p:sp>
      <p:sp>
        <p:nvSpPr>
          <p:cNvPr id="27" name="Content Placeholder 26">
            <a:extLst>
              <a:ext uri="{FF2B5EF4-FFF2-40B4-BE49-F238E27FC236}">
                <a16:creationId xmlns:a16="http://schemas.microsoft.com/office/drawing/2014/main" id="{1259038B-CDAB-47D6-886B-082DE35B1537}"/>
              </a:ext>
            </a:extLst>
          </p:cNvPr>
          <p:cNvSpPr>
            <a:spLocks noGrp="1"/>
          </p:cNvSpPr>
          <p:nvPr>
            <p:ph idx="4294967295"/>
          </p:nvPr>
        </p:nvSpPr>
        <p:spPr>
          <a:xfrm>
            <a:off x="218739" y="905710"/>
            <a:ext cx="10058400" cy="3760788"/>
          </a:xfrm>
        </p:spPr>
        <p:txBody>
          <a:bodyPr>
            <a:normAutofit/>
          </a:bodyPr>
          <a:lstStyle/>
          <a:p>
            <a:pPr>
              <a:lnSpc>
                <a:spcPct val="100000"/>
              </a:lnSpc>
            </a:pPr>
            <a:r>
              <a:rPr lang="en-US" sz="2000" dirty="0"/>
              <a:t>The classification table is provided. Here we correctly classify 60% of enrollments, better than chance (not much better)</a:t>
            </a:r>
          </a:p>
          <a:p>
            <a:pPr lvl="1">
              <a:lnSpc>
                <a:spcPct val="100000"/>
              </a:lnSpc>
            </a:pPr>
            <a:r>
              <a:rPr lang="en-US" sz="1800" dirty="0"/>
              <a:t>Using the 50% cutoff, when the observed </a:t>
            </a:r>
            <a:r>
              <a:rPr lang="en-US" sz="1800" i="1" dirty="0"/>
              <a:t>Y </a:t>
            </a:r>
            <a:r>
              <a:rPr lang="en-US" sz="1800" dirty="0"/>
              <a:t>was the student did not enroll in college, we predicted enrollment correctly 1/2 of the time</a:t>
            </a:r>
          </a:p>
          <a:p>
            <a:pPr lvl="1">
              <a:lnSpc>
                <a:spcPct val="100000"/>
              </a:lnSpc>
            </a:pPr>
            <a:r>
              <a:rPr lang="en-US" sz="1800" dirty="0"/>
              <a:t>Similarly, using the same cutoff, when the student did enroll, we were correct 4 of 6 times (2/3)</a:t>
            </a:r>
          </a:p>
        </p:txBody>
      </p:sp>
      <p:sp>
        <p:nvSpPr>
          <p:cNvPr id="11" name="TextBox 10">
            <a:extLst>
              <a:ext uri="{FF2B5EF4-FFF2-40B4-BE49-F238E27FC236}">
                <a16:creationId xmlns:a16="http://schemas.microsoft.com/office/drawing/2014/main" id="{A9DA7E47-8BE0-422F-B853-2C9AB974566B}"/>
              </a:ext>
            </a:extLst>
          </p:cNvPr>
          <p:cNvSpPr txBox="1"/>
          <p:nvPr/>
        </p:nvSpPr>
        <p:spPr>
          <a:xfrm>
            <a:off x="6741751" y="5862961"/>
            <a:ext cx="2596470" cy="369332"/>
          </a:xfrm>
          <a:prstGeom prst="rect">
            <a:avLst/>
          </a:prstGeom>
          <a:noFill/>
        </p:spPr>
        <p:txBody>
          <a:bodyPr wrap="square" rtlCol="0">
            <a:spAutoFit/>
          </a:bodyPr>
          <a:lstStyle/>
          <a:p>
            <a:r>
              <a:rPr lang="en-US" dirty="0"/>
              <a:t>Sensitivity</a:t>
            </a:r>
          </a:p>
        </p:txBody>
      </p:sp>
      <p:sp>
        <p:nvSpPr>
          <p:cNvPr id="37" name="TextBox 36">
            <a:extLst>
              <a:ext uri="{FF2B5EF4-FFF2-40B4-BE49-F238E27FC236}">
                <a16:creationId xmlns:a16="http://schemas.microsoft.com/office/drawing/2014/main" id="{23629D47-D904-483B-83F3-77111F653A97}"/>
              </a:ext>
            </a:extLst>
          </p:cNvPr>
          <p:cNvSpPr txBox="1"/>
          <p:nvPr/>
        </p:nvSpPr>
        <p:spPr>
          <a:xfrm>
            <a:off x="6711271" y="5585207"/>
            <a:ext cx="2596470" cy="369332"/>
          </a:xfrm>
          <a:prstGeom prst="rect">
            <a:avLst/>
          </a:prstGeom>
          <a:noFill/>
        </p:spPr>
        <p:txBody>
          <a:bodyPr wrap="square" rtlCol="0">
            <a:spAutoFit/>
          </a:bodyPr>
          <a:lstStyle/>
          <a:p>
            <a:r>
              <a:rPr lang="en-US" dirty="0"/>
              <a:t>Specificity</a:t>
            </a:r>
          </a:p>
        </p:txBody>
      </p:sp>
      <p:sp>
        <p:nvSpPr>
          <p:cNvPr id="13" name="TextBox 12">
            <a:extLst>
              <a:ext uri="{FF2B5EF4-FFF2-40B4-BE49-F238E27FC236}">
                <a16:creationId xmlns:a16="http://schemas.microsoft.com/office/drawing/2014/main" id="{D48868A5-9CDF-42AA-9D5D-FAF4BD4826DE}"/>
              </a:ext>
            </a:extLst>
          </p:cNvPr>
          <p:cNvSpPr txBox="1"/>
          <p:nvPr/>
        </p:nvSpPr>
        <p:spPr>
          <a:xfrm>
            <a:off x="6741751" y="6187259"/>
            <a:ext cx="2944168" cy="369332"/>
          </a:xfrm>
          <a:prstGeom prst="rect">
            <a:avLst/>
          </a:prstGeom>
          <a:noFill/>
        </p:spPr>
        <p:txBody>
          <a:bodyPr wrap="square" rtlCol="0">
            <a:spAutoFit/>
          </a:bodyPr>
          <a:lstStyle/>
          <a:p>
            <a:r>
              <a:rPr lang="en-US" dirty="0"/>
              <a:t>(2 + 4)/(2+2+2+4) = 60%</a:t>
            </a:r>
          </a:p>
        </p:txBody>
      </p:sp>
      <p:cxnSp>
        <p:nvCxnSpPr>
          <p:cNvPr id="4" name="Straight Connector 3">
            <a:extLst>
              <a:ext uri="{FF2B5EF4-FFF2-40B4-BE49-F238E27FC236}">
                <a16:creationId xmlns:a16="http://schemas.microsoft.com/office/drawing/2014/main" id="{99D0AE6F-D04F-3A4E-0BFF-12E76371821F}"/>
              </a:ext>
            </a:extLst>
          </p:cNvPr>
          <p:cNvCxnSpPr>
            <a:cxnSpLocks/>
          </p:cNvCxnSpPr>
          <p:nvPr/>
        </p:nvCxnSpPr>
        <p:spPr>
          <a:xfrm>
            <a:off x="5582047" y="3959035"/>
            <a:ext cx="857250" cy="277754"/>
          </a:xfrm>
          <a:prstGeom prst="line">
            <a:avLst/>
          </a:prstGeom>
          <a:ln w="25400" cap="flat" cmpd="sng" algn="ctr">
            <a:solidFill>
              <a:srgbClr val="00B0F0"/>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 name="Straight Arrow Connector 6">
            <a:extLst>
              <a:ext uri="{FF2B5EF4-FFF2-40B4-BE49-F238E27FC236}">
                <a16:creationId xmlns:a16="http://schemas.microsoft.com/office/drawing/2014/main" id="{BB6A3BF7-649F-FE58-E07D-6A1B3404E1B6}"/>
              </a:ext>
            </a:extLst>
          </p:cNvPr>
          <p:cNvCxnSpPr/>
          <p:nvPr/>
        </p:nvCxnSpPr>
        <p:spPr>
          <a:xfrm flipV="1">
            <a:off x="5582047" y="3959035"/>
            <a:ext cx="857250" cy="277754"/>
          </a:xfrm>
          <a:prstGeom prst="straightConnector1">
            <a:avLst/>
          </a:prstGeom>
          <a:ln w="412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21765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24B4-42EA-A715-5F37-508F956EA9A3}"/>
              </a:ext>
            </a:extLst>
          </p:cNvPr>
          <p:cNvSpPr>
            <a:spLocks noGrp="1"/>
          </p:cNvSpPr>
          <p:nvPr>
            <p:ph type="title" idx="4294967295"/>
          </p:nvPr>
        </p:nvSpPr>
        <p:spPr>
          <a:xfrm>
            <a:off x="0" y="0"/>
            <a:ext cx="11919473" cy="828339"/>
          </a:xfrm>
        </p:spPr>
        <p:txBody>
          <a:bodyPr>
            <a:normAutofit fontScale="90000"/>
          </a:bodyPr>
          <a:lstStyle/>
          <a:p>
            <a:r>
              <a:rPr lang="en-US" sz="4000" dirty="0">
                <a:latin typeface="Aptos Display" panose="020B0004020202020204" pitchFamily="34" charset="0"/>
              </a:rPr>
              <a:t>More on classifications and correctly predicted observations</a:t>
            </a:r>
          </a:p>
        </p:txBody>
      </p:sp>
      <p:sp>
        <p:nvSpPr>
          <p:cNvPr id="3" name="Content Placeholder 2">
            <a:extLst>
              <a:ext uri="{FF2B5EF4-FFF2-40B4-BE49-F238E27FC236}">
                <a16:creationId xmlns:a16="http://schemas.microsoft.com/office/drawing/2014/main" id="{26686F58-9930-4F5B-BE9B-6F3291535FD1}"/>
              </a:ext>
            </a:extLst>
          </p:cNvPr>
          <p:cNvSpPr>
            <a:spLocks noGrp="1"/>
          </p:cNvSpPr>
          <p:nvPr>
            <p:ph idx="4294967295"/>
          </p:nvPr>
        </p:nvSpPr>
        <p:spPr>
          <a:xfrm>
            <a:off x="369346" y="828339"/>
            <a:ext cx="10058400" cy="3760788"/>
          </a:xfrm>
        </p:spPr>
        <p:txBody>
          <a:bodyPr>
            <a:normAutofit/>
          </a:bodyPr>
          <a:lstStyle/>
          <a:p>
            <a:r>
              <a:rPr lang="en-US" sz="2000" b="0" i="0" dirty="0">
                <a:solidFill>
                  <a:srgbClr val="000000"/>
                </a:solidFill>
                <a:effectLst/>
                <a:latin typeface="Helvetica" panose="020B0604020202020204" pitchFamily="34" charset="0"/>
              </a:rPr>
              <a:t>Your observed outcome in logistic regression can ONLY be 0 or 1</a:t>
            </a:r>
          </a:p>
          <a:p>
            <a:r>
              <a:rPr lang="en-US" sz="2000" b="0" i="0" dirty="0">
                <a:solidFill>
                  <a:srgbClr val="000000"/>
                </a:solidFill>
                <a:effectLst/>
                <a:latin typeface="Helvetica" panose="020B0604020202020204" pitchFamily="34" charset="0"/>
              </a:rPr>
              <a:t>The predicted probabilities from the model can take on all possible values between 0 and 1</a:t>
            </a:r>
          </a:p>
          <a:p>
            <a:r>
              <a:rPr lang="en-US" sz="2000" b="0" i="0" dirty="0">
                <a:solidFill>
                  <a:srgbClr val="000000"/>
                </a:solidFill>
                <a:effectLst/>
                <a:latin typeface="Helvetica" panose="020B0604020202020204" pitchFamily="34" charset="0"/>
              </a:rPr>
              <a:t>So, for a given observation, the predicted probability from the model may have been 0.51 (51% probability of success), but your observation was actually a 0 (not a success)</a:t>
            </a:r>
          </a:p>
          <a:p>
            <a:r>
              <a:rPr lang="en-US" sz="2000" dirty="0">
                <a:solidFill>
                  <a:srgbClr val="000000"/>
                </a:solidFill>
                <a:latin typeface="Helvetica" panose="020B0604020202020204" pitchFamily="34" charset="0"/>
              </a:rPr>
              <a:t>By default, SPSS uses a classification of 50/50 </a:t>
            </a:r>
            <a:r>
              <a:rPr lang="en-US" sz="2000" dirty="0">
                <a:solidFill>
                  <a:srgbClr val="000000"/>
                </a:solidFill>
                <a:latin typeface="Helvetica" panose="020B0604020202020204" pitchFamily="34" charset="0"/>
                <a:sym typeface="Wingdings" panose="05000000000000000000" pitchFamily="2" charset="2"/>
              </a:rPr>
              <a:t> if the probability is .51 or greater, the case is coded as “1” (i.e., a success) and if it is &lt;= .50 it’s coded as “0” (i.e., a fail)</a:t>
            </a:r>
          </a:p>
          <a:p>
            <a:r>
              <a:rPr lang="en-US" sz="2000" dirty="0">
                <a:solidFill>
                  <a:srgbClr val="000000"/>
                </a:solidFill>
                <a:latin typeface="Helvetica" panose="020B0604020202020204" pitchFamily="34" charset="0"/>
                <a:sym typeface="Wingdings" panose="05000000000000000000" pitchFamily="2" charset="2"/>
              </a:rPr>
              <a:t>The next slide shows how we can add the probabilities and classifications to our dataset for additional intuition</a:t>
            </a:r>
            <a:endParaRPr lang="en-US" sz="2000" dirty="0"/>
          </a:p>
        </p:txBody>
      </p:sp>
    </p:spTree>
    <p:extLst>
      <p:ext uri="{BB962C8B-B14F-4D97-AF65-F5344CB8AC3E}">
        <p14:creationId xmlns:p14="http://schemas.microsoft.com/office/powerpoint/2010/main" val="21853291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52BD35A-BC99-4831-A358-06E2CEB96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w="69850">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3834EFA-2021-FFCB-C7A9-7E2FCBF6D794}"/>
              </a:ext>
            </a:extLst>
          </p:cNvPr>
          <p:cNvPicPr>
            <a:picLocks noChangeAspect="1"/>
          </p:cNvPicPr>
          <p:nvPr/>
        </p:nvPicPr>
        <p:blipFill>
          <a:blip r:embed="rId2"/>
          <a:stretch>
            <a:fillRect/>
          </a:stretch>
        </p:blipFill>
        <p:spPr>
          <a:xfrm>
            <a:off x="3076021" y="905933"/>
            <a:ext cx="6071962" cy="5039728"/>
          </a:xfrm>
          <a:prstGeom prst="rect">
            <a:avLst/>
          </a:prstGeom>
        </p:spPr>
      </p:pic>
    </p:spTree>
    <p:extLst>
      <p:ext uri="{BB962C8B-B14F-4D97-AF65-F5344CB8AC3E}">
        <p14:creationId xmlns:p14="http://schemas.microsoft.com/office/powerpoint/2010/main" val="28811098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120ABA-0A93-A85A-0CD0-BB51AEB45E86}"/>
              </a:ext>
            </a:extLst>
          </p:cNvPr>
          <p:cNvPicPr>
            <a:picLocks noChangeAspect="1"/>
          </p:cNvPicPr>
          <p:nvPr/>
        </p:nvPicPr>
        <p:blipFill>
          <a:blip r:embed="rId2"/>
          <a:srcRect r="1577"/>
          <a:stretch>
            <a:fillRect/>
          </a:stretch>
        </p:blipFill>
        <p:spPr>
          <a:xfrm>
            <a:off x="2073349" y="910606"/>
            <a:ext cx="5057025" cy="4314107"/>
          </a:xfrm>
          <a:prstGeom prst="rect">
            <a:avLst/>
          </a:prstGeom>
        </p:spPr>
      </p:pic>
      <p:sp>
        <p:nvSpPr>
          <p:cNvPr id="4" name="Rectangle 3">
            <a:extLst>
              <a:ext uri="{FF2B5EF4-FFF2-40B4-BE49-F238E27FC236}">
                <a16:creationId xmlns:a16="http://schemas.microsoft.com/office/drawing/2014/main" id="{86BB42F5-0984-CB35-175B-279CD9D3026E}"/>
              </a:ext>
            </a:extLst>
          </p:cNvPr>
          <p:cNvSpPr/>
          <p:nvPr/>
        </p:nvSpPr>
        <p:spPr>
          <a:xfrm>
            <a:off x="2073348" y="1750803"/>
            <a:ext cx="5138023" cy="3689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FFE9C12-0ADF-E550-AFB5-0C42E36693D6}"/>
              </a:ext>
            </a:extLst>
          </p:cNvPr>
          <p:cNvSpPr/>
          <p:nvPr/>
        </p:nvSpPr>
        <p:spPr>
          <a:xfrm>
            <a:off x="2073350" y="2087674"/>
            <a:ext cx="5138022" cy="3689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BC028F0-D2B3-D766-5FE3-9A79D25C5E84}"/>
              </a:ext>
            </a:extLst>
          </p:cNvPr>
          <p:cNvSpPr/>
          <p:nvPr/>
        </p:nvSpPr>
        <p:spPr>
          <a:xfrm>
            <a:off x="2073347" y="3688946"/>
            <a:ext cx="5138023" cy="36894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6849120-65DC-100A-41B2-B1934E2184CD}"/>
              </a:ext>
            </a:extLst>
          </p:cNvPr>
          <p:cNvSpPr/>
          <p:nvPr/>
        </p:nvSpPr>
        <p:spPr>
          <a:xfrm>
            <a:off x="2073346" y="4811785"/>
            <a:ext cx="5138023" cy="36894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52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55F33-9A05-F8DA-EFAD-644DFCD8EA87}"/>
              </a:ext>
            </a:extLst>
          </p:cNvPr>
          <p:cNvSpPr>
            <a:spLocks noGrp="1"/>
          </p:cNvSpPr>
          <p:nvPr>
            <p:ph type="title" idx="4294967295"/>
          </p:nvPr>
        </p:nvSpPr>
        <p:spPr>
          <a:xfrm>
            <a:off x="164951" y="104459"/>
            <a:ext cx="10058400" cy="701674"/>
          </a:xfrm>
        </p:spPr>
        <p:txBody>
          <a:bodyPr>
            <a:normAutofit/>
          </a:bodyPr>
          <a:lstStyle/>
          <a:p>
            <a:r>
              <a:rPr lang="en-US" sz="4000" dirty="0">
                <a:latin typeface="Aptos Display" panose="020B0004020202020204" pitchFamily="34" charset="0"/>
              </a:rPr>
              <a:t>Improving classification</a:t>
            </a:r>
          </a:p>
        </p:txBody>
      </p:sp>
      <p:sp>
        <p:nvSpPr>
          <p:cNvPr id="3" name="Content Placeholder 2">
            <a:extLst>
              <a:ext uri="{FF2B5EF4-FFF2-40B4-BE49-F238E27FC236}">
                <a16:creationId xmlns:a16="http://schemas.microsoft.com/office/drawing/2014/main" id="{F0DDF778-D732-03AC-743F-C9D2FB979A56}"/>
              </a:ext>
            </a:extLst>
          </p:cNvPr>
          <p:cNvSpPr>
            <a:spLocks noGrp="1"/>
          </p:cNvSpPr>
          <p:nvPr>
            <p:ph idx="4294967295"/>
          </p:nvPr>
        </p:nvSpPr>
        <p:spPr>
          <a:xfrm>
            <a:off x="337073" y="806133"/>
            <a:ext cx="10058400" cy="3760788"/>
          </a:xfrm>
        </p:spPr>
        <p:txBody>
          <a:bodyPr>
            <a:normAutofit/>
          </a:bodyPr>
          <a:lstStyle/>
          <a:p>
            <a:r>
              <a:rPr lang="en-US" sz="2000" dirty="0"/>
              <a:t>We can change the default value from .5 to something else</a:t>
            </a:r>
          </a:p>
          <a:p>
            <a:r>
              <a:rPr lang="en-US" sz="2000" b="1" dirty="0"/>
              <a:t>Example</a:t>
            </a:r>
            <a:r>
              <a:rPr lang="en-US" sz="2000" dirty="0"/>
              <a:t>: Let’s change the default to .4 and see how this ‘improves’ our classification</a:t>
            </a:r>
          </a:p>
        </p:txBody>
      </p:sp>
    </p:spTree>
    <p:extLst>
      <p:ext uri="{BB962C8B-B14F-4D97-AF65-F5344CB8AC3E}">
        <p14:creationId xmlns:p14="http://schemas.microsoft.com/office/powerpoint/2010/main" val="33108738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DAF65FF-D2B9-2348-D01B-F77CBFBD2FB9}"/>
              </a:ext>
            </a:extLst>
          </p:cNvPr>
          <p:cNvPicPr>
            <a:picLocks noGrp="1" noChangeAspect="1"/>
          </p:cNvPicPr>
          <p:nvPr>
            <p:ph idx="4294967295"/>
          </p:nvPr>
        </p:nvPicPr>
        <p:blipFill>
          <a:blip r:embed="rId2"/>
          <a:stretch>
            <a:fillRect/>
          </a:stretch>
        </p:blipFill>
        <p:spPr>
          <a:xfrm>
            <a:off x="2998001" y="80088"/>
            <a:ext cx="4956987" cy="2107318"/>
          </a:xfrm>
        </p:spPr>
      </p:pic>
      <p:pic>
        <p:nvPicPr>
          <p:cNvPr id="9" name="Picture 8">
            <a:extLst>
              <a:ext uri="{FF2B5EF4-FFF2-40B4-BE49-F238E27FC236}">
                <a16:creationId xmlns:a16="http://schemas.microsoft.com/office/drawing/2014/main" id="{7CC6C0BE-4883-C90D-0E42-1767DCA3BB6B}"/>
              </a:ext>
            </a:extLst>
          </p:cNvPr>
          <p:cNvPicPr>
            <a:picLocks noChangeAspect="1"/>
          </p:cNvPicPr>
          <p:nvPr/>
        </p:nvPicPr>
        <p:blipFill>
          <a:blip r:embed="rId3"/>
          <a:stretch>
            <a:fillRect/>
          </a:stretch>
        </p:blipFill>
        <p:spPr>
          <a:xfrm>
            <a:off x="1777194" y="2482481"/>
            <a:ext cx="7468036" cy="3216570"/>
          </a:xfrm>
          <a:prstGeom prst="rect">
            <a:avLst/>
          </a:prstGeom>
        </p:spPr>
      </p:pic>
      <p:sp>
        <p:nvSpPr>
          <p:cNvPr id="11" name="Rectangle 10">
            <a:extLst>
              <a:ext uri="{FF2B5EF4-FFF2-40B4-BE49-F238E27FC236}">
                <a16:creationId xmlns:a16="http://schemas.microsoft.com/office/drawing/2014/main" id="{94FD4462-4A3E-35F7-9D91-56044DE54736}"/>
              </a:ext>
            </a:extLst>
          </p:cNvPr>
          <p:cNvSpPr/>
          <p:nvPr/>
        </p:nvSpPr>
        <p:spPr>
          <a:xfrm>
            <a:off x="1777194" y="4804299"/>
            <a:ext cx="7468036" cy="820324"/>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AB3CC69-52D5-79FF-9A15-594BB045188C}"/>
              </a:ext>
            </a:extLst>
          </p:cNvPr>
          <p:cNvSpPr txBox="1"/>
          <p:nvPr/>
        </p:nvSpPr>
        <p:spPr>
          <a:xfrm>
            <a:off x="9367285" y="4804299"/>
            <a:ext cx="2575898" cy="923330"/>
          </a:xfrm>
          <a:prstGeom prst="rect">
            <a:avLst/>
          </a:prstGeom>
          <a:noFill/>
        </p:spPr>
        <p:txBody>
          <a:bodyPr wrap="none" rtlCol="0">
            <a:spAutoFit/>
          </a:bodyPr>
          <a:lstStyle/>
          <a:p>
            <a:r>
              <a:rPr lang="en-US" dirty="0"/>
              <a:t>When we changed</a:t>
            </a:r>
          </a:p>
          <a:p>
            <a:r>
              <a:rPr lang="en-US" dirty="0"/>
              <a:t>the default value from .5</a:t>
            </a:r>
          </a:p>
          <a:p>
            <a:r>
              <a:rPr lang="en-US" dirty="0"/>
              <a:t>to .4, what changed?</a:t>
            </a:r>
          </a:p>
        </p:txBody>
      </p:sp>
      <p:sp>
        <p:nvSpPr>
          <p:cNvPr id="13" name="TextBox 12">
            <a:extLst>
              <a:ext uri="{FF2B5EF4-FFF2-40B4-BE49-F238E27FC236}">
                <a16:creationId xmlns:a16="http://schemas.microsoft.com/office/drawing/2014/main" id="{56528A70-9836-4BE3-784C-D39BB8AAA3CC}"/>
              </a:ext>
            </a:extLst>
          </p:cNvPr>
          <p:cNvSpPr txBox="1"/>
          <p:nvPr/>
        </p:nvSpPr>
        <p:spPr>
          <a:xfrm>
            <a:off x="4561367" y="2047686"/>
            <a:ext cx="2317898" cy="369332"/>
          </a:xfrm>
          <a:prstGeom prst="rect">
            <a:avLst/>
          </a:prstGeom>
          <a:noFill/>
        </p:spPr>
        <p:txBody>
          <a:bodyPr wrap="square" rtlCol="0">
            <a:spAutoFit/>
          </a:bodyPr>
          <a:lstStyle/>
          <a:p>
            <a:pPr algn="ctr"/>
            <a:r>
              <a:rPr lang="en-US" b="1" dirty="0"/>
              <a:t>Default = .5</a:t>
            </a:r>
          </a:p>
        </p:txBody>
      </p:sp>
      <p:sp>
        <p:nvSpPr>
          <p:cNvPr id="15" name="TextBox 14">
            <a:extLst>
              <a:ext uri="{FF2B5EF4-FFF2-40B4-BE49-F238E27FC236}">
                <a16:creationId xmlns:a16="http://schemas.microsoft.com/office/drawing/2014/main" id="{0D34549C-4249-88DF-A118-B5A4811FB759}"/>
              </a:ext>
            </a:extLst>
          </p:cNvPr>
          <p:cNvSpPr txBox="1"/>
          <p:nvPr/>
        </p:nvSpPr>
        <p:spPr>
          <a:xfrm>
            <a:off x="6796039" y="2050549"/>
            <a:ext cx="2317898" cy="369332"/>
          </a:xfrm>
          <a:prstGeom prst="rect">
            <a:avLst/>
          </a:prstGeom>
          <a:noFill/>
        </p:spPr>
        <p:txBody>
          <a:bodyPr wrap="square" rtlCol="0">
            <a:spAutoFit/>
          </a:bodyPr>
          <a:lstStyle/>
          <a:p>
            <a:pPr algn="ctr"/>
            <a:r>
              <a:rPr lang="en-US" b="1" dirty="0"/>
              <a:t>Default = .4</a:t>
            </a:r>
          </a:p>
        </p:txBody>
      </p:sp>
    </p:spTree>
    <p:extLst>
      <p:ext uri="{BB962C8B-B14F-4D97-AF65-F5344CB8AC3E}">
        <p14:creationId xmlns:p14="http://schemas.microsoft.com/office/powerpoint/2010/main" val="212487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1CD89-37FD-48D2-9E79-5B60D30DEEAD}"/>
              </a:ext>
            </a:extLst>
          </p:cNvPr>
          <p:cNvSpPr>
            <a:spLocks noGrp="1"/>
          </p:cNvSpPr>
          <p:nvPr>
            <p:ph type="title" idx="4294967295"/>
          </p:nvPr>
        </p:nvSpPr>
        <p:spPr>
          <a:xfrm>
            <a:off x="143435" y="115216"/>
            <a:ext cx="10058400" cy="701674"/>
          </a:xfrm>
        </p:spPr>
        <p:txBody>
          <a:bodyPr>
            <a:normAutofit/>
          </a:bodyPr>
          <a:lstStyle/>
          <a:p>
            <a:r>
              <a:rPr lang="en-US" sz="4000" dirty="0">
                <a:latin typeface="Aptos Display" panose="020B0004020202020204" pitchFamily="34" charset="0"/>
              </a:rPr>
              <a:t>You may want to report…</a:t>
            </a:r>
          </a:p>
        </p:txBody>
      </p:sp>
      <p:sp>
        <p:nvSpPr>
          <p:cNvPr id="3" name="Content Placeholder 2">
            <a:extLst>
              <a:ext uri="{FF2B5EF4-FFF2-40B4-BE49-F238E27FC236}">
                <a16:creationId xmlns:a16="http://schemas.microsoft.com/office/drawing/2014/main" id="{5FAB4FF1-DF4D-45EC-8664-8A90BCA39650}"/>
              </a:ext>
            </a:extLst>
          </p:cNvPr>
          <p:cNvSpPr>
            <a:spLocks noGrp="1"/>
          </p:cNvSpPr>
          <p:nvPr>
            <p:ph idx="4294967295"/>
          </p:nvPr>
        </p:nvSpPr>
        <p:spPr>
          <a:xfrm>
            <a:off x="143435" y="1055734"/>
            <a:ext cx="10058400" cy="3760788"/>
          </a:xfrm>
        </p:spPr>
        <p:txBody>
          <a:bodyPr>
            <a:normAutofit/>
          </a:bodyPr>
          <a:lstStyle/>
          <a:p>
            <a:r>
              <a:rPr lang="en-US" sz="2000" dirty="0"/>
              <a:t>Is the 60% correctly predicted rate better than chance (i.e., 50%)</a:t>
            </a:r>
          </a:p>
          <a:p>
            <a:r>
              <a:rPr lang="en-US" sz="2000" dirty="0"/>
              <a:t>You can report Press’s Q, which is distributed as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4971BDC-E25F-40D9-987F-0EABD6D6E33D}"/>
                  </a:ext>
                </a:extLst>
              </p:cNvPr>
              <p:cNvSpPr txBox="1"/>
              <p:nvPr/>
            </p:nvSpPr>
            <p:spPr>
              <a:xfrm>
                <a:off x="952051" y="2148755"/>
                <a:ext cx="2252133" cy="727443"/>
              </a:xfrm>
              <a:prstGeom prst="rect">
                <a:avLst/>
              </a:prstGeom>
              <a:noFill/>
            </p:spPr>
            <p:txBody>
              <a:bodyPr wrap="square" lIns="0" tIns="0" rIns="0" bIns="0" rtlCol="0">
                <a:spAutoFit/>
              </a:bodyPr>
              <a:lstStyle/>
              <a:p>
                <a14:m>
                  <m:oMath xmlns:m="http://schemas.openxmlformats.org/officeDocument/2006/math">
                    <m:r>
                      <a:rPr lang="en-US" sz="2800" b="0" i="1" smtClean="0">
                        <a:latin typeface="Cambria Math" panose="02040503050406030204" pitchFamily="18" charset="0"/>
                      </a:rPr>
                      <m:t>𝑄</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i="1">
                                <a:latin typeface="Cambria Math" panose="02040503050406030204" pitchFamily="18" charset="0"/>
                              </a:rPr>
                              <m:t>[</m:t>
                            </m:r>
                            <m:r>
                              <a:rPr lang="en-US" sz="2800" i="1">
                                <a:latin typeface="Cambria Math" panose="02040503050406030204" pitchFamily="18" charset="0"/>
                              </a:rPr>
                              <m:t>𝑁</m:t>
                            </m:r>
                            <m:r>
                              <a:rPr lang="en-US" sz="2800" i="1">
                                <a:latin typeface="Cambria Math" panose="02040503050406030204" pitchFamily="18" charset="0"/>
                              </a:rPr>
                              <m:t>−</m:t>
                            </m:r>
                            <m:d>
                              <m:dPr>
                                <m:ctrlPr>
                                  <a:rPr lang="en-US" sz="2800" i="1">
                                    <a:latin typeface="Cambria Math" panose="02040503050406030204" pitchFamily="18" charset="0"/>
                                  </a:rPr>
                                </m:ctrlPr>
                              </m:dPr>
                              <m:e>
                                <m:r>
                                  <a:rPr lang="en-US" sz="2800" i="1">
                                    <a:latin typeface="Cambria Math" panose="02040503050406030204" pitchFamily="18" charset="0"/>
                                  </a:rPr>
                                  <m:t>𝑛𝐾</m:t>
                                </m:r>
                              </m:e>
                            </m:d>
                            <m:r>
                              <a:rPr lang="en-US" sz="2800" i="1">
                                <a:latin typeface="Cambria Math" panose="02040503050406030204" pitchFamily="18" charset="0"/>
                              </a:rPr>
                              <m:t>]</m:t>
                            </m:r>
                          </m:e>
                          <m:sup>
                            <m:r>
                              <a:rPr lang="en-US" sz="2800" b="0" i="1" smtClean="0">
                                <a:latin typeface="Cambria Math" panose="02040503050406030204" pitchFamily="18" charset="0"/>
                              </a:rPr>
                              <m:t>2</m:t>
                            </m:r>
                          </m:sup>
                        </m:sSup>
                      </m:num>
                      <m:den>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𝐾</m:t>
                        </m:r>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m:t>
                        </m:r>
                      </m:den>
                    </m:f>
                  </m:oMath>
                </a14:m>
                <a:r>
                  <a:rPr lang="en-US" sz="2800" dirty="0"/>
                  <a:t>,</a:t>
                </a:r>
              </a:p>
            </p:txBody>
          </p:sp>
        </mc:Choice>
        <mc:Fallback xmlns="">
          <p:sp>
            <p:nvSpPr>
              <p:cNvPr id="4" name="TextBox 3">
                <a:extLst>
                  <a:ext uri="{FF2B5EF4-FFF2-40B4-BE49-F238E27FC236}">
                    <a16:creationId xmlns:a16="http://schemas.microsoft.com/office/drawing/2014/main" id="{84971BDC-E25F-40D9-987F-0EABD6D6E33D}"/>
                  </a:ext>
                </a:extLst>
              </p:cNvPr>
              <p:cNvSpPr txBox="1">
                <a:spLocks noRot="1" noChangeAspect="1" noMove="1" noResize="1" noEditPoints="1" noAdjustHandles="1" noChangeArrowheads="1" noChangeShapeType="1" noTextEdit="1"/>
              </p:cNvSpPr>
              <p:nvPr/>
            </p:nvSpPr>
            <p:spPr>
              <a:xfrm>
                <a:off x="952051" y="2148755"/>
                <a:ext cx="2252133" cy="727443"/>
              </a:xfrm>
              <a:prstGeom prst="rect">
                <a:avLst/>
              </a:prstGeom>
              <a:blipFill>
                <a:blip r:embed="rId2"/>
                <a:stretch>
                  <a:fillRect r="-2162" b="-9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CF49C63-A36B-4C07-91F8-2CDD213928D6}"/>
                  </a:ext>
                </a:extLst>
              </p:cNvPr>
              <p:cNvSpPr txBox="1"/>
              <p:nvPr/>
            </p:nvSpPr>
            <p:spPr>
              <a:xfrm>
                <a:off x="952051" y="2988228"/>
                <a:ext cx="5772151" cy="727443"/>
              </a:xfrm>
              <a:prstGeom prst="rect">
                <a:avLst/>
              </a:prstGeom>
              <a:noFill/>
            </p:spPr>
            <p:txBody>
              <a:bodyPr wrap="square" lIns="0" tIns="0" rIns="0" bIns="0" rtlCol="0">
                <a:spAutoFit/>
              </a:bodyPr>
              <a:lstStyle/>
              <a:p>
                <a14:m>
                  <m:oMath xmlns:m="http://schemas.openxmlformats.org/officeDocument/2006/math">
                    <m:r>
                      <a:rPr lang="en-US" sz="2800" b="0" i="1" smtClean="0">
                        <a:latin typeface="Cambria Math" panose="02040503050406030204" pitchFamily="18" charset="0"/>
                      </a:rPr>
                      <m:t>𝑄</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i="1">
                                <a:latin typeface="Cambria Math" panose="02040503050406030204" pitchFamily="18" charset="0"/>
                              </a:rPr>
                              <m:t>[</m:t>
                            </m:r>
                            <m:r>
                              <a:rPr lang="en-US" sz="2800" b="0" i="1" smtClean="0">
                                <a:latin typeface="Cambria Math" panose="02040503050406030204" pitchFamily="18" charset="0"/>
                              </a:rPr>
                              <m:t>10</m:t>
                            </m:r>
                            <m:r>
                              <a:rPr lang="en-US" sz="2800" i="1">
                                <a:latin typeface="Cambria Math" panose="02040503050406030204" pitchFamily="18" charset="0"/>
                              </a:rPr>
                              <m:t>−</m:t>
                            </m:r>
                            <m:d>
                              <m:dPr>
                                <m:ctrlPr>
                                  <a:rPr lang="en-US" sz="2800" i="1">
                                    <a:latin typeface="Cambria Math" panose="02040503050406030204" pitchFamily="18" charset="0"/>
                                  </a:rPr>
                                </m:ctrlPr>
                              </m:dPr>
                              <m:e>
                                <m:r>
                                  <a:rPr lang="en-US" sz="2800" b="0" i="1" smtClean="0">
                                    <a:latin typeface="Cambria Math" panose="02040503050406030204" pitchFamily="18" charset="0"/>
                                  </a:rPr>
                                  <m:t>6</m:t>
                                </m:r>
                                <m:r>
                                  <a:rPr lang="en-US" sz="2800" b="0" i="1" smtClean="0">
                                    <a:latin typeface="Cambria Math" panose="02040503050406030204" pitchFamily="18" charset="0"/>
                                  </a:rPr>
                                  <m:t>∗</m:t>
                                </m:r>
                                <m:r>
                                  <a:rPr lang="en-US" sz="2800" b="0" i="1" smtClean="0">
                                    <a:latin typeface="Cambria Math" panose="02040503050406030204" pitchFamily="18" charset="0"/>
                                  </a:rPr>
                                  <m:t>2</m:t>
                                </m:r>
                              </m:e>
                            </m:d>
                            <m:r>
                              <a:rPr lang="en-US" sz="2800" i="1">
                                <a:latin typeface="Cambria Math" panose="02040503050406030204" pitchFamily="18" charset="0"/>
                              </a:rPr>
                              <m:t>]</m:t>
                            </m:r>
                          </m:e>
                          <m:sup>
                            <m:r>
                              <a:rPr lang="en-US" sz="2800" b="0" i="1" smtClean="0">
                                <a:latin typeface="Cambria Math" panose="02040503050406030204" pitchFamily="18" charset="0"/>
                              </a:rPr>
                              <m:t>2</m:t>
                            </m:r>
                          </m:sup>
                        </m:sSup>
                      </m:num>
                      <m:den>
                        <m:r>
                          <a:rPr lang="en-US" sz="2800" b="0" i="1" smtClean="0">
                            <a:latin typeface="Cambria Math" panose="02040503050406030204" pitchFamily="18" charset="0"/>
                          </a:rPr>
                          <m:t>10</m:t>
                        </m:r>
                        <m:r>
                          <a:rPr lang="en-US" sz="2800" b="0" i="1" smtClean="0">
                            <a:latin typeface="Cambria Math" panose="02040503050406030204" pitchFamily="18" charset="0"/>
                          </a:rPr>
                          <m:t>(</m:t>
                        </m:r>
                        <m:r>
                          <a:rPr lang="en-US" sz="2800" b="0" i="1" smtClean="0">
                            <a:latin typeface="Cambria Math" panose="02040503050406030204" pitchFamily="18" charset="0"/>
                          </a:rPr>
                          <m:t>2</m:t>
                        </m:r>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m:t>
                        </m:r>
                      </m:den>
                    </m:f>
                  </m:oMath>
                </a14:m>
                <a:r>
                  <a:rPr lang="en-US" sz="2800" dirty="0"/>
                  <a:t>= .4 &lt;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𝜒</m:t>
                        </m:r>
                      </m:e>
                      <m:sub>
                        <m:r>
                          <a:rPr lang="en-US" sz="2800" i="1">
                            <a:latin typeface="Cambria Math" panose="02040503050406030204" pitchFamily="18" charset="0"/>
                          </a:rPr>
                          <m:t>2</m:t>
                        </m:r>
                      </m:sub>
                    </m:sSub>
                  </m:oMath>
                </a14:m>
                <a:r>
                  <a:rPr lang="en-US" sz="2800" dirty="0"/>
                  <a:t>(1) = 3.841</a:t>
                </a:r>
              </a:p>
            </p:txBody>
          </p:sp>
        </mc:Choice>
        <mc:Fallback xmlns="">
          <p:sp>
            <p:nvSpPr>
              <p:cNvPr id="5" name="TextBox 4">
                <a:extLst>
                  <a:ext uri="{FF2B5EF4-FFF2-40B4-BE49-F238E27FC236}">
                    <a16:creationId xmlns:a16="http://schemas.microsoft.com/office/drawing/2014/main" id="{5CF49C63-A36B-4C07-91F8-2CDD213928D6}"/>
                  </a:ext>
                </a:extLst>
              </p:cNvPr>
              <p:cNvSpPr txBox="1">
                <a:spLocks noRot="1" noChangeAspect="1" noMove="1" noResize="1" noEditPoints="1" noAdjustHandles="1" noChangeArrowheads="1" noChangeShapeType="1" noTextEdit="1"/>
              </p:cNvSpPr>
              <p:nvPr/>
            </p:nvSpPr>
            <p:spPr>
              <a:xfrm>
                <a:off x="952051" y="2988228"/>
                <a:ext cx="5772151" cy="727443"/>
              </a:xfrm>
              <a:prstGeom prst="rect">
                <a:avLst/>
              </a:prstGeom>
              <a:blipFill>
                <a:blip r:embed="rId3"/>
                <a:stretch>
                  <a:fillRect b="-916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3DF58DF-CBC8-4522-863B-4583193A99B6}"/>
              </a:ext>
            </a:extLst>
          </p:cNvPr>
          <p:cNvSpPr txBox="1"/>
          <p:nvPr/>
        </p:nvSpPr>
        <p:spPr>
          <a:xfrm>
            <a:off x="3514628" y="2064898"/>
            <a:ext cx="6307103" cy="923330"/>
          </a:xfrm>
          <a:prstGeom prst="rect">
            <a:avLst/>
          </a:prstGeom>
          <a:noFill/>
        </p:spPr>
        <p:txBody>
          <a:bodyPr wrap="square">
            <a:spAutoFit/>
          </a:bodyPr>
          <a:lstStyle/>
          <a:p>
            <a:r>
              <a:rPr lang="en-US" i="1" dirty="0"/>
              <a:t>N</a:t>
            </a:r>
            <a:r>
              <a:rPr lang="en-US" dirty="0"/>
              <a:t> is the total sample size, </a:t>
            </a:r>
          </a:p>
          <a:p>
            <a:r>
              <a:rPr lang="en-US" i="1" dirty="0"/>
              <a:t>n</a:t>
            </a:r>
            <a:r>
              <a:rPr lang="en-US" dirty="0"/>
              <a:t> represents the number of cases that were correctly classified</a:t>
            </a:r>
          </a:p>
          <a:p>
            <a:r>
              <a:rPr lang="en-US" i="1" dirty="0"/>
              <a:t>K</a:t>
            </a:r>
            <a:r>
              <a:rPr lang="en-US" dirty="0"/>
              <a:t> equals the number of groups</a:t>
            </a:r>
          </a:p>
        </p:txBody>
      </p:sp>
      <p:sp>
        <p:nvSpPr>
          <p:cNvPr id="8" name="TextBox 7">
            <a:extLst>
              <a:ext uri="{FF2B5EF4-FFF2-40B4-BE49-F238E27FC236}">
                <a16:creationId xmlns:a16="http://schemas.microsoft.com/office/drawing/2014/main" id="{7A7063E7-D566-4E17-8897-F10C2179A75D}"/>
              </a:ext>
            </a:extLst>
          </p:cNvPr>
          <p:cNvSpPr txBox="1"/>
          <p:nvPr/>
        </p:nvSpPr>
        <p:spPr>
          <a:xfrm>
            <a:off x="845870" y="3896583"/>
            <a:ext cx="6784622" cy="369332"/>
          </a:xfrm>
          <a:prstGeom prst="rect">
            <a:avLst/>
          </a:prstGeom>
          <a:noFill/>
        </p:spPr>
        <p:txBody>
          <a:bodyPr wrap="square" rtlCol="0">
            <a:spAutoFit/>
          </a:bodyPr>
          <a:lstStyle/>
          <a:p>
            <a:r>
              <a:rPr lang="en-US" dirty="0"/>
              <a:t>In this case, the results are no better than chance</a:t>
            </a:r>
          </a:p>
        </p:txBody>
      </p:sp>
    </p:spTree>
    <p:extLst>
      <p:ext uri="{BB962C8B-B14F-4D97-AF65-F5344CB8AC3E}">
        <p14:creationId xmlns:p14="http://schemas.microsoft.com/office/powerpoint/2010/main" val="15188108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026E7-85EF-41F4-815F-5317A9437FBC}"/>
              </a:ext>
            </a:extLst>
          </p:cNvPr>
          <p:cNvSpPr>
            <a:spLocks noGrp="1"/>
          </p:cNvSpPr>
          <p:nvPr>
            <p:ph type="title" idx="4294967295"/>
          </p:nvPr>
        </p:nvSpPr>
        <p:spPr>
          <a:xfrm>
            <a:off x="0" y="4905375"/>
            <a:ext cx="4989513" cy="1554163"/>
          </a:xfrm>
        </p:spPr>
        <p:txBody>
          <a:bodyPr anchor="ctr">
            <a:normAutofit/>
          </a:bodyPr>
          <a:lstStyle/>
          <a:p>
            <a:pPr algn="r"/>
            <a:r>
              <a:rPr lang="en-US" sz="4000" dirty="0">
                <a:solidFill>
                  <a:srgbClr val="FFFFFF"/>
                </a:solidFill>
              </a:rPr>
              <a:t>Log-Likelihood</a:t>
            </a:r>
          </a:p>
        </p:txBody>
      </p:sp>
      <p:sp>
        <p:nvSpPr>
          <p:cNvPr id="3" name="Content Placeholder 2">
            <a:extLst>
              <a:ext uri="{FF2B5EF4-FFF2-40B4-BE49-F238E27FC236}">
                <a16:creationId xmlns:a16="http://schemas.microsoft.com/office/drawing/2014/main" id="{EB945FFE-6309-4459-8B5E-2C421C6AA68A}"/>
              </a:ext>
            </a:extLst>
          </p:cNvPr>
          <p:cNvSpPr>
            <a:spLocks noGrp="1"/>
          </p:cNvSpPr>
          <p:nvPr>
            <p:ph idx="4294967295"/>
          </p:nvPr>
        </p:nvSpPr>
        <p:spPr>
          <a:xfrm>
            <a:off x="6697663" y="4905375"/>
            <a:ext cx="5494337" cy="1554163"/>
          </a:xfrm>
        </p:spPr>
        <p:txBody>
          <a:bodyPr anchor="ctr">
            <a:normAutofit fontScale="85000" lnSpcReduction="20000"/>
          </a:bodyPr>
          <a:lstStyle/>
          <a:p>
            <a:r>
              <a:rPr lang="en-US" dirty="0">
                <a:solidFill>
                  <a:srgbClr val="FFFFFF"/>
                </a:solidFill>
              </a:rPr>
              <a:t>The model summary information is provided only as a method of comparison </a:t>
            </a:r>
          </a:p>
          <a:p>
            <a:r>
              <a:rPr lang="en-US" dirty="0">
                <a:solidFill>
                  <a:srgbClr val="FFFFFF"/>
                </a:solidFill>
              </a:rPr>
              <a:t>Let’s compare this model with a model that includes student gender (next slide)</a:t>
            </a:r>
          </a:p>
          <a:p>
            <a:endParaRPr lang="en-US" dirty="0">
              <a:solidFill>
                <a:srgbClr val="FFFFFF"/>
              </a:solidFill>
            </a:endParaRPr>
          </a:p>
        </p:txBody>
      </p:sp>
      <p:graphicFrame>
        <p:nvGraphicFramePr>
          <p:cNvPr id="5" name="Table 4">
            <a:extLst>
              <a:ext uri="{FF2B5EF4-FFF2-40B4-BE49-F238E27FC236}">
                <a16:creationId xmlns:a16="http://schemas.microsoft.com/office/drawing/2014/main" id="{DA3DD9D3-F30C-4CD3-A4B5-3F56451BB38E}"/>
              </a:ext>
            </a:extLst>
          </p:cNvPr>
          <p:cNvGraphicFramePr>
            <a:graphicFrameLocks noGrp="1"/>
          </p:cNvGraphicFramePr>
          <p:nvPr>
            <p:extLst>
              <p:ext uri="{D42A27DB-BD31-4B8C-83A1-F6EECF244321}">
                <p14:modId xmlns:p14="http://schemas.microsoft.com/office/powerpoint/2010/main" val="2870739515"/>
              </p:ext>
            </p:extLst>
          </p:nvPr>
        </p:nvGraphicFramePr>
        <p:xfrm>
          <a:off x="236536" y="399316"/>
          <a:ext cx="11767396" cy="3038475"/>
        </p:xfrm>
        <a:graphic>
          <a:graphicData uri="http://schemas.openxmlformats.org/drawingml/2006/table">
            <a:tbl>
              <a:tblPr/>
              <a:tblGrid>
                <a:gridCol w="955964">
                  <a:extLst>
                    <a:ext uri="{9D8B030D-6E8A-4147-A177-3AD203B41FA5}">
                      <a16:colId xmlns:a16="http://schemas.microsoft.com/office/drawing/2014/main" val="2496199252"/>
                    </a:ext>
                  </a:extLst>
                </a:gridCol>
                <a:gridCol w="1231140">
                  <a:extLst>
                    <a:ext uri="{9D8B030D-6E8A-4147-A177-3AD203B41FA5}">
                      <a16:colId xmlns:a16="http://schemas.microsoft.com/office/drawing/2014/main" val="643499005"/>
                    </a:ext>
                  </a:extLst>
                </a:gridCol>
                <a:gridCol w="680788">
                  <a:extLst>
                    <a:ext uri="{9D8B030D-6E8A-4147-A177-3AD203B41FA5}">
                      <a16:colId xmlns:a16="http://schemas.microsoft.com/office/drawing/2014/main" val="4137440084"/>
                    </a:ext>
                  </a:extLst>
                </a:gridCol>
                <a:gridCol w="955964">
                  <a:extLst>
                    <a:ext uri="{9D8B030D-6E8A-4147-A177-3AD203B41FA5}">
                      <a16:colId xmlns:a16="http://schemas.microsoft.com/office/drawing/2014/main" val="3506898811"/>
                    </a:ext>
                  </a:extLst>
                </a:gridCol>
                <a:gridCol w="955964">
                  <a:extLst>
                    <a:ext uri="{9D8B030D-6E8A-4147-A177-3AD203B41FA5}">
                      <a16:colId xmlns:a16="http://schemas.microsoft.com/office/drawing/2014/main" val="1433470389"/>
                    </a:ext>
                  </a:extLst>
                </a:gridCol>
                <a:gridCol w="955964">
                  <a:extLst>
                    <a:ext uri="{9D8B030D-6E8A-4147-A177-3AD203B41FA5}">
                      <a16:colId xmlns:a16="http://schemas.microsoft.com/office/drawing/2014/main" val="2973702748"/>
                    </a:ext>
                  </a:extLst>
                </a:gridCol>
                <a:gridCol w="955964">
                  <a:extLst>
                    <a:ext uri="{9D8B030D-6E8A-4147-A177-3AD203B41FA5}">
                      <a16:colId xmlns:a16="http://schemas.microsoft.com/office/drawing/2014/main" val="4233934513"/>
                    </a:ext>
                  </a:extLst>
                </a:gridCol>
                <a:gridCol w="1195765">
                  <a:extLst>
                    <a:ext uri="{9D8B030D-6E8A-4147-A177-3AD203B41FA5}">
                      <a16:colId xmlns:a16="http://schemas.microsoft.com/office/drawing/2014/main" val="3676231118"/>
                    </a:ext>
                  </a:extLst>
                </a:gridCol>
                <a:gridCol w="1391055">
                  <a:extLst>
                    <a:ext uri="{9D8B030D-6E8A-4147-A177-3AD203B41FA5}">
                      <a16:colId xmlns:a16="http://schemas.microsoft.com/office/drawing/2014/main" val="899870101"/>
                    </a:ext>
                  </a:extLst>
                </a:gridCol>
                <a:gridCol w="893492">
                  <a:extLst>
                    <a:ext uri="{9D8B030D-6E8A-4147-A177-3AD203B41FA5}">
                      <a16:colId xmlns:a16="http://schemas.microsoft.com/office/drawing/2014/main" val="79339416"/>
                    </a:ext>
                  </a:extLst>
                </a:gridCol>
                <a:gridCol w="1595336">
                  <a:extLst>
                    <a:ext uri="{9D8B030D-6E8A-4147-A177-3AD203B41FA5}">
                      <a16:colId xmlns:a16="http://schemas.microsoft.com/office/drawing/2014/main" val="2046739626"/>
                    </a:ext>
                  </a:extLst>
                </a:gridCol>
              </a:tblGrid>
              <a:tr h="388620">
                <a:tc gridSpan="11">
                  <a:txBody>
                    <a:bodyPr/>
                    <a:lstStyle/>
                    <a:p>
                      <a:pPr algn="l">
                        <a:buNone/>
                      </a:pPr>
                      <a:r>
                        <a:rPr lang="en-US" sz="1600" b="0" i="1" dirty="0">
                          <a:solidFill>
                            <a:srgbClr val="000000"/>
                          </a:solidFill>
                          <a:effectLst/>
                          <a:latin typeface="Arial" panose="020B0604020202020204" pitchFamily="34" charset="0"/>
                        </a:rPr>
                        <a:t>Model Summary - enroll</a:t>
                      </a:r>
                      <a:r>
                        <a:rPr lang="en-US" sz="1600" b="0" dirty="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69488088"/>
                  </a:ext>
                </a:extLst>
              </a:tr>
              <a:tr h="880110">
                <a:tc>
                  <a:txBody>
                    <a:bodyPr/>
                    <a:lstStyle/>
                    <a:p>
                      <a:pPr algn="ctr">
                        <a:buNone/>
                      </a:pPr>
                      <a:r>
                        <a:rPr lang="en-US" sz="1600" b="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Deviance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AIC</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BIC</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df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l-GR" sz="1600" b="0">
                          <a:solidFill>
                            <a:srgbClr val="000000"/>
                          </a:solidFill>
                          <a:effectLst/>
                          <a:latin typeface="Arial" panose="020B0604020202020204" pitchFamily="34" charset="0"/>
                        </a:rPr>
                        <a:t>ΔΧ²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McFadden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a:solidFill>
                            <a:srgbClr val="000000"/>
                          </a:solidFill>
                          <a:effectLst/>
                          <a:latin typeface="Arial" panose="020B0604020202020204" pitchFamily="34" charset="0"/>
                        </a:rPr>
                        <a:t>Nagelkerke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Tjur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600" b="0" dirty="0">
                          <a:solidFill>
                            <a:srgbClr val="000000"/>
                          </a:solidFill>
                          <a:effectLst/>
                          <a:latin typeface="Arial" panose="020B0604020202020204" pitchFamily="34" charset="0"/>
                        </a:rPr>
                        <a:t>Cox &amp; Snell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185897"/>
                  </a:ext>
                </a:extLst>
              </a:tr>
              <a:tr h="405765">
                <a:tc>
                  <a:txBody>
                    <a:bodyPr/>
                    <a:lstStyle/>
                    <a:p>
                      <a:pPr algn="l">
                        <a:buNone/>
                      </a:pPr>
                      <a:r>
                        <a:rPr lang="en-US" sz="16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13.460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15.460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15.763</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9</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dirty="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6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777711680"/>
                  </a:ext>
                </a:extLst>
              </a:tr>
              <a:tr h="312420">
                <a:tc>
                  <a:txBody>
                    <a:bodyPr/>
                    <a:lstStyle/>
                    <a:p>
                      <a:pPr algn="l">
                        <a:spcAft>
                          <a:spcPts val="720"/>
                        </a:spcAft>
                        <a:buNone/>
                      </a:pPr>
                      <a:r>
                        <a:rPr lang="en-US" sz="1600" b="0">
                          <a:solidFill>
                            <a:srgbClr val="000000"/>
                          </a:solidFill>
                          <a:effectLst/>
                          <a:latin typeface="Arial" panose="020B0604020202020204" pitchFamily="34" charset="0"/>
                        </a:rPr>
                        <a:t>M₁</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12.169</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16.169</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16.775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8</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1.291</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.256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0.096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a:solidFill>
                            <a:srgbClr val="000000"/>
                          </a:solidFill>
                          <a:effectLst/>
                          <a:latin typeface="Arial" panose="020B0604020202020204" pitchFamily="34" charset="0"/>
                        </a:rPr>
                        <a:t>0.164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dirty="0">
                          <a:solidFill>
                            <a:srgbClr val="000000"/>
                          </a:solidFill>
                          <a:effectLst/>
                          <a:latin typeface="Arial" panose="020B0604020202020204" pitchFamily="34" charset="0"/>
                        </a:rPr>
                        <a:t>0.119</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600" b="0" dirty="0">
                          <a:solidFill>
                            <a:srgbClr val="000000"/>
                          </a:solidFill>
                          <a:effectLst/>
                          <a:latin typeface="Arial" panose="020B0604020202020204" pitchFamily="34" charset="0"/>
                        </a:rPr>
                        <a:t>0.121</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2356871236"/>
                  </a:ext>
                </a:extLst>
              </a:tr>
              <a:tr h="312420">
                <a:tc gridSpan="11">
                  <a:txBody>
                    <a:bodyPr/>
                    <a:lstStyle/>
                    <a:p>
                      <a:pPr algn="r">
                        <a:buNone/>
                      </a:pPr>
                      <a:endParaRPr lang="en-US" sz="1600" b="0" dirty="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78572194"/>
                  </a:ext>
                </a:extLst>
              </a:tr>
              <a:tr h="312420">
                <a:tc gridSpan="11">
                  <a:txBody>
                    <a:bodyPr/>
                    <a:lstStyle/>
                    <a:p>
                      <a:pPr algn="l">
                        <a:buNone/>
                      </a:pPr>
                      <a:r>
                        <a:rPr lang="en-US" sz="1800" b="0" i="1" dirty="0">
                          <a:solidFill>
                            <a:srgbClr val="000000"/>
                          </a:solidFill>
                          <a:effectLst/>
                          <a:latin typeface="Arial" panose="020B0604020202020204" pitchFamily="34" charset="0"/>
                        </a:rPr>
                        <a:t>Note.</a:t>
                      </a:r>
                      <a:r>
                        <a:rPr lang="en-US" sz="1800" b="0" dirty="0">
                          <a:solidFill>
                            <a:srgbClr val="000000"/>
                          </a:solidFill>
                          <a:effectLst/>
                          <a:latin typeface="Arial" panose="020B0604020202020204" pitchFamily="34" charset="0"/>
                        </a:rPr>
                        <a:t>  M₁ includes </a:t>
                      </a:r>
                      <a:r>
                        <a:rPr lang="en-US" sz="1800" b="0" dirty="0" err="1">
                          <a:solidFill>
                            <a:srgbClr val="000000"/>
                          </a:solidFill>
                          <a:effectLst/>
                          <a:latin typeface="Arial" panose="020B0604020202020204" pitchFamily="34" charset="0"/>
                        </a:rPr>
                        <a:t>gpa</a:t>
                      </a:r>
                      <a:endParaRPr lang="en-US" sz="1800" b="0" dirty="0">
                        <a:solidFill>
                          <a:srgbClr val="000000"/>
                        </a:solidFill>
                        <a:effectLst/>
                        <a:latin typeface="Arial" panose="020B0604020202020204" pitchFamily="34" charset="0"/>
                      </a:endParaRP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401425"/>
                  </a:ext>
                </a:extLst>
              </a:tr>
            </a:tbl>
          </a:graphicData>
        </a:graphic>
      </p:graphicFrame>
    </p:spTree>
    <p:extLst>
      <p:ext uri="{BB962C8B-B14F-4D97-AF65-F5344CB8AC3E}">
        <p14:creationId xmlns:p14="http://schemas.microsoft.com/office/powerpoint/2010/main" val="21987081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03155-03F1-46FE-9942-AC2351FCE629}"/>
              </a:ext>
            </a:extLst>
          </p:cNvPr>
          <p:cNvSpPr>
            <a:spLocks noGrp="1"/>
          </p:cNvSpPr>
          <p:nvPr>
            <p:ph type="title" idx="4294967295"/>
          </p:nvPr>
        </p:nvSpPr>
        <p:spPr>
          <a:xfrm>
            <a:off x="78513" y="52846"/>
            <a:ext cx="11492597" cy="1002666"/>
          </a:xfrm>
        </p:spPr>
        <p:txBody>
          <a:bodyPr/>
          <a:lstStyle/>
          <a:p>
            <a:r>
              <a:rPr lang="en-US" dirty="0">
                <a:latin typeface="Aptos Display" panose="020B0004020202020204" pitchFamily="34" charset="0"/>
              </a:rPr>
              <a:t>Does the addition of gender improve the model fit?</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F98B12E-381E-45BB-B69C-AB614904B5DE}"/>
                  </a:ext>
                </a:extLst>
              </p:cNvPr>
              <p:cNvSpPr txBox="1"/>
              <p:nvPr/>
            </p:nvSpPr>
            <p:spPr>
              <a:xfrm>
                <a:off x="620890" y="1055512"/>
                <a:ext cx="5544531" cy="276999"/>
              </a:xfrm>
              <a:prstGeom prst="rect">
                <a:avLst/>
              </a:prstGeom>
              <a:noFill/>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𝜒</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oMath>
                </a14:m>
                <a:r>
                  <a:rPr lang="en-US" dirty="0"/>
                  <a:t>= 2(</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𝐿𝐿</m:t>
                        </m:r>
                      </m:e>
                      <m:sub>
                        <m:r>
                          <a:rPr lang="en-US" b="0" i="1" smtClean="0">
                            <a:latin typeface="Cambria Math" panose="02040503050406030204" pitchFamily="18" charset="0"/>
                          </a:rPr>
                          <m:t>𝑚</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𝐿𝐿</m:t>
                        </m:r>
                      </m:e>
                      <m:sub>
                        <m:r>
                          <a:rPr lang="en-US" i="1">
                            <a:latin typeface="Cambria Math" panose="02040503050406030204" pitchFamily="18" charset="0"/>
                          </a:rPr>
                          <m:t>𝑚</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m:t>
                    </m:r>
                    <m:r>
                      <a:rPr lang="en-US" b="0" i="1" smtClean="0">
                        <a:latin typeface="Cambria Math" panose="02040503050406030204" pitchFamily="18" charset="0"/>
                      </a:rPr>
                      <m:t>936</m:t>
                    </m:r>
                    <m:r>
                      <a:rPr lang="en-US" b="0" i="1" smtClean="0">
                        <a:latin typeface="Cambria Math" panose="02040503050406030204" pitchFamily="18" charset="0"/>
                      </a:rPr>
                      <m:t>−</m:t>
                    </m:r>
                    <m:r>
                      <a:rPr lang="en-US" b="0" i="1" smtClean="0">
                        <a:latin typeface="Cambria Math" panose="02040503050406030204" pitchFamily="18" charset="0"/>
                      </a:rPr>
                      <m:t>12</m:t>
                    </m:r>
                    <m:r>
                      <a:rPr lang="en-US" b="0" i="1" smtClean="0">
                        <a:latin typeface="Cambria Math" panose="02040503050406030204" pitchFamily="18" charset="0"/>
                      </a:rPr>
                      <m:t>.</m:t>
                    </m:r>
                    <m:r>
                      <a:rPr lang="en-US" b="0" i="1" smtClean="0">
                        <a:latin typeface="Cambria Math" panose="02040503050406030204" pitchFamily="18" charset="0"/>
                      </a:rPr>
                      <m:t>169</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233</m:t>
                    </m:r>
                  </m:oMath>
                </a14:m>
                <a:endParaRPr lang="en-US" dirty="0"/>
              </a:p>
            </p:txBody>
          </p:sp>
        </mc:Choice>
        <mc:Fallback>
          <p:sp>
            <p:nvSpPr>
              <p:cNvPr id="11" name="TextBox 10">
                <a:extLst>
                  <a:ext uri="{FF2B5EF4-FFF2-40B4-BE49-F238E27FC236}">
                    <a16:creationId xmlns:a16="http://schemas.microsoft.com/office/drawing/2014/main" id="{EF98B12E-381E-45BB-B69C-AB614904B5DE}"/>
                  </a:ext>
                </a:extLst>
              </p:cNvPr>
              <p:cNvSpPr txBox="1">
                <a:spLocks noRot="1" noChangeAspect="1" noMove="1" noResize="1" noEditPoints="1" noAdjustHandles="1" noChangeArrowheads="1" noChangeShapeType="1" noTextEdit="1"/>
              </p:cNvSpPr>
              <p:nvPr/>
            </p:nvSpPr>
            <p:spPr>
              <a:xfrm>
                <a:off x="620890" y="1055512"/>
                <a:ext cx="5544531" cy="276999"/>
              </a:xfrm>
              <a:prstGeom prst="rect">
                <a:avLst/>
              </a:prstGeom>
              <a:blipFill>
                <a:blip r:embed="rId2"/>
                <a:stretch>
                  <a:fillRect l="-1540" t="-28261" b="-5000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B0A5FDF3-5FCB-46F2-BD37-DCC0BC184D00}"/>
              </a:ext>
            </a:extLst>
          </p:cNvPr>
          <p:cNvSpPr txBox="1"/>
          <p:nvPr/>
        </p:nvSpPr>
        <p:spPr>
          <a:xfrm>
            <a:off x="603115" y="1680867"/>
            <a:ext cx="10633751" cy="646331"/>
          </a:xfrm>
          <a:prstGeom prst="rect">
            <a:avLst/>
          </a:prstGeom>
          <a:noFill/>
        </p:spPr>
        <p:txBody>
          <a:bodyPr wrap="square" rtlCol="0">
            <a:spAutoFit/>
          </a:bodyPr>
          <a:lstStyle/>
          <a:p>
            <a:r>
              <a:rPr lang="en-US" b="1" dirty="0"/>
              <a:t>m2</a:t>
            </a:r>
            <a:r>
              <a:rPr lang="en-US" dirty="0"/>
              <a:t> = model with additional predictors, it is also called the unrestricted model</a:t>
            </a:r>
          </a:p>
          <a:p>
            <a:r>
              <a:rPr lang="en-US" b="1" dirty="0"/>
              <a:t>m1</a:t>
            </a:r>
            <a:r>
              <a:rPr lang="en-US" dirty="0"/>
              <a:t> = model with fewer predictors, it is nested in m2, it is also called the restricted model</a:t>
            </a:r>
          </a:p>
        </p:txBody>
      </p:sp>
      <p:sp>
        <p:nvSpPr>
          <p:cNvPr id="13" name="TextBox 12">
            <a:extLst>
              <a:ext uri="{FF2B5EF4-FFF2-40B4-BE49-F238E27FC236}">
                <a16:creationId xmlns:a16="http://schemas.microsoft.com/office/drawing/2014/main" id="{F170D3A0-DD90-40E5-A603-A042900E723C}"/>
              </a:ext>
            </a:extLst>
          </p:cNvPr>
          <p:cNvSpPr txBox="1"/>
          <p:nvPr/>
        </p:nvSpPr>
        <p:spPr>
          <a:xfrm>
            <a:off x="600226" y="2409653"/>
            <a:ext cx="10449170" cy="1200329"/>
          </a:xfrm>
          <a:prstGeom prst="rect">
            <a:avLst/>
          </a:prstGeom>
          <a:noFill/>
        </p:spPr>
        <p:txBody>
          <a:bodyPr wrap="square" rtlCol="0">
            <a:spAutoFit/>
          </a:bodyPr>
          <a:lstStyle/>
          <a:p>
            <a:r>
              <a:rPr lang="en-US" dirty="0"/>
              <a:t>There is one parameter difference between the models, and one degree of freedom</a:t>
            </a:r>
          </a:p>
          <a:p>
            <a:endParaRPr lang="en-US" dirty="0"/>
          </a:p>
          <a:p>
            <a:r>
              <a:rPr lang="en-US" dirty="0"/>
              <a:t>The critical value is greater than the calculated statistic and hence there is no statistically significant difference between these models!</a:t>
            </a:r>
          </a:p>
        </p:txBody>
      </p:sp>
      <p:graphicFrame>
        <p:nvGraphicFramePr>
          <p:cNvPr id="3" name="Table 2">
            <a:extLst>
              <a:ext uri="{FF2B5EF4-FFF2-40B4-BE49-F238E27FC236}">
                <a16:creationId xmlns:a16="http://schemas.microsoft.com/office/drawing/2014/main" id="{3E19B9A7-42A2-1969-F04C-B17DA2E93F38}"/>
              </a:ext>
            </a:extLst>
          </p:cNvPr>
          <p:cNvGraphicFramePr>
            <a:graphicFrameLocks noGrp="1"/>
          </p:cNvGraphicFramePr>
          <p:nvPr>
            <p:extLst>
              <p:ext uri="{D42A27DB-BD31-4B8C-83A1-F6EECF244321}">
                <p14:modId xmlns:p14="http://schemas.microsoft.com/office/powerpoint/2010/main" val="3325730900"/>
              </p:ext>
            </p:extLst>
          </p:nvPr>
        </p:nvGraphicFramePr>
        <p:xfrm>
          <a:off x="533792" y="3635601"/>
          <a:ext cx="10515604" cy="2924175"/>
        </p:xfrm>
        <a:graphic>
          <a:graphicData uri="http://schemas.openxmlformats.org/drawingml/2006/table">
            <a:tbl>
              <a:tblPr/>
              <a:tblGrid>
                <a:gridCol w="955964">
                  <a:extLst>
                    <a:ext uri="{9D8B030D-6E8A-4147-A177-3AD203B41FA5}">
                      <a16:colId xmlns:a16="http://schemas.microsoft.com/office/drawing/2014/main" val="1693055911"/>
                    </a:ext>
                  </a:extLst>
                </a:gridCol>
                <a:gridCol w="955964">
                  <a:extLst>
                    <a:ext uri="{9D8B030D-6E8A-4147-A177-3AD203B41FA5}">
                      <a16:colId xmlns:a16="http://schemas.microsoft.com/office/drawing/2014/main" val="846159057"/>
                    </a:ext>
                  </a:extLst>
                </a:gridCol>
                <a:gridCol w="955964">
                  <a:extLst>
                    <a:ext uri="{9D8B030D-6E8A-4147-A177-3AD203B41FA5}">
                      <a16:colId xmlns:a16="http://schemas.microsoft.com/office/drawing/2014/main" val="3795572188"/>
                    </a:ext>
                  </a:extLst>
                </a:gridCol>
                <a:gridCol w="955964">
                  <a:extLst>
                    <a:ext uri="{9D8B030D-6E8A-4147-A177-3AD203B41FA5}">
                      <a16:colId xmlns:a16="http://schemas.microsoft.com/office/drawing/2014/main" val="1597922720"/>
                    </a:ext>
                  </a:extLst>
                </a:gridCol>
                <a:gridCol w="955964">
                  <a:extLst>
                    <a:ext uri="{9D8B030D-6E8A-4147-A177-3AD203B41FA5}">
                      <a16:colId xmlns:a16="http://schemas.microsoft.com/office/drawing/2014/main" val="1653930322"/>
                    </a:ext>
                  </a:extLst>
                </a:gridCol>
                <a:gridCol w="955964">
                  <a:extLst>
                    <a:ext uri="{9D8B030D-6E8A-4147-A177-3AD203B41FA5}">
                      <a16:colId xmlns:a16="http://schemas.microsoft.com/office/drawing/2014/main" val="1538867394"/>
                    </a:ext>
                  </a:extLst>
                </a:gridCol>
                <a:gridCol w="955964">
                  <a:extLst>
                    <a:ext uri="{9D8B030D-6E8A-4147-A177-3AD203B41FA5}">
                      <a16:colId xmlns:a16="http://schemas.microsoft.com/office/drawing/2014/main" val="706858175"/>
                    </a:ext>
                  </a:extLst>
                </a:gridCol>
                <a:gridCol w="955964">
                  <a:extLst>
                    <a:ext uri="{9D8B030D-6E8A-4147-A177-3AD203B41FA5}">
                      <a16:colId xmlns:a16="http://schemas.microsoft.com/office/drawing/2014/main" val="4180996554"/>
                    </a:ext>
                  </a:extLst>
                </a:gridCol>
                <a:gridCol w="955964">
                  <a:extLst>
                    <a:ext uri="{9D8B030D-6E8A-4147-A177-3AD203B41FA5}">
                      <a16:colId xmlns:a16="http://schemas.microsoft.com/office/drawing/2014/main" val="207238853"/>
                    </a:ext>
                  </a:extLst>
                </a:gridCol>
                <a:gridCol w="955964">
                  <a:extLst>
                    <a:ext uri="{9D8B030D-6E8A-4147-A177-3AD203B41FA5}">
                      <a16:colId xmlns:a16="http://schemas.microsoft.com/office/drawing/2014/main" val="722178133"/>
                    </a:ext>
                  </a:extLst>
                </a:gridCol>
                <a:gridCol w="955964">
                  <a:extLst>
                    <a:ext uri="{9D8B030D-6E8A-4147-A177-3AD203B41FA5}">
                      <a16:colId xmlns:a16="http://schemas.microsoft.com/office/drawing/2014/main" val="1239258291"/>
                    </a:ext>
                  </a:extLst>
                </a:gridCol>
              </a:tblGrid>
              <a:tr h="388620">
                <a:tc gridSpan="11">
                  <a:txBody>
                    <a:bodyPr/>
                    <a:lstStyle/>
                    <a:p>
                      <a:pPr algn="l">
                        <a:buNone/>
                      </a:pPr>
                      <a:r>
                        <a:rPr lang="en-US" sz="1800" b="0" i="1">
                          <a:solidFill>
                            <a:srgbClr val="000000"/>
                          </a:solidFill>
                          <a:effectLst/>
                          <a:latin typeface="Arial" panose="020B0604020202020204" pitchFamily="34" charset="0"/>
                        </a:rPr>
                        <a:t>Model Summary - enroll</a:t>
                      </a:r>
                      <a:r>
                        <a:rPr lang="en-US" sz="1800" b="0">
                          <a:solidFill>
                            <a:srgbClr val="000000"/>
                          </a:solidFill>
                          <a:effectLst/>
                          <a:latin typeface="Arial" panose="020B0604020202020204" pitchFamily="34" charset="0"/>
                        </a:rPr>
                        <a:t> </a:t>
                      </a:r>
                    </a:p>
                  </a:txBody>
                  <a:tcPr marR="95250" marT="57150" marB="57150" anchor="ctr">
                    <a:lnL>
                      <a:noFill/>
                    </a:lnL>
                    <a:lnR>
                      <a:noFill/>
                    </a:lnR>
                    <a:lnT>
                      <a:noFill/>
                    </a:lnT>
                    <a:lnB w="7934"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9668909"/>
                  </a:ext>
                </a:extLst>
              </a:tr>
              <a:tr h="880110">
                <a:tc>
                  <a:txBody>
                    <a:bodyPr/>
                    <a:lstStyle/>
                    <a:p>
                      <a:pPr algn="ctr">
                        <a:buNone/>
                      </a:pPr>
                      <a:r>
                        <a:rPr lang="en-US" sz="1800" b="0">
                          <a:solidFill>
                            <a:srgbClr val="000000"/>
                          </a:solidFill>
                          <a:effectLst/>
                          <a:latin typeface="Arial" panose="020B0604020202020204" pitchFamily="34" charset="0"/>
                        </a:rPr>
                        <a:t>Model</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Deviance</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AIC</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BIC</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df</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l-GR" sz="1800" b="0">
                          <a:solidFill>
                            <a:srgbClr val="000000"/>
                          </a:solidFill>
                          <a:effectLst/>
                          <a:latin typeface="Arial" panose="020B0604020202020204" pitchFamily="34" charset="0"/>
                        </a:rPr>
                        <a:t>ΔΧ²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p</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McFadden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Nagelkerke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Tjur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tc>
                  <a:txBody>
                    <a:bodyPr/>
                    <a:lstStyle/>
                    <a:p>
                      <a:pPr algn="ctr">
                        <a:buNone/>
                      </a:pPr>
                      <a:r>
                        <a:rPr lang="en-US" sz="1800" b="0">
                          <a:solidFill>
                            <a:srgbClr val="000000"/>
                          </a:solidFill>
                          <a:effectLst/>
                          <a:latin typeface="Arial" panose="020B0604020202020204" pitchFamily="34" charset="0"/>
                        </a:rPr>
                        <a:t>Cox &amp; Snell R²</a:t>
                      </a:r>
                    </a:p>
                  </a:txBody>
                  <a:tcPr marL="114300" marR="114300" marT="28575" marB="28575" anchor="ctr">
                    <a:lnL>
                      <a:noFill/>
                    </a:lnL>
                    <a:lnR>
                      <a:noFill/>
                    </a:lnR>
                    <a:lnT w="7934" cap="flat" cmpd="sng" algn="ctr">
                      <a:solidFill>
                        <a:srgbClr val="000000"/>
                      </a:solidFill>
                      <a:prstDash val="solid"/>
                      <a:round/>
                      <a:headEnd type="none" w="med" len="med"/>
                      <a:tailEnd type="none" w="med" len="med"/>
                    </a:lnT>
                    <a:lnB w="793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1936882"/>
                  </a:ext>
                </a:extLst>
              </a:tr>
              <a:tr h="405765">
                <a:tc>
                  <a:txBody>
                    <a:bodyPr/>
                    <a:lstStyle/>
                    <a:p>
                      <a:pPr algn="l">
                        <a:buNone/>
                      </a:pPr>
                      <a:r>
                        <a:rPr lang="en-US" sz="1800" b="0">
                          <a:solidFill>
                            <a:srgbClr val="000000"/>
                          </a:solidFill>
                          <a:effectLst/>
                          <a:latin typeface="Arial" panose="020B0604020202020204" pitchFamily="34" charset="0"/>
                        </a:rPr>
                        <a:t>M₀</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12.169</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16.169</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16.775</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8</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 </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0.119</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tc>
                  <a:txBody>
                    <a:bodyPr/>
                    <a:lstStyle/>
                    <a:p>
                      <a:pPr algn="r">
                        <a:buNone/>
                      </a:pPr>
                      <a:r>
                        <a:rPr lang="en-US" sz="1800" b="0">
                          <a:solidFill>
                            <a:srgbClr val="000000"/>
                          </a:solidFill>
                          <a:effectLst/>
                          <a:latin typeface="Arial" panose="020B0604020202020204" pitchFamily="34" charset="0"/>
                        </a:rPr>
                        <a:t>0.000</a:t>
                      </a:r>
                    </a:p>
                  </a:txBody>
                  <a:tcPr marL="114300" marR="114300" marT="102870" marB="28575" anchor="ctr">
                    <a:lnL>
                      <a:noFill/>
                    </a:lnL>
                    <a:lnR>
                      <a:noFill/>
                    </a:lnR>
                    <a:lnT w="7934"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66296955"/>
                  </a:ext>
                </a:extLst>
              </a:tr>
              <a:tr h="312420">
                <a:tc>
                  <a:txBody>
                    <a:bodyPr/>
                    <a:lstStyle/>
                    <a:p>
                      <a:pPr algn="l">
                        <a:spcAft>
                          <a:spcPts val="720"/>
                        </a:spcAft>
                        <a:buNone/>
                      </a:pPr>
                      <a:r>
                        <a:rPr lang="en-US" sz="1800" b="0">
                          <a:solidFill>
                            <a:srgbClr val="000000"/>
                          </a:solidFill>
                          <a:effectLst/>
                          <a:latin typeface="Arial" panose="020B0604020202020204" pitchFamily="34" charset="0"/>
                        </a:rPr>
                        <a:t>M₁</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10.936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16.936</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17.843</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7</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1.234</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.267</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0.101</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0.165</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0.217</a:t>
                      </a:r>
                    </a:p>
                  </a:txBody>
                  <a:tcPr marL="114300" marR="114300" marT="9525" marB="28575" anchor="ctr">
                    <a:lnL>
                      <a:noFill/>
                    </a:lnL>
                    <a:lnR>
                      <a:noFill/>
                    </a:lnR>
                    <a:lnT>
                      <a:noFill/>
                    </a:lnT>
                    <a:lnB>
                      <a:noFill/>
                    </a:lnB>
                    <a:solidFill>
                      <a:srgbClr val="EBEBEB"/>
                    </a:solidFill>
                  </a:tcPr>
                </a:tc>
                <a:tc>
                  <a:txBody>
                    <a:bodyPr/>
                    <a:lstStyle/>
                    <a:p>
                      <a:pPr algn="r">
                        <a:spcAft>
                          <a:spcPts val="720"/>
                        </a:spcAft>
                        <a:buNone/>
                      </a:pPr>
                      <a:r>
                        <a:rPr lang="en-US" sz="1800" b="0">
                          <a:solidFill>
                            <a:srgbClr val="000000"/>
                          </a:solidFill>
                          <a:effectLst/>
                          <a:latin typeface="Arial" panose="020B0604020202020204" pitchFamily="34" charset="0"/>
                        </a:rPr>
                        <a:t>0.116</a:t>
                      </a:r>
                    </a:p>
                  </a:txBody>
                  <a:tcPr marL="114300" marR="114300" marT="9525" marB="28575" anchor="ctr">
                    <a:lnL>
                      <a:noFill/>
                    </a:lnL>
                    <a:lnR>
                      <a:noFill/>
                    </a:lnR>
                    <a:lnT>
                      <a:noFill/>
                    </a:lnT>
                    <a:lnB>
                      <a:noFill/>
                    </a:lnB>
                    <a:solidFill>
                      <a:srgbClr val="EBEBEB"/>
                    </a:solidFill>
                  </a:tcPr>
                </a:tc>
                <a:extLst>
                  <a:ext uri="{0D108BD9-81ED-4DB2-BD59-A6C34878D82A}">
                    <a16:rowId xmlns:a16="http://schemas.microsoft.com/office/drawing/2014/main" val="434475592"/>
                  </a:ext>
                </a:extLst>
              </a:tr>
              <a:tr h="312420">
                <a:tc gridSpan="11">
                  <a:txBody>
                    <a:bodyPr/>
                    <a:lstStyle/>
                    <a:p>
                      <a:pPr algn="r">
                        <a:buNone/>
                      </a:pPr>
                      <a:endParaRPr lang="en-US" sz="1800" b="0">
                        <a:solidFill>
                          <a:srgbClr val="000000"/>
                        </a:solidFill>
                        <a:effectLst/>
                        <a:latin typeface="Arial" panose="020B0604020202020204" pitchFamily="34" charset="0"/>
                      </a:endParaRPr>
                    </a:p>
                  </a:txBody>
                  <a:tcPr marL="114300" marR="114300" marT="9525" marB="28575" anchor="ctr">
                    <a:lnL>
                      <a:noFill/>
                    </a:lnL>
                    <a:lnR>
                      <a:noFill/>
                    </a:lnR>
                    <a:lnT>
                      <a:noFill/>
                    </a:lnT>
                    <a:lnB w="7934"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89001015"/>
                  </a:ext>
                </a:extLst>
              </a:tr>
              <a:tr h="312420">
                <a:tc gridSpan="11">
                  <a:txBody>
                    <a:bodyPr/>
                    <a:lstStyle/>
                    <a:p>
                      <a:pPr algn="l">
                        <a:buNone/>
                      </a:pPr>
                      <a:r>
                        <a:rPr lang="en-US" sz="1800" b="0" i="1">
                          <a:solidFill>
                            <a:srgbClr val="FF0000"/>
                          </a:solidFill>
                          <a:effectLst/>
                          <a:latin typeface="Arial" panose="020B0604020202020204" pitchFamily="34" charset="0"/>
                        </a:rPr>
                        <a:t>Note.</a:t>
                      </a:r>
                      <a:r>
                        <a:rPr lang="en-US" sz="1800" b="0">
                          <a:solidFill>
                            <a:srgbClr val="FF0000"/>
                          </a:solidFill>
                          <a:effectLst/>
                          <a:latin typeface="Arial" panose="020B0604020202020204" pitchFamily="34" charset="0"/>
                        </a:rPr>
                        <a:t>  M₀ includes gpa</a:t>
                      </a:r>
                    </a:p>
                  </a:txBody>
                  <a:tcPr marR="114300" marT="9525" marB="28575" anchor="ctr">
                    <a:lnL>
                      <a:noFill/>
                    </a:lnL>
                    <a:lnR>
                      <a:noFill/>
                    </a:lnR>
                    <a:lnT w="7934"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44048391"/>
                  </a:ext>
                </a:extLst>
              </a:tr>
              <a:tr h="312420">
                <a:tc gridSpan="11">
                  <a:txBody>
                    <a:bodyPr/>
                    <a:lstStyle/>
                    <a:p>
                      <a:pPr algn="l">
                        <a:buNone/>
                      </a:pPr>
                      <a:r>
                        <a:rPr lang="en-US" sz="1800" b="0" i="1" dirty="0">
                          <a:solidFill>
                            <a:srgbClr val="FF0000"/>
                          </a:solidFill>
                          <a:effectLst/>
                          <a:latin typeface="Arial" panose="020B0604020202020204" pitchFamily="34" charset="0"/>
                        </a:rPr>
                        <a:t>Note.</a:t>
                      </a:r>
                      <a:r>
                        <a:rPr lang="en-US" sz="1800" b="0" dirty="0">
                          <a:solidFill>
                            <a:srgbClr val="FF0000"/>
                          </a:solidFill>
                          <a:effectLst/>
                          <a:latin typeface="Arial" panose="020B0604020202020204" pitchFamily="34" charset="0"/>
                        </a:rPr>
                        <a:t>  M₁ includes </a:t>
                      </a:r>
                      <a:r>
                        <a:rPr lang="en-US" sz="1800" b="0" dirty="0" err="1">
                          <a:solidFill>
                            <a:srgbClr val="FF0000"/>
                          </a:solidFill>
                          <a:effectLst/>
                          <a:latin typeface="Arial" panose="020B0604020202020204" pitchFamily="34" charset="0"/>
                        </a:rPr>
                        <a:t>gpa</a:t>
                      </a:r>
                      <a:r>
                        <a:rPr lang="en-US" sz="1800" b="0" dirty="0">
                          <a:solidFill>
                            <a:srgbClr val="FF0000"/>
                          </a:solidFill>
                          <a:effectLst/>
                          <a:latin typeface="Arial" panose="020B0604020202020204" pitchFamily="34" charset="0"/>
                        </a:rPr>
                        <a:t>, gender</a:t>
                      </a:r>
                    </a:p>
                  </a:txBody>
                  <a:tcPr marR="114300" marT="9525" marB="28575" anchor="ctr">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79332062"/>
                  </a:ext>
                </a:extLst>
              </a:tr>
            </a:tbl>
          </a:graphicData>
        </a:graphic>
      </p:graphicFrame>
      <p:pic>
        <p:nvPicPr>
          <p:cNvPr id="6" name="Picture 5">
            <a:extLst>
              <a:ext uri="{FF2B5EF4-FFF2-40B4-BE49-F238E27FC236}">
                <a16:creationId xmlns:a16="http://schemas.microsoft.com/office/drawing/2014/main" id="{5B4CA1CD-5AFE-4F71-C26A-F105448BBB55}"/>
              </a:ext>
            </a:extLst>
          </p:cNvPr>
          <p:cNvPicPr>
            <a:picLocks noChangeAspect="1"/>
          </p:cNvPicPr>
          <p:nvPr/>
        </p:nvPicPr>
        <p:blipFill>
          <a:blip r:embed="rId3"/>
          <a:stretch>
            <a:fillRect/>
          </a:stretch>
        </p:blipFill>
        <p:spPr>
          <a:xfrm>
            <a:off x="533792" y="838365"/>
            <a:ext cx="10789204" cy="7233534"/>
          </a:xfrm>
          <a:prstGeom prst="rect">
            <a:avLst/>
          </a:prstGeom>
        </p:spPr>
      </p:pic>
    </p:spTree>
    <p:extLst>
      <p:ext uri="{BB962C8B-B14F-4D97-AF65-F5344CB8AC3E}">
        <p14:creationId xmlns:p14="http://schemas.microsoft.com/office/powerpoint/2010/main" val="158108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 name="Content Placeholder 3">
            <a:extLst>
              <a:ext uri="{FF2B5EF4-FFF2-40B4-BE49-F238E27FC236}">
                <a16:creationId xmlns:a16="http://schemas.microsoft.com/office/drawing/2014/main" id="{C5B20AED-241A-00C8-803A-F6F8745B7D3F}"/>
              </a:ext>
            </a:extLst>
          </p:cNvPr>
          <p:cNvSpPr>
            <a:spLocks noGrp="1"/>
          </p:cNvSpPr>
          <p:nvPr>
            <p:ph idx="4294967295"/>
          </p:nvPr>
        </p:nvSpPr>
        <p:spPr>
          <a:xfrm>
            <a:off x="182880" y="671364"/>
            <a:ext cx="4227755" cy="4234123"/>
          </a:xfrm>
        </p:spPr>
        <p:txBody>
          <a:bodyPr>
            <a:normAutofit/>
          </a:bodyPr>
          <a:lstStyle/>
          <a:p>
            <a:r>
              <a:rPr lang="en-US" sz="2000" dirty="0">
                <a:latin typeface="Arial" panose="020B0604020202020204" pitchFamily="34" charset="0"/>
                <a:cs typeface="Arial" panose="020B0604020202020204" pitchFamily="34" charset="0"/>
              </a:rPr>
              <a:t>Probability of enrolling in college conditional on high school </a:t>
            </a:r>
            <a:r>
              <a:rPr lang="en-US" sz="2000" dirty="0" err="1">
                <a:latin typeface="Arial" panose="020B0604020202020204" pitchFamily="34" charset="0"/>
                <a:cs typeface="Arial" panose="020B0604020202020204" pitchFamily="34" charset="0"/>
              </a:rPr>
              <a:t>gpa</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As </a:t>
            </a:r>
            <a:r>
              <a:rPr lang="en-US" sz="2000" dirty="0" err="1">
                <a:latin typeface="Arial" panose="020B0604020202020204" pitchFamily="34" charset="0"/>
                <a:cs typeface="Arial" panose="020B0604020202020204" pitchFamily="34" charset="0"/>
              </a:rPr>
              <a:t>gpa</a:t>
            </a:r>
            <a:r>
              <a:rPr lang="en-US" sz="2000" dirty="0">
                <a:latin typeface="Arial" panose="020B0604020202020204" pitchFamily="34" charset="0"/>
                <a:cs typeface="Arial" panose="020B0604020202020204" pitchFamily="34" charset="0"/>
              </a:rPr>
              <a:t> increases the probability of enrolling increases</a:t>
            </a:r>
          </a:p>
          <a:p>
            <a:r>
              <a:rPr lang="en-US" sz="2000" dirty="0">
                <a:latin typeface="Arial" panose="020B0604020202020204" pitchFamily="34" charset="0"/>
                <a:cs typeface="Arial" panose="020B0604020202020204" pitchFamily="34" charset="0"/>
              </a:rPr>
              <a:t>The probability is about .30 for a </a:t>
            </a:r>
            <a:r>
              <a:rPr lang="en-US" sz="2000" dirty="0" err="1">
                <a:latin typeface="Arial" panose="020B0604020202020204" pitchFamily="34" charset="0"/>
                <a:cs typeface="Arial" panose="020B0604020202020204" pitchFamily="34" charset="0"/>
              </a:rPr>
              <a:t>gpa</a:t>
            </a:r>
            <a:r>
              <a:rPr lang="en-US" sz="2000" dirty="0">
                <a:latin typeface="Arial" panose="020B0604020202020204" pitchFamily="34" charset="0"/>
                <a:cs typeface="Arial" panose="020B0604020202020204" pitchFamily="34" charset="0"/>
              </a:rPr>
              <a:t> = 1.5 but increases to about .9 for a </a:t>
            </a:r>
            <a:r>
              <a:rPr lang="en-US" sz="2000" dirty="0" err="1">
                <a:latin typeface="Arial" panose="020B0604020202020204" pitchFamily="34" charset="0"/>
                <a:cs typeface="Arial" panose="020B0604020202020204" pitchFamily="34" charset="0"/>
              </a:rPr>
              <a:t>gpa</a:t>
            </a:r>
            <a:r>
              <a:rPr lang="en-US" sz="2000" dirty="0">
                <a:latin typeface="Arial" panose="020B0604020202020204" pitchFamily="34" charset="0"/>
                <a:cs typeface="Arial" panose="020B0604020202020204" pitchFamily="34" charset="0"/>
              </a:rPr>
              <a:t> = 4.5</a:t>
            </a:r>
          </a:p>
        </p:txBody>
      </p:sp>
      <p:pic>
        <p:nvPicPr>
          <p:cNvPr id="1028" name="Picture 4">
            <a:extLst>
              <a:ext uri="{FF2B5EF4-FFF2-40B4-BE49-F238E27FC236}">
                <a16:creationId xmlns:a16="http://schemas.microsoft.com/office/drawing/2014/main" id="{76D37AC1-3C1E-1EDB-5E13-6D335935BA1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3447" y="478972"/>
            <a:ext cx="6892560" cy="481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302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C44C-13C3-4FAE-84BC-3F1882C70F52}"/>
              </a:ext>
            </a:extLst>
          </p:cNvPr>
          <p:cNvSpPr>
            <a:spLocks noGrp="1"/>
          </p:cNvSpPr>
          <p:nvPr>
            <p:ph type="title"/>
          </p:nvPr>
        </p:nvSpPr>
        <p:spPr/>
        <p:txBody>
          <a:bodyPr/>
          <a:lstStyle/>
          <a:p>
            <a:r>
              <a:rPr lang="en-US" dirty="0"/>
              <a:t>Let’s do this in JASP</a:t>
            </a:r>
          </a:p>
        </p:txBody>
      </p:sp>
      <p:sp>
        <p:nvSpPr>
          <p:cNvPr id="3" name="Content Placeholder 2">
            <a:extLst>
              <a:ext uri="{FF2B5EF4-FFF2-40B4-BE49-F238E27FC236}">
                <a16:creationId xmlns:a16="http://schemas.microsoft.com/office/drawing/2014/main" id="{372A3E65-DEFB-B6D2-6710-DBD422FD79DD}"/>
              </a:ext>
            </a:extLst>
          </p:cNvPr>
          <p:cNvSpPr>
            <a:spLocks noGrp="1"/>
          </p:cNvSpPr>
          <p:nvPr>
            <p:ph idx="1"/>
          </p:nvPr>
        </p:nvSpPr>
        <p:spPr/>
        <p:txBody>
          <a:bodyPr/>
          <a:lstStyle/>
          <a:p>
            <a:r>
              <a:rPr lang="en-US" dirty="0"/>
              <a:t>Unsheltered-demographic-</a:t>
            </a:r>
            <a:r>
              <a:rPr lang="en-US" dirty="0" err="1"/>
              <a:t>survey.jasp</a:t>
            </a:r>
            <a:endParaRPr lang="en-US" dirty="0"/>
          </a:p>
        </p:txBody>
      </p:sp>
    </p:spTree>
    <p:extLst>
      <p:ext uri="{BB962C8B-B14F-4D97-AF65-F5344CB8AC3E}">
        <p14:creationId xmlns:p14="http://schemas.microsoft.com/office/powerpoint/2010/main" val="23854144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FE46-FEF1-677C-1185-5A6C31A07F4A}"/>
              </a:ext>
            </a:extLst>
          </p:cNvPr>
          <p:cNvSpPr>
            <a:spLocks noGrp="1"/>
          </p:cNvSpPr>
          <p:nvPr>
            <p:ph type="title" idx="4294967295"/>
          </p:nvPr>
        </p:nvSpPr>
        <p:spPr>
          <a:xfrm>
            <a:off x="218739" y="287338"/>
            <a:ext cx="10058400" cy="594789"/>
          </a:xfrm>
        </p:spPr>
        <p:txBody>
          <a:bodyPr>
            <a:normAutofit fontScale="90000"/>
          </a:bodyPr>
          <a:lstStyle/>
          <a:p>
            <a:r>
              <a:rPr lang="en-US" sz="4000" dirty="0">
                <a:latin typeface="Aptos Display" panose="020B0004020202020204" pitchFamily="34" charset="0"/>
              </a:rPr>
              <a:t>Your turn</a:t>
            </a:r>
          </a:p>
        </p:txBody>
      </p:sp>
      <p:sp>
        <p:nvSpPr>
          <p:cNvPr id="3" name="Content Placeholder 2">
            <a:extLst>
              <a:ext uri="{FF2B5EF4-FFF2-40B4-BE49-F238E27FC236}">
                <a16:creationId xmlns:a16="http://schemas.microsoft.com/office/drawing/2014/main" id="{233C359F-B15E-9CA4-ECE3-38A1680AF08E}"/>
              </a:ext>
            </a:extLst>
          </p:cNvPr>
          <p:cNvSpPr>
            <a:spLocks noGrp="1"/>
          </p:cNvSpPr>
          <p:nvPr>
            <p:ph idx="4294967295"/>
          </p:nvPr>
        </p:nvSpPr>
        <p:spPr>
          <a:xfrm>
            <a:off x="218739" y="882127"/>
            <a:ext cx="11973261" cy="4986861"/>
          </a:xfrm>
        </p:spPr>
        <p:txBody>
          <a:bodyPr>
            <a:normAutofit/>
          </a:bodyPr>
          <a:lstStyle/>
          <a:p>
            <a:r>
              <a:rPr lang="en-US" sz="2000" dirty="0"/>
              <a:t>Open the SPSS file </a:t>
            </a:r>
            <a:r>
              <a:rPr lang="en-US" sz="2000" dirty="0" err="1"/>
              <a:t>passing.sav</a:t>
            </a:r>
            <a:endParaRPr lang="en-US" sz="2000" dirty="0"/>
          </a:p>
          <a:p>
            <a:r>
              <a:rPr lang="en-US" sz="2000" dirty="0"/>
              <a:t>The data has three made-up variables:</a:t>
            </a:r>
          </a:p>
          <a:p>
            <a:pPr lvl="1"/>
            <a:r>
              <a:rPr lang="en-US" sz="1800" dirty="0"/>
              <a:t>Passed a statistics test</a:t>
            </a:r>
          </a:p>
          <a:p>
            <a:pPr lvl="1"/>
            <a:r>
              <a:rPr lang="en-US" sz="1800" dirty="0"/>
              <a:t>Hours of study</a:t>
            </a:r>
          </a:p>
          <a:p>
            <a:pPr lvl="1"/>
            <a:r>
              <a:rPr lang="en-US" sz="1800" dirty="0"/>
              <a:t>Gender (1 = male, 0 = female)</a:t>
            </a:r>
          </a:p>
          <a:p>
            <a:r>
              <a:rPr lang="en-US" sz="2000" dirty="0"/>
              <a:t>Run a binary logistic regression of passed on hours</a:t>
            </a:r>
          </a:p>
          <a:p>
            <a:pPr lvl="1"/>
            <a:r>
              <a:rPr lang="en-US" sz="1800" dirty="0"/>
              <a:t>Write out the regression equation</a:t>
            </a:r>
          </a:p>
          <a:p>
            <a:pPr lvl="1"/>
            <a:r>
              <a:rPr lang="en-US" sz="1800" dirty="0"/>
              <a:t>Predict the probability of passing for 0, 50, 100, 150,200 and 250 hours of studying</a:t>
            </a:r>
          </a:p>
          <a:p>
            <a:pPr lvl="1"/>
            <a:r>
              <a:rPr lang="en-US" sz="1800" dirty="0"/>
              <a:t>Add gender into the model and interpret the coefficient in terms of odds and percent change in odds</a:t>
            </a:r>
          </a:p>
          <a:p>
            <a:pPr lvl="1"/>
            <a:r>
              <a:rPr lang="en-US" sz="1800" dirty="0"/>
              <a:t>Does adding gender improve the model fit?</a:t>
            </a:r>
          </a:p>
          <a:p>
            <a:pPr lvl="1"/>
            <a:r>
              <a:rPr lang="en-US" sz="1800" dirty="0"/>
              <a:t>Compute the probability of passing for males and females for 100 study hours</a:t>
            </a:r>
          </a:p>
        </p:txBody>
      </p:sp>
    </p:spTree>
    <p:extLst>
      <p:ext uri="{BB962C8B-B14F-4D97-AF65-F5344CB8AC3E}">
        <p14:creationId xmlns:p14="http://schemas.microsoft.com/office/powerpoint/2010/main" val="29869215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163F7-EFC9-4C87-B335-27E12748653F}"/>
              </a:ext>
            </a:extLst>
          </p:cNvPr>
          <p:cNvSpPr>
            <a:spLocks noGrp="1"/>
          </p:cNvSpPr>
          <p:nvPr>
            <p:ph type="title" idx="4294967295"/>
          </p:nvPr>
        </p:nvSpPr>
        <p:spPr>
          <a:xfrm>
            <a:off x="203201" y="177515"/>
            <a:ext cx="10058400" cy="770117"/>
          </a:xfrm>
        </p:spPr>
        <p:txBody>
          <a:bodyPr>
            <a:normAutofit/>
          </a:bodyPr>
          <a:lstStyle/>
          <a:p>
            <a:r>
              <a:rPr lang="en-US" sz="4000" dirty="0">
                <a:latin typeface="Aptos Display" panose="020B0004020202020204" pitchFamily="34" charset="0"/>
              </a:rPr>
              <a:t>Model &amp; Interpretation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228038A-0552-4A48-A5CE-E946E4F55D43}"/>
                  </a:ext>
                </a:extLst>
              </p:cNvPr>
              <p:cNvSpPr txBox="1"/>
              <p:nvPr/>
            </p:nvSpPr>
            <p:spPr>
              <a:xfrm>
                <a:off x="4302093" y="978230"/>
                <a:ext cx="3370153"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𝑙𝑜𝑔𝑖𝑡</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4228038A-0552-4A48-A5CE-E946E4F55D43}"/>
                  </a:ext>
                </a:extLst>
              </p:cNvPr>
              <p:cNvSpPr txBox="1">
                <a:spLocks noRot="1" noChangeAspect="1" noMove="1" noResize="1" noEditPoints="1" noAdjustHandles="1" noChangeArrowheads="1" noChangeShapeType="1" noTextEdit="1"/>
              </p:cNvSpPr>
              <p:nvPr/>
            </p:nvSpPr>
            <p:spPr>
              <a:xfrm>
                <a:off x="4302093" y="978230"/>
                <a:ext cx="3370153" cy="369332"/>
              </a:xfrm>
              <a:prstGeom prst="rect">
                <a:avLst/>
              </a:prstGeom>
              <a:blipFill>
                <a:blip r:embed="rId2"/>
                <a:stretch>
                  <a:fillRect l="-2893" r="-1447" b="-344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CD6B6B-6ABB-4B5C-947A-37958D728DBF}"/>
                  </a:ext>
                </a:extLst>
              </p:cNvPr>
              <p:cNvSpPr txBox="1"/>
              <p:nvPr/>
            </p:nvSpPr>
            <p:spPr>
              <a:xfrm>
                <a:off x="2939169" y="1390366"/>
                <a:ext cx="6096000" cy="7805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082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num>
                        <m:den>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082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den>
                      </m:f>
                    </m:oMath>
                  </m:oMathPara>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4ACD6B6B-6ABB-4B5C-947A-37958D728DBF}"/>
                  </a:ext>
                </a:extLst>
              </p:cNvPr>
              <p:cNvSpPr txBox="1">
                <a:spLocks noRot="1" noChangeAspect="1" noMove="1" noResize="1" noEditPoints="1" noAdjustHandles="1" noChangeArrowheads="1" noChangeShapeType="1" noTextEdit="1"/>
              </p:cNvSpPr>
              <p:nvPr/>
            </p:nvSpPr>
            <p:spPr>
              <a:xfrm>
                <a:off x="2939169" y="1390366"/>
                <a:ext cx="6096000" cy="780598"/>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711D712-E684-4676-87BA-AC5B02F84AB6}"/>
              </a:ext>
            </a:extLst>
          </p:cNvPr>
          <p:cNvSpPr txBox="1"/>
          <p:nvPr/>
        </p:nvSpPr>
        <p:spPr>
          <a:xfrm>
            <a:off x="2762685" y="2144010"/>
            <a:ext cx="799092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Check: What is the Probability of passing when hours =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Note: exp(.082) = 1.085</a:t>
            </a:r>
          </a:p>
        </p:txBody>
      </p:sp>
      <p:graphicFrame>
        <p:nvGraphicFramePr>
          <p:cNvPr id="8" name="Table 8">
            <a:extLst>
              <a:ext uri="{FF2B5EF4-FFF2-40B4-BE49-F238E27FC236}">
                <a16:creationId xmlns:a16="http://schemas.microsoft.com/office/drawing/2014/main" id="{40820363-54E8-45FA-89E0-0EA585BDCB00}"/>
              </a:ext>
            </a:extLst>
          </p:cNvPr>
          <p:cNvGraphicFramePr>
            <a:graphicFrameLocks noGrp="1"/>
          </p:cNvGraphicFramePr>
          <p:nvPr>
            <p:extLst>
              <p:ext uri="{D42A27DB-BD31-4B8C-83A1-F6EECF244321}">
                <p14:modId xmlns:p14="http://schemas.microsoft.com/office/powerpoint/2010/main" val="1452978344"/>
              </p:ext>
            </p:extLst>
          </p:nvPr>
        </p:nvGraphicFramePr>
        <p:xfrm>
          <a:off x="2356670" y="2874199"/>
          <a:ext cx="8128001"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187545845"/>
                    </a:ext>
                  </a:extLst>
                </a:gridCol>
                <a:gridCol w="1161143">
                  <a:extLst>
                    <a:ext uri="{9D8B030D-6E8A-4147-A177-3AD203B41FA5}">
                      <a16:colId xmlns:a16="http://schemas.microsoft.com/office/drawing/2014/main" val="1469675302"/>
                    </a:ext>
                  </a:extLst>
                </a:gridCol>
                <a:gridCol w="1161143">
                  <a:extLst>
                    <a:ext uri="{9D8B030D-6E8A-4147-A177-3AD203B41FA5}">
                      <a16:colId xmlns:a16="http://schemas.microsoft.com/office/drawing/2014/main" val="3428863924"/>
                    </a:ext>
                  </a:extLst>
                </a:gridCol>
                <a:gridCol w="1161143">
                  <a:extLst>
                    <a:ext uri="{9D8B030D-6E8A-4147-A177-3AD203B41FA5}">
                      <a16:colId xmlns:a16="http://schemas.microsoft.com/office/drawing/2014/main" val="2398877540"/>
                    </a:ext>
                  </a:extLst>
                </a:gridCol>
                <a:gridCol w="1161143">
                  <a:extLst>
                    <a:ext uri="{9D8B030D-6E8A-4147-A177-3AD203B41FA5}">
                      <a16:colId xmlns:a16="http://schemas.microsoft.com/office/drawing/2014/main" val="1786134316"/>
                    </a:ext>
                  </a:extLst>
                </a:gridCol>
                <a:gridCol w="1161143">
                  <a:extLst>
                    <a:ext uri="{9D8B030D-6E8A-4147-A177-3AD203B41FA5}">
                      <a16:colId xmlns:a16="http://schemas.microsoft.com/office/drawing/2014/main" val="949900990"/>
                    </a:ext>
                  </a:extLst>
                </a:gridCol>
                <a:gridCol w="1161143">
                  <a:extLst>
                    <a:ext uri="{9D8B030D-6E8A-4147-A177-3AD203B41FA5}">
                      <a16:colId xmlns:a16="http://schemas.microsoft.com/office/drawing/2014/main" val="2726842621"/>
                    </a:ext>
                  </a:extLst>
                </a:gridCol>
              </a:tblGrid>
              <a:tr h="370840">
                <a:tc gridSpan="7">
                  <a:txBody>
                    <a:bodyPr/>
                    <a:lstStyle/>
                    <a:p>
                      <a:r>
                        <a:rPr lang="en-US" dirty="0"/>
                        <a:t>Table 1. Predicted probability of Passing Conditional on Hours Studying</a:t>
                      </a:r>
                    </a:p>
                  </a:txBody>
                  <a:tcPr/>
                </a:tc>
                <a:tc hMerge="1">
                  <a:txBody>
                    <a:bodyPr/>
                    <a:lstStyle/>
                    <a:p>
                      <a:r>
                        <a:rPr lang="en-US" dirty="0"/>
                        <a:t>Table 1. Predicted probability of Passing Conditional on Hours Studying</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198467137"/>
                  </a:ext>
                </a:extLst>
              </a:tr>
              <a:tr h="370840">
                <a:tc>
                  <a:txBody>
                    <a:bodyPr/>
                    <a:lstStyle/>
                    <a:p>
                      <a:pPr algn="ctr"/>
                      <a:r>
                        <a:rPr lang="en-US" i="1" dirty="0"/>
                        <a:t>X</a:t>
                      </a:r>
                    </a:p>
                  </a:txBody>
                  <a:tcPr/>
                </a:tc>
                <a:tc>
                  <a:txBody>
                    <a:bodyPr/>
                    <a:lstStyle/>
                    <a:p>
                      <a:pPr algn="ctr"/>
                      <a:r>
                        <a:rPr lang="en-US" dirty="0"/>
                        <a:t>0</a:t>
                      </a:r>
                    </a:p>
                  </a:txBody>
                  <a:tcPr/>
                </a:tc>
                <a:tc>
                  <a:txBody>
                    <a:bodyPr/>
                    <a:lstStyle/>
                    <a:p>
                      <a:pPr algn="ctr"/>
                      <a:r>
                        <a:rPr lang="en-US" dirty="0"/>
                        <a:t>50</a:t>
                      </a:r>
                    </a:p>
                  </a:txBody>
                  <a:tcPr/>
                </a:tc>
                <a:tc>
                  <a:txBody>
                    <a:bodyPr/>
                    <a:lstStyle/>
                    <a:p>
                      <a:pPr algn="ctr"/>
                      <a:r>
                        <a:rPr lang="en-US" dirty="0"/>
                        <a:t>100</a:t>
                      </a:r>
                    </a:p>
                  </a:txBody>
                  <a:tcPr/>
                </a:tc>
                <a:tc>
                  <a:txBody>
                    <a:bodyPr/>
                    <a:lstStyle/>
                    <a:p>
                      <a:pPr algn="ctr"/>
                      <a:r>
                        <a:rPr lang="en-US" dirty="0"/>
                        <a:t>150</a:t>
                      </a:r>
                    </a:p>
                  </a:txBody>
                  <a:tcPr/>
                </a:tc>
                <a:tc>
                  <a:txBody>
                    <a:bodyPr/>
                    <a:lstStyle/>
                    <a:p>
                      <a:pPr algn="ctr"/>
                      <a:r>
                        <a:rPr lang="en-US" dirty="0"/>
                        <a:t>200</a:t>
                      </a:r>
                    </a:p>
                  </a:txBody>
                  <a:tcPr/>
                </a:tc>
                <a:tc>
                  <a:txBody>
                    <a:bodyPr/>
                    <a:lstStyle/>
                    <a:p>
                      <a:pPr algn="ctr"/>
                      <a:r>
                        <a:rPr lang="en-US" dirty="0"/>
                        <a:t>250</a:t>
                      </a:r>
                    </a:p>
                  </a:txBody>
                  <a:tcPr/>
                </a:tc>
                <a:extLst>
                  <a:ext uri="{0D108BD9-81ED-4DB2-BD59-A6C34878D82A}">
                    <a16:rowId xmlns:a16="http://schemas.microsoft.com/office/drawing/2014/main" val="697809082"/>
                  </a:ext>
                </a:extLst>
              </a:tr>
              <a:tr h="370840">
                <a:tc>
                  <a:txBody>
                    <a:bodyPr/>
                    <a:lstStyle/>
                    <a:p>
                      <a:pPr algn="ctr"/>
                      <a:r>
                        <a:rPr lang="en-US" dirty="0"/>
                        <a:t>P(</a:t>
                      </a:r>
                      <a:r>
                        <a:rPr lang="en-US" i="1" dirty="0" err="1"/>
                        <a:t>Y</a:t>
                      </a:r>
                      <a:r>
                        <a:rPr lang="en-US" dirty="0" err="1"/>
                        <a:t>|</a:t>
                      </a:r>
                      <a:r>
                        <a:rPr lang="en-US" i="1" dirty="0" err="1"/>
                        <a:t>x</a:t>
                      </a:r>
                      <a:r>
                        <a:rPr lang="en-US" dirty="0"/>
                        <a:t>=</a:t>
                      </a:r>
                      <a:r>
                        <a:rPr lang="en-US" i="1" dirty="0"/>
                        <a:t>X</a:t>
                      </a:r>
                      <a:r>
                        <a:rPr lang="en-US" dirty="0"/>
                        <a:t>)</a:t>
                      </a:r>
                    </a:p>
                  </a:txBody>
                  <a:tcPr/>
                </a:tc>
                <a:tc>
                  <a:txBody>
                    <a:bodyPr/>
                    <a:lstStyle/>
                    <a:p>
                      <a:pPr algn="ctr"/>
                      <a:r>
                        <a:rPr lang="en-US" dirty="0"/>
                        <a:t>0.0055</a:t>
                      </a:r>
                    </a:p>
                  </a:txBody>
                  <a:tcPr/>
                </a:tc>
                <a:tc>
                  <a:txBody>
                    <a:bodyPr/>
                    <a:lstStyle/>
                    <a:p>
                      <a:pPr algn="ctr"/>
                      <a:r>
                        <a:rPr lang="en-US" dirty="0"/>
                        <a:t>0.0603</a:t>
                      </a:r>
                    </a:p>
                  </a:txBody>
                  <a:tcPr/>
                </a:tc>
                <a:tc>
                  <a:txBody>
                    <a:bodyPr/>
                    <a:lstStyle/>
                    <a:p>
                      <a:pPr algn="ctr"/>
                      <a:r>
                        <a:rPr lang="en-US" dirty="0"/>
                        <a:t>0.4286</a:t>
                      </a:r>
                    </a:p>
                  </a:txBody>
                  <a:tcPr/>
                </a:tc>
                <a:tc>
                  <a:txBody>
                    <a:bodyPr/>
                    <a:lstStyle/>
                    <a:p>
                      <a:pPr algn="ctr"/>
                      <a:r>
                        <a:rPr lang="en-US" dirty="0"/>
                        <a:t>0.6298</a:t>
                      </a:r>
                    </a:p>
                  </a:txBody>
                  <a:tcPr/>
                </a:tc>
                <a:tc>
                  <a:txBody>
                    <a:bodyPr/>
                    <a:lstStyle/>
                    <a:p>
                      <a:pPr algn="ctr"/>
                      <a:r>
                        <a:rPr lang="en-US" dirty="0"/>
                        <a:t>0.8975</a:t>
                      </a:r>
                    </a:p>
                  </a:txBody>
                  <a:tcPr/>
                </a:tc>
                <a:tc>
                  <a:txBody>
                    <a:bodyPr/>
                    <a:lstStyle/>
                    <a:p>
                      <a:pPr algn="ctr"/>
                      <a:r>
                        <a:rPr lang="en-US" dirty="0"/>
                        <a:t>0.9783</a:t>
                      </a:r>
                    </a:p>
                  </a:txBody>
                  <a:tcPr/>
                </a:tc>
                <a:extLst>
                  <a:ext uri="{0D108BD9-81ED-4DB2-BD59-A6C34878D82A}">
                    <a16:rowId xmlns:a16="http://schemas.microsoft.com/office/drawing/2014/main" val="2298470724"/>
                  </a:ext>
                </a:extLst>
              </a:tr>
            </a:tbl>
          </a:graphicData>
        </a:graphic>
      </p:graphicFrame>
      <p:sp>
        <p:nvSpPr>
          <p:cNvPr id="9" name="TextBox 8">
            <a:extLst>
              <a:ext uri="{FF2B5EF4-FFF2-40B4-BE49-F238E27FC236}">
                <a16:creationId xmlns:a16="http://schemas.microsoft.com/office/drawing/2014/main" id="{59BFAC01-B762-44F6-A22C-C6A5E71CB662}"/>
              </a:ext>
            </a:extLst>
          </p:cNvPr>
          <p:cNvSpPr txBox="1"/>
          <p:nvPr/>
        </p:nvSpPr>
        <p:spPr>
          <a:xfrm>
            <a:off x="1951576" y="4180365"/>
            <a:ext cx="91103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Each additional hour spent working increases the odds of passing by [exp(.082)-1  *100] percent</a:t>
            </a:r>
          </a:p>
        </p:txBody>
      </p:sp>
      <p:sp>
        <p:nvSpPr>
          <p:cNvPr id="10" name="TextBox 9">
            <a:extLst>
              <a:ext uri="{FF2B5EF4-FFF2-40B4-BE49-F238E27FC236}">
                <a16:creationId xmlns:a16="http://schemas.microsoft.com/office/drawing/2014/main" id="{25864E1C-FC24-40CD-88EB-56160CC74F78}"/>
              </a:ext>
            </a:extLst>
          </p:cNvPr>
          <p:cNvSpPr txBox="1"/>
          <p:nvPr/>
        </p:nvSpPr>
        <p:spPr>
          <a:xfrm>
            <a:off x="1951576" y="4584763"/>
            <a:ext cx="82460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Each additional hour spent working increases the odds of passing by about 8.5 percent</a:t>
            </a:r>
          </a:p>
        </p:txBody>
      </p:sp>
      <p:sp>
        <p:nvSpPr>
          <p:cNvPr id="11" name="TextBox 10">
            <a:extLst>
              <a:ext uri="{FF2B5EF4-FFF2-40B4-BE49-F238E27FC236}">
                <a16:creationId xmlns:a16="http://schemas.microsoft.com/office/drawing/2014/main" id="{3CE1CEBD-AB22-4755-84C1-0CC6A42074C3}"/>
              </a:ext>
            </a:extLst>
          </p:cNvPr>
          <p:cNvSpPr txBox="1"/>
          <p:nvPr/>
        </p:nvSpPr>
        <p:spPr>
          <a:xfrm>
            <a:off x="1926685" y="4952487"/>
            <a:ext cx="79899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odds of passing are 1.085 times higher for each additional hour spent studying</a:t>
            </a:r>
          </a:p>
        </p:txBody>
      </p:sp>
    </p:spTree>
    <p:extLst>
      <p:ext uri="{BB962C8B-B14F-4D97-AF65-F5344CB8AC3E}">
        <p14:creationId xmlns:p14="http://schemas.microsoft.com/office/powerpoint/2010/main" val="4651650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0F50EE-3E9C-4D70-8911-85E6EB10CF0D}"/>
              </a:ext>
            </a:extLst>
          </p:cNvPr>
          <p:cNvPicPr>
            <a:picLocks noChangeAspect="1"/>
          </p:cNvPicPr>
          <p:nvPr/>
        </p:nvPicPr>
        <p:blipFill>
          <a:blip r:embed="rId2"/>
          <a:stretch>
            <a:fillRect/>
          </a:stretch>
        </p:blipFill>
        <p:spPr>
          <a:xfrm>
            <a:off x="971550" y="984250"/>
            <a:ext cx="10248900" cy="1333500"/>
          </a:xfrm>
          <a:prstGeom prst="rect">
            <a:avLst/>
          </a:prstGeom>
        </p:spPr>
      </p:pic>
      <p:pic>
        <p:nvPicPr>
          <p:cNvPr id="9" name="Picture 8">
            <a:extLst>
              <a:ext uri="{FF2B5EF4-FFF2-40B4-BE49-F238E27FC236}">
                <a16:creationId xmlns:a16="http://schemas.microsoft.com/office/drawing/2014/main" id="{6D202D87-EF44-4197-A53C-6B819DDDCE49}"/>
              </a:ext>
            </a:extLst>
          </p:cNvPr>
          <p:cNvPicPr>
            <a:picLocks noChangeAspect="1"/>
          </p:cNvPicPr>
          <p:nvPr/>
        </p:nvPicPr>
        <p:blipFill>
          <a:blip r:embed="rId3"/>
          <a:stretch>
            <a:fillRect/>
          </a:stretch>
        </p:blipFill>
        <p:spPr>
          <a:xfrm>
            <a:off x="971550" y="2387600"/>
            <a:ext cx="7277100" cy="1527175"/>
          </a:xfrm>
          <a:prstGeom prst="rect">
            <a:avLst/>
          </a:prstGeom>
        </p:spPr>
      </p:pic>
      <p:pic>
        <p:nvPicPr>
          <p:cNvPr id="15" name="Picture 14">
            <a:extLst>
              <a:ext uri="{FF2B5EF4-FFF2-40B4-BE49-F238E27FC236}">
                <a16:creationId xmlns:a16="http://schemas.microsoft.com/office/drawing/2014/main" id="{BA9C83C5-2881-4CAC-AECD-A4C2057AFE12}"/>
              </a:ext>
            </a:extLst>
          </p:cNvPr>
          <p:cNvPicPr>
            <a:picLocks noChangeAspect="1"/>
          </p:cNvPicPr>
          <p:nvPr/>
        </p:nvPicPr>
        <p:blipFill>
          <a:blip r:embed="rId4"/>
          <a:stretch>
            <a:fillRect/>
          </a:stretch>
        </p:blipFill>
        <p:spPr>
          <a:xfrm>
            <a:off x="8318500" y="2387600"/>
            <a:ext cx="2901950" cy="1527175"/>
          </a:xfrm>
          <a:prstGeom prst="rect">
            <a:avLst/>
          </a:prstGeom>
        </p:spPr>
      </p:pic>
      <p:sp>
        <p:nvSpPr>
          <p:cNvPr id="2" name="Title 1">
            <a:extLst>
              <a:ext uri="{FF2B5EF4-FFF2-40B4-BE49-F238E27FC236}">
                <a16:creationId xmlns:a16="http://schemas.microsoft.com/office/drawing/2014/main" id="{5464F81D-97CC-4113-9427-80E741A23032}"/>
              </a:ext>
            </a:extLst>
          </p:cNvPr>
          <p:cNvSpPr>
            <a:spLocks noGrp="1"/>
          </p:cNvSpPr>
          <p:nvPr>
            <p:ph type="title"/>
          </p:nvPr>
        </p:nvSpPr>
        <p:spPr>
          <a:xfrm>
            <a:off x="2020824" y="4379976"/>
            <a:ext cx="8147304" cy="1069848"/>
          </a:xfrm>
          <a:solidFill>
            <a:srgbClr val="FFFFFF"/>
          </a:solidFill>
          <a:ln w="31750" cap="sq">
            <a:solidFill>
              <a:srgbClr val="5E5E52"/>
            </a:solidFill>
            <a:miter lim="800000"/>
          </a:ln>
        </p:spPr>
        <p:txBody>
          <a:bodyPr vert="horz" lIns="91440" tIns="45720" rIns="91440" bIns="45720" rtlCol="0">
            <a:normAutofit/>
          </a:bodyPr>
          <a:lstStyle/>
          <a:p>
            <a:pPr algn="ctr"/>
            <a:r>
              <a:rPr lang="en-US" sz="3200" kern="1200">
                <a:solidFill>
                  <a:srgbClr val="262626"/>
                </a:solidFill>
                <a:latin typeface="+mj-lt"/>
                <a:ea typeface="+mj-ea"/>
                <a:cs typeface="+mj-cs"/>
              </a:rPr>
              <a:t>Jasp Output</a:t>
            </a:r>
          </a:p>
        </p:txBody>
      </p:sp>
    </p:spTree>
    <p:extLst>
      <p:ext uri="{BB962C8B-B14F-4D97-AF65-F5344CB8AC3E}">
        <p14:creationId xmlns:p14="http://schemas.microsoft.com/office/powerpoint/2010/main" val="36617963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213E0-80F6-4DD6-BEF5-8865BB70B213}"/>
              </a:ext>
            </a:extLst>
          </p:cNvPr>
          <p:cNvSpPr>
            <a:spLocks noGrp="1"/>
          </p:cNvSpPr>
          <p:nvPr>
            <p:ph type="title" idx="4294967295"/>
          </p:nvPr>
        </p:nvSpPr>
        <p:spPr>
          <a:xfrm>
            <a:off x="164611" y="143596"/>
            <a:ext cx="12192000" cy="766911"/>
          </a:xfrm>
        </p:spPr>
        <p:txBody>
          <a:bodyPr>
            <a:normAutofit/>
          </a:bodyPr>
          <a:lstStyle/>
          <a:p>
            <a:r>
              <a:rPr lang="en-US" sz="4000" dirty="0">
                <a:latin typeface="Aptos Display" panose="020B0004020202020204" pitchFamily="34" charset="0"/>
              </a:rPr>
              <a:t>Let’s add a binary variable, gender, to the equation</a:t>
            </a:r>
          </a:p>
        </p:txBody>
      </p:sp>
      <p:pic>
        <p:nvPicPr>
          <p:cNvPr id="5" name="Content Placeholder 4">
            <a:extLst>
              <a:ext uri="{FF2B5EF4-FFF2-40B4-BE49-F238E27FC236}">
                <a16:creationId xmlns:a16="http://schemas.microsoft.com/office/drawing/2014/main" id="{A6528926-4E69-4F93-9F91-6AA98D05D3F4}"/>
              </a:ext>
            </a:extLst>
          </p:cNvPr>
          <p:cNvPicPr>
            <a:picLocks noGrp="1" noChangeAspect="1"/>
          </p:cNvPicPr>
          <p:nvPr>
            <p:ph idx="4294967295"/>
          </p:nvPr>
        </p:nvPicPr>
        <p:blipFill>
          <a:blip r:embed="rId2"/>
          <a:stretch>
            <a:fillRect/>
          </a:stretch>
        </p:blipFill>
        <p:spPr>
          <a:xfrm>
            <a:off x="1054250" y="832686"/>
            <a:ext cx="9156700" cy="2197100"/>
          </a:xfrm>
        </p:spPr>
      </p:pic>
      <p:sp>
        <p:nvSpPr>
          <p:cNvPr id="6" name="TextBox 5">
            <a:extLst>
              <a:ext uri="{FF2B5EF4-FFF2-40B4-BE49-F238E27FC236}">
                <a16:creationId xmlns:a16="http://schemas.microsoft.com/office/drawing/2014/main" id="{71537E22-804A-499A-86EA-1C1A018ADED4}"/>
              </a:ext>
            </a:extLst>
          </p:cNvPr>
          <p:cNvSpPr txBox="1"/>
          <p:nvPr/>
        </p:nvSpPr>
        <p:spPr>
          <a:xfrm>
            <a:off x="1167422" y="3161120"/>
            <a:ext cx="86782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odds of passing for males are [exp(-.654)-1  *100] percent lower compared to females </a:t>
            </a:r>
          </a:p>
        </p:txBody>
      </p:sp>
      <p:sp>
        <p:nvSpPr>
          <p:cNvPr id="7" name="TextBox 6">
            <a:extLst>
              <a:ext uri="{FF2B5EF4-FFF2-40B4-BE49-F238E27FC236}">
                <a16:creationId xmlns:a16="http://schemas.microsoft.com/office/drawing/2014/main" id="{BBD3283C-4D5C-47B5-9D2A-EAADCDF306B4}"/>
              </a:ext>
            </a:extLst>
          </p:cNvPr>
          <p:cNvSpPr txBox="1"/>
          <p:nvPr/>
        </p:nvSpPr>
        <p:spPr>
          <a:xfrm>
            <a:off x="1167422" y="3477120"/>
            <a:ext cx="66851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odds of passing for males are 48.01% lower compared to females</a:t>
            </a:r>
          </a:p>
        </p:txBody>
      </p:sp>
      <p:sp>
        <p:nvSpPr>
          <p:cNvPr id="8" name="TextBox 7">
            <a:extLst>
              <a:ext uri="{FF2B5EF4-FFF2-40B4-BE49-F238E27FC236}">
                <a16:creationId xmlns:a16="http://schemas.microsoft.com/office/drawing/2014/main" id="{A1DA3BBF-7BB5-4231-9771-4C2B483C9EE0}"/>
              </a:ext>
            </a:extLst>
          </p:cNvPr>
          <p:cNvSpPr txBox="1"/>
          <p:nvPr/>
        </p:nvSpPr>
        <p:spPr>
          <a:xfrm>
            <a:off x="1167422" y="3789340"/>
            <a:ext cx="81692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odds of passing are .5100 (exp(-.654)) times lower for males compared to females</a:t>
            </a:r>
          </a:p>
        </p:txBody>
      </p:sp>
      <p:sp>
        <p:nvSpPr>
          <p:cNvPr id="3" name="TextBox 2">
            <a:extLst>
              <a:ext uri="{FF2B5EF4-FFF2-40B4-BE49-F238E27FC236}">
                <a16:creationId xmlns:a16="http://schemas.microsoft.com/office/drawing/2014/main" id="{95F960B7-222F-FC88-9945-14E7BCADE7E2}"/>
              </a:ext>
            </a:extLst>
          </p:cNvPr>
          <p:cNvSpPr txBox="1"/>
          <p:nvPr/>
        </p:nvSpPr>
        <p:spPr>
          <a:xfrm>
            <a:off x="1167422" y="4158672"/>
            <a:ext cx="10186378" cy="646331"/>
          </a:xfrm>
          <a:prstGeom prst="rect">
            <a:avLst/>
          </a:prstGeom>
          <a:noFill/>
        </p:spPr>
        <p:txBody>
          <a:bodyPr wrap="none" rtlCol="0">
            <a:spAutoFit/>
          </a:bodyPr>
          <a:lstStyle/>
          <a:p>
            <a:r>
              <a:rPr lang="en-US" dirty="0"/>
              <a:t>The file probability of passing by gender.xlsx has the probability of passing for males and females given 100</a:t>
            </a:r>
          </a:p>
          <a:p>
            <a:r>
              <a:rPr lang="en-US" dirty="0"/>
              <a:t>hours of study time</a:t>
            </a:r>
          </a:p>
        </p:txBody>
      </p:sp>
    </p:spTree>
    <p:extLst>
      <p:ext uri="{BB962C8B-B14F-4D97-AF65-F5344CB8AC3E}">
        <p14:creationId xmlns:p14="http://schemas.microsoft.com/office/powerpoint/2010/main" val="16376108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E8D735E-394D-4A2C-8B4C-5CCAB1D083C0}"/>
              </a:ext>
            </a:extLst>
          </p:cNvPr>
          <p:cNvSpPr>
            <a:spLocks noGrp="1"/>
          </p:cNvSpPr>
          <p:nvPr>
            <p:ph idx="4294967295"/>
          </p:nvPr>
        </p:nvSpPr>
        <p:spPr>
          <a:xfrm>
            <a:off x="754938" y="4683337"/>
            <a:ext cx="10461625" cy="1741488"/>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The Wald test is the test statistic for the logistic regression model</a:t>
            </a:r>
          </a:p>
          <a:p>
            <a:r>
              <a:rPr lang="en-US" dirty="0">
                <a:latin typeface="Calibri" panose="020F0502020204030204" pitchFamily="34" charset="0"/>
                <a:ea typeface="Calibri" panose="020F0502020204030204" pitchFamily="34" charset="0"/>
                <a:cs typeface="Calibri" panose="020F0502020204030204" pitchFamily="34" charset="0"/>
              </a:rPr>
              <a:t>The sig. is the </a:t>
            </a:r>
            <a:r>
              <a:rPr lang="en-US" i="1" dirty="0">
                <a:latin typeface="Calibri" panose="020F0502020204030204" pitchFamily="34" charset="0"/>
                <a:ea typeface="Calibri" panose="020F0502020204030204" pitchFamily="34" charset="0"/>
                <a:cs typeface="Calibri" panose="020F0502020204030204" pitchFamily="34" charset="0"/>
              </a:rPr>
              <a:t>p-</a:t>
            </a:r>
            <a:r>
              <a:rPr lang="en-US" dirty="0">
                <a:latin typeface="Calibri" panose="020F0502020204030204" pitchFamily="34" charset="0"/>
                <a:ea typeface="Calibri" panose="020F0502020204030204" pitchFamily="34" charset="0"/>
                <a:cs typeface="Calibri" panose="020F0502020204030204" pitchFamily="34" charset="0"/>
              </a:rPr>
              <a:t>value</a:t>
            </a:r>
          </a:p>
          <a:p>
            <a:r>
              <a:rPr lang="en-US" dirty="0">
                <a:latin typeface="Calibri" panose="020F0502020204030204" pitchFamily="34" charset="0"/>
                <a:ea typeface="Calibri" panose="020F0502020204030204" pitchFamily="34" charset="0"/>
                <a:cs typeface="Calibri" panose="020F0502020204030204" pitchFamily="34" charset="0"/>
              </a:rPr>
              <a:t>EXP(B) is the odds ratio – the interpretation is: the odds of enrolling in college are about 2.5 times greater for each one unit increase in undergraduate </a:t>
            </a:r>
            <a:r>
              <a:rPr lang="en-US" dirty="0" err="1">
                <a:latin typeface="Calibri" panose="020F0502020204030204" pitchFamily="34" charset="0"/>
                <a:ea typeface="Calibri" panose="020F0502020204030204" pitchFamily="34" charset="0"/>
                <a:cs typeface="Calibri" panose="020F0502020204030204" pitchFamily="34" charset="0"/>
              </a:rPr>
              <a:t>gpa</a:t>
            </a:r>
            <a:r>
              <a:rPr lang="en-US" dirty="0">
                <a:latin typeface="Calibri" panose="020F0502020204030204" pitchFamily="34" charset="0"/>
                <a:ea typeface="Calibri" panose="020F0502020204030204" pitchFamily="34" charset="0"/>
                <a:cs typeface="Calibri" panose="020F0502020204030204" pitchFamily="34" charset="0"/>
              </a:rPr>
              <a:t>, but the result is not statistically significant</a:t>
            </a:r>
          </a:p>
        </p:txBody>
      </p:sp>
      <p:graphicFrame>
        <p:nvGraphicFramePr>
          <p:cNvPr id="3" name="Table 2">
            <a:extLst>
              <a:ext uri="{FF2B5EF4-FFF2-40B4-BE49-F238E27FC236}">
                <a16:creationId xmlns:a16="http://schemas.microsoft.com/office/drawing/2014/main" id="{B5BCF5B8-0A5C-E2D0-F94A-DC57F9298E10}"/>
              </a:ext>
            </a:extLst>
          </p:cNvPr>
          <p:cNvGraphicFramePr>
            <a:graphicFrameLocks noGrp="1"/>
          </p:cNvGraphicFramePr>
          <p:nvPr>
            <p:extLst>
              <p:ext uri="{D42A27DB-BD31-4B8C-83A1-F6EECF244321}">
                <p14:modId xmlns:p14="http://schemas.microsoft.com/office/powerpoint/2010/main" val="2151709843"/>
              </p:ext>
            </p:extLst>
          </p:nvPr>
        </p:nvGraphicFramePr>
        <p:xfrm>
          <a:off x="916116" y="1499384"/>
          <a:ext cx="10058398" cy="2834640"/>
        </p:xfrm>
        <a:graphic>
          <a:graphicData uri="http://schemas.openxmlformats.org/drawingml/2006/table">
            <a:tbl>
              <a:tblPr/>
              <a:tblGrid>
                <a:gridCol w="1207916">
                  <a:extLst>
                    <a:ext uri="{9D8B030D-6E8A-4147-A177-3AD203B41FA5}">
                      <a16:colId xmlns:a16="http://schemas.microsoft.com/office/drawing/2014/main" val="1266141950"/>
                    </a:ext>
                  </a:extLst>
                </a:gridCol>
                <a:gridCol w="228998">
                  <a:extLst>
                    <a:ext uri="{9D8B030D-6E8A-4147-A177-3AD203B41FA5}">
                      <a16:colId xmlns:a16="http://schemas.microsoft.com/office/drawing/2014/main" val="1308021979"/>
                    </a:ext>
                  </a:extLst>
                </a:gridCol>
                <a:gridCol w="949193">
                  <a:extLst>
                    <a:ext uri="{9D8B030D-6E8A-4147-A177-3AD203B41FA5}">
                      <a16:colId xmlns:a16="http://schemas.microsoft.com/office/drawing/2014/main" val="3519772311"/>
                    </a:ext>
                  </a:extLst>
                </a:gridCol>
                <a:gridCol w="487721">
                  <a:extLst>
                    <a:ext uri="{9D8B030D-6E8A-4147-A177-3AD203B41FA5}">
                      <a16:colId xmlns:a16="http://schemas.microsoft.com/office/drawing/2014/main" val="4018022940"/>
                    </a:ext>
                  </a:extLst>
                </a:gridCol>
                <a:gridCol w="925185">
                  <a:extLst>
                    <a:ext uri="{9D8B030D-6E8A-4147-A177-3AD203B41FA5}">
                      <a16:colId xmlns:a16="http://schemas.microsoft.com/office/drawing/2014/main" val="252498594"/>
                    </a:ext>
                  </a:extLst>
                </a:gridCol>
                <a:gridCol w="511729">
                  <a:extLst>
                    <a:ext uri="{9D8B030D-6E8A-4147-A177-3AD203B41FA5}">
                      <a16:colId xmlns:a16="http://schemas.microsoft.com/office/drawing/2014/main" val="2145613635"/>
                    </a:ext>
                  </a:extLst>
                </a:gridCol>
                <a:gridCol w="924217">
                  <a:extLst>
                    <a:ext uri="{9D8B030D-6E8A-4147-A177-3AD203B41FA5}">
                      <a16:colId xmlns:a16="http://schemas.microsoft.com/office/drawing/2014/main" val="3346246456"/>
                    </a:ext>
                  </a:extLst>
                </a:gridCol>
                <a:gridCol w="512697">
                  <a:extLst>
                    <a:ext uri="{9D8B030D-6E8A-4147-A177-3AD203B41FA5}">
                      <a16:colId xmlns:a16="http://schemas.microsoft.com/office/drawing/2014/main" val="1842628089"/>
                    </a:ext>
                  </a:extLst>
                </a:gridCol>
                <a:gridCol w="984210">
                  <a:extLst>
                    <a:ext uri="{9D8B030D-6E8A-4147-A177-3AD203B41FA5}">
                      <a16:colId xmlns:a16="http://schemas.microsoft.com/office/drawing/2014/main" val="470072508"/>
                    </a:ext>
                  </a:extLst>
                </a:gridCol>
                <a:gridCol w="452704">
                  <a:extLst>
                    <a:ext uri="{9D8B030D-6E8A-4147-A177-3AD203B41FA5}">
                      <a16:colId xmlns:a16="http://schemas.microsoft.com/office/drawing/2014/main" val="3813175979"/>
                    </a:ext>
                  </a:extLst>
                </a:gridCol>
                <a:gridCol w="718457">
                  <a:extLst>
                    <a:ext uri="{9D8B030D-6E8A-4147-A177-3AD203B41FA5}">
                      <a16:colId xmlns:a16="http://schemas.microsoft.com/office/drawing/2014/main" val="3520804221"/>
                    </a:ext>
                  </a:extLst>
                </a:gridCol>
                <a:gridCol w="718457">
                  <a:extLst>
                    <a:ext uri="{9D8B030D-6E8A-4147-A177-3AD203B41FA5}">
                      <a16:colId xmlns:a16="http://schemas.microsoft.com/office/drawing/2014/main" val="245727872"/>
                    </a:ext>
                  </a:extLst>
                </a:gridCol>
                <a:gridCol w="718457">
                  <a:extLst>
                    <a:ext uri="{9D8B030D-6E8A-4147-A177-3AD203B41FA5}">
                      <a16:colId xmlns:a16="http://schemas.microsoft.com/office/drawing/2014/main" val="505849115"/>
                    </a:ext>
                  </a:extLst>
                </a:gridCol>
                <a:gridCol w="718457">
                  <a:extLst>
                    <a:ext uri="{9D8B030D-6E8A-4147-A177-3AD203B41FA5}">
                      <a16:colId xmlns:a16="http://schemas.microsoft.com/office/drawing/2014/main" val="3011440029"/>
                    </a:ext>
                  </a:extLst>
                </a:gridCol>
              </a:tblGrid>
              <a:tr h="0">
                <a:tc gridSpan="14">
                  <a:txBody>
                    <a:bodyPr/>
                    <a:lstStyle/>
                    <a:p>
                      <a:pPr algn="l"/>
                      <a:r>
                        <a:rPr lang="en-US" dirty="0">
                          <a:effectLst/>
                          <a:latin typeface="Calibri" panose="020F0502020204030204" pitchFamily="34" charset="0"/>
                          <a:ea typeface="Calibri" panose="020F0502020204030204" pitchFamily="34" charset="0"/>
                          <a:cs typeface="Calibri" panose="020F0502020204030204" pitchFamily="34" charset="0"/>
                        </a:rPr>
                        <a:t>Coefficients </a:t>
                      </a:r>
                    </a:p>
                  </a:txBody>
                  <a:tcPr anchor="ctr">
                    <a:lnL>
                      <a:noFill/>
                    </a:lnL>
                    <a:lnR>
                      <a:noFill/>
                    </a:lnR>
                    <a:lnT>
                      <a:noFill/>
                    </a:lnT>
                    <a:lnB w="9525"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72473745"/>
                  </a:ext>
                </a:extLst>
              </a:tr>
              <a:tr h="0">
                <a:tc gridSpan="8">
                  <a:txBody>
                    <a:bodyPr/>
                    <a:lstStyle/>
                    <a:p>
                      <a:pPr algn="ctr"/>
                      <a:endParaRPr lang="en-US" dirty="0">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algn="ctr"/>
                      <a:r>
                        <a:rPr lang="en-US">
                          <a:effectLst/>
                          <a:latin typeface="Calibri" panose="020F0502020204030204" pitchFamily="34" charset="0"/>
                          <a:ea typeface="Calibri" panose="020F0502020204030204" pitchFamily="34" charset="0"/>
                          <a:cs typeface="Calibri" panose="020F0502020204030204" pitchFamily="34" charset="0"/>
                        </a:rPr>
                        <a:t>Wald Test</a:t>
                      </a:r>
                    </a:p>
                  </a:txBody>
                  <a:tcPr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10323138"/>
                  </a:ext>
                </a:extLst>
              </a:tr>
              <a:tr h="0">
                <a:tc gridSpan="2">
                  <a:txBody>
                    <a:bodyPr/>
                    <a:lstStyle/>
                    <a:p>
                      <a:pPr algn="ctr"/>
                      <a:r>
                        <a:rPr lang="en-US">
                          <a:effectLst/>
                          <a:latin typeface="Calibri" panose="020F0502020204030204" pitchFamily="34" charset="0"/>
                          <a:ea typeface="Calibri" panose="020F0502020204030204" pitchFamily="34" charset="0"/>
                          <a:cs typeface="Calibri" panose="020F0502020204030204" pitchFamily="34" charset="0"/>
                        </a:rPr>
                        <a:t> </a:t>
                      </a:r>
                    </a:p>
                  </a:txBody>
                  <a:tcPr anchor="ctr">
                    <a:lnL>
                      <a:noFill/>
                    </a:lnL>
                    <a:lnR>
                      <a:noFill/>
                    </a:lnR>
                    <a:lnT>
                      <a:noFill/>
                    </a:lnT>
                    <a:lnB w="9525"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r>
                        <a:rPr lang="en-US" dirty="0">
                          <a:effectLst/>
                          <a:latin typeface="Calibri" panose="020F0502020204030204" pitchFamily="34" charset="0"/>
                          <a:ea typeface="Calibri" panose="020F0502020204030204" pitchFamily="34" charset="0"/>
                          <a:cs typeface="Calibri" panose="020F0502020204030204" pitchFamily="34" charset="0"/>
                        </a:rPr>
                        <a:t>Estimate</a:t>
                      </a:r>
                    </a:p>
                  </a:txBody>
                  <a:tcPr anchor="ctr">
                    <a:lnL>
                      <a:noFill/>
                    </a:lnL>
                    <a:lnR>
                      <a:noFill/>
                    </a:lnR>
                    <a:lnT>
                      <a:noFill/>
                    </a:lnT>
                    <a:lnB w="9525"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r>
                        <a:rPr lang="en-US" dirty="0">
                          <a:effectLst/>
                          <a:latin typeface="Calibri" panose="020F0502020204030204" pitchFamily="34" charset="0"/>
                          <a:ea typeface="Calibri" panose="020F0502020204030204" pitchFamily="34" charset="0"/>
                          <a:cs typeface="Calibri" panose="020F0502020204030204" pitchFamily="34" charset="0"/>
                        </a:rPr>
                        <a:t>Standard Error</a:t>
                      </a:r>
                    </a:p>
                  </a:txBody>
                  <a:tcPr anchor="ctr">
                    <a:lnL>
                      <a:noFill/>
                    </a:lnL>
                    <a:lnR>
                      <a:noFill/>
                    </a:lnR>
                    <a:lnT>
                      <a:noFill/>
                    </a:lnT>
                    <a:lnB w="9525"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r>
                        <a:rPr lang="en-US">
                          <a:effectLst/>
                          <a:latin typeface="Calibri" panose="020F0502020204030204" pitchFamily="34" charset="0"/>
                          <a:ea typeface="Calibri" panose="020F0502020204030204" pitchFamily="34" charset="0"/>
                          <a:cs typeface="Calibri" panose="020F0502020204030204" pitchFamily="34" charset="0"/>
                        </a:rPr>
                        <a:t>z</a:t>
                      </a:r>
                    </a:p>
                  </a:txBody>
                  <a:tcPr anchor="ctr">
                    <a:lnL>
                      <a:noFill/>
                    </a:lnL>
                    <a:lnR>
                      <a:noFill/>
                    </a:lnR>
                    <a:lnT>
                      <a:noFill/>
                    </a:lnT>
                    <a:lnB w="9525"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r>
                        <a:rPr lang="en-US">
                          <a:effectLst/>
                          <a:latin typeface="Calibri" panose="020F0502020204030204" pitchFamily="34" charset="0"/>
                          <a:ea typeface="Calibri" panose="020F0502020204030204" pitchFamily="34" charset="0"/>
                          <a:cs typeface="Calibri" panose="020F0502020204030204" pitchFamily="34" charset="0"/>
                        </a:rPr>
                        <a:t>Wald Statistic</a:t>
                      </a:r>
                    </a:p>
                  </a:txBody>
                  <a:tcPr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r>
                        <a:rPr lang="en-US">
                          <a:effectLst/>
                          <a:latin typeface="Calibri" panose="020F0502020204030204" pitchFamily="34" charset="0"/>
                          <a:ea typeface="Calibri" panose="020F0502020204030204" pitchFamily="34" charset="0"/>
                          <a:cs typeface="Calibri" panose="020F0502020204030204" pitchFamily="34" charset="0"/>
                        </a:rPr>
                        <a:t>df</a:t>
                      </a:r>
                    </a:p>
                  </a:txBody>
                  <a:tcPr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r>
                        <a:rPr lang="en-US">
                          <a:effectLst/>
                          <a:latin typeface="Calibri" panose="020F0502020204030204" pitchFamily="34" charset="0"/>
                          <a:ea typeface="Calibri" panose="020F0502020204030204" pitchFamily="34" charset="0"/>
                          <a:cs typeface="Calibri" panose="020F0502020204030204" pitchFamily="34" charset="0"/>
                        </a:rPr>
                        <a:t>p</a:t>
                      </a:r>
                    </a:p>
                  </a:txBody>
                  <a:tcPr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3503792855"/>
                  </a:ext>
                </a:extLst>
              </a:tr>
              <a:tr h="0">
                <a:tc>
                  <a:txBody>
                    <a:bodyPr/>
                    <a:lstStyle/>
                    <a:p>
                      <a:pPr algn="l"/>
                      <a:r>
                        <a:rPr lang="en-US" dirty="0">
                          <a:effectLst/>
                          <a:latin typeface="Calibri" panose="020F0502020204030204" pitchFamily="34" charset="0"/>
                          <a:ea typeface="Calibri" panose="020F0502020204030204" pitchFamily="34" charset="0"/>
                          <a:cs typeface="Calibri" panose="020F0502020204030204" pitchFamily="34" charset="0"/>
                        </a:rPr>
                        <a:t>(Intercept)</a:t>
                      </a: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r"/>
                      <a:r>
                        <a:rPr lang="en-US">
                          <a:effectLst/>
                          <a:latin typeface="Calibri" panose="020F0502020204030204" pitchFamily="34" charset="0"/>
                          <a:ea typeface="Calibri" panose="020F0502020204030204" pitchFamily="34" charset="0"/>
                          <a:cs typeface="Calibri" panose="020F0502020204030204" pitchFamily="34" charset="0"/>
                        </a:rPr>
                        <a:t>-2.144</a:t>
                      </a: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r"/>
                      <a:r>
                        <a:rPr lang="en-US" dirty="0">
                          <a:effectLst/>
                          <a:latin typeface="Calibri" panose="020F0502020204030204" pitchFamily="34" charset="0"/>
                          <a:ea typeface="Calibri" panose="020F0502020204030204" pitchFamily="34" charset="0"/>
                          <a:cs typeface="Calibri" panose="020F0502020204030204" pitchFamily="34" charset="0"/>
                        </a:rPr>
                        <a:t>2.416</a:t>
                      </a: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l"/>
                      <a:endParaRPr lang="en-US" dirty="0">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r"/>
                      <a:r>
                        <a:rPr lang="en-US" dirty="0">
                          <a:effectLst/>
                          <a:latin typeface="Calibri" panose="020F0502020204030204" pitchFamily="34" charset="0"/>
                          <a:ea typeface="Calibri" panose="020F0502020204030204" pitchFamily="34" charset="0"/>
                          <a:cs typeface="Calibri" panose="020F0502020204030204" pitchFamily="34" charset="0"/>
                        </a:rPr>
                        <a:t>-0.888</a:t>
                      </a: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r"/>
                      <a:r>
                        <a:rPr lang="en-US">
                          <a:effectLst/>
                          <a:latin typeface="Calibri" panose="020F0502020204030204" pitchFamily="34" charset="0"/>
                          <a:ea typeface="Calibri" panose="020F0502020204030204" pitchFamily="34" charset="0"/>
                          <a:cs typeface="Calibri" panose="020F0502020204030204" pitchFamily="34" charset="0"/>
                        </a:rPr>
                        <a:t>0.788</a:t>
                      </a: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r"/>
                      <a:r>
                        <a:rPr lang="en-US">
                          <a:effectLst/>
                          <a:latin typeface="Calibri" panose="020F0502020204030204" pitchFamily="34" charset="0"/>
                          <a:ea typeface="Calibri" panose="020F0502020204030204" pitchFamily="34" charset="0"/>
                          <a:cs typeface="Calibri" panose="020F0502020204030204" pitchFamily="34" charset="0"/>
                        </a:rPr>
                        <a:t>1</a:t>
                      </a: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r"/>
                      <a:r>
                        <a:rPr lang="en-US">
                          <a:effectLst/>
                          <a:latin typeface="Calibri" panose="020F0502020204030204" pitchFamily="34" charset="0"/>
                          <a:ea typeface="Calibri" panose="020F0502020204030204" pitchFamily="34" charset="0"/>
                          <a:cs typeface="Calibri" panose="020F0502020204030204" pitchFamily="34" charset="0"/>
                        </a:rPr>
                        <a:t>0.375</a:t>
                      </a:r>
                    </a:p>
                  </a:txBody>
                  <a:tcPr anchor="ctr">
                    <a:lnL>
                      <a:noFill/>
                    </a:lnL>
                    <a:lnR>
                      <a:noFill/>
                    </a:lnR>
                    <a:lnT w="9525" cap="flat" cmpd="sng" algn="ctr">
                      <a:solidFill>
                        <a:srgbClr val="000000"/>
                      </a:solidFill>
                      <a:prstDash val="solid"/>
                      <a:round/>
                      <a:headEnd type="none" w="med" len="med"/>
                      <a:tailEnd type="none" w="med" len="med"/>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w="9525"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036071669"/>
                  </a:ext>
                </a:extLst>
              </a:tr>
              <a:tr h="0">
                <a:tc>
                  <a:txBody>
                    <a:bodyPr/>
                    <a:lstStyle/>
                    <a:p>
                      <a:pPr algn="l"/>
                      <a:r>
                        <a:rPr lang="en-US">
                          <a:effectLst/>
                          <a:latin typeface="Calibri" panose="020F0502020204030204" pitchFamily="34" charset="0"/>
                          <a:ea typeface="Calibri" panose="020F0502020204030204" pitchFamily="34" charset="0"/>
                          <a:cs typeface="Calibri" panose="020F0502020204030204" pitchFamily="34" charset="0"/>
                        </a:rPr>
                        <a:t>gpa</a:t>
                      </a:r>
                    </a:p>
                  </a:txBody>
                  <a:tcPr anchor="ctr">
                    <a:lnL>
                      <a:noFill/>
                    </a:lnL>
                    <a:lnR>
                      <a:noFill/>
                    </a:lnR>
                    <a:lnT>
                      <a:noFill/>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r"/>
                      <a:r>
                        <a:rPr lang="en-US">
                          <a:effectLst/>
                          <a:latin typeface="Calibri" panose="020F0502020204030204" pitchFamily="34" charset="0"/>
                          <a:ea typeface="Calibri" panose="020F0502020204030204" pitchFamily="34" charset="0"/>
                          <a:cs typeface="Calibri" panose="020F0502020204030204" pitchFamily="34" charset="0"/>
                        </a:rPr>
                        <a:t>0.883</a:t>
                      </a:r>
                    </a:p>
                  </a:txBody>
                  <a:tcPr anchor="ctr">
                    <a:lnL>
                      <a:noFill/>
                    </a:lnL>
                    <a:lnR>
                      <a:noFill/>
                    </a:lnR>
                    <a:lnT>
                      <a:noFill/>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r"/>
                      <a:r>
                        <a:rPr lang="en-US">
                          <a:effectLst/>
                          <a:latin typeface="Calibri" panose="020F0502020204030204" pitchFamily="34" charset="0"/>
                          <a:ea typeface="Calibri" panose="020F0502020204030204" pitchFamily="34" charset="0"/>
                          <a:cs typeface="Calibri" panose="020F0502020204030204" pitchFamily="34" charset="0"/>
                        </a:rPr>
                        <a:t>0.821</a:t>
                      </a:r>
                    </a:p>
                  </a:txBody>
                  <a:tcPr anchor="ctr">
                    <a:lnL>
                      <a:noFill/>
                    </a:lnL>
                    <a:lnR>
                      <a:noFill/>
                    </a:lnR>
                    <a:lnT>
                      <a:noFill/>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r"/>
                      <a:r>
                        <a:rPr lang="en-US" dirty="0">
                          <a:effectLst/>
                          <a:latin typeface="Calibri" panose="020F0502020204030204" pitchFamily="34" charset="0"/>
                          <a:ea typeface="Calibri" panose="020F0502020204030204" pitchFamily="34" charset="0"/>
                          <a:cs typeface="Calibri" panose="020F0502020204030204" pitchFamily="34" charset="0"/>
                        </a:rPr>
                        <a:t>1.076</a:t>
                      </a:r>
                    </a:p>
                  </a:txBody>
                  <a:tcPr anchor="ctr">
                    <a:lnL>
                      <a:noFill/>
                    </a:lnL>
                    <a:lnR>
                      <a:noFill/>
                    </a:lnR>
                    <a:lnT>
                      <a:noFill/>
                    </a:lnT>
                    <a:lnB>
                      <a:noFill/>
                    </a:lnB>
                  </a:tcPr>
                </a:tc>
                <a:tc>
                  <a:txBody>
                    <a:bodyPr/>
                    <a:lstStyle/>
                    <a:p>
                      <a:pPr algn="l"/>
                      <a:endParaRPr lang="en-US" dirty="0">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r"/>
                      <a:r>
                        <a:rPr lang="en-US" dirty="0">
                          <a:effectLst/>
                          <a:latin typeface="Calibri" panose="020F0502020204030204" pitchFamily="34" charset="0"/>
                          <a:ea typeface="Calibri" panose="020F0502020204030204" pitchFamily="34" charset="0"/>
                          <a:cs typeface="Calibri" panose="020F0502020204030204" pitchFamily="34" charset="0"/>
                        </a:rPr>
                        <a:t>1.157</a:t>
                      </a:r>
                    </a:p>
                  </a:txBody>
                  <a:tcPr anchor="ctr">
                    <a:lnL>
                      <a:noFill/>
                    </a:lnL>
                    <a:lnR>
                      <a:noFill/>
                    </a:lnR>
                    <a:lnT>
                      <a:noFill/>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r"/>
                      <a:r>
                        <a:rPr lang="en-US" dirty="0">
                          <a:effectLst/>
                          <a:latin typeface="Calibri" panose="020F0502020204030204" pitchFamily="34" charset="0"/>
                          <a:ea typeface="Calibri" panose="020F0502020204030204" pitchFamily="34" charset="0"/>
                          <a:cs typeface="Calibri" panose="020F0502020204030204" pitchFamily="34" charset="0"/>
                        </a:rPr>
                        <a:t>1</a:t>
                      </a:r>
                    </a:p>
                  </a:txBody>
                  <a:tcPr anchor="ctr">
                    <a:lnL>
                      <a:noFill/>
                    </a:lnL>
                    <a:lnR>
                      <a:noFill/>
                    </a:lnR>
                    <a:lnT>
                      <a:noFill/>
                    </a:lnT>
                    <a:lnB>
                      <a:noFill/>
                    </a:lnB>
                  </a:tcPr>
                </a:tc>
                <a:tc>
                  <a:txBody>
                    <a:bodyPr/>
                    <a:lstStyle/>
                    <a:p>
                      <a:pPr algn="l"/>
                      <a:endParaRPr lang="en-US" dirty="0">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pPr algn="r"/>
                      <a:r>
                        <a:rPr lang="en-US" dirty="0">
                          <a:effectLst/>
                          <a:latin typeface="Calibri" panose="020F0502020204030204" pitchFamily="34" charset="0"/>
                          <a:ea typeface="Calibri" panose="020F0502020204030204" pitchFamily="34" charset="0"/>
                          <a:cs typeface="Calibri" panose="020F0502020204030204" pitchFamily="34" charset="0"/>
                        </a:rPr>
                        <a:t>0.282</a:t>
                      </a:r>
                    </a:p>
                  </a:txBody>
                  <a:tcPr anchor="ctr">
                    <a:lnL>
                      <a:noFill/>
                    </a:lnL>
                    <a:lnR>
                      <a:noFill/>
                    </a:lnR>
                    <a:lnT>
                      <a:noFill/>
                    </a:lnT>
                    <a:lnB>
                      <a:noFill/>
                    </a:lnB>
                  </a:tcPr>
                </a:tc>
                <a:tc>
                  <a:txBody>
                    <a:bodyPr/>
                    <a:lstStyle/>
                    <a:p>
                      <a:pPr algn="l"/>
                      <a:endParaRPr lang="en-US">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tcPr>
                </a:tc>
                <a:extLst>
                  <a:ext uri="{0D108BD9-81ED-4DB2-BD59-A6C34878D82A}">
                    <a16:rowId xmlns:a16="http://schemas.microsoft.com/office/drawing/2014/main" val="2240728406"/>
                  </a:ext>
                </a:extLst>
              </a:tr>
              <a:tr h="0">
                <a:tc gridSpan="14">
                  <a:txBody>
                    <a:bodyPr/>
                    <a:lstStyle/>
                    <a:p>
                      <a:pPr algn="r"/>
                      <a:endParaRPr lang="en-US" dirty="0">
                        <a:effectLst/>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w="190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07189068"/>
                  </a:ext>
                </a:extLst>
              </a:tr>
              <a:tr h="0">
                <a:tc gridSpan="14">
                  <a:txBody>
                    <a:bodyPr/>
                    <a:lstStyle/>
                    <a:p>
                      <a:pPr algn="l"/>
                      <a:r>
                        <a:rPr lang="en-US" i="1" dirty="0">
                          <a:effectLst/>
                          <a:latin typeface="Calibri" panose="020F0502020204030204" pitchFamily="34" charset="0"/>
                          <a:ea typeface="Calibri" panose="020F0502020204030204" pitchFamily="34" charset="0"/>
                          <a:cs typeface="Calibri" panose="020F0502020204030204" pitchFamily="34" charset="0"/>
                        </a:rPr>
                        <a:t>Note.</a:t>
                      </a:r>
                      <a:r>
                        <a:rPr lang="en-US" dirty="0">
                          <a:effectLst/>
                          <a:latin typeface="Calibri" panose="020F0502020204030204" pitchFamily="34" charset="0"/>
                          <a:ea typeface="Calibri" panose="020F0502020204030204" pitchFamily="34" charset="0"/>
                          <a:cs typeface="Calibri" panose="020F0502020204030204" pitchFamily="34" charset="0"/>
                        </a:rPr>
                        <a:t>  enroll level '1' coded as class 1.</a:t>
                      </a:r>
                    </a:p>
                  </a:txBody>
                  <a:tcPr anchor="ctr">
                    <a:lnL>
                      <a:noFill/>
                    </a:lnL>
                    <a:lnR>
                      <a:noFill/>
                    </a:lnR>
                    <a:lnT w="190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42424335"/>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8C241F4-BBA8-7330-2447-7397425EB31C}"/>
                  </a:ext>
                </a:extLst>
              </p:cNvPr>
              <p:cNvSpPr txBox="1"/>
              <p:nvPr/>
            </p:nvSpPr>
            <p:spPr>
              <a:xfrm>
                <a:off x="3078993" y="142152"/>
                <a:ext cx="4087016"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𝑙𝑜𝑔𝑖𝑡</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144</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833</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𝐺𝑃𝐴</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58C241F4-BBA8-7330-2447-7397425EB31C}"/>
                  </a:ext>
                </a:extLst>
              </p:cNvPr>
              <p:cNvSpPr txBox="1">
                <a:spLocks noRot="1" noChangeAspect="1" noMove="1" noResize="1" noEditPoints="1" noAdjustHandles="1" noChangeArrowheads="1" noChangeShapeType="1" noTextEdit="1"/>
              </p:cNvSpPr>
              <p:nvPr/>
            </p:nvSpPr>
            <p:spPr>
              <a:xfrm>
                <a:off x="3078993" y="142152"/>
                <a:ext cx="4087016" cy="369332"/>
              </a:xfrm>
              <a:prstGeom prst="rect">
                <a:avLst/>
              </a:prstGeom>
              <a:blipFill>
                <a:blip r:embed="rId2"/>
                <a:stretch>
                  <a:fillRect l="-2086" r="-1341" b="-344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A9F0524-EC87-8345-2884-8A924220204B}"/>
                  </a:ext>
                </a:extLst>
              </p:cNvPr>
              <p:cNvSpPr txBox="1"/>
              <p:nvPr/>
            </p:nvSpPr>
            <p:spPr>
              <a:xfrm>
                <a:off x="2074501" y="521361"/>
                <a:ext cx="6096000" cy="7805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𝑃𝑟</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144</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 .</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883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num>
                        <m:den>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144</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883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den>
                      </m:f>
                    </m:oMath>
                  </m:oMathPara>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2A9F0524-EC87-8345-2884-8A924220204B}"/>
                  </a:ext>
                </a:extLst>
              </p:cNvPr>
              <p:cNvSpPr txBox="1">
                <a:spLocks noRot="1" noChangeAspect="1" noMove="1" noResize="1" noEditPoints="1" noAdjustHandles="1" noChangeArrowheads="1" noChangeShapeType="1" noTextEdit="1"/>
              </p:cNvSpPr>
              <p:nvPr/>
            </p:nvSpPr>
            <p:spPr>
              <a:xfrm>
                <a:off x="2074501" y="521361"/>
                <a:ext cx="6096000" cy="780598"/>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9658401-48AA-E5B5-4C1D-7B4D01DE7355}"/>
              </a:ext>
            </a:extLst>
          </p:cNvPr>
          <p:cNvSpPr txBox="1"/>
          <p:nvPr/>
        </p:nvSpPr>
        <p:spPr>
          <a:xfrm>
            <a:off x="7943809" y="449995"/>
            <a:ext cx="4017898" cy="923330"/>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Probability of enrolling in</a:t>
            </a:r>
          </a:p>
          <a:p>
            <a:r>
              <a:rPr lang="en-US" dirty="0">
                <a:latin typeface="Calibri" panose="020F0502020204030204" pitchFamily="34" charset="0"/>
                <a:ea typeface="Calibri" panose="020F0502020204030204" pitchFamily="34" charset="0"/>
                <a:cs typeface="Calibri" panose="020F0502020204030204" pitchFamily="34" charset="0"/>
              </a:rPr>
              <a:t>college ‘conditional on’ values</a:t>
            </a:r>
          </a:p>
          <a:p>
            <a:r>
              <a:rPr lang="en-US" dirty="0">
                <a:latin typeface="Calibri" panose="020F0502020204030204" pitchFamily="34" charset="0"/>
                <a:ea typeface="Calibri" panose="020F0502020204030204" pitchFamily="34" charset="0"/>
                <a:cs typeface="Calibri" panose="020F0502020204030204" pitchFamily="34" charset="0"/>
              </a:rPr>
              <a:t>of one’s grade point average</a:t>
            </a:r>
          </a:p>
        </p:txBody>
      </p:sp>
    </p:spTree>
    <p:extLst>
      <p:ext uri="{BB962C8B-B14F-4D97-AF65-F5344CB8AC3E}">
        <p14:creationId xmlns:p14="http://schemas.microsoft.com/office/powerpoint/2010/main" val="4230484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FE46-FEF1-677C-1185-5A6C31A07F4A}"/>
              </a:ext>
            </a:extLst>
          </p:cNvPr>
          <p:cNvSpPr>
            <a:spLocks noGrp="1"/>
          </p:cNvSpPr>
          <p:nvPr>
            <p:ph type="title"/>
          </p:nvPr>
        </p:nvSpPr>
        <p:spPr/>
        <p:txBody>
          <a:bodyPr/>
          <a:lstStyle/>
          <a:p>
            <a:r>
              <a:rPr lang="en-US" dirty="0">
                <a:latin typeface="+mn-lt"/>
              </a:rPr>
              <a:t>Your turn</a:t>
            </a:r>
          </a:p>
        </p:txBody>
      </p:sp>
      <p:sp>
        <p:nvSpPr>
          <p:cNvPr id="3" name="Content Placeholder 2">
            <a:extLst>
              <a:ext uri="{FF2B5EF4-FFF2-40B4-BE49-F238E27FC236}">
                <a16:creationId xmlns:a16="http://schemas.microsoft.com/office/drawing/2014/main" id="{233C359F-B15E-9CA4-ECE3-38A1680AF08E}"/>
              </a:ext>
            </a:extLst>
          </p:cNvPr>
          <p:cNvSpPr>
            <a:spLocks noGrp="1"/>
          </p:cNvSpPr>
          <p:nvPr>
            <p:ph idx="1"/>
          </p:nvPr>
        </p:nvSpPr>
        <p:spPr/>
        <p:txBody>
          <a:bodyPr>
            <a:normAutofit fontScale="92500" lnSpcReduction="10000"/>
          </a:bodyPr>
          <a:lstStyle/>
          <a:p>
            <a:r>
              <a:rPr lang="en-US" dirty="0"/>
              <a:t>Open the file </a:t>
            </a:r>
            <a:r>
              <a:rPr lang="en-US" dirty="0" err="1"/>
              <a:t>passing.JASP</a:t>
            </a:r>
            <a:r>
              <a:rPr lang="en-US" dirty="0"/>
              <a:t> in JASP</a:t>
            </a:r>
          </a:p>
          <a:p>
            <a:r>
              <a:rPr lang="en-US" dirty="0"/>
              <a:t>The data has three made-up variables:</a:t>
            </a:r>
          </a:p>
          <a:p>
            <a:pPr lvl="1"/>
            <a:r>
              <a:rPr lang="en-US" dirty="0"/>
              <a:t>Passed a statistics test</a:t>
            </a:r>
          </a:p>
          <a:p>
            <a:pPr lvl="1"/>
            <a:r>
              <a:rPr lang="en-US" dirty="0"/>
              <a:t>Hours of study</a:t>
            </a:r>
          </a:p>
          <a:p>
            <a:pPr lvl="1"/>
            <a:r>
              <a:rPr lang="en-US" dirty="0"/>
              <a:t>Gender (1 = male, 0 = female)</a:t>
            </a:r>
          </a:p>
          <a:p>
            <a:r>
              <a:rPr lang="en-US" dirty="0"/>
              <a:t>Run a binary logistic regression of passed on hours</a:t>
            </a:r>
          </a:p>
          <a:p>
            <a:pPr lvl="1"/>
            <a:r>
              <a:rPr lang="en-US" dirty="0"/>
              <a:t>Write out the regression equation</a:t>
            </a:r>
          </a:p>
          <a:p>
            <a:pPr lvl="1"/>
            <a:r>
              <a:rPr lang="en-US" dirty="0"/>
              <a:t>Predict the probability of passing for 0, 50, 100, 150,200 and 250 hours of studying</a:t>
            </a:r>
          </a:p>
          <a:p>
            <a:pPr lvl="1"/>
            <a:r>
              <a:rPr lang="en-US" dirty="0"/>
              <a:t>Add gender into the model and interpret the coefficient in terms of odds and percent change in odds</a:t>
            </a:r>
          </a:p>
          <a:p>
            <a:pPr lvl="1"/>
            <a:r>
              <a:rPr lang="en-US" dirty="0"/>
              <a:t>Does adding gender improve the model fit?</a:t>
            </a:r>
          </a:p>
          <a:p>
            <a:pPr lvl="1"/>
            <a:r>
              <a:rPr lang="en-US" dirty="0"/>
              <a:t>Compute the probability of passing for males and females for 100 study hours</a:t>
            </a:r>
          </a:p>
        </p:txBody>
      </p:sp>
    </p:spTree>
    <p:extLst>
      <p:ext uri="{BB962C8B-B14F-4D97-AF65-F5344CB8AC3E}">
        <p14:creationId xmlns:p14="http://schemas.microsoft.com/office/powerpoint/2010/main" val="15131758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163F7-EFC9-4C87-B335-27E12748653F}"/>
              </a:ext>
            </a:extLst>
          </p:cNvPr>
          <p:cNvSpPr>
            <a:spLocks noGrp="1"/>
          </p:cNvSpPr>
          <p:nvPr>
            <p:ph type="title"/>
          </p:nvPr>
        </p:nvSpPr>
        <p:spPr/>
        <p:txBody>
          <a:bodyPr/>
          <a:lstStyle/>
          <a:p>
            <a:r>
              <a:rPr lang="en-US" dirty="0">
                <a:latin typeface="+mn-lt"/>
              </a:rPr>
              <a:t>Model &amp; Interpretation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228038A-0552-4A48-A5CE-E946E4F55D43}"/>
                  </a:ext>
                </a:extLst>
              </p:cNvPr>
              <p:cNvSpPr txBox="1"/>
              <p:nvPr/>
            </p:nvSpPr>
            <p:spPr>
              <a:xfrm>
                <a:off x="4560276" y="1494859"/>
                <a:ext cx="3370153"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𝑙𝑜𝑔𝑖𝑡</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4228038A-0552-4A48-A5CE-E946E4F55D43}"/>
                  </a:ext>
                </a:extLst>
              </p:cNvPr>
              <p:cNvSpPr txBox="1">
                <a:spLocks noRot="1" noChangeAspect="1" noMove="1" noResize="1" noEditPoints="1" noAdjustHandles="1" noChangeArrowheads="1" noChangeShapeType="1" noTextEdit="1"/>
              </p:cNvSpPr>
              <p:nvPr/>
            </p:nvSpPr>
            <p:spPr>
              <a:xfrm>
                <a:off x="4560276" y="1494859"/>
                <a:ext cx="3370153" cy="369332"/>
              </a:xfrm>
              <a:prstGeom prst="rect">
                <a:avLst/>
              </a:prstGeom>
              <a:blipFill>
                <a:blip r:embed="rId2"/>
                <a:stretch>
                  <a:fillRect l="-2712" r="-1627" b="-344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ACD6B6B-6ABB-4B5C-947A-37958D728DBF}"/>
                  </a:ext>
                </a:extLst>
              </p:cNvPr>
              <p:cNvSpPr txBox="1"/>
              <p:nvPr/>
            </p:nvSpPr>
            <p:spPr>
              <a:xfrm>
                <a:off x="3197352" y="2009226"/>
                <a:ext cx="6096000" cy="7805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082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num>
                        <m:den>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Sup>
                            <m:sSupPr>
                              <m:ctrlP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𝑒𝑥𝑝</m:t>
                              </m:r>
                            </m:e>
                            <m:sup>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9</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082</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𝑋</m:t>
                              </m:r>
                              <m:r>
                                <a:rPr kumimoji="0" 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sup>
                          </m:sSup>
                        </m:den>
                      </m:f>
                    </m:oMath>
                  </m:oMathPara>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4ACD6B6B-6ABB-4B5C-947A-37958D728DBF}"/>
                  </a:ext>
                </a:extLst>
              </p:cNvPr>
              <p:cNvSpPr txBox="1">
                <a:spLocks noRot="1" noChangeAspect="1" noMove="1" noResize="1" noEditPoints="1" noAdjustHandles="1" noChangeArrowheads="1" noChangeShapeType="1" noTextEdit="1"/>
              </p:cNvSpPr>
              <p:nvPr/>
            </p:nvSpPr>
            <p:spPr>
              <a:xfrm>
                <a:off x="3197352" y="2009226"/>
                <a:ext cx="6096000" cy="780598"/>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711D712-E684-4676-87BA-AC5B02F84AB6}"/>
              </a:ext>
            </a:extLst>
          </p:cNvPr>
          <p:cNvSpPr txBox="1"/>
          <p:nvPr/>
        </p:nvSpPr>
        <p:spPr>
          <a:xfrm>
            <a:off x="2625612" y="2820422"/>
            <a:ext cx="799092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Check: What is the Probability of passing when hours =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Note: exp(.082) = 1.085</a:t>
            </a:r>
          </a:p>
        </p:txBody>
      </p:sp>
      <p:graphicFrame>
        <p:nvGraphicFramePr>
          <p:cNvPr id="8" name="Table 8">
            <a:extLst>
              <a:ext uri="{FF2B5EF4-FFF2-40B4-BE49-F238E27FC236}">
                <a16:creationId xmlns:a16="http://schemas.microsoft.com/office/drawing/2014/main" id="{40820363-54E8-45FA-89E0-0EA585BDCB00}"/>
              </a:ext>
            </a:extLst>
          </p:cNvPr>
          <p:cNvGraphicFramePr>
            <a:graphicFrameLocks noGrp="1"/>
          </p:cNvGraphicFramePr>
          <p:nvPr/>
        </p:nvGraphicFramePr>
        <p:xfrm>
          <a:off x="2625612" y="3567499"/>
          <a:ext cx="8128001" cy="1112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187545845"/>
                    </a:ext>
                  </a:extLst>
                </a:gridCol>
                <a:gridCol w="1161143">
                  <a:extLst>
                    <a:ext uri="{9D8B030D-6E8A-4147-A177-3AD203B41FA5}">
                      <a16:colId xmlns:a16="http://schemas.microsoft.com/office/drawing/2014/main" val="1469675302"/>
                    </a:ext>
                  </a:extLst>
                </a:gridCol>
                <a:gridCol w="1161143">
                  <a:extLst>
                    <a:ext uri="{9D8B030D-6E8A-4147-A177-3AD203B41FA5}">
                      <a16:colId xmlns:a16="http://schemas.microsoft.com/office/drawing/2014/main" val="3428863924"/>
                    </a:ext>
                  </a:extLst>
                </a:gridCol>
                <a:gridCol w="1161143">
                  <a:extLst>
                    <a:ext uri="{9D8B030D-6E8A-4147-A177-3AD203B41FA5}">
                      <a16:colId xmlns:a16="http://schemas.microsoft.com/office/drawing/2014/main" val="2398877540"/>
                    </a:ext>
                  </a:extLst>
                </a:gridCol>
                <a:gridCol w="1161143">
                  <a:extLst>
                    <a:ext uri="{9D8B030D-6E8A-4147-A177-3AD203B41FA5}">
                      <a16:colId xmlns:a16="http://schemas.microsoft.com/office/drawing/2014/main" val="1786134316"/>
                    </a:ext>
                  </a:extLst>
                </a:gridCol>
                <a:gridCol w="1161143">
                  <a:extLst>
                    <a:ext uri="{9D8B030D-6E8A-4147-A177-3AD203B41FA5}">
                      <a16:colId xmlns:a16="http://schemas.microsoft.com/office/drawing/2014/main" val="949900990"/>
                    </a:ext>
                  </a:extLst>
                </a:gridCol>
                <a:gridCol w="1161143">
                  <a:extLst>
                    <a:ext uri="{9D8B030D-6E8A-4147-A177-3AD203B41FA5}">
                      <a16:colId xmlns:a16="http://schemas.microsoft.com/office/drawing/2014/main" val="2726842621"/>
                    </a:ext>
                  </a:extLst>
                </a:gridCol>
              </a:tblGrid>
              <a:tr h="370840">
                <a:tc gridSpan="7">
                  <a:txBody>
                    <a:bodyPr/>
                    <a:lstStyle/>
                    <a:p>
                      <a:r>
                        <a:rPr lang="en-US" dirty="0"/>
                        <a:t>Table 1. Predicted probability of Passing Conditional on Hours Studying</a:t>
                      </a:r>
                    </a:p>
                  </a:txBody>
                  <a:tcPr/>
                </a:tc>
                <a:tc hMerge="1">
                  <a:txBody>
                    <a:bodyPr/>
                    <a:lstStyle/>
                    <a:p>
                      <a:r>
                        <a:rPr lang="en-US" dirty="0"/>
                        <a:t>Table 1. Predicted probability of Passing Conditional on Hours Studying</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198467137"/>
                  </a:ext>
                </a:extLst>
              </a:tr>
              <a:tr h="370840">
                <a:tc>
                  <a:txBody>
                    <a:bodyPr/>
                    <a:lstStyle/>
                    <a:p>
                      <a:pPr algn="ctr"/>
                      <a:r>
                        <a:rPr lang="en-US" i="1" dirty="0"/>
                        <a:t>X</a:t>
                      </a:r>
                    </a:p>
                  </a:txBody>
                  <a:tcPr/>
                </a:tc>
                <a:tc>
                  <a:txBody>
                    <a:bodyPr/>
                    <a:lstStyle/>
                    <a:p>
                      <a:pPr algn="ctr"/>
                      <a:r>
                        <a:rPr lang="en-US" dirty="0"/>
                        <a:t>0</a:t>
                      </a:r>
                    </a:p>
                  </a:txBody>
                  <a:tcPr/>
                </a:tc>
                <a:tc>
                  <a:txBody>
                    <a:bodyPr/>
                    <a:lstStyle/>
                    <a:p>
                      <a:pPr algn="ctr"/>
                      <a:r>
                        <a:rPr lang="en-US" dirty="0"/>
                        <a:t>50</a:t>
                      </a:r>
                    </a:p>
                  </a:txBody>
                  <a:tcPr/>
                </a:tc>
                <a:tc>
                  <a:txBody>
                    <a:bodyPr/>
                    <a:lstStyle/>
                    <a:p>
                      <a:pPr algn="ctr"/>
                      <a:r>
                        <a:rPr lang="en-US" dirty="0"/>
                        <a:t>100</a:t>
                      </a:r>
                    </a:p>
                  </a:txBody>
                  <a:tcPr/>
                </a:tc>
                <a:tc>
                  <a:txBody>
                    <a:bodyPr/>
                    <a:lstStyle/>
                    <a:p>
                      <a:pPr algn="ctr"/>
                      <a:r>
                        <a:rPr lang="en-US" dirty="0"/>
                        <a:t>150</a:t>
                      </a:r>
                    </a:p>
                  </a:txBody>
                  <a:tcPr/>
                </a:tc>
                <a:tc>
                  <a:txBody>
                    <a:bodyPr/>
                    <a:lstStyle/>
                    <a:p>
                      <a:pPr algn="ctr"/>
                      <a:r>
                        <a:rPr lang="en-US" dirty="0"/>
                        <a:t>200</a:t>
                      </a:r>
                    </a:p>
                  </a:txBody>
                  <a:tcPr/>
                </a:tc>
                <a:tc>
                  <a:txBody>
                    <a:bodyPr/>
                    <a:lstStyle/>
                    <a:p>
                      <a:pPr algn="ctr"/>
                      <a:r>
                        <a:rPr lang="en-US" dirty="0"/>
                        <a:t>250</a:t>
                      </a:r>
                    </a:p>
                  </a:txBody>
                  <a:tcPr/>
                </a:tc>
                <a:extLst>
                  <a:ext uri="{0D108BD9-81ED-4DB2-BD59-A6C34878D82A}">
                    <a16:rowId xmlns:a16="http://schemas.microsoft.com/office/drawing/2014/main" val="697809082"/>
                  </a:ext>
                </a:extLst>
              </a:tr>
              <a:tr h="370840">
                <a:tc>
                  <a:txBody>
                    <a:bodyPr/>
                    <a:lstStyle/>
                    <a:p>
                      <a:pPr algn="ctr"/>
                      <a:r>
                        <a:rPr lang="en-US" dirty="0"/>
                        <a:t>P(</a:t>
                      </a:r>
                      <a:r>
                        <a:rPr lang="en-US" i="1" dirty="0" err="1"/>
                        <a:t>Y</a:t>
                      </a:r>
                      <a:r>
                        <a:rPr lang="en-US" dirty="0" err="1"/>
                        <a:t>|</a:t>
                      </a:r>
                      <a:r>
                        <a:rPr lang="en-US" i="1" dirty="0" err="1"/>
                        <a:t>x</a:t>
                      </a:r>
                      <a:r>
                        <a:rPr lang="en-US" dirty="0"/>
                        <a:t>=</a:t>
                      </a:r>
                      <a:r>
                        <a:rPr lang="en-US" i="1" dirty="0"/>
                        <a:t>X</a:t>
                      </a:r>
                      <a:r>
                        <a:rPr lang="en-US" dirty="0"/>
                        <a:t>)</a:t>
                      </a:r>
                    </a:p>
                  </a:txBody>
                  <a:tcPr/>
                </a:tc>
                <a:tc>
                  <a:txBody>
                    <a:bodyPr/>
                    <a:lstStyle/>
                    <a:p>
                      <a:pPr algn="ctr"/>
                      <a:r>
                        <a:rPr lang="en-US" dirty="0"/>
                        <a:t>0.0055</a:t>
                      </a:r>
                    </a:p>
                  </a:txBody>
                  <a:tcPr/>
                </a:tc>
                <a:tc>
                  <a:txBody>
                    <a:bodyPr/>
                    <a:lstStyle/>
                    <a:p>
                      <a:pPr algn="ctr"/>
                      <a:r>
                        <a:rPr lang="en-US" dirty="0"/>
                        <a:t>0.0603</a:t>
                      </a:r>
                    </a:p>
                  </a:txBody>
                  <a:tcPr/>
                </a:tc>
                <a:tc>
                  <a:txBody>
                    <a:bodyPr/>
                    <a:lstStyle/>
                    <a:p>
                      <a:pPr algn="ctr"/>
                      <a:r>
                        <a:rPr lang="en-US" dirty="0"/>
                        <a:t>0.4286</a:t>
                      </a:r>
                    </a:p>
                  </a:txBody>
                  <a:tcPr/>
                </a:tc>
                <a:tc>
                  <a:txBody>
                    <a:bodyPr/>
                    <a:lstStyle/>
                    <a:p>
                      <a:pPr algn="ctr"/>
                      <a:r>
                        <a:rPr lang="en-US" dirty="0"/>
                        <a:t>0.6298</a:t>
                      </a:r>
                    </a:p>
                  </a:txBody>
                  <a:tcPr/>
                </a:tc>
                <a:tc>
                  <a:txBody>
                    <a:bodyPr/>
                    <a:lstStyle/>
                    <a:p>
                      <a:pPr algn="ctr"/>
                      <a:r>
                        <a:rPr lang="en-US" dirty="0"/>
                        <a:t>0.8975</a:t>
                      </a:r>
                    </a:p>
                  </a:txBody>
                  <a:tcPr/>
                </a:tc>
                <a:tc>
                  <a:txBody>
                    <a:bodyPr/>
                    <a:lstStyle/>
                    <a:p>
                      <a:pPr algn="ctr"/>
                      <a:r>
                        <a:rPr lang="en-US" dirty="0"/>
                        <a:t>0.9783</a:t>
                      </a:r>
                    </a:p>
                  </a:txBody>
                  <a:tcPr/>
                </a:tc>
                <a:extLst>
                  <a:ext uri="{0D108BD9-81ED-4DB2-BD59-A6C34878D82A}">
                    <a16:rowId xmlns:a16="http://schemas.microsoft.com/office/drawing/2014/main" val="2298470724"/>
                  </a:ext>
                </a:extLst>
              </a:tr>
            </a:tbl>
          </a:graphicData>
        </a:graphic>
      </p:graphicFrame>
      <p:sp>
        <p:nvSpPr>
          <p:cNvPr id="9" name="TextBox 8">
            <a:extLst>
              <a:ext uri="{FF2B5EF4-FFF2-40B4-BE49-F238E27FC236}">
                <a16:creationId xmlns:a16="http://schemas.microsoft.com/office/drawing/2014/main" id="{59BFAC01-B762-44F6-A22C-C6A5E71CB662}"/>
              </a:ext>
            </a:extLst>
          </p:cNvPr>
          <p:cNvSpPr txBox="1"/>
          <p:nvPr/>
        </p:nvSpPr>
        <p:spPr>
          <a:xfrm>
            <a:off x="2134456" y="4765669"/>
            <a:ext cx="91103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Each additional hour spent working increases the odds of passing by [exp(.082)-1  *100] percent</a:t>
            </a:r>
          </a:p>
        </p:txBody>
      </p:sp>
      <p:sp>
        <p:nvSpPr>
          <p:cNvPr id="10" name="TextBox 9">
            <a:extLst>
              <a:ext uri="{FF2B5EF4-FFF2-40B4-BE49-F238E27FC236}">
                <a16:creationId xmlns:a16="http://schemas.microsoft.com/office/drawing/2014/main" id="{25864E1C-FC24-40CD-88EB-56160CC74F78}"/>
              </a:ext>
            </a:extLst>
          </p:cNvPr>
          <p:cNvSpPr txBox="1"/>
          <p:nvPr/>
        </p:nvSpPr>
        <p:spPr>
          <a:xfrm>
            <a:off x="2134456" y="5112675"/>
            <a:ext cx="82460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Each additional hour spent working increases the odds of passing by about 8.5 percent</a:t>
            </a:r>
          </a:p>
        </p:txBody>
      </p:sp>
      <p:sp>
        <p:nvSpPr>
          <p:cNvPr id="11" name="TextBox 10">
            <a:extLst>
              <a:ext uri="{FF2B5EF4-FFF2-40B4-BE49-F238E27FC236}">
                <a16:creationId xmlns:a16="http://schemas.microsoft.com/office/drawing/2014/main" id="{3CE1CEBD-AB22-4755-84C1-0CC6A42074C3}"/>
              </a:ext>
            </a:extLst>
          </p:cNvPr>
          <p:cNvSpPr txBox="1"/>
          <p:nvPr/>
        </p:nvSpPr>
        <p:spPr>
          <a:xfrm>
            <a:off x="2101028" y="5431213"/>
            <a:ext cx="79899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odds of passing are 1.085 times higher for each additional hour spent studying</a:t>
            </a:r>
          </a:p>
        </p:txBody>
      </p:sp>
    </p:spTree>
    <p:extLst>
      <p:ext uri="{BB962C8B-B14F-4D97-AF65-F5344CB8AC3E}">
        <p14:creationId xmlns:p14="http://schemas.microsoft.com/office/powerpoint/2010/main" val="9738366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1F281-EB49-C1F7-10D6-82B23DC8B603}"/>
              </a:ext>
            </a:extLst>
          </p:cNvPr>
          <p:cNvSpPr>
            <a:spLocks noGrp="1"/>
          </p:cNvSpPr>
          <p:nvPr>
            <p:ph type="title"/>
          </p:nvPr>
        </p:nvSpPr>
        <p:spPr/>
        <p:txBody>
          <a:bodyPr/>
          <a:lstStyle/>
          <a:p>
            <a:r>
              <a:rPr lang="en-US" dirty="0"/>
              <a:t>Full example in R</a:t>
            </a:r>
          </a:p>
        </p:txBody>
      </p:sp>
      <p:sp>
        <p:nvSpPr>
          <p:cNvPr id="3" name="Content Placeholder 2">
            <a:extLst>
              <a:ext uri="{FF2B5EF4-FFF2-40B4-BE49-F238E27FC236}">
                <a16:creationId xmlns:a16="http://schemas.microsoft.com/office/drawing/2014/main" id="{987F0B45-6F42-A7C5-F4EF-B1CAE12CCDD0}"/>
              </a:ext>
            </a:extLst>
          </p:cNvPr>
          <p:cNvSpPr>
            <a:spLocks noGrp="1"/>
          </p:cNvSpPr>
          <p:nvPr>
            <p:ph idx="1"/>
          </p:nvPr>
        </p:nvSpPr>
        <p:spPr/>
        <p:txBody>
          <a:bodyPr/>
          <a:lstStyle/>
          <a:p>
            <a:r>
              <a:rPr lang="en-US" dirty="0"/>
              <a:t>See example </a:t>
            </a:r>
            <a:r>
              <a:rPr lang="en-US" dirty="0" err="1"/>
              <a:t>logistic.R</a:t>
            </a:r>
            <a:endParaRPr lang="en-US" dirty="0"/>
          </a:p>
        </p:txBody>
      </p:sp>
    </p:spTree>
    <p:extLst>
      <p:ext uri="{BB962C8B-B14F-4D97-AF65-F5344CB8AC3E}">
        <p14:creationId xmlns:p14="http://schemas.microsoft.com/office/powerpoint/2010/main" val="3887280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7&quot;/&gt;&lt;lineCharCount val=&quot;14&quot;/&gt;&lt;lineCharCount val=&quot;24&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7&quot;/&gt;&lt;lineCharCount val=&quot;19&quot;/&gt;&lt;lineCharCount val=&quot;19&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quot;/&gt;&lt;lineCharCount val=&quot;5&quot;/&gt;&lt;lineCharCount val=&quot;7&quot;/&gt;&lt;lineCharCount val=&quot;6&quot;/&gt;&lt;/TableIndex&gt;&lt;TableIndex row=&quot;1&quot; col=&quot;2&quot;&gt;&lt;linesCount val=&quot;3&quot;/&gt;&lt;lineCharCount val=&quot;1&quot;/&gt;&lt;lineCharCount val=&quot;1&quot;/&gt;&lt;lineCharCount val=&quot;7&quot;/&gt;&lt;/TableIndex&gt;&lt;TableIndex row=&quot;1&quot; col=&quot;3&quot;&gt;&lt;linesCount val=&quot;3&quot;/&gt;&lt;lineCharCount val=&quot;1&quot;/&gt;&lt;lineCharCount val=&quot;1&quot;/&gt;&lt;lineCharCount val=&quot;7&quot;/&gt;&lt;/TableIndex&gt;&lt;TableIndex row=&quot;2&quot; col=&quot;1&quot;&gt;&lt;linesCount val=&quot;3&quot;/&gt;&lt;lineCharCount val=&quot;5&quot;/&gt;&lt;lineCharCount val=&quot;7&quot;/&gt;&lt;lineCharCount val=&quot;7&quot;/&gt;&lt;/TableIndex&gt;&lt;TableIndex row=&quot;2&quot; col=&quot;2&quot;&gt;&lt;linesCount val=&quot;2&quot;/&gt;&lt;lineCharCount val=&quot;1&quot;/&gt;&lt;lineCharCount val=&quot;1&quot;/&gt;&lt;/TableIndex&gt;&lt;TableIndex row=&quot;2&quot; col=&quot;3&quot;&gt;&lt;linesCount val=&quot;2&quot;/&gt;&lt;lineCharCount val=&quot;1&quot;/&gt;&lt;lineCharCount val=&quot;1&quot;/&gt;&lt;/TableIndex&gt;&lt;TableIndex row=&quot;3&quot; col=&quot;1&quot;&gt;&lt;linesCount val=&quot;3&quot;/&gt;&lt;lineCharCount val=&quot;5&quot;/&gt;&lt;lineCharCount val=&quot;7&quot;/&gt;&lt;lineCharCount val=&quot;6&quot;/&gt;&lt;/TableIndex&gt;&lt;TableIndex row=&quot;3&quot; col=&quot;2&quot;&gt;&lt;linesCount val=&quot;2&quot;/&gt;&lt;lineCharCount val=&quot;1&quot;/&gt;&lt;lineCharCount val=&quot;1&quot;/&gt;&lt;/TableIndex&gt;&lt;TableIndex row=&quot;3&quot; col=&quot;3&quot;&gt;&lt;linesCount val=&quot;2&quot;/&gt;&lt;lineCharCount val=&quot;1&quot;/&gt;&lt;lineCharCount val=&quot;1&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quot;/&gt;&lt;lineCharCount val=&quot;5&quot;/&gt;&lt;lineCharCount val=&quot;7&quot;/&gt;&lt;lineCharCount val=&quot;6&quot;/&gt;&lt;/TableIndex&gt;&lt;TableIndex row=&quot;1&quot; col=&quot;2&quot;&gt;&lt;linesCount val=&quot;3&quot;/&gt;&lt;lineCharCount val=&quot;1&quot;/&gt;&lt;lineCharCount val=&quot;1&quot;/&gt;&lt;lineCharCount val=&quot;7&quot;/&gt;&lt;/TableIndex&gt;&lt;TableIndex row=&quot;1&quot; col=&quot;3&quot;&gt;&lt;linesCount val=&quot;3&quot;/&gt;&lt;lineCharCount val=&quot;1&quot;/&gt;&lt;lineCharCount val=&quot;1&quot;/&gt;&lt;lineCharCount val=&quot;7&quot;/&gt;&lt;/TableIndex&gt;&lt;TableIndex row=&quot;2&quot; col=&quot;1&quot;&gt;&lt;linesCount val=&quot;3&quot;/&gt;&lt;lineCharCount val=&quot;5&quot;/&gt;&lt;lineCharCount val=&quot;7&quot;/&gt;&lt;lineCharCount val=&quot;7&quot;/&gt;&lt;/TableIndex&gt;&lt;TableIndex row=&quot;2&quot; col=&quot;2&quot;&gt;&lt;linesCount val=&quot;2&quot;/&gt;&lt;lineCharCount val=&quot;1&quot;/&gt;&lt;lineCharCount val=&quot;1&quot;/&gt;&lt;/TableIndex&gt;&lt;TableIndex row=&quot;2&quot; col=&quot;3&quot;&gt;&lt;linesCount val=&quot;2&quot;/&gt;&lt;lineCharCount val=&quot;1&quot;/&gt;&lt;lineCharCount val=&quot;1&quot;/&gt;&lt;/TableIndex&gt;&lt;TableIndex row=&quot;3&quot; col=&quot;1&quot;&gt;&lt;linesCount val=&quot;3&quot;/&gt;&lt;lineCharCount val=&quot;5&quot;/&gt;&lt;lineCharCount val=&quot;7&quot;/&gt;&lt;lineCharCount val=&quot;6&quot;/&gt;&lt;/TableIndex&gt;&lt;TableIndex row=&quot;3&quot; col=&quot;2&quot;&gt;&lt;linesCount val=&quot;2&quot;/&gt;&lt;lineCharCount val=&quot;1&quot;/&gt;&lt;lineCharCount val=&quot;1&quot;/&gt;&lt;/TableIndex&gt;&lt;TableIndex row=&quot;3&quot; col=&quot;3&quot;&gt;&lt;linesCount val=&quot;2&quot;/&gt;&lt;lineCharCount val=&quot;1&quot;/&gt;&lt;lineCharCount val=&quot;1&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Lst>
</file>

<file path=ppt/theme/theme1.xml><?xml version="1.0" encoding="utf-8"?>
<a:theme xmlns:a="http://schemas.openxmlformats.org/drawingml/2006/main" name="RetrospectVTI">
  <a:themeElements>
    <a:clrScheme name="AnalogousFromRegularSeedRightStep">
      <a:dk1>
        <a:srgbClr val="000000"/>
      </a:dk1>
      <a:lt1>
        <a:srgbClr val="FFFFFF"/>
      </a:lt1>
      <a:dk2>
        <a:srgbClr val="34381F"/>
      </a:dk2>
      <a:lt2>
        <a:srgbClr val="E2E8E7"/>
      </a:lt2>
      <a:accent1>
        <a:srgbClr val="DA3657"/>
      </a:accent1>
      <a:accent2>
        <a:srgbClr val="C84724"/>
      </a:accent2>
      <a:accent3>
        <a:srgbClr val="D39834"/>
      </a:accent3>
      <a:accent4>
        <a:srgbClr val="A2A91E"/>
      </a:accent4>
      <a:accent5>
        <a:srgbClr val="76B52D"/>
      </a:accent5>
      <a:accent6>
        <a:srgbClr val="34BB22"/>
      </a:accent6>
      <a:hlink>
        <a:srgbClr val="31937F"/>
      </a:hlink>
      <a:folHlink>
        <a:srgbClr val="7F7F7F"/>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RetrospectVTI">
  <a:themeElements>
    <a:clrScheme name="AnalogousFromRegularSeedRightStep">
      <a:dk1>
        <a:srgbClr val="000000"/>
      </a:dk1>
      <a:lt1>
        <a:srgbClr val="FFFFFF"/>
      </a:lt1>
      <a:dk2>
        <a:srgbClr val="34381F"/>
      </a:dk2>
      <a:lt2>
        <a:srgbClr val="E2E8E7"/>
      </a:lt2>
      <a:accent1>
        <a:srgbClr val="DA3657"/>
      </a:accent1>
      <a:accent2>
        <a:srgbClr val="C84724"/>
      </a:accent2>
      <a:accent3>
        <a:srgbClr val="D39834"/>
      </a:accent3>
      <a:accent4>
        <a:srgbClr val="A2A91E"/>
      </a:accent4>
      <a:accent5>
        <a:srgbClr val="76B52D"/>
      </a:accent5>
      <a:accent6>
        <a:srgbClr val="34BB22"/>
      </a:accent6>
      <a:hlink>
        <a:srgbClr val="31937F"/>
      </a:hlink>
      <a:folHlink>
        <a:srgbClr val="7F7F7F"/>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af2c334-a430-41de-afde-7e5b02016b0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89A7FC12CB50A4097C486CD8CD69117" ma:contentTypeVersion="18" ma:contentTypeDescription="Create a new document." ma:contentTypeScope="" ma:versionID="5c596426e029c3bf96e8f575ab8c5d52">
  <xsd:schema xmlns:xsd="http://www.w3.org/2001/XMLSchema" xmlns:xs="http://www.w3.org/2001/XMLSchema" xmlns:p="http://schemas.microsoft.com/office/2006/metadata/properties" xmlns:ns3="8af2c334-a430-41de-afde-7e5b02016b08" xmlns:ns4="c4f41175-a8a9-44da-a6ab-b9a6b5c297b1" targetNamespace="http://schemas.microsoft.com/office/2006/metadata/properties" ma:root="true" ma:fieldsID="5030ff6c0d614aeeb250d09e255b9f02" ns3:_="" ns4:_="">
    <xsd:import namespace="8af2c334-a430-41de-afde-7e5b02016b08"/>
    <xsd:import namespace="c4f41175-a8a9-44da-a6ab-b9a6b5c297b1"/>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3:MediaLengthInSeconds" minOccurs="0"/>
                <xsd:element ref="ns4:SharedWithUsers" minOccurs="0"/>
                <xsd:element ref="ns4:SharedWithDetails" minOccurs="0"/>
                <xsd:element ref="ns4:SharingHintHash"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f2c334-a430-41de-afde-7e5b02016b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4f41175-a8a9-44da-a6ab-b9a6b5c297b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BFB997-11AF-42E3-BCA1-DE0EAF7DA776}">
  <ds:schemaRefs>
    <ds:schemaRef ds:uri="c4f41175-a8a9-44da-a6ab-b9a6b5c297b1"/>
    <ds:schemaRef ds:uri="http://purl.org/dc/elements/1.1/"/>
    <ds:schemaRef ds:uri="http://purl.org/dc/dcmitype/"/>
    <ds:schemaRef ds:uri="http://purl.org/dc/terms/"/>
    <ds:schemaRef ds:uri="http://schemas.microsoft.com/office/2006/metadata/properties"/>
    <ds:schemaRef ds:uri="http://schemas.microsoft.com/office/2006/documentManagement/types"/>
    <ds:schemaRef ds:uri="8af2c334-a430-41de-afde-7e5b02016b08"/>
    <ds:schemaRef ds:uri="http://www.w3.org/XML/1998/namespac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6016826-2327-483A-A4D4-719C38940902}">
  <ds:schemaRefs>
    <ds:schemaRef ds:uri="http://schemas.microsoft.com/sharepoint/v3/contenttype/forms"/>
  </ds:schemaRefs>
</ds:datastoreItem>
</file>

<file path=customXml/itemProps3.xml><?xml version="1.0" encoding="utf-8"?>
<ds:datastoreItem xmlns:ds="http://schemas.openxmlformats.org/officeDocument/2006/customXml" ds:itemID="{F130217C-F380-4AB9-B296-54D64B6453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f2c334-a430-41de-afde-7e5b02016b08"/>
    <ds:schemaRef ds:uri="c4f41175-a8a9-44da-a6ab-b9a6b5c297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17094</TotalTime>
  <Words>7144</Words>
  <Application>Microsoft Office PowerPoint</Application>
  <PresentationFormat>Widescreen</PresentationFormat>
  <Paragraphs>963</Paragraphs>
  <Slides>83</Slides>
  <Notes>12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83</vt:i4>
      </vt:variant>
    </vt:vector>
  </HeadingPairs>
  <TitlesOfParts>
    <vt:vector size="99" baseType="lpstr">
      <vt:lpstr>Aptos Display</vt:lpstr>
      <vt:lpstr>Arial</vt:lpstr>
      <vt:lpstr>Bookman Old Style</vt:lpstr>
      <vt:lpstr>Calibri</vt:lpstr>
      <vt:lpstr>Calibri Light</vt:lpstr>
      <vt:lpstr>Cambria</vt:lpstr>
      <vt:lpstr>Cambria Math</vt:lpstr>
      <vt:lpstr>Comic Sans MS</vt:lpstr>
      <vt:lpstr>Franklin Gothic Book</vt:lpstr>
      <vt:lpstr>Helvetica</vt:lpstr>
      <vt:lpstr>Palatino Linotype</vt:lpstr>
      <vt:lpstr>source-serif-pro</vt:lpstr>
      <vt:lpstr>Times New Roman</vt:lpstr>
      <vt:lpstr>RetrospectVTI</vt:lpstr>
      <vt:lpstr>Office Theme</vt:lpstr>
      <vt:lpstr>1_RetrospectVTI</vt:lpstr>
      <vt:lpstr>Advanced Topic: Heterogeneous Variable Types</vt:lpstr>
      <vt:lpstr>Beyond Numeric Features</vt:lpstr>
      <vt:lpstr>Models with Dummy Variables</vt:lpstr>
      <vt:lpstr>Interpreting Dummy Variables</vt:lpstr>
      <vt:lpstr>Categorical Variables and Dummies</vt:lpstr>
      <vt:lpstr>Example: Recoding dummy variables</vt:lpstr>
      <vt:lpstr>Example</vt:lpstr>
      <vt:lpstr>The correction</vt:lpstr>
      <vt:lpstr>Quadratic Terms </vt:lpstr>
      <vt:lpstr>Quadratic Terms </vt:lpstr>
      <vt:lpstr>Interaction Terms</vt:lpstr>
      <vt:lpstr>Risk Ratios, Odds Ratios, and Logistic Regression</vt:lpstr>
      <vt:lpstr>Measures of Risk</vt:lpstr>
      <vt:lpstr>Four Primary Risk Measures</vt:lpstr>
      <vt:lpstr>Prevalence</vt:lpstr>
      <vt:lpstr>Incidence</vt:lpstr>
      <vt:lpstr>Quantifying Risk and Interpreting Risk</vt:lpstr>
      <vt:lpstr>Quantifying Risk (or Benefit) Presentation and Interpretation of Information on Risk</vt:lpstr>
      <vt:lpstr>Relative Risk, Risk Ratio, or Rate Ratio (RR)</vt:lpstr>
      <vt:lpstr>Example: PTSD among foster youth by physical abuse</vt:lpstr>
      <vt:lpstr>PowerPoint Presentation</vt:lpstr>
      <vt:lpstr>Your Turn: Incidence of COVID-19 in a sample of individuals who received the Pfizer Vaccine</vt:lpstr>
      <vt:lpstr>Relationship between prevalence, probability and odds</vt:lpstr>
      <vt:lpstr>Interpretation</vt:lpstr>
      <vt:lpstr>Example</vt:lpstr>
      <vt:lpstr>Solution</vt:lpstr>
      <vt:lpstr>Relationship between probability and odds</vt:lpstr>
      <vt:lpstr>Example</vt:lpstr>
      <vt:lpstr>Intuition</vt:lpstr>
      <vt:lpstr>Computing Odds</vt:lpstr>
      <vt:lpstr>Example</vt:lpstr>
      <vt:lpstr>The Odds Ratio</vt:lpstr>
      <vt:lpstr>PowerPoint Presentation</vt:lpstr>
      <vt:lpstr>PowerPoint Presentation</vt:lpstr>
      <vt:lpstr>PowerPoint Presentation</vt:lpstr>
      <vt:lpstr>Easy Formula to use</vt:lpstr>
      <vt:lpstr>Easy Formula to use</vt:lpstr>
      <vt:lpstr>Other interpretations</vt:lpstr>
      <vt:lpstr>Introduction</vt:lpstr>
      <vt:lpstr>Research Questions &amp; Methodological Approaches</vt:lpstr>
      <vt:lpstr>Generalized Linear Models</vt:lpstr>
      <vt:lpstr> The sigmoidal function models the probability that Y = 1 conditional on X (i.e., values falling along the x-axis); using the logit function ensures that the Y values will be between 0 and 1 for all values of X (i.e., no matter the range of X)</vt:lpstr>
      <vt:lpstr>Univariate versus multivariate logistic regression</vt:lpstr>
      <vt:lpstr>Mechanics of Logistic Regression</vt:lpstr>
      <vt:lpstr>From Odds to Probability and Back Again</vt:lpstr>
      <vt:lpstr>Recall the relation between odds and probability</vt:lpstr>
      <vt:lpstr>Equivalent forms of the logistic regression model</vt:lpstr>
      <vt:lpstr>Mechanics of Logistic Regression</vt:lpstr>
      <vt:lpstr>Model fit</vt:lpstr>
      <vt:lpstr>Change in Log Likelihood test for model fit (1)</vt:lpstr>
      <vt:lpstr>Predicted Group Membership for determining model fit (2)</vt:lpstr>
      <vt:lpstr>Terminology for Predicted Group Membership table (1)</vt:lpstr>
      <vt:lpstr>Terminology for Predicted Group Membership table (2)</vt:lpstr>
      <vt:lpstr>Test of Significance of the Logistic Regression Coefficients</vt:lpstr>
      <vt:lpstr>What Logistic Regression Is and How It Works: Assumptions </vt:lpstr>
      <vt:lpstr>Recall the model</vt:lpstr>
      <vt:lpstr>What Logistic Regression Is and How It Works: Sample Size</vt:lpstr>
      <vt:lpstr>What Logistic Regression Is and How It Works: Effect Size</vt:lpstr>
      <vt:lpstr>Review Algebra</vt:lpstr>
      <vt:lpstr>Mathematical Snapshot</vt:lpstr>
      <vt:lpstr>Binary Logistic Regression in JASP</vt:lpstr>
      <vt:lpstr>Focus on the results first</vt:lpstr>
      <vt:lpstr>Computing probabilities</vt:lpstr>
      <vt:lpstr>Table of predicted probabilities</vt:lpstr>
      <vt:lpstr>Model Summary &amp; Classification</vt:lpstr>
      <vt:lpstr>More on classifications and correctly predicted observations</vt:lpstr>
      <vt:lpstr>PowerPoint Presentation</vt:lpstr>
      <vt:lpstr>PowerPoint Presentation</vt:lpstr>
      <vt:lpstr>Improving classification</vt:lpstr>
      <vt:lpstr>PowerPoint Presentation</vt:lpstr>
      <vt:lpstr>You may want to report…</vt:lpstr>
      <vt:lpstr>Log-Likelihood</vt:lpstr>
      <vt:lpstr>Does the addition of gender improve the model fit?</vt:lpstr>
      <vt:lpstr>PowerPoint Presentation</vt:lpstr>
      <vt:lpstr>Let’s do this in JASP</vt:lpstr>
      <vt:lpstr>Your turn</vt:lpstr>
      <vt:lpstr>Model &amp; Interpretation</vt:lpstr>
      <vt:lpstr>Jasp Output</vt:lpstr>
      <vt:lpstr>Let’s add a binary variable, gender, to the equation</vt:lpstr>
      <vt:lpstr>PowerPoint Presentation</vt:lpstr>
      <vt:lpstr>Your turn</vt:lpstr>
      <vt:lpstr>Model &amp; Interpretation</vt:lpstr>
      <vt:lpstr>Full example in 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Gia Barboza</dc:creator>
  <cp:lastModifiedBy>Barboza-Salerno, Gia</cp:lastModifiedBy>
  <cp:revision>245</cp:revision>
  <dcterms:created xsi:type="dcterms:W3CDTF">2021-03-16T23:24:52Z</dcterms:created>
  <dcterms:modified xsi:type="dcterms:W3CDTF">2026-02-14T19:29:02Z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0x010100A89A7FC12CB50A4097C486CD8CD69117</vt:lpwstr>
  </property>
</Properties>
</file>