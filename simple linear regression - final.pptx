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2" r:id="rId2"/>
    <p:sldMasterId id="2147483695" r:id="rId3"/>
  </p:sldMasterIdLst>
  <p:notesMasterIdLst>
    <p:notesMasterId r:id="rId83"/>
  </p:notesMasterIdLst>
  <p:sldIdLst>
    <p:sldId id="768" r:id="rId4"/>
    <p:sldId id="743" r:id="rId5"/>
    <p:sldId id="264" r:id="rId6"/>
    <p:sldId id="265" r:id="rId7"/>
    <p:sldId id="769" r:id="rId8"/>
    <p:sldId id="771" r:id="rId9"/>
    <p:sldId id="770" r:id="rId10"/>
    <p:sldId id="257" r:id="rId11"/>
    <p:sldId id="292" r:id="rId12"/>
    <p:sldId id="468" r:id="rId13"/>
    <p:sldId id="436" r:id="rId14"/>
    <p:sldId id="434" r:id="rId15"/>
    <p:sldId id="258" r:id="rId16"/>
    <p:sldId id="730" r:id="rId17"/>
    <p:sldId id="674" r:id="rId18"/>
    <p:sldId id="729" r:id="rId19"/>
    <p:sldId id="437" r:id="rId20"/>
    <p:sldId id="482" r:id="rId21"/>
    <p:sldId id="435" r:id="rId22"/>
    <p:sldId id="765" r:id="rId23"/>
    <p:sldId id="293" r:id="rId24"/>
    <p:sldId id="741" r:id="rId25"/>
    <p:sldId id="676" r:id="rId26"/>
    <p:sldId id="390" r:id="rId27"/>
    <p:sldId id="478" r:id="rId28"/>
    <p:sldId id="386" r:id="rId29"/>
    <p:sldId id="394" r:id="rId30"/>
    <p:sldId id="388" r:id="rId31"/>
    <p:sldId id="395" r:id="rId32"/>
    <p:sldId id="1231" r:id="rId33"/>
    <p:sldId id="480" r:id="rId34"/>
    <p:sldId id="462" r:id="rId35"/>
    <p:sldId id="463" r:id="rId36"/>
    <p:sldId id="466" r:id="rId37"/>
    <p:sldId id="467" r:id="rId38"/>
    <p:sldId id="268" r:id="rId39"/>
    <p:sldId id="732" r:id="rId40"/>
    <p:sldId id="752" r:id="rId41"/>
    <p:sldId id="745" r:id="rId42"/>
    <p:sldId id="739" r:id="rId43"/>
    <p:sldId id="740" r:id="rId44"/>
    <p:sldId id="767" r:id="rId45"/>
    <p:sldId id="312" r:id="rId46"/>
    <p:sldId id="313" r:id="rId47"/>
    <p:sldId id="259" r:id="rId48"/>
    <p:sldId id="260" r:id="rId49"/>
    <p:sldId id="314" r:id="rId50"/>
    <p:sldId id="315" r:id="rId51"/>
    <p:sldId id="755" r:id="rId52"/>
    <p:sldId id="1232" r:id="rId53"/>
    <p:sldId id="270" r:id="rId54"/>
    <p:sldId id="271" r:id="rId55"/>
    <p:sldId id="272" r:id="rId56"/>
    <p:sldId id="273" r:id="rId57"/>
    <p:sldId id="274" r:id="rId58"/>
    <p:sldId id="1233" r:id="rId59"/>
    <p:sldId id="276" r:id="rId60"/>
    <p:sldId id="1234" r:id="rId61"/>
    <p:sldId id="1235" r:id="rId62"/>
    <p:sldId id="279" r:id="rId63"/>
    <p:sldId id="280" r:id="rId64"/>
    <p:sldId id="281" r:id="rId65"/>
    <p:sldId id="1236" r:id="rId66"/>
    <p:sldId id="283" r:id="rId67"/>
    <p:sldId id="284" r:id="rId68"/>
    <p:sldId id="285" r:id="rId69"/>
    <p:sldId id="286" r:id="rId70"/>
    <p:sldId id="733" r:id="rId71"/>
    <p:sldId id="734" r:id="rId72"/>
    <p:sldId id="735" r:id="rId73"/>
    <p:sldId id="736" r:id="rId74"/>
    <p:sldId id="737" r:id="rId75"/>
    <p:sldId id="738" r:id="rId76"/>
    <p:sldId id="287" r:id="rId77"/>
    <p:sldId id="288" r:id="rId78"/>
    <p:sldId id="289" r:id="rId79"/>
    <p:sldId id="290" r:id="rId80"/>
    <p:sldId id="291" r:id="rId81"/>
    <p:sldId id="1237" r:id="rId82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721" autoAdjust="0"/>
    <p:restoredTop sz="83933" autoAdjust="0"/>
  </p:normalViewPr>
  <p:slideViewPr>
    <p:cSldViewPr snapToGrid="0">
      <p:cViewPr varScale="1">
        <p:scale>
          <a:sx n="93" d="100"/>
          <a:sy n="93" d="100"/>
        </p:scale>
        <p:origin x="42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presProps" Target="presProps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tableStyles" Target="tableStyles.xml"/><Relationship Id="rId61" Type="http://schemas.openxmlformats.org/officeDocument/2006/relationships/slide" Target="slides/slide58.xml"/><Relationship Id="rId82" Type="http://schemas.openxmlformats.org/officeDocument/2006/relationships/slide" Target="slides/slide7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BF8E1A-625A-4D90-B4AD-C09D1DF7F580}" type="doc">
      <dgm:prSet loTypeId="urn:microsoft.com/office/officeart/2005/8/layout/hierarchy1" loCatId="hierarchy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AC5786C-E625-48C4-8037-2E9C481E19F4}">
      <dgm:prSet/>
      <dgm:spPr/>
      <dgm:t>
        <a:bodyPr/>
        <a:lstStyle/>
        <a:p>
          <a:r>
            <a:rPr lang="en-US" b="1"/>
            <a:t>Null</a:t>
          </a:r>
          <a:r>
            <a:rPr lang="en-US"/>
            <a:t> or </a:t>
          </a:r>
          <a:r>
            <a:rPr lang="en-US" b="1"/>
            <a:t>statistical hypothesis</a:t>
          </a:r>
          <a:r>
            <a:rPr lang="en-US"/>
            <a:t>, denoted by </a:t>
          </a:r>
          <a:r>
            <a:rPr lang="en-US" i="1"/>
            <a:t>H</a:t>
          </a:r>
          <a:r>
            <a:rPr lang="en-US" baseline="-25000"/>
            <a:t>0</a:t>
          </a:r>
          <a:endParaRPr lang="en-US"/>
        </a:p>
      </dgm:t>
    </dgm:pt>
    <dgm:pt modelId="{270E7E0F-BE2F-41BE-BAA8-F91989A501D9}" type="parTrans" cxnId="{764EA291-E1B6-40F3-B87B-168FA8F419BB}">
      <dgm:prSet/>
      <dgm:spPr/>
      <dgm:t>
        <a:bodyPr/>
        <a:lstStyle/>
        <a:p>
          <a:endParaRPr lang="en-US"/>
        </a:p>
      </dgm:t>
    </dgm:pt>
    <dgm:pt modelId="{A9BBA1C3-825F-4F47-86E2-59CD29E49471}" type="sibTrans" cxnId="{764EA291-E1B6-40F3-B87B-168FA8F419BB}">
      <dgm:prSet/>
      <dgm:spPr/>
      <dgm:t>
        <a:bodyPr/>
        <a:lstStyle/>
        <a:p>
          <a:endParaRPr lang="en-US"/>
        </a:p>
      </dgm:t>
    </dgm:pt>
    <dgm:pt modelId="{15C2A1E7-C8DD-4C71-8975-4AEED8296390}">
      <dgm:prSet/>
      <dgm:spPr/>
      <dgm:t>
        <a:bodyPr/>
        <a:lstStyle/>
        <a:p>
          <a:r>
            <a:rPr lang="en-US" b="1"/>
            <a:t>Scientific, alternative,</a:t>
          </a:r>
          <a:r>
            <a:rPr lang="en-US"/>
            <a:t> or </a:t>
          </a:r>
          <a:r>
            <a:rPr lang="en-US" b="1"/>
            <a:t>research hypothesis</a:t>
          </a:r>
          <a:r>
            <a:rPr lang="en-US"/>
            <a:t>, denoted by </a:t>
          </a:r>
          <a:r>
            <a:rPr lang="en-US" i="1"/>
            <a:t>H</a:t>
          </a:r>
          <a:r>
            <a:rPr lang="en-US" baseline="-25000"/>
            <a:t>1</a:t>
          </a:r>
          <a:endParaRPr lang="en-US"/>
        </a:p>
      </dgm:t>
    </dgm:pt>
    <dgm:pt modelId="{7DC6ADAF-4D09-4448-8A92-A7E5EB39BB9B}" type="parTrans" cxnId="{AF9639DD-7594-4FED-B3F4-47E80A76838D}">
      <dgm:prSet/>
      <dgm:spPr/>
      <dgm:t>
        <a:bodyPr/>
        <a:lstStyle/>
        <a:p>
          <a:endParaRPr lang="en-US"/>
        </a:p>
      </dgm:t>
    </dgm:pt>
    <dgm:pt modelId="{FE821924-7B72-42C3-8846-FEEF088DA089}" type="sibTrans" cxnId="{AF9639DD-7594-4FED-B3F4-47E80A76838D}">
      <dgm:prSet/>
      <dgm:spPr/>
      <dgm:t>
        <a:bodyPr/>
        <a:lstStyle/>
        <a:p>
          <a:endParaRPr lang="en-US"/>
        </a:p>
      </dgm:t>
    </dgm:pt>
    <dgm:pt modelId="{E1AD4FC2-156A-413A-BF2F-15399CCB62F5}" type="pres">
      <dgm:prSet presAssocID="{68BF8E1A-625A-4D90-B4AD-C09D1DF7F58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EB0D47A-DDC3-4E61-B905-A3B7045FD70A}" type="pres">
      <dgm:prSet presAssocID="{9AC5786C-E625-48C4-8037-2E9C481E19F4}" presName="hierRoot1" presStyleCnt="0"/>
      <dgm:spPr/>
    </dgm:pt>
    <dgm:pt modelId="{6DD19DC9-3F42-4DFE-8B30-EC2971C597AC}" type="pres">
      <dgm:prSet presAssocID="{9AC5786C-E625-48C4-8037-2E9C481E19F4}" presName="composite" presStyleCnt="0"/>
      <dgm:spPr/>
    </dgm:pt>
    <dgm:pt modelId="{29FD8F25-2774-4B23-942A-7F935EE49B17}" type="pres">
      <dgm:prSet presAssocID="{9AC5786C-E625-48C4-8037-2E9C481E19F4}" presName="background" presStyleLbl="node0" presStyleIdx="0" presStyleCnt="2"/>
      <dgm:spPr/>
    </dgm:pt>
    <dgm:pt modelId="{F1FBA48D-6C4E-4413-9B1E-68E4BA60AAE5}" type="pres">
      <dgm:prSet presAssocID="{9AC5786C-E625-48C4-8037-2E9C481E19F4}" presName="text" presStyleLbl="fgAcc0" presStyleIdx="0" presStyleCnt="2">
        <dgm:presLayoutVars>
          <dgm:chPref val="3"/>
        </dgm:presLayoutVars>
      </dgm:prSet>
      <dgm:spPr/>
    </dgm:pt>
    <dgm:pt modelId="{E0D8664D-F405-47E9-9998-5EFB4F7EEB0C}" type="pres">
      <dgm:prSet presAssocID="{9AC5786C-E625-48C4-8037-2E9C481E19F4}" presName="hierChild2" presStyleCnt="0"/>
      <dgm:spPr/>
    </dgm:pt>
    <dgm:pt modelId="{B8B0366F-C0A0-4029-91D8-8E06434EF766}" type="pres">
      <dgm:prSet presAssocID="{15C2A1E7-C8DD-4C71-8975-4AEED8296390}" presName="hierRoot1" presStyleCnt="0"/>
      <dgm:spPr/>
    </dgm:pt>
    <dgm:pt modelId="{F1685B72-827F-44E5-ACE6-A3760D82D301}" type="pres">
      <dgm:prSet presAssocID="{15C2A1E7-C8DD-4C71-8975-4AEED8296390}" presName="composite" presStyleCnt="0"/>
      <dgm:spPr/>
    </dgm:pt>
    <dgm:pt modelId="{45B0D5E9-40B4-4F16-9C2D-2573AE97EA4B}" type="pres">
      <dgm:prSet presAssocID="{15C2A1E7-C8DD-4C71-8975-4AEED8296390}" presName="background" presStyleLbl="node0" presStyleIdx="1" presStyleCnt="2"/>
      <dgm:spPr/>
    </dgm:pt>
    <dgm:pt modelId="{D7692406-7880-4078-9994-C33BB6CC0A2F}" type="pres">
      <dgm:prSet presAssocID="{15C2A1E7-C8DD-4C71-8975-4AEED8296390}" presName="text" presStyleLbl="fgAcc0" presStyleIdx="1" presStyleCnt="2">
        <dgm:presLayoutVars>
          <dgm:chPref val="3"/>
        </dgm:presLayoutVars>
      </dgm:prSet>
      <dgm:spPr/>
    </dgm:pt>
    <dgm:pt modelId="{E5D62513-6EB6-4A03-A9AD-4D717FB5CB53}" type="pres">
      <dgm:prSet presAssocID="{15C2A1E7-C8DD-4C71-8975-4AEED8296390}" presName="hierChild2" presStyleCnt="0"/>
      <dgm:spPr/>
    </dgm:pt>
  </dgm:ptLst>
  <dgm:cxnLst>
    <dgm:cxn modelId="{A3911D1A-CAEC-4C60-9A2A-6860FEE37B9C}" type="presOf" srcId="{9AC5786C-E625-48C4-8037-2E9C481E19F4}" destId="{F1FBA48D-6C4E-4413-9B1E-68E4BA60AAE5}" srcOrd="0" destOrd="0" presId="urn:microsoft.com/office/officeart/2005/8/layout/hierarchy1"/>
    <dgm:cxn modelId="{61147785-02B2-472A-9BEB-88104D3D772D}" type="presOf" srcId="{68BF8E1A-625A-4D90-B4AD-C09D1DF7F580}" destId="{E1AD4FC2-156A-413A-BF2F-15399CCB62F5}" srcOrd="0" destOrd="0" presId="urn:microsoft.com/office/officeart/2005/8/layout/hierarchy1"/>
    <dgm:cxn modelId="{764EA291-E1B6-40F3-B87B-168FA8F419BB}" srcId="{68BF8E1A-625A-4D90-B4AD-C09D1DF7F580}" destId="{9AC5786C-E625-48C4-8037-2E9C481E19F4}" srcOrd="0" destOrd="0" parTransId="{270E7E0F-BE2F-41BE-BAA8-F91989A501D9}" sibTransId="{A9BBA1C3-825F-4F47-86E2-59CD29E49471}"/>
    <dgm:cxn modelId="{B7B6639D-9923-4732-B01F-93F2FBA4CEE6}" type="presOf" srcId="{15C2A1E7-C8DD-4C71-8975-4AEED8296390}" destId="{D7692406-7880-4078-9994-C33BB6CC0A2F}" srcOrd="0" destOrd="0" presId="urn:microsoft.com/office/officeart/2005/8/layout/hierarchy1"/>
    <dgm:cxn modelId="{AF9639DD-7594-4FED-B3F4-47E80A76838D}" srcId="{68BF8E1A-625A-4D90-B4AD-C09D1DF7F580}" destId="{15C2A1E7-C8DD-4C71-8975-4AEED8296390}" srcOrd="1" destOrd="0" parTransId="{7DC6ADAF-4D09-4448-8A92-A7E5EB39BB9B}" sibTransId="{FE821924-7B72-42C3-8846-FEEF088DA089}"/>
    <dgm:cxn modelId="{43312A19-A0B4-49D1-9F90-AEF3FC18CDAD}" type="presParOf" srcId="{E1AD4FC2-156A-413A-BF2F-15399CCB62F5}" destId="{1EB0D47A-DDC3-4E61-B905-A3B7045FD70A}" srcOrd="0" destOrd="0" presId="urn:microsoft.com/office/officeart/2005/8/layout/hierarchy1"/>
    <dgm:cxn modelId="{7E97C9DE-9923-45CD-945B-21FF5134D2F7}" type="presParOf" srcId="{1EB0D47A-DDC3-4E61-B905-A3B7045FD70A}" destId="{6DD19DC9-3F42-4DFE-8B30-EC2971C597AC}" srcOrd="0" destOrd="0" presId="urn:microsoft.com/office/officeart/2005/8/layout/hierarchy1"/>
    <dgm:cxn modelId="{25530CAE-532F-4053-9376-2856FD1DBC2B}" type="presParOf" srcId="{6DD19DC9-3F42-4DFE-8B30-EC2971C597AC}" destId="{29FD8F25-2774-4B23-942A-7F935EE49B17}" srcOrd="0" destOrd="0" presId="urn:microsoft.com/office/officeart/2005/8/layout/hierarchy1"/>
    <dgm:cxn modelId="{3040929C-9281-4F49-9F52-D64B092F1876}" type="presParOf" srcId="{6DD19DC9-3F42-4DFE-8B30-EC2971C597AC}" destId="{F1FBA48D-6C4E-4413-9B1E-68E4BA60AAE5}" srcOrd="1" destOrd="0" presId="urn:microsoft.com/office/officeart/2005/8/layout/hierarchy1"/>
    <dgm:cxn modelId="{696196A7-7C03-4B00-87E0-E10820B56082}" type="presParOf" srcId="{1EB0D47A-DDC3-4E61-B905-A3B7045FD70A}" destId="{E0D8664D-F405-47E9-9998-5EFB4F7EEB0C}" srcOrd="1" destOrd="0" presId="urn:microsoft.com/office/officeart/2005/8/layout/hierarchy1"/>
    <dgm:cxn modelId="{FF59F482-ABAE-4D83-B76F-576DC9864B3D}" type="presParOf" srcId="{E1AD4FC2-156A-413A-BF2F-15399CCB62F5}" destId="{B8B0366F-C0A0-4029-91D8-8E06434EF766}" srcOrd="1" destOrd="0" presId="urn:microsoft.com/office/officeart/2005/8/layout/hierarchy1"/>
    <dgm:cxn modelId="{2FCA8F91-30DE-4644-A9EF-D86DD93DBE78}" type="presParOf" srcId="{B8B0366F-C0A0-4029-91D8-8E06434EF766}" destId="{F1685B72-827F-44E5-ACE6-A3760D82D301}" srcOrd="0" destOrd="0" presId="urn:microsoft.com/office/officeart/2005/8/layout/hierarchy1"/>
    <dgm:cxn modelId="{1C04B4EE-EC15-4288-81C3-60094EE34027}" type="presParOf" srcId="{F1685B72-827F-44E5-ACE6-A3760D82D301}" destId="{45B0D5E9-40B4-4F16-9C2D-2573AE97EA4B}" srcOrd="0" destOrd="0" presId="urn:microsoft.com/office/officeart/2005/8/layout/hierarchy1"/>
    <dgm:cxn modelId="{917977DF-E3E5-4CCF-83E1-663E5E4716AA}" type="presParOf" srcId="{F1685B72-827F-44E5-ACE6-A3760D82D301}" destId="{D7692406-7880-4078-9994-C33BB6CC0A2F}" srcOrd="1" destOrd="0" presId="urn:microsoft.com/office/officeart/2005/8/layout/hierarchy1"/>
    <dgm:cxn modelId="{E7A17A88-C85C-40F9-93E0-2CBED1BC2747}" type="presParOf" srcId="{B8B0366F-C0A0-4029-91D8-8E06434EF766}" destId="{E5D62513-6EB6-4A03-A9AD-4D717FB5CB5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6401589-A7AB-4B38-9636-83BDFB45624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C417045-28FB-4818-88E1-6C881253EE46}">
      <dgm:prSet custT="1"/>
      <dgm:spPr/>
      <dgm:t>
        <a:bodyPr/>
        <a:lstStyle/>
        <a:p>
          <a:r>
            <a:rPr lang="en-US" sz="2000" dirty="0" err="1"/>
            <a:t>cov</a:t>
          </a:r>
          <a:r>
            <a:rPr lang="en-US" sz="2000" dirty="0"/>
            <a:t>(X,Y) &gt; 0 </a:t>
          </a:r>
          <a:r>
            <a:rPr lang="en-US" sz="2000" dirty="0">
              <a:sym typeface="Wingdings" panose="05000000000000000000" pitchFamily="2" charset="2"/>
            </a:rPr>
            <a:t></a:t>
          </a:r>
          <a:r>
            <a:rPr lang="en-US" sz="2000" dirty="0"/>
            <a:t> X and Y are positively correlated</a:t>
          </a:r>
        </a:p>
      </dgm:t>
    </dgm:pt>
    <dgm:pt modelId="{6AF7D822-FF40-4DF1-93C1-A8C0E56E1AFA}" type="parTrans" cxnId="{D6BB6852-AA13-487C-B199-9F36ED8C51F8}">
      <dgm:prSet/>
      <dgm:spPr/>
      <dgm:t>
        <a:bodyPr/>
        <a:lstStyle/>
        <a:p>
          <a:endParaRPr lang="en-US"/>
        </a:p>
      </dgm:t>
    </dgm:pt>
    <dgm:pt modelId="{2EA2DB50-6AF0-45EA-BAE5-C63007AEDE1D}" type="sibTrans" cxnId="{D6BB6852-AA13-487C-B199-9F36ED8C51F8}">
      <dgm:prSet/>
      <dgm:spPr/>
      <dgm:t>
        <a:bodyPr/>
        <a:lstStyle/>
        <a:p>
          <a:endParaRPr lang="en-US"/>
        </a:p>
      </dgm:t>
    </dgm:pt>
    <dgm:pt modelId="{30F3931F-7DB6-480E-85B0-5F10B533C5A8}">
      <dgm:prSet custT="1"/>
      <dgm:spPr/>
      <dgm:t>
        <a:bodyPr/>
        <a:lstStyle/>
        <a:p>
          <a:r>
            <a:rPr lang="en-US" sz="2000" dirty="0" err="1"/>
            <a:t>cov</a:t>
          </a:r>
          <a:r>
            <a:rPr lang="en-US" sz="2000" dirty="0"/>
            <a:t>(X,Y) &lt; 0 </a:t>
          </a:r>
          <a:r>
            <a:rPr lang="en-US" sz="2000" dirty="0">
              <a:sym typeface="Wingdings" panose="05000000000000000000" pitchFamily="2" charset="2"/>
            </a:rPr>
            <a:t></a:t>
          </a:r>
          <a:r>
            <a:rPr lang="en-US" sz="2000" dirty="0">
              <a:solidFill>
                <a:schemeClr val="tx1"/>
              </a:solidFill>
            </a:rPr>
            <a:t> </a:t>
          </a:r>
          <a:r>
            <a:rPr lang="en-US" sz="2000" dirty="0"/>
            <a:t>X and Y are inversely correlated</a:t>
          </a:r>
        </a:p>
      </dgm:t>
    </dgm:pt>
    <dgm:pt modelId="{4F25E870-508B-4F79-8D73-E61360CC3162}" type="parTrans" cxnId="{3D641764-93FF-4B8D-B187-6D826AE6C785}">
      <dgm:prSet/>
      <dgm:spPr/>
      <dgm:t>
        <a:bodyPr/>
        <a:lstStyle/>
        <a:p>
          <a:endParaRPr lang="en-US"/>
        </a:p>
      </dgm:t>
    </dgm:pt>
    <dgm:pt modelId="{1C0493DF-036E-4135-9950-A53DA0C87BFA}" type="sibTrans" cxnId="{3D641764-93FF-4B8D-B187-6D826AE6C785}">
      <dgm:prSet/>
      <dgm:spPr/>
      <dgm:t>
        <a:bodyPr/>
        <a:lstStyle/>
        <a:p>
          <a:endParaRPr lang="en-US"/>
        </a:p>
      </dgm:t>
    </dgm:pt>
    <dgm:pt modelId="{0B1C0C58-1EF1-4F17-A7B6-10E1FC3C99B8}">
      <dgm:prSet custT="1"/>
      <dgm:spPr/>
      <dgm:t>
        <a:bodyPr/>
        <a:lstStyle/>
        <a:p>
          <a:r>
            <a:rPr lang="en-US" sz="2000" dirty="0" err="1"/>
            <a:t>cov</a:t>
          </a:r>
          <a:r>
            <a:rPr lang="en-US" sz="2000" dirty="0"/>
            <a:t>(X,Y) = 0 </a:t>
          </a:r>
          <a:r>
            <a:rPr lang="en-US" sz="2000" dirty="0">
              <a:sym typeface="Wingdings" panose="05000000000000000000" pitchFamily="2" charset="2"/>
            </a:rPr>
            <a:t></a:t>
          </a:r>
          <a:r>
            <a:rPr lang="en-US" sz="2000" dirty="0"/>
            <a:t> X and Y are independent, or uncorrelated</a:t>
          </a:r>
        </a:p>
      </dgm:t>
    </dgm:pt>
    <dgm:pt modelId="{17600C08-B89D-4166-A2F9-2BF1C863630C}" type="parTrans" cxnId="{8530520B-4A9B-4631-88E7-EFF26DD449A3}">
      <dgm:prSet/>
      <dgm:spPr/>
      <dgm:t>
        <a:bodyPr/>
        <a:lstStyle/>
        <a:p>
          <a:endParaRPr lang="en-US"/>
        </a:p>
      </dgm:t>
    </dgm:pt>
    <dgm:pt modelId="{3B1F0E69-559E-42BC-9A18-6229087CD319}" type="sibTrans" cxnId="{8530520B-4A9B-4631-88E7-EFF26DD449A3}">
      <dgm:prSet/>
      <dgm:spPr/>
      <dgm:t>
        <a:bodyPr/>
        <a:lstStyle/>
        <a:p>
          <a:endParaRPr lang="en-US"/>
        </a:p>
      </dgm:t>
    </dgm:pt>
    <dgm:pt modelId="{03C578B1-3675-4D34-B088-0684D894EB2B}" type="pres">
      <dgm:prSet presAssocID="{D6401589-A7AB-4B38-9636-83BDFB45624C}" presName="linear" presStyleCnt="0">
        <dgm:presLayoutVars>
          <dgm:animLvl val="lvl"/>
          <dgm:resizeHandles val="exact"/>
        </dgm:presLayoutVars>
      </dgm:prSet>
      <dgm:spPr/>
    </dgm:pt>
    <dgm:pt modelId="{835DCBA9-6AA4-4F95-BA7D-FD4E5AAB0827}" type="pres">
      <dgm:prSet presAssocID="{1C417045-28FB-4818-88E1-6C881253EE4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B1C585F-6BE3-4A69-AEA4-AC9BAC73FECB}" type="pres">
      <dgm:prSet presAssocID="{2EA2DB50-6AF0-45EA-BAE5-C63007AEDE1D}" presName="spacer" presStyleCnt="0"/>
      <dgm:spPr/>
    </dgm:pt>
    <dgm:pt modelId="{82E3281D-6BEE-4F09-BFB0-B2A59AC5A9A5}" type="pres">
      <dgm:prSet presAssocID="{30F3931F-7DB6-480E-85B0-5F10B533C5A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5F01E34-0835-4898-9598-DCBCDB677A48}" type="pres">
      <dgm:prSet presAssocID="{1C0493DF-036E-4135-9950-A53DA0C87BFA}" presName="spacer" presStyleCnt="0"/>
      <dgm:spPr/>
    </dgm:pt>
    <dgm:pt modelId="{07676FB8-9069-41E2-B804-810EBC751492}" type="pres">
      <dgm:prSet presAssocID="{0B1C0C58-1EF1-4F17-A7B6-10E1FC3C99B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530520B-4A9B-4631-88E7-EFF26DD449A3}" srcId="{D6401589-A7AB-4B38-9636-83BDFB45624C}" destId="{0B1C0C58-1EF1-4F17-A7B6-10E1FC3C99B8}" srcOrd="2" destOrd="0" parTransId="{17600C08-B89D-4166-A2F9-2BF1C863630C}" sibTransId="{3B1F0E69-559E-42BC-9A18-6229087CD319}"/>
    <dgm:cxn modelId="{B5B82E3E-6A7E-4495-991C-E8DF5018EA99}" type="presOf" srcId="{0B1C0C58-1EF1-4F17-A7B6-10E1FC3C99B8}" destId="{07676FB8-9069-41E2-B804-810EBC751492}" srcOrd="0" destOrd="0" presId="urn:microsoft.com/office/officeart/2005/8/layout/vList2"/>
    <dgm:cxn modelId="{343F6741-FC54-411C-B716-F7479A3FE284}" type="presOf" srcId="{30F3931F-7DB6-480E-85B0-5F10B533C5A8}" destId="{82E3281D-6BEE-4F09-BFB0-B2A59AC5A9A5}" srcOrd="0" destOrd="0" presId="urn:microsoft.com/office/officeart/2005/8/layout/vList2"/>
    <dgm:cxn modelId="{3D641764-93FF-4B8D-B187-6D826AE6C785}" srcId="{D6401589-A7AB-4B38-9636-83BDFB45624C}" destId="{30F3931F-7DB6-480E-85B0-5F10B533C5A8}" srcOrd="1" destOrd="0" parTransId="{4F25E870-508B-4F79-8D73-E61360CC3162}" sibTransId="{1C0493DF-036E-4135-9950-A53DA0C87BFA}"/>
    <dgm:cxn modelId="{D6BB6852-AA13-487C-B199-9F36ED8C51F8}" srcId="{D6401589-A7AB-4B38-9636-83BDFB45624C}" destId="{1C417045-28FB-4818-88E1-6C881253EE46}" srcOrd="0" destOrd="0" parTransId="{6AF7D822-FF40-4DF1-93C1-A8C0E56E1AFA}" sibTransId="{2EA2DB50-6AF0-45EA-BAE5-C63007AEDE1D}"/>
    <dgm:cxn modelId="{9501C176-66DC-4D98-98A0-66AC7EB6CFB5}" type="presOf" srcId="{D6401589-A7AB-4B38-9636-83BDFB45624C}" destId="{03C578B1-3675-4D34-B088-0684D894EB2B}" srcOrd="0" destOrd="0" presId="urn:microsoft.com/office/officeart/2005/8/layout/vList2"/>
    <dgm:cxn modelId="{4FDFACEF-177D-4807-8EAD-2A054BD65AFC}" type="presOf" srcId="{1C417045-28FB-4818-88E1-6C881253EE46}" destId="{835DCBA9-6AA4-4F95-BA7D-FD4E5AAB0827}" srcOrd="0" destOrd="0" presId="urn:microsoft.com/office/officeart/2005/8/layout/vList2"/>
    <dgm:cxn modelId="{9E727835-5D33-446C-99DF-C3E6C5B53CBE}" type="presParOf" srcId="{03C578B1-3675-4D34-B088-0684D894EB2B}" destId="{835DCBA9-6AA4-4F95-BA7D-FD4E5AAB0827}" srcOrd="0" destOrd="0" presId="urn:microsoft.com/office/officeart/2005/8/layout/vList2"/>
    <dgm:cxn modelId="{B5410610-9951-47D0-8738-35983CD67125}" type="presParOf" srcId="{03C578B1-3675-4D34-B088-0684D894EB2B}" destId="{EB1C585F-6BE3-4A69-AEA4-AC9BAC73FECB}" srcOrd="1" destOrd="0" presId="urn:microsoft.com/office/officeart/2005/8/layout/vList2"/>
    <dgm:cxn modelId="{3F0A8A25-21E5-41F1-A887-DE7B7CB50041}" type="presParOf" srcId="{03C578B1-3675-4D34-B088-0684D894EB2B}" destId="{82E3281D-6BEE-4F09-BFB0-B2A59AC5A9A5}" srcOrd="2" destOrd="0" presId="urn:microsoft.com/office/officeart/2005/8/layout/vList2"/>
    <dgm:cxn modelId="{CBC73D3B-68A3-4016-BA08-017AC9EB064D}" type="presParOf" srcId="{03C578B1-3675-4D34-B088-0684D894EB2B}" destId="{B5F01E34-0835-4898-9598-DCBCDB677A48}" srcOrd="3" destOrd="0" presId="urn:microsoft.com/office/officeart/2005/8/layout/vList2"/>
    <dgm:cxn modelId="{B6533F7F-EDFC-4F4A-BCD5-7024E2214824}" type="presParOf" srcId="{03C578B1-3675-4D34-B088-0684D894EB2B}" destId="{07676FB8-9069-41E2-B804-810EBC75149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FD8F25-2774-4B23-942A-7F935EE49B17}">
      <dsp:nvSpPr>
        <dsp:cNvPr id="0" name=""/>
        <dsp:cNvSpPr/>
      </dsp:nvSpPr>
      <dsp:spPr>
        <a:xfrm>
          <a:off x="469679" y="982"/>
          <a:ext cx="3997039" cy="25381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1FBA48D-6C4E-4413-9B1E-68E4BA60AAE5}">
      <dsp:nvSpPr>
        <dsp:cNvPr id="0" name=""/>
        <dsp:cNvSpPr/>
      </dsp:nvSpPr>
      <dsp:spPr>
        <a:xfrm>
          <a:off x="913795" y="422892"/>
          <a:ext cx="3997039" cy="25381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Null</a:t>
          </a:r>
          <a:r>
            <a:rPr lang="en-US" sz="3000" kern="1200"/>
            <a:t> or </a:t>
          </a:r>
          <a:r>
            <a:rPr lang="en-US" sz="3000" b="1" kern="1200"/>
            <a:t>statistical hypothesis</a:t>
          </a:r>
          <a:r>
            <a:rPr lang="en-US" sz="3000" kern="1200"/>
            <a:t>, denoted by </a:t>
          </a:r>
          <a:r>
            <a:rPr lang="en-US" sz="3000" i="1" kern="1200"/>
            <a:t>H</a:t>
          </a:r>
          <a:r>
            <a:rPr lang="en-US" sz="3000" kern="1200" baseline="-25000"/>
            <a:t>0</a:t>
          </a:r>
          <a:endParaRPr lang="en-US" sz="3000" kern="1200"/>
        </a:p>
      </dsp:txBody>
      <dsp:txXfrm>
        <a:off x="988134" y="497231"/>
        <a:ext cx="3848361" cy="2389442"/>
      </dsp:txXfrm>
    </dsp:sp>
    <dsp:sp modelId="{45B0D5E9-40B4-4F16-9C2D-2573AE97EA4B}">
      <dsp:nvSpPr>
        <dsp:cNvPr id="0" name=""/>
        <dsp:cNvSpPr/>
      </dsp:nvSpPr>
      <dsp:spPr>
        <a:xfrm>
          <a:off x="5354950" y="982"/>
          <a:ext cx="3997039" cy="25381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7692406-7880-4078-9994-C33BB6CC0A2F}">
      <dsp:nvSpPr>
        <dsp:cNvPr id="0" name=""/>
        <dsp:cNvSpPr/>
      </dsp:nvSpPr>
      <dsp:spPr>
        <a:xfrm>
          <a:off x="5799066" y="422892"/>
          <a:ext cx="3997039" cy="25381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Scientific, alternative,</a:t>
          </a:r>
          <a:r>
            <a:rPr lang="en-US" sz="3000" kern="1200"/>
            <a:t> or </a:t>
          </a:r>
          <a:r>
            <a:rPr lang="en-US" sz="3000" b="1" kern="1200"/>
            <a:t>research hypothesis</a:t>
          </a:r>
          <a:r>
            <a:rPr lang="en-US" sz="3000" kern="1200"/>
            <a:t>, denoted by </a:t>
          </a:r>
          <a:r>
            <a:rPr lang="en-US" sz="3000" i="1" kern="1200"/>
            <a:t>H</a:t>
          </a:r>
          <a:r>
            <a:rPr lang="en-US" sz="3000" kern="1200" baseline="-25000"/>
            <a:t>1</a:t>
          </a:r>
          <a:endParaRPr lang="en-US" sz="3000" kern="1200"/>
        </a:p>
      </dsp:txBody>
      <dsp:txXfrm>
        <a:off x="5873405" y="497231"/>
        <a:ext cx="3848361" cy="23894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5DCBA9-6AA4-4F95-BA7D-FD4E5AAB0827}">
      <dsp:nvSpPr>
        <dsp:cNvPr id="0" name=""/>
        <dsp:cNvSpPr/>
      </dsp:nvSpPr>
      <dsp:spPr>
        <a:xfrm>
          <a:off x="0" y="14271"/>
          <a:ext cx="5332657" cy="992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cov</a:t>
          </a:r>
          <a:r>
            <a:rPr lang="en-US" sz="2000" kern="1200" dirty="0"/>
            <a:t>(X,Y) &gt; 0 </a:t>
          </a:r>
          <a:r>
            <a:rPr lang="en-US" sz="2000" kern="1200" dirty="0">
              <a:sym typeface="Wingdings" panose="05000000000000000000" pitchFamily="2" charset="2"/>
            </a:rPr>
            <a:t></a:t>
          </a:r>
          <a:r>
            <a:rPr lang="en-US" sz="2000" kern="1200" dirty="0"/>
            <a:t> X and Y are positively correlated</a:t>
          </a:r>
        </a:p>
      </dsp:txBody>
      <dsp:txXfrm>
        <a:off x="48433" y="62704"/>
        <a:ext cx="5235791" cy="895294"/>
      </dsp:txXfrm>
    </dsp:sp>
    <dsp:sp modelId="{82E3281D-6BEE-4F09-BFB0-B2A59AC5A9A5}">
      <dsp:nvSpPr>
        <dsp:cNvPr id="0" name=""/>
        <dsp:cNvSpPr/>
      </dsp:nvSpPr>
      <dsp:spPr>
        <a:xfrm>
          <a:off x="0" y="1159072"/>
          <a:ext cx="5332657" cy="992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cov</a:t>
          </a:r>
          <a:r>
            <a:rPr lang="en-US" sz="2000" kern="1200" dirty="0"/>
            <a:t>(X,Y) &lt; 0 </a:t>
          </a:r>
          <a:r>
            <a:rPr lang="en-US" sz="2000" kern="1200" dirty="0">
              <a:sym typeface="Wingdings" panose="05000000000000000000" pitchFamily="2" charset="2"/>
            </a:rPr>
            <a:t></a:t>
          </a:r>
          <a:r>
            <a:rPr lang="en-US" sz="2000" kern="1200" dirty="0">
              <a:solidFill>
                <a:schemeClr val="tx1"/>
              </a:solidFill>
            </a:rPr>
            <a:t> </a:t>
          </a:r>
          <a:r>
            <a:rPr lang="en-US" sz="2000" kern="1200" dirty="0"/>
            <a:t>X and Y are inversely correlated</a:t>
          </a:r>
        </a:p>
      </dsp:txBody>
      <dsp:txXfrm>
        <a:off x="48433" y="1207505"/>
        <a:ext cx="5235791" cy="895294"/>
      </dsp:txXfrm>
    </dsp:sp>
    <dsp:sp modelId="{07676FB8-9069-41E2-B804-810EBC751492}">
      <dsp:nvSpPr>
        <dsp:cNvPr id="0" name=""/>
        <dsp:cNvSpPr/>
      </dsp:nvSpPr>
      <dsp:spPr>
        <a:xfrm>
          <a:off x="0" y="2303872"/>
          <a:ext cx="5332657" cy="992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cov</a:t>
          </a:r>
          <a:r>
            <a:rPr lang="en-US" sz="2000" kern="1200" dirty="0"/>
            <a:t>(X,Y) = 0 </a:t>
          </a:r>
          <a:r>
            <a:rPr lang="en-US" sz="2000" kern="1200" dirty="0">
              <a:sym typeface="Wingdings" panose="05000000000000000000" pitchFamily="2" charset="2"/>
            </a:rPr>
            <a:t></a:t>
          </a:r>
          <a:r>
            <a:rPr lang="en-US" sz="2000" kern="1200" dirty="0"/>
            <a:t> X and Y are independent, or uncorrelated</a:t>
          </a:r>
        </a:p>
      </dsp:txBody>
      <dsp:txXfrm>
        <a:off x="48433" y="2352305"/>
        <a:ext cx="5235791" cy="8952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26.02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24.10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2929 183,'-59'-3,"-109"-19,-27-3,-569 20,402 9,264-5,-1 5,1 4,0 5,-115 30,115-16,1 4,-128 60,205-80,1 1,1 1,0 0,1 2,1-1,-18 21,7-3,1 0,-29 50,39-54,2 0,1 2,2-1,0 2,2-1,1 1,-5 44,7-12,2 0,9 110,-4-159,2 0,0 0,1-1,0 0,1 0,0 0,1 0,1-1,0 0,0 0,1-1,1 1,15 14,10 8,3-1,61 42,-14-18,3-4,2-4,3-4,143 50,402 80,-293-110,397 24,353-35,-764-42,1320 35,-1120-35,285 1,326 1,-673-2,376 20,256-11,-715-24,-100 5,310-5,-481-7,0-5,-2-5,121-37,-218 53,-1 0,0-1,0 0,-1-1,21-12,-28 14,0-1,-1 0,1 0,-1 0,0-1,0 0,-1 0,1 0,-1 0,-1-1,1 1,3-12,3-9,-1 0,-1 0,-1-1,-2 0,0 0,-2 0,-1-33,-4-4,-3-1,-3 0,-21-87,18 83,9 53,0 1,-1-1,-10-30,4 15,0 1,-7-59,14 70,-1-1,-1 0,0 1,-2-1,0 1,-2 1,0-1,-1 1,-15-24,-10-2,-3 0,-1 3,-3 1,-1 2,-1 1,-90-57,73 60,-2 2,-1 3,-95-31,-211-35,-171 10,-85 6,2 1,-316 44,424 22,7-1,-26 2,8-1,454 13,-760-15,428 4,-66-4,-382 3,522 15,-574-3,871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24.97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28.12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1 733,'9'-18,"6"-18,11-17,13-16,9-14,5-2,2 1,1 5,-10 13,-7 12,-7 16,-9 10,-3 5,-6 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29.32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0,'1'2,"0"0,1 0,-1-1,1 1,-1-1,1 1,0-1,0 0,0 1,-1-1,1 0,0 0,1 0,-1-1,0 1,3 0,2 2,54 19,0-2,2-3,112 17,195-1,-123-28,-79-3,-166-2,0 0,1 0,-1 0,0 0,0 0,1 0,-1 0,0 1,0 0,1-1,-1 1,0 0,0 0,0 0,0 0,0 0,0 1,0-1,-1 0,1 1,0 0,-1-1,1 1,-1 0,0 0,1 0,-1 0,1 3,0 2,-1 0,-1 0,1 0,-1 0,-1 0,1 0,-3 11,0 5,-1 14,-10 43,11-68,0-1,-1 1,-1-1,1 0,-2 0,0 0,-12 17,2-10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34.80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1,'0'9,"0"11,0 20,0 17,0 6,0 2,0-6,0 9,0 2,0 1,0 3,4 1,2-3,0-10,-2-11,0-13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35.69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236 235,'0'-2,"0"0,1 0,-1 0,1 1,0-1,0 0,-1 0,1 0,0 1,1-1,-1 0,0 1,0-1,1 1,-1 0,1-1,-1 1,1 0,-1 0,1 0,3-2,45-17,-39 16,91-35,2 5,1 4,197-28,-215 50,0 3,0 5,112 12,-154-6,-1 2,1 2,-2 1,0 3,0 2,-1 1,-1 2,43 27,-67-34,-1 0,1 1,-2 1,0 0,-1 1,0 1,-1 0,-1 0,0 2,-2-1,0 2,-1-1,0 1,-2 0,0 1,-1 0,-1 0,3 27,-2-12,-1 0,-2 0,-1 40,-3-64,1-1,-2 0,1 0,-2 0,1 0,-1 0,0 0,-1 0,-1-1,1 0,-1 0,-1 0,0-1,0 1,-12 11,1-6,0 0,-1-1,-1-1,0 0,-1-2,-38 15,-134 34,191-58,-110 24,0-4,-225 12,-233-33,352-4,149 4,28 1,-1-2,-41-6,78 6,0 1,0-1,0 0,0 0,0-1,0 1,1-1,-1 0,-4-3,-3-5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36.9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1 204,'33'0,"-12"2,1-2,-1-1,0 0,0-2,26-6,-43 8,-1 0,1 0,0 0,-1-1,1 0,-1 0,1 0,-1 0,0 0,0-1,0 1,0-1,0 0,0 0,-1 0,0 0,1 0,-1-1,-1 1,1-1,0 1,-1-1,1 0,-1 1,0-1,-1 0,1 0,-1 0,1 0,-1 0,0 0,-1 0,1 0,-2-6,1 6,-1 1,1-1,-1 0,0 1,0 0,0-1,0 1,-1 0,1 0,-1 0,0 1,0-1,0 0,0 1,0 0,0 0,-1 0,1 0,-1 1,0-1,-4 0,-3-3,-1 1,-1 1,1 0,-1 0,-19 0,30 3,-1 0,0 0,1 0,-1 0,0 1,1-1,-1 1,1-1,-1 1,1 0,-1 0,1 0,-1 1,1-1,0 1,0-1,0 1,0 0,0-1,-3 5,2-2,1 0,0 0,0 0,0 1,0-1,0 1,1-1,0 1,0-1,0 1,1 5,-1 1,1 0,1 0,0 1,0-1,1 0,0 0,1 0,1 0,6 14,-1-9,2 0,0-1,1-1,0 1,1-2,0 0,1 0,1-2,16 11,5 1,0-2,2-2,40 16,-15-11,1-3,1-2,1-4,131 15,-194-30,1 1,-1-1,0 0,1 0,-1 0,1-1,-1 1,0-1,0 0,1 0,-1 0,0 0,0 0,0-1,0 1,5-4,6-12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37.71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1,'8'5,"0"1,-1 0,1 1,-1 0,-1 0,1 0,-1 1,6 10,2 2,37 55,-3 2,-4 3,35 87,0-1,156 326,-217-460,-3-11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38.20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1,'4'0,"11"0,11 0,10 0,16 0,30 4,23 2,19 0,7-2,-11 0,-12-2,-21-1,-20-1,-22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39.12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1 342,'8'-1,"0"0,0-1,0 0,0 0,-1-1,1 1,-1-2,1 1,-1-1,0 0,0-1,-1 1,8-8,8-7,-1-1,22-28,-34 37,0-1,-1 1,0-2,9-19,-15 27,1 0,-2 0,1 0,0 0,-1 0,0 0,0 0,-1 0,1 0,-1-1,0 1,-1 0,1 0,-1 0,-3-10,3 13,-1-1,0 1,0-1,0 1,0-1,-1 1,1 0,-1 0,1 0,-1 1,0-1,1 1,-1-1,0 1,0 0,0 0,0 0,0 0,0 1,-1-1,1 1,0 0,-4 0,-12 0,0 0,-27 4,45-4,-3 1,0-1,1 1,-1 0,0 0,1 0,-1 0,1 1,-1-1,1 1,0 0,-1 0,1 0,0 0,1 1,-1-1,0 1,1 0,-1-1,1 1,0 0,0 1,-2 2,2 0,0 0,0 0,0 1,1-1,0 0,0 0,1 1,0-1,0 1,0-1,1 0,1 9,1-4,-1-1,1 0,1 0,0 0,0-1,1 1,9 12,-11-17,1 0,-1-1,1 1,0-1,0 0,1 0,-1 0,1-1,0 0,0 1,0-2,0 1,6 2,9-1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40.00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98,'2'0,"-1"0,1 1,0-1,-1 0,1 1,0-1,-1 1,1 0,-1-1,1 1,-1 0,0 0,1 0,-1 0,0 0,1 1,-1-1,0 0,0 0,0 1,1 2,18 38,-3-5,-27-105,9 65,1-1,-1 0,1 1,0-1,0 0,1 1,-1-1,1 1,-1-1,1 0,0 1,1-1,-1 1,0 0,1-1,0 1,0 0,0 0,0 0,0 0,1 1,-1-1,4-2,2-1,1 0,0 1,0 0,1 1,-1-1,20-4,-4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41.34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52,'1'0,"0"0,1 1,-1-1,0 1,0 0,0-1,0 1,0 0,0 0,0-1,0 1,-1 0,1 0,0 0,0 0,-1 0,1 0,0 0,-1 0,1 1,-1-1,0 0,1 0,-1 0,0 0,0 1,1 1,3 39,-3-37,-6 32,-2-27,0-27,5 6,0 0,1 0,0 0,1 0,0-1,1 1,2-11,-2 19,0-1,0 1,0-1,0 1,1-1,-1 1,1 0,0 0,0 0,0 0,3-4,-3 6,0-1,-1 1,1 0,-1 0,1 0,0 0,0 0,0 1,0-1,0 0,-1 1,1 0,0-1,0 1,0 0,0 0,0 0,0 0,0 0,0 1,0-1,3 1,1 1,1 1,-1-1,0 1,0 1,0-1,0 1,-1 0,1 0,-1 0,0 1,0 0,-1 0,1 0,-1 1,0 0,6 11,-3-2,0 0,-1 0,-1 0,0 0,5 31,-2-19,-8-26,0-1,1 1,-1-1,0 1,1-1,-1 0,0 1,1-1,-1 0,0 1,1-1,-1 0,1 1,-1-1,1 0,-1 0,0 1,1-1,-1 0,1 0,-1 0,1 0,-1 0,1 0,-1 0,2 0,1-1,0-1,-1 1,1-1,0 0,-1 0,1 0,-1 0,0 0,0-1,1 1,-2-1,4-4,19-26,31-39,-50 66,1-1,0 1,1 1,0-1,-1 1,2 0,13-7,-20 11,1 0,0 1,-1-1,1 1,0-1,0 1,0-1,-1 1,1 0,0 0,0 0,0 0,-1 0,1 0,0 1,0-1,0 1,-1-1,1 1,0-1,0 1,-1 0,1 0,2 2,-2-1,1 1,0 0,-1 0,0 0,0 1,0-1,0 0,0 1,-1-1,1 1,0 4,2 9,-1-1,0 1,-1 0,-1 19,-1-11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41.80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1,'4'0,"2"4,-1 6,0 6,2 4,1 4,-1 1,-2 1,-2-3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42.26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43.13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1 171,'7'-8,"0"-1,0 0,9-18,-13 20,0 1,1 0,0 0,0 0,1 0,0 1,-1 0,2 0,-1 0,1 0,11-6,-4 3,1 1,0 0,0 2,0-1,24-4,-36 9,1 1,0-1,-1 1,1 0,-1 0,1 0,0 1,-1-1,1 0,-1 1,1 0,-1-1,1 1,-1 0,1 0,-1 1,0-1,1 0,-1 1,0 0,0-1,0 1,0 0,-1 0,1 0,0 0,-1 0,1 0,-1 1,0-1,0 0,0 1,0-1,0 1,-1-1,1 1,-1-1,1 1,-1 0,0 3,2 88,-3-66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43.88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0,'4'0,"7"0,0 4,-1 7,-2 9,1 1,0 2,-2 2,-2 0,-2-4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44.25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45.21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69 1,'-1'0,"0"0,-1-1,1 1,-1 0,1 0,-1 0,1 1,0-1,-1 0,1 0,0 1,-1-1,1 1,0-1,-1 1,1 0,0-1,0 1,0 0,-1 0,1 0,0 0,0 0,0 0,1 0,-1 0,0 0,0 0,1 1,-1-1,0 0,1 1,-1-1,1 0,0 1,-1-1,1 0,0 1,0-1,0 1,0-1,0 0,0 1,0-1,1 1,-1-1,0 0,1 1,-1-1,1 0,-1 1,2 0,4 13,1 0,0 0,17 23,-11-18,-9-12,0-1,-1 1,0-1,0 1,0 0,-1 1,2 14,-4-21,0 0,0 0,0 0,0 0,0 1,0-1,-1 0,1 0,-1 0,0 0,1 0,-1 0,0 0,0-1,0 1,-1 0,1 0,0-1,-1 1,1-1,-1 1,1-1,-1 1,0-1,1 0,-1 0,0 0,0 0,0 0,0 0,0-1,0 1,0-1,0 1,-3-1,-44 3,25-3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46.17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0,'4'6,"-1"0,0-1,0 1,-1 1,1-1,-1 0,0 1,-1-1,2 12,1 2,18 73,-3 1,-5 0,4 177,-18-222,0-27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46.75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80,'4'0,"6"0,10 0,11-4,8-2,6-4,9 0,-1 1,-4 2,-7-1,-10-5,-11 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47.23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0,'0'5,"4"1,1 4,1 4,-2 5,-1 3,-1 3,-1-4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47.63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48.34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234 0,'-13'1,"-1"0,1 1,0 1,-1 0,2 1,-1 0,0 1,1 0,0 1,0 0,0 1,-20 17,27-18,-1 1,2-1,-1 2,1-1,0 0,0 1,1-1,0 1,1 0,-1 0,2 1,-1-1,1 0,0 16,0-20,1 1,1-1,-1 1,1-1,0 1,0-1,0 0,0 0,1 1,-1-1,1 0,0 0,1 0,-1-1,1 1,-1-1,1 1,0-1,0 0,1 0,-1 0,1 0,-1-1,1 1,0-1,0 0,0 0,6 2,16 1,-2-2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41:49.68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41:50.96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41:51.84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41:59.65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42:00.44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42:00.89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42:01.27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77A5A4-8041-4DDE-8B4F-39C6D46E441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4D021D-2B26-4719-9098-EA777E5221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735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 the law, the defendant is presumed innocent until “proven” guilty</a:t>
            </a:r>
          </a:p>
          <a:p>
            <a:r>
              <a:rPr lang="en-US" dirty="0"/>
              <a:t>Similarly, in hypothesis testing, the null hypothesis is assumed to be true</a:t>
            </a:r>
          </a:p>
          <a:p>
            <a:r>
              <a:rPr lang="en-US" dirty="0"/>
              <a:t>In social science, as in the law, nothing is ever proven to be true, this is all probabilistic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4D021D-2B26-4719-9098-EA777E5221A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901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Obesity and credit debt – looks like debt increases with obesity and murders decrease with increasing internet explorer market shares</a:t>
            </a:r>
          </a:p>
          <a:p>
            <a:r>
              <a:rPr lang="en-US" dirty="0"/>
              <a:t>What is the problem here? What are some other explanations…</a:t>
            </a:r>
          </a:p>
          <a:p>
            <a:r>
              <a:rPr lang="en-US" dirty="0"/>
              <a:t>If you can come up with another explanation – a third variable that explains the relationship between two things, that is known as spuriousness.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C46CE0-FA48-1C47-8F34-7EBD275CC64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44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en-US" sz="1200" b="1" dirty="0"/>
              <a:t>Positive correlations</a:t>
            </a:r>
            <a:r>
              <a:rPr lang="en-US" altLang="en-US" sz="1200" dirty="0"/>
              <a:t> – occur when both variables move in the same direction (e.g., as SAT scores increase, so to do GPAs, even if very slightly). </a:t>
            </a:r>
          </a:p>
          <a:p>
            <a:pPr lvl="1"/>
            <a:r>
              <a:rPr lang="en-US" altLang="en-US" sz="1200" b="1" dirty="0"/>
              <a:t>Negative Correlations</a:t>
            </a:r>
            <a:r>
              <a:rPr lang="en-US" altLang="en-US" sz="1200" dirty="0"/>
              <a:t> – occur when one variable increases, the other decreases (e.g., as age increases, the number of speeding tickets decrease)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4D021D-2B26-4719-9098-EA777E5221A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9284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Oftentimes the effects are very small, some a “significant” finding must be interpreted in light of effect sizes </a:t>
            </a:r>
            <a:r>
              <a:rPr lang="en-US" dirty="0">
                <a:sym typeface="Wingdings" panose="05000000000000000000" pitchFamily="2" charset="2"/>
              </a:rPr>
              <a:t> small effect sizes means that it works that way for some people not many</a:t>
            </a:r>
          </a:p>
          <a:p>
            <a:pPr marL="171450" indent="-171450">
              <a:buFontTx/>
              <a:buChar char="-"/>
            </a:pPr>
            <a:r>
              <a:rPr lang="en-US" dirty="0"/>
              <a:t>Oftentimes the effect of one factor on another is indirect, but you are observing a direct relationships</a:t>
            </a:r>
          </a:p>
          <a:p>
            <a:pPr marL="171450" indent="-171450">
              <a:buFontTx/>
              <a:buChar char="-"/>
            </a:pPr>
            <a:r>
              <a:rPr lang="en-US" dirty="0"/>
              <a:t>Oftentimes these relationships are taken to be deterministic when they are probabilistic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4D021D-2B26-4719-9098-EA777E5221A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4933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CF59C2-7033-4B4D-ACA3-71A130EDE93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40322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4D021D-2B26-4719-9098-EA777E5221A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395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00B4696-DFC8-FB46-A1DF-F97D439627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5F2F4D-8EC6-9345-AF53-F3EF8F0CFB3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3394" name="Rectangle 2">
            <a:extLst>
              <a:ext uri="{FF2B5EF4-FFF2-40B4-BE49-F238E27FC236}">
                <a16:creationId xmlns:a16="http://schemas.microsoft.com/office/drawing/2014/main" id="{480F8C33-05C3-5947-A30D-35CB981316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3395" name="Rectangle 3">
            <a:extLst>
              <a:ext uri="{FF2B5EF4-FFF2-40B4-BE49-F238E27FC236}">
                <a16:creationId xmlns:a16="http://schemas.microsoft.com/office/drawing/2014/main" id="{A586131D-254E-9C4F-A2C7-DD205EF2F3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7600" y="3253979"/>
            <a:ext cx="6705600" cy="3136106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2230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59C2-7033-4B4D-ACA3-71A130EDE93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6592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59C2-7033-4B4D-ACA3-71A130EDE93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8465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also use Cohen’s d here as well for each mean difference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59C2-7033-4B4D-ACA3-71A130EDE93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7649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59C2-7033-4B4D-ACA3-71A130EDE93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3260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 = slope 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  <a:sym typeface="Wingdings" panose="05000000000000000000" pitchFamily="2" charset="2"/>
              </a:rPr>
              <a:t> change in </a:t>
            </a:r>
            <a:r>
              <a:rPr kumimoji="0" lang="en-US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  <a:sym typeface="Wingdings" panose="05000000000000000000" pitchFamily="2" charset="2"/>
              </a:rPr>
              <a:t>Y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  <a:sym typeface="Wingdings" panose="05000000000000000000" pitchFamily="2" charset="2"/>
              </a:rPr>
              <a:t> over change in </a:t>
            </a:r>
            <a:r>
              <a:rPr kumimoji="0" lang="en-US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  <a:sym typeface="Wingdings" panose="05000000000000000000" pitchFamily="2" charset="2"/>
              </a:rPr>
              <a:t>X</a:t>
            </a:r>
            <a:endParaRPr kumimoji="0" lang="en-US" altLang="en-US" sz="12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4D021D-2B26-4719-9098-EA777E5221A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475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B9CA3FC-A089-45E3-A57B-CD2C3DFC36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D4DB9-74D8-4AE8-A7C1-D436FF785786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642" name="Rectangle 2">
            <a:extLst>
              <a:ext uri="{FF2B5EF4-FFF2-40B4-BE49-F238E27FC236}">
                <a16:creationId xmlns:a16="http://schemas.microsoft.com/office/drawing/2014/main" id="{0AF44005-3B9B-4FD1-9D20-DDAC9FA7F6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F5458960-7BC9-49F9-9D8B-E5100AB7A8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6790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230445E-A660-448A-B4DC-782AD0E5DA6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033191" y="0"/>
            <a:ext cx="9155634" cy="6858000"/>
          </a:xfrm>
          <a:custGeom>
            <a:avLst/>
            <a:gdLst>
              <a:gd name="connsiteX0" fmla="*/ 6450330 w 8969375"/>
              <a:gd name="connsiteY0" fmla="*/ 3511550 h 6858000"/>
              <a:gd name="connsiteX1" fmla="*/ 8969375 w 8969375"/>
              <a:gd name="connsiteY1" fmla="*/ 3511550 h 6858000"/>
              <a:gd name="connsiteX2" fmla="*/ 8969375 w 8969375"/>
              <a:gd name="connsiteY2" fmla="*/ 6858000 h 6858000"/>
              <a:gd name="connsiteX3" fmla="*/ 5010150 w 8969375"/>
              <a:gd name="connsiteY3" fmla="*/ 6858000 h 6858000"/>
              <a:gd name="connsiteX4" fmla="*/ 1915160 w 8969375"/>
              <a:gd name="connsiteY4" fmla="*/ 3511550 h 6858000"/>
              <a:gd name="connsiteX5" fmla="*/ 3404870 w 8969375"/>
              <a:gd name="connsiteY5" fmla="*/ 3511550 h 6858000"/>
              <a:gd name="connsiteX6" fmla="*/ 1964690 w 8969375"/>
              <a:gd name="connsiteY6" fmla="*/ 6858000 h 6858000"/>
              <a:gd name="connsiteX7" fmla="*/ 474980 w 8969375"/>
              <a:gd name="connsiteY7" fmla="*/ 6858000 h 6858000"/>
              <a:gd name="connsiteX8" fmla="*/ 7961630 w 8969375"/>
              <a:gd name="connsiteY8" fmla="*/ 0 h 6858000"/>
              <a:gd name="connsiteX9" fmla="*/ 8969375 w 8969375"/>
              <a:gd name="connsiteY9" fmla="*/ 0 h 6858000"/>
              <a:gd name="connsiteX10" fmla="*/ 8969375 w 8969375"/>
              <a:gd name="connsiteY10" fmla="*/ 3346450 h 6858000"/>
              <a:gd name="connsiteX11" fmla="*/ 6521450 w 8969375"/>
              <a:gd name="connsiteY11" fmla="*/ 3346450 h 6858000"/>
              <a:gd name="connsiteX12" fmla="*/ 5163820 w 8969375"/>
              <a:gd name="connsiteY12" fmla="*/ 0 h 6858000"/>
              <a:gd name="connsiteX13" fmla="*/ 7726680 w 8969375"/>
              <a:gd name="connsiteY13" fmla="*/ 0 h 6858000"/>
              <a:gd name="connsiteX14" fmla="*/ 4775200 w 8969375"/>
              <a:gd name="connsiteY14" fmla="*/ 6858000 h 6858000"/>
              <a:gd name="connsiteX15" fmla="*/ 2213610 w 8969375"/>
              <a:gd name="connsiteY15" fmla="*/ 6858000 h 6858000"/>
              <a:gd name="connsiteX16" fmla="*/ 3426460 w 8969375"/>
              <a:gd name="connsiteY16" fmla="*/ 0 h 6858000"/>
              <a:gd name="connsiteX17" fmla="*/ 4916170 w 8969375"/>
              <a:gd name="connsiteY17" fmla="*/ 0 h 6858000"/>
              <a:gd name="connsiteX18" fmla="*/ 3475990 w 8969375"/>
              <a:gd name="connsiteY18" fmla="*/ 3346450 h 6858000"/>
              <a:gd name="connsiteX19" fmla="*/ 1986280 w 8969375"/>
              <a:gd name="connsiteY19" fmla="*/ 3346450 h 6858000"/>
              <a:gd name="connsiteX20" fmla="*/ 0 w 8969375"/>
              <a:gd name="connsiteY20" fmla="*/ 0 h 6858000"/>
              <a:gd name="connsiteX21" fmla="*/ 3195320 w 8969375"/>
              <a:gd name="connsiteY21" fmla="*/ 0 h 6858000"/>
              <a:gd name="connsiteX22" fmla="*/ 243840 w 8969375"/>
              <a:gd name="connsiteY22" fmla="*/ 6858000 h 6858000"/>
              <a:gd name="connsiteX23" fmla="*/ 0 w 8969375"/>
              <a:gd name="connsiteY23" fmla="*/ 6858000 h 6858000"/>
              <a:gd name="connsiteX0" fmla="*/ 6604567 w 9123612"/>
              <a:gd name="connsiteY0" fmla="*/ 3511550 h 6858000"/>
              <a:gd name="connsiteX1" fmla="*/ 9123612 w 9123612"/>
              <a:gd name="connsiteY1" fmla="*/ 3511550 h 6858000"/>
              <a:gd name="connsiteX2" fmla="*/ 9123612 w 9123612"/>
              <a:gd name="connsiteY2" fmla="*/ 6858000 h 6858000"/>
              <a:gd name="connsiteX3" fmla="*/ 5164387 w 9123612"/>
              <a:gd name="connsiteY3" fmla="*/ 6858000 h 6858000"/>
              <a:gd name="connsiteX4" fmla="*/ 6604567 w 9123612"/>
              <a:gd name="connsiteY4" fmla="*/ 3511550 h 6858000"/>
              <a:gd name="connsiteX5" fmla="*/ 2069397 w 9123612"/>
              <a:gd name="connsiteY5" fmla="*/ 3511550 h 6858000"/>
              <a:gd name="connsiteX6" fmla="*/ 3559107 w 9123612"/>
              <a:gd name="connsiteY6" fmla="*/ 3511550 h 6858000"/>
              <a:gd name="connsiteX7" fmla="*/ 2118927 w 9123612"/>
              <a:gd name="connsiteY7" fmla="*/ 6858000 h 6858000"/>
              <a:gd name="connsiteX8" fmla="*/ 629217 w 9123612"/>
              <a:gd name="connsiteY8" fmla="*/ 6858000 h 6858000"/>
              <a:gd name="connsiteX9" fmla="*/ 2069397 w 9123612"/>
              <a:gd name="connsiteY9" fmla="*/ 3511550 h 6858000"/>
              <a:gd name="connsiteX10" fmla="*/ 8115867 w 9123612"/>
              <a:gd name="connsiteY10" fmla="*/ 0 h 6858000"/>
              <a:gd name="connsiteX11" fmla="*/ 9123612 w 9123612"/>
              <a:gd name="connsiteY11" fmla="*/ 0 h 6858000"/>
              <a:gd name="connsiteX12" fmla="*/ 9123612 w 9123612"/>
              <a:gd name="connsiteY12" fmla="*/ 3346450 h 6858000"/>
              <a:gd name="connsiteX13" fmla="*/ 6675687 w 9123612"/>
              <a:gd name="connsiteY13" fmla="*/ 3346450 h 6858000"/>
              <a:gd name="connsiteX14" fmla="*/ 8115867 w 9123612"/>
              <a:gd name="connsiteY14" fmla="*/ 0 h 6858000"/>
              <a:gd name="connsiteX15" fmla="*/ 5318057 w 9123612"/>
              <a:gd name="connsiteY15" fmla="*/ 0 h 6858000"/>
              <a:gd name="connsiteX16" fmla="*/ 7880917 w 9123612"/>
              <a:gd name="connsiteY16" fmla="*/ 0 h 6858000"/>
              <a:gd name="connsiteX17" fmla="*/ 4929437 w 9123612"/>
              <a:gd name="connsiteY17" fmla="*/ 6858000 h 6858000"/>
              <a:gd name="connsiteX18" fmla="*/ 2367847 w 9123612"/>
              <a:gd name="connsiteY18" fmla="*/ 6858000 h 6858000"/>
              <a:gd name="connsiteX19" fmla="*/ 5318057 w 9123612"/>
              <a:gd name="connsiteY19" fmla="*/ 0 h 6858000"/>
              <a:gd name="connsiteX20" fmla="*/ 3580697 w 9123612"/>
              <a:gd name="connsiteY20" fmla="*/ 0 h 6858000"/>
              <a:gd name="connsiteX21" fmla="*/ 5070407 w 9123612"/>
              <a:gd name="connsiteY21" fmla="*/ 0 h 6858000"/>
              <a:gd name="connsiteX22" fmla="*/ 3630227 w 9123612"/>
              <a:gd name="connsiteY22" fmla="*/ 3346450 h 6858000"/>
              <a:gd name="connsiteX23" fmla="*/ 2140517 w 9123612"/>
              <a:gd name="connsiteY23" fmla="*/ 3346450 h 6858000"/>
              <a:gd name="connsiteX24" fmla="*/ 3580697 w 9123612"/>
              <a:gd name="connsiteY24" fmla="*/ 0 h 6858000"/>
              <a:gd name="connsiteX25" fmla="*/ 154237 w 9123612"/>
              <a:gd name="connsiteY25" fmla="*/ 0 h 6858000"/>
              <a:gd name="connsiteX26" fmla="*/ 3349557 w 9123612"/>
              <a:gd name="connsiteY26" fmla="*/ 0 h 6858000"/>
              <a:gd name="connsiteX27" fmla="*/ 398077 w 9123612"/>
              <a:gd name="connsiteY27" fmla="*/ 6858000 h 6858000"/>
              <a:gd name="connsiteX28" fmla="*/ 0 w 9123612"/>
              <a:gd name="connsiteY28" fmla="*/ 6858000 h 6858000"/>
              <a:gd name="connsiteX29" fmla="*/ 154237 w 9123612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18625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18625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054197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054197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lnTo>
                  <a:pt x="6636589" y="351155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lnTo>
                  <a:pt x="2101419" y="351155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lnTo>
                  <a:pt x="8147889" y="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lnTo>
                  <a:pt x="5350079" y="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lnTo>
                  <a:pt x="3612719" y="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lnTo>
                  <a:pt x="2947249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10852" y="3369468"/>
            <a:ext cx="37224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021" y="1096344"/>
            <a:ext cx="10510754" cy="2281355"/>
          </a:xfrm>
        </p:spPr>
        <p:txBody>
          <a:bodyPr>
            <a:noAutofit/>
          </a:bodyPr>
          <a:lstStyle>
            <a:lvl1pPr algn="l">
              <a:defRPr sz="7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A4843534-A750-4D01-BC62-26CD9AEA6A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0021" y="3773554"/>
            <a:ext cx="10090287" cy="1101897"/>
          </a:xfrm>
        </p:spPr>
        <p:txBody>
          <a:bodyPr>
            <a:noAutofit/>
          </a:bodyPr>
          <a:lstStyle>
            <a:lvl1pPr marL="0" indent="0" algn="l">
              <a:buNone/>
              <a:defRPr sz="3500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Tagline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F8E7B25A-0A4A-430B-903E-76193E2954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0021" y="5451784"/>
            <a:ext cx="4367531" cy="324417"/>
          </a:xfrm>
        </p:spPr>
        <p:txBody>
          <a:bodyPr>
            <a:noAutofit/>
          </a:bodyPr>
          <a:lstStyle>
            <a:lvl1pPr marL="0" indent="0" algn="l">
              <a:buNone/>
              <a:defRPr sz="2200" b="1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20XX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B88F3A2A-BD60-4F82-8064-8B157AF4DD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70021" y="5105536"/>
            <a:ext cx="4367531" cy="324417"/>
          </a:xfrm>
        </p:spPr>
        <p:txBody>
          <a:bodyPr>
            <a:noAutofit/>
          </a:bodyPr>
          <a:lstStyle>
            <a:lvl1pPr marL="0" indent="0" algn="l">
              <a:buNone/>
              <a:defRPr sz="22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Month</a:t>
            </a:r>
          </a:p>
        </p:txBody>
      </p:sp>
    </p:spTree>
    <p:extLst>
      <p:ext uri="{BB962C8B-B14F-4D97-AF65-F5344CB8AC3E}">
        <p14:creationId xmlns:p14="http://schemas.microsoft.com/office/powerpoint/2010/main" val="1742918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61FE90B3-361E-4150-BE53-368ADEA27D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130966"/>
            <a:ext cx="12192000" cy="6602574"/>
          </a:xfrm>
          <a:custGeom>
            <a:avLst/>
            <a:gdLst>
              <a:gd name="connsiteX0" fmla="*/ 5864259 w 12192000"/>
              <a:gd name="connsiteY0" fmla="*/ 2895444 h 6602574"/>
              <a:gd name="connsiteX1" fmla="*/ 5864259 w 12192000"/>
              <a:gd name="connsiteY1" fmla="*/ 5383374 h 6602574"/>
              <a:gd name="connsiteX2" fmla="*/ 0 w 12192000"/>
              <a:gd name="connsiteY2" fmla="*/ 6602574 h 6602574"/>
              <a:gd name="connsiteX3" fmla="*/ 0 w 12192000"/>
              <a:gd name="connsiteY3" fmla="*/ 4114644 h 6602574"/>
              <a:gd name="connsiteX4" fmla="*/ 12192000 w 12192000"/>
              <a:gd name="connsiteY4" fmla="*/ 2726690 h 6602574"/>
              <a:gd name="connsiteX5" fmla="*/ 12192000 w 12192000"/>
              <a:gd name="connsiteY5" fmla="*/ 5214620 h 6602574"/>
              <a:gd name="connsiteX6" fmla="*/ 6104805 w 12192000"/>
              <a:gd name="connsiteY6" fmla="*/ 6470494 h 6602574"/>
              <a:gd name="connsiteX7" fmla="*/ 6104805 w 12192000"/>
              <a:gd name="connsiteY7" fmla="*/ 3982564 h 6602574"/>
              <a:gd name="connsiteX8" fmla="*/ 12192000 w 12192000"/>
              <a:gd name="connsiteY8" fmla="*/ 0 h 6602574"/>
              <a:gd name="connsiteX9" fmla="*/ 12192000 w 12192000"/>
              <a:gd name="connsiteY9" fmla="*/ 2487923 h 6602574"/>
              <a:gd name="connsiteX10" fmla="*/ 6104805 w 12192000"/>
              <a:gd name="connsiteY10" fmla="*/ 3742534 h 6602574"/>
              <a:gd name="connsiteX11" fmla="*/ 6104805 w 12192000"/>
              <a:gd name="connsiteY11" fmla="*/ 1255874 h 6602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602574">
                <a:moveTo>
                  <a:pt x="5864259" y="2895444"/>
                </a:moveTo>
                <a:lnTo>
                  <a:pt x="5864259" y="5383374"/>
                </a:lnTo>
                <a:lnTo>
                  <a:pt x="0" y="6602574"/>
                </a:lnTo>
                <a:lnTo>
                  <a:pt x="0" y="4114644"/>
                </a:lnTo>
                <a:close/>
                <a:moveTo>
                  <a:pt x="12192000" y="2726690"/>
                </a:moveTo>
                <a:lnTo>
                  <a:pt x="12192000" y="5214620"/>
                </a:lnTo>
                <a:lnTo>
                  <a:pt x="6104805" y="6470494"/>
                </a:lnTo>
                <a:lnTo>
                  <a:pt x="6104805" y="3982564"/>
                </a:lnTo>
                <a:close/>
                <a:moveTo>
                  <a:pt x="12192000" y="0"/>
                </a:moveTo>
                <a:lnTo>
                  <a:pt x="12192000" y="2487923"/>
                </a:lnTo>
                <a:lnTo>
                  <a:pt x="6104805" y="3742534"/>
                </a:lnTo>
                <a:lnTo>
                  <a:pt x="6104805" y="125587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240" y="1033272"/>
            <a:ext cx="505608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8AF4189-33DF-9B46-9624-C722FCE07D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032" y="2225392"/>
            <a:ext cx="4421856" cy="749047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7584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D8367A5-C050-47FB-A1BD-54CD13DE3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19738" y="0"/>
            <a:ext cx="6103621" cy="6858000"/>
          </a:xfrm>
          <a:custGeom>
            <a:avLst/>
            <a:gdLst>
              <a:gd name="connsiteX0" fmla="*/ 3914141 w 6103621"/>
              <a:gd name="connsiteY0" fmla="*/ 914400 h 6858000"/>
              <a:gd name="connsiteX1" fmla="*/ 6103621 w 6103621"/>
              <a:gd name="connsiteY1" fmla="*/ 914400 h 6858000"/>
              <a:gd name="connsiteX2" fmla="*/ 4339591 w 6103621"/>
              <a:gd name="connsiteY2" fmla="*/ 6858000 h 6858000"/>
              <a:gd name="connsiteX3" fmla="*/ 2150112 w 6103621"/>
              <a:gd name="connsiteY3" fmla="*/ 6858000 h 6858000"/>
              <a:gd name="connsiteX4" fmla="*/ 1769111 w 6103621"/>
              <a:gd name="connsiteY4" fmla="*/ 0 h 6858000"/>
              <a:gd name="connsiteX5" fmla="*/ 3958591 w 6103621"/>
              <a:gd name="connsiteY5" fmla="*/ 0 h 6858000"/>
              <a:gd name="connsiteX6" fmla="*/ 2189480 w 6103621"/>
              <a:gd name="connsiteY6" fmla="*/ 5943601 h 6858000"/>
              <a:gd name="connsiteX7" fmla="*/ 0 w 6103621"/>
              <a:gd name="connsiteY7" fmla="*/ 594360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3621" h="6858000">
                <a:moveTo>
                  <a:pt x="3914141" y="914400"/>
                </a:moveTo>
                <a:lnTo>
                  <a:pt x="6103621" y="914400"/>
                </a:lnTo>
                <a:lnTo>
                  <a:pt x="4339591" y="6858000"/>
                </a:lnTo>
                <a:lnTo>
                  <a:pt x="2150112" y="6858000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302F0820-F94A-40EF-B3BE-26CD0CB551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4032" y="3074529"/>
            <a:ext cx="4421856" cy="2588637"/>
          </a:xfrm>
        </p:spPr>
        <p:txBody>
          <a:bodyPr lIns="0"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3528AEE-54AB-4366-9576-BBA1CE5F3A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032746"/>
            <a:ext cx="505608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1</a:t>
            </a:r>
            <a:endParaRPr lang="ru-RU" dirty="0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A1867536-E941-4FED-8B68-2609143C2A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032" y="2225392"/>
            <a:ext cx="4421856" cy="749047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3438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B2044CCF-605D-4D6E-A41D-D6AED53B223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404811"/>
            <a:ext cx="6108872" cy="5485128"/>
          </a:xfrm>
          <a:custGeom>
            <a:avLst/>
            <a:gdLst>
              <a:gd name="connsiteX0" fmla="*/ 0 w 6108872"/>
              <a:gd name="connsiteY0" fmla="*/ 2203471 h 5485128"/>
              <a:gd name="connsiteX1" fmla="*/ 6108872 w 6108872"/>
              <a:gd name="connsiteY1" fmla="*/ 3505695 h 5485128"/>
              <a:gd name="connsiteX2" fmla="*/ 6108872 w 6108872"/>
              <a:gd name="connsiteY2" fmla="*/ 5485128 h 5485128"/>
              <a:gd name="connsiteX3" fmla="*/ 0 w 6108872"/>
              <a:gd name="connsiteY3" fmla="*/ 4182903 h 5485128"/>
              <a:gd name="connsiteX4" fmla="*/ 0 w 6108872"/>
              <a:gd name="connsiteY4" fmla="*/ 0 h 5485128"/>
              <a:gd name="connsiteX5" fmla="*/ 6108872 w 6108872"/>
              <a:gd name="connsiteY5" fmla="*/ 1302225 h 5485128"/>
              <a:gd name="connsiteX6" fmla="*/ 6108872 w 6108872"/>
              <a:gd name="connsiteY6" fmla="*/ 3281657 h 5485128"/>
              <a:gd name="connsiteX7" fmla="*/ 0 w 6108872"/>
              <a:gd name="connsiteY7" fmla="*/ 1979432 h 5485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8872" h="5485128">
                <a:moveTo>
                  <a:pt x="0" y="2203471"/>
                </a:moveTo>
                <a:lnTo>
                  <a:pt x="6108872" y="3505695"/>
                </a:lnTo>
                <a:lnTo>
                  <a:pt x="6108872" y="5485128"/>
                </a:lnTo>
                <a:lnTo>
                  <a:pt x="0" y="4182903"/>
                </a:lnTo>
                <a:close/>
                <a:moveTo>
                  <a:pt x="0" y="0"/>
                </a:moveTo>
                <a:lnTo>
                  <a:pt x="6108872" y="1302225"/>
                </a:lnTo>
                <a:lnTo>
                  <a:pt x="6108872" y="3281657"/>
                </a:lnTo>
                <a:lnTo>
                  <a:pt x="0" y="197943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E7F180F3-53B1-4A31-82A4-E6F9B5D8D8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81205" y="3090572"/>
            <a:ext cx="4421857" cy="2588637"/>
          </a:xfrm>
        </p:spPr>
        <p:txBody>
          <a:bodyPr lIns="0"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D523330-9E96-4C6E-B5A4-6B543D365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1206" y="1046140"/>
            <a:ext cx="505608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2</a:t>
            </a:r>
            <a:endParaRPr lang="ru-R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A08F6B3-0ADA-4ECF-8D25-7DFE4A3641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81206" y="2241515"/>
            <a:ext cx="4421856" cy="749047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Graphic 15">
            <a:extLst>
              <a:ext uri="{FF2B5EF4-FFF2-40B4-BE49-F238E27FC236}">
                <a16:creationId xmlns:a16="http://schemas.microsoft.com/office/drawing/2014/main" id="{5CCECBFE-3C2B-4492-BCDA-1EFEB5E3E092}"/>
              </a:ext>
            </a:extLst>
          </p:cNvPr>
          <p:cNvSpPr/>
          <p:nvPr userDrawn="1"/>
        </p:nvSpPr>
        <p:spPr>
          <a:xfrm flipH="1">
            <a:off x="6980920" y="1947672"/>
            <a:ext cx="5220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3441B044-38F8-49ED-845B-5D926C811447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8147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3373955-AB5B-4186-8098-9DBA0AB2650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74031" y="2993041"/>
            <a:ext cx="4365625" cy="454353"/>
          </a:xfrm>
        </p:spPr>
        <p:txBody>
          <a:bodyPr>
            <a:noAutofit/>
          </a:bodyPr>
          <a:lstStyle>
            <a:lvl1pPr marL="0" indent="0">
              <a:buNone/>
              <a:defRPr sz="27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3A3472E-32B4-4CAD-B5D0-420AA3FB4CE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627120" y="2993041"/>
            <a:ext cx="4365625" cy="454353"/>
          </a:xfrm>
        </p:spPr>
        <p:txBody>
          <a:bodyPr>
            <a:noAutofit/>
          </a:bodyPr>
          <a:lstStyle>
            <a:lvl1pPr marL="0" indent="0">
              <a:buNone/>
              <a:defRPr sz="27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2 title</a:t>
            </a: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1AEED068-3EA0-4BF4-875C-02473E9EB0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74032" y="3563411"/>
            <a:ext cx="4365625" cy="2333625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3590B9DA-A2DF-4AE1-9A98-C7B84F48C3A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27121" y="3563411"/>
            <a:ext cx="4365625" cy="2333625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033272"/>
            <a:ext cx="505608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COMPARISON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032" y="2221992"/>
            <a:ext cx="10218713" cy="665713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5E78F6F2-1702-E74A-86B2-0C42A30F3378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4049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-12700" y="-12700"/>
            <a:ext cx="12217400" cy="6883400"/>
            <a:chOff x="-12700" y="-12700"/>
            <a:chExt cx="12217400" cy="68834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542021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Chart Placeholder 18">
            <a:extLst>
              <a:ext uri="{FF2B5EF4-FFF2-40B4-BE49-F238E27FC236}">
                <a16:creationId xmlns:a16="http://schemas.microsoft.com/office/drawing/2014/main" id="{68B512F2-EA3E-483F-B5D4-29DFD6C37B36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6096001" y="1246188"/>
            <a:ext cx="5170034" cy="436562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chart</a:t>
            </a:r>
            <a:endParaRPr lang="ru-RU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D58E79F-20BB-644D-8C49-25B57E347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317173"/>
            <a:ext cx="2825496" cy="1524185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CHART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EF8E92E6-C1C9-854A-93EE-FD201AF050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032" y="3198228"/>
            <a:ext cx="2825496" cy="2154741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Graphic 15">
            <a:extLst>
              <a:ext uri="{FF2B5EF4-FFF2-40B4-BE49-F238E27FC236}">
                <a16:creationId xmlns:a16="http://schemas.microsoft.com/office/drawing/2014/main" id="{C1F625F0-F98F-D244-9020-86C86C287112}"/>
              </a:ext>
            </a:extLst>
          </p:cNvPr>
          <p:cNvSpPr/>
          <p:nvPr userDrawn="1"/>
        </p:nvSpPr>
        <p:spPr>
          <a:xfrm>
            <a:off x="-11173" y="2899869"/>
            <a:ext cx="2628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4984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317173"/>
            <a:ext cx="2825496" cy="1524185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TABLE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032" y="3198228"/>
            <a:ext cx="2825496" cy="2154741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Graphic 15">
            <a:extLst>
              <a:ext uri="{FF2B5EF4-FFF2-40B4-BE49-F238E27FC236}">
                <a16:creationId xmlns:a16="http://schemas.microsoft.com/office/drawing/2014/main" id="{C8EF6174-FF5D-41C2-BF6B-9D6ECB281A1D}"/>
              </a:ext>
            </a:extLst>
          </p:cNvPr>
          <p:cNvSpPr/>
          <p:nvPr userDrawn="1"/>
        </p:nvSpPr>
        <p:spPr>
          <a:xfrm>
            <a:off x="-11173" y="2899869"/>
            <a:ext cx="2628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Table Placeholder 17">
            <a:extLst>
              <a:ext uri="{FF2B5EF4-FFF2-40B4-BE49-F238E27FC236}">
                <a16:creationId xmlns:a16="http://schemas.microsoft.com/office/drawing/2014/main" id="{D45BCEDF-86BB-41E2-9F09-5D3014AD1C45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4715791" y="1591499"/>
            <a:ext cx="6561138" cy="3761069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744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itle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694C388-14E9-4848-A715-72B7DC6AF5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701" y="0"/>
            <a:ext cx="12161519" cy="6858000"/>
          </a:xfrm>
          <a:custGeom>
            <a:avLst/>
            <a:gdLst>
              <a:gd name="connsiteX0" fmla="*/ 12161519 w 12161519"/>
              <a:gd name="connsiteY0" fmla="*/ 638810 h 6858000"/>
              <a:gd name="connsiteX1" fmla="*/ 12161519 w 12161519"/>
              <a:gd name="connsiteY1" fmla="*/ 1922780 h 6858000"/>
              <a:gd name="connsiteX2" fmla="*/ 9531350 w 12161519"/>
              <a:gd name="connsiteY2" fmla="*/ 6858000 h 6858000"/>
              <a:gd name="connsiteX3" fmla="*/ 8846819 w 12161519"/>
              <a:gd name="connsiteY3" fmla="*/ 6858000 h 6858000"/>
              <a:gd name="connsiteX4" fmla="*/ 10704830 w 12161519"/>
              <a:gd name="connsiteY4" fmla="*/ 0 h 6858000"/>
              <a:gd name="connsiteX5" fmla="*/ 12161519 w 12161519"/>
              <a:gd name="connsiteY5" fmla="*/ 0 h 6858000"/>
              <a:gd name="connsiteX6" fmla="*/ 12161519 w 12161519"/>
              <a:gd name="connsiteY6" fmla="*/ 234950 h 6858000"/>
              <a:gd name="connsiteX7" fmla="*/ 8632190 w 12161519"/>
              <a:gd name="connsiteY7" fmla="*/ 6858000 h 6858000"/>
              <a:gd name="connsiteX8" fmla="*/ 7049770 w 12161519"/>
              <a:gd name="connsiteY8" fmla="*/ 6858000 h 6858000"/>
              <a:gd name="connsiteX9" fmla="*/ 5320030 w 12161519"/>
              <a:gd name="connsiteY9" fmla="*/ 0 h 6858000"/>
              <a:gd name="connsiteX10" fmla="*/ 10476230 w 12161519"/>
              <a:gd name="connsiteY10" fmla="*/ 0 h 6858000"/>
              <a:gd name="connsiteX11" fmla="*/ 6822440 w 12161519"/>
              <a:gd name="connsiteY11" fmla="*/ 6858000 h 6858000"/>
              <a:gd name="connsiteX12" fmla="*/ 1664970 w 12161519"/>
              <a:gd name="connsiteY12" fmla="*/ 6858000 h 6858000"/>
              <a:gd name="connsiteX13" fmla="*/ 3529330 w 12161519"/>
              <a:gd name="connsiteY13" fmla="*/ 0 h 6858000"/>
              <a:gd name="connsiteX14" fmla="*/ 5111750 w 12161519"/>
              <a:gd name="connsiteY14" fmla="*/ 0 h 6858000"/>
              <a:gd name="connsiteX15" fmla="*/ 1456690 w 12161519"/>
              <a:gd name="connsiteY15" fmla="*/ 6858000 h 6858000"/>
              <a:gd name="connsiteX16" fmla="*/ 0 w 12161519"/>
              <a:gd name="connsiteY16" fmla="*/ 6858000 h 6858000"/>
              <a:gd name="connsiteX17" fmla="*/ 0 w 12161519"/>
              <a:gd name="connsiteY17" fmla="*/ 6623050 h 6858000"/>
              <a:gd name="connsiteX18" fmla="*/ 2630170 w 12161519"/>
              <a:gd name="connsiteY18" fmla="*/ 0 h 6858000"/>
              <a:gd name="connsiteX19" fmla="*/ 3314700 w 12161519"/>
              <a:gd name="connsiteY19" fmla="*/ 0 h 6858000"/>
              <a:gd name="connsiteX20" fmla="*/ 0 w 12161519"/>
              <a:gd name="connsiteY20" fmla="*/ 6219190 h 6858000"/>
              <a:gd name="connsiteX21" fmla="*/ 0 w 12161519"/>
              <a:gd name="connsiteY21" fmla="*/ 493522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61519" h="6858000">
                <a:moveTo>
                  <a:pt x="12161519" y="638810"/>
                </a:moveTo>
                <a:lnTo>
                  <a:pt x="12161519" y="1922780"/>
                </a:lnTo>
                <a:lnTo>
                  <a:pt x="9531350" y="6858000"/>
                </a:lnTo>
                <a:lnTo>
                  <a:pt x="8846819" y="6858000"/>
                </a:lnTo>
                <a:close/>
                <a:moveTo>
                  <a:pt x="10704830" y="0"/>
                </a:moveTo>
                <a:lnTo>
                  <a:pt x="12161519" y="0"/>
                </a:lnTo>
                <a:lnTo>
                  <a:pt x="12161519" y="234950"/>
                </a:lnTo>
                <a:lnTo>
                  <a:pt x="8632190" y="6858000"/>
                </a:lnTo>
                <a:lnTo>
                  <a:pt x="7049770" y="6858000"/>
                </a:lnTo>
                <a:close/>
                <a:moveTo>
                  <a:pt x="5320030" y="0"/>
                </a:moveTo>
                <a:lnTo>
                  <a:pt x="10476230" y="0"/>
                </a:lnTo>
                <a:lnTo>
                  <a:pt x="6822440" y="6858000"/>
                </a:lnTo>
                <a:lnTo>
                  <a:pt x="1664970" y="6858000"/>
                </a:lnTo>
                <a:close/>
                <a:moveTo>
                  <a:pt x="3529330" y="0"/>
                </a:moveTo>
                <a:lnTo>
                  <a:pt x="5111750" y="0"/>
                </a:lnTo>
                <a:lnTo>
                  <a:pt x="1456690" y="6858000"/>
                </a:lnTo>
                <a:lnTo>
                  <a:pt x="0" y="6858000"/>
                </a:lnTo>
                <a:lnTo>
                  <a:pt x="0" y="6623050"/>
                </a:lnTo>
                <a:close/>
                <a:moveTo>
                  <a:pt x="2630170" y="0"/>
                </a:moveTo>
                <a:lnTo>
                  <a:pt x="3314700" y="0"/>
                </a:lnTo>
                <a:lnTo>
                  <a:pt x="0" y="6219190"/>
                </a:lnTo>
                <a:lnTo>
                  <a:pt x="0" y="493522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FD7B55F-CFD3-4921-BB2A-B14EB4E363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033272"/>
            <a:ext cx="10514998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BIG IMAGE 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932204AA-73EE-4F85-898B-E747C5ACC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032" y="1880794"/>
            <a:ext cx="10518598" cy="78263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Graphic 4">
            <a:extLst>
              <a:ext uri="{FF2B5EF4-FFF2-40B4-BE49-F238E27FC236}">
                <a16:creationId xmlns:a16="http://schemas.microsoft.com/office/drawing/2014/main" id="{38541361-4795-490E-8165-B4A338F8231D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2E78DA-7F75-294B-AECF-F02F6C41615D}"/>
              </a:ext>
            </a:extLst>
          </p:cNvPr>
          <p:cNvSpPr txBox="1"/>
          <p:nvPr userDrawn="1"/>
        </p:nvSpPr>
        <p:spPr>
          <a:xfrm>
            <a:off x="327546" y="30025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582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F5D581-F5B0-4701-B187-0D4FAB44900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ru-RU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E5F41AB-E2B9-45DD-B1C7-9F4DBA4946B9}"/>
              </a:ext>
            </a:extLst>
          </p:cNvPr>
          <p:cNvSpPr/>
          <p:nvPr userDrawn="1"/>
        </p:nvSpPr>
        <p:spPr>
          <a:xfrm>
            <a:off x="2445759" y="-12700"/>
            <a:ext cx="7289800" cy="6883400"/>
          </a:xfrm>
          <a:custGeom>
            <a:avLst/>
            <a:gdLst>
              <a:gd name="connsiteX0" fmla="*/ 5063490 w 7289800"/>
              <a:gd name="connsiteY0" fmla="*/ 12700 h 6883400"/>
              <a:gd name="connsiteX1" fmla="*/ 2499360 w 7289800"/>
              <a:gd name="connsiteY1" fmla="*/ 6870700 h 6883400"/>
              <a:gd name="connsiteX2" fmla="*/ 4721860 w 7289800"/>
              <a:gd name="connsiteY2" fmla="*/ 6870700 h 6883400"/>
              <a:gd name="connsiteX3" fmla="*/ 7285990 w 7289800"/>
              <a:gd name="connsiteY3" fmla="*/ 12700 h 6883400"/>
              <a:gd name="connsiteX4" fmla="*/ 5063490 w 7289800"/>
              <a:gd name="connsiteY4" fmla="*/ 12700 h 6883400"/>
              <a:gd name="connsiteX5" fmla="*/ 12700 w 7289800"/>
              <a:gd name="connsiteY5" fmla="*/ 6870700 h 6883400"/>
              <a:gd name="connsiteX6" fmla="*/ 2235200 w 7289800"/>
              <a:gd name="connsiteY6" fmla="*/ 6870700 h 6883400"/>
              <a:gd name="connsiteX7" fmla="*/ 4799331 w 7289800"/>
              <a:gd name="connsiteY7" fmla="*/ 12700 h 6883400"/>
              <a:gd name="connsiteX8" fmla="*/ 2576830 w 7289800"/>
              <a:gd name="connsiteY8" fmla="*/ 12700 h 6883400"/>
              <a:gd name="connsiteX9" fmla="*/ 12700 w 7289800"/>
              <a:gd name="connsiteY9" fmla="*/ 6870700 h 68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89800" h="6883400">
                <a:moveTo>
                  <a:pt x="5063490" y="12700"/>
                </a:moveTo>
                <a:lnTo>
                  <a:pt x="2499360" y="6870700"/>
                </a:lnTo>
                <a:lnTo>
                  <a:pt x="4721860" y="6870700"/>
                </a:lnTo>
                <a:lnTo>
                  <a:pt x="7285990" y="12700"/>
                </a:lnTo>
                <a:lnTo>
                  <a:pt x="5063490" y="12700"/>
                </a:lnTo>
                <a:close/>
                <a:moveTo>
                  <a:pt x="12700" y="6870700"/>
                </a:moveTo>
                <a:lnTo>
                  <a:pt x="2235200" y="6870700"/>
                </a:lnTo>
                <a:lnTo>
                  <a:pt x="4799331" y="12700"/>
                </a:lnTo>
                <a:lnTo>
                  <a:pt x="2576830" y="12700"/>
                </a:lnTo>
                <a:lnTo>
                  <a:pt x="12700" y="68707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56579"/>
            <a:ext cx="10515600" cy="1325563"/>
          </a:xfrm>
        </p:spPr>
        <p:txBody>
          <a:bodyPr lIns="0" r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VIDEO SLIDE</a:t>
            </a:r>
            <a:endParaRPr lang="ru-RU" dirty="0"/>
          </a:p>
        </p:txBody>
      </p:sp>
      <p:sp>
        <p:nvSpPr>
          <p:cNvPr id="16" name="Media Placeholder 7">
            <a:extLst>
              <a:ext uri="{FF2B5EF4-FFF2-40B4-BE49-F238E27FC236}">
                <a16:creationId xmlns:a16="http://schemas.microsoft.com/office/drawing/2014/main" id="{A11F77F4-4B16-4503-B9B6-AE22C686E3E3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1395984" y="1497770"/>
            <a:ext cx="9400032" cy="4215384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media</a:t>
            </a:r>
            <a:endParaRPr lang="ru-RU" dirty="0"/>
          </a:p>
        </p:txBody>
      </p:sp>
      <p:sp>
        <p:nvSpPr>
          <p:cNvPr id="12" name="Graphic 4">
            <a:extLst>
              <a:ext uri="{FF2B5EF4-FFF2-40B4-BE49-F238E27FC236}">
                <a16:creationId xmlns:a16="http://schemas.microsoft.com/office/drawing/2014/main" id="{C7654E36-50FF-425E-B595-F3957610B5D8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5891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8BA6D96-EFE3-4743-8FB5-544E9692D11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" y="0"/>
            <a:ext cx="9155429" cy="6858000"/>
          </a:xfrm>
          <a:custGeom>
            <a:avLst/>
            <a:gdLst>
              <a:gd name="connsiteX0" fmla="*/ 5490209 w 9155429"/>
              <a:gd name="connsiteY0" fmla="*/ 3511550 h 6858000"/>
              <a:gd name="connsiteX1" fmla="*/ 6979919 w 9155429"/>
              <a:gd name="connsiteY1" fmla="*/ 3511550 h 6858000"/>
              <a:gd name="connsiteX2" fmla="*/ 5541009 w 9155429"/>
              <a:gd name="connsiteY2" fmla="*/ 6858000 h 6858000"/>
              <a:gd name="connsiteX3" fmla="*/ 4050029 w 9155429"/>
              <a:gd name="connsiteY3" fmla="*/ 6858000 h 6858000"/>
              <a:gd name="connsiteX4" fmla="*/ 0 w 9155429"/>
              <a:gd name="connsiteY4" fmla="*/ 3511550 h 6858000"/>
              <a:gd name="connsiteX5" fmla="*/ 2444750 w 9155429"/>
              <a:gd name="connsiteY5" fmla="*/ 3511550 h 6858000"/>
              <a:gd name="connsiteX6" fmla="*/ 1004570 w 9155429"/>
              <a:gd name="connsiteY6" fmla="*/ 6858000 h 6858000"/>
              <a:gd name="connsiteX7" fmla="*/ 0 w 9155429"/>
              <a:gd name="connsiteY7" fmla="*/ 6858000 h 6858000"/>
              <a:gd name="connsiteX8" fmla="*/ 7001509 w 9155429"/>
              <a:gd name="connsiteY8" fmla="*/ 1 h 6858000"/>
              <a:gd name="connsiteX9" fmla="*/ 8491219 w 9155429"/>
              <a:gd name="connsiteY9" fmla="*/ 1 h 6858000"/>
              <a:gd name="connsiteX10" fmla="*/ 7051039 w 9155429"/>
              <a:gd name="connsiteY10" fmla="*/ 3346450 h 6858000"/>
              <a:gd name="connsiteX11" fmla="*/ 5561329 w 9155429"/>
              <a:gd name="connsiteY11" fmla="*/ 3346450 h 6858000"/>
              <a:gd name="connsiteX12" fmla="*/ 8722359 w 9155429"/>
              <a:gd name="connsiteY12" fmla="*/ 0 h 6858000"/>
              <a:gd name="connsiteX13" fmla="*/ 9155429 w 9155429"/>
              <a:gd name="connsiteY13" fmla="*/ 0 h 6858000"/>
              <a:gd name="connsiteX14" fmla="*/ 6203949 w 9155429"/>
              <a:gd name="connsiteY14" fmla="*/ 6858000 h 6858000"/>
              <a:gd name="connsiteX15" fmla="*/ 5772149 w 9155429"/>
              <a:gd name="connsiteY15" fmla="*/ 6858000 h 6858000"/>
              <a:gd name="connsiteX16" fmla="*/ 4190999 w 9155429"/>
              <a:gd name="connsiteY16" fmla="*/ 0 h 6858000"/>
              <a:gd name="connsiteX17" fmla="*/ 6753859 w 9155429"/>
              <a:gd name="connsiteY17" fmla="*/ 0 h 6858000"/>
              <a:gd name="connsiteX18" fmla="*/ 3802379 w 9155429"/>
              <a:gd name="connsiteY18" fmla="*/ 6858000 h 6858000"/>
              <a:gd name="connsiteX19" fmla="*/ 1239520 w 9155429"/>
              <a:gd name="connsiteY19" fmla="*/ 6858000 h 6858000"/>
              <a:gd name="connsiteX20" fmla="*/ 0 w 9155429"/>
              <a:gd name="connsiteY20" fmla="*/ 0 h 6858000"/>
              <a:gd name="connsiteX21" fmla="*/ 3956050 w 9155429"/>
              <a:gd name="connsiteY21" fmla="*/ 0 h 6858000"/>
              <a:gd name="connsiteX22" fmla="*/ 2515869 w 9155429"/>
              <a:gd name="connsiteY22" fmla="*/ 3346450 h 6858000"/>
              <a:gd name="connsiteX23" fmla="*/ 0 w 9155429"/>
              <a:gd name="connsiteY23" fmla="*/ 33464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429" h="6858000">
                <a:moveTo>
                  <a:pt x="5490209" y="3511550"/>
                </a:moveTo>
                <a:lnTo>
                  <a:pt x="6979919" y="3511550"/>
                </a:lnTo>
                <a:lnTo>
                  <a:pt x="5541009" y="6858000"/>
                </a:lnTo>
                <a:lnTo>
                  <a:pt x="4050029" y="6858000"/>
                </a:lnTo>
                <a:close/>
                <a:moveTo>
                  <a:pt x="0" y="3511550"/>
                </a:moveTo>
                <a:lnTo>
                  <a:pt x="2444750" y="3511550"/>
                </a:lnTo>
                <a:lnTo>
                  <a:pt x="1004570" y="6858000"/>
                </a:lnTo>
                <a:lnTo>
                  <a:pt x="0" y="6858000"/>
                </a:lnTo>
                <a:close/>
                <a:moveTo>
                  <a:pt x="7001509" y="1"/>
                </a:moveTo>
                <a:lnTo>
                  <a:pt x="8491219" y="1"/>
                </a:lnTo>
                <a:lnTo>
                  <a:pt x="7051039" y="3346450"/>
                </a:lnTo>
                <a:lnTo>
                  <a:pt x="5561329" y="3346450"/>
                </a:lnTo>
                <a:close/>
                <a:moveTo>
                  <a:pt x="8722359" y="0"/>
                </a:moveTo>
                <a:lnTo>
                  <a:pt x="9155429" y="0"/>
                </a:lnTo>
                <a:lnTo>
                  <a:pt x="6203949" y="6858000"/>
                </a:lnTo>
                <a:lnTo>
                  <a:pt x="5772149" y="6858000"/>
                </a:lnTo>
                <a:close/>
                <a:moveTo>
                  <a:pt x="4190999" y="0"/>
                </a:moveTo>
                <a:lnTo>
                  <a:pt x="6753859" y="0"/>
                </a:lnTo>
                <a:lnTo>
                  <a:pt x="3802379" y="6858000"/>
                </a:lnTo>
                <a:lnTo>
                  <a:pt x="1239520" y="6858000"/>
                </a:lnTo>
                <a:close/>
                <a:moveTo>
                  <a:pt x="0" y="0"/>
                </a:moveTo>
                <a:lnTo>
                  <a:pt x="3956050" y="0"/>
                </a:lnTo>
                <a:lnTo>
                  <a:pt x="2515869" y="3346450"/>
                </a:lnTo>
                <a:lnTo>
                  <a:pt x="0" y="334645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14" name="Graphic 19">
            <a:extLst>
              <a:ext uri="{FF2B5EF4-FFF2-40B4-BE49-F238E27FC236}">
                <a16:creationId xmlns:a16="http://schemas.microsoft.com/office/drawing/2014/main" id="{97347B99-304D-468D-B6F0-9D59E6077A64}"/>
              </a:ext>
            </a:extLst>
          </p:cNvPr>
          <p:cNvSpPr/>
          <p:nvPr userDrawn="1"/>
        </p:nvSpPr>
        <p:spPr>
          <a:xfrm flipH="1">
            <a:off x="9004387" y="3285679"/>
            <a:ext cx="3191256" cy="146304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B615286-AF88-4751-9BF6-3F030092F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2372" y="973512"/>
            <a:ext cx="4183939" cy="2281355"/>
          </a:xfrm>
        </p:spPr>
        <p:txBody>
          <a:bodyPr>
            <a:noAutofit/>
          </a:bodyPr>
          <a:lstStyle>
            <a:lvl1pPr algn="r">
              <a:defRPr sz="7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YOU!</a:t>
            </a:r>
            <a:endParaRPr lang="ru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5E15D97E-2723-48C3-B835-65DB0286DB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0540" y="3675708"/>
            <a:ext cx="3135771" cy="1101897"/>
          </a:xfrm>
        </p:spPr>
        <p:txBody>
          <a:bodyPr>
            <a:noAutofit/>
          </a:bodyPr>
          <a:lstStyle>
            <a:lvl1pPr marL="0" indent="0" algn="r">
              <a:buNone/>
              <a:defRPr sz="3500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Alexander</a:t>
            </a:r>
            <a:br>
              <a:rPr lang="en-US" dirty="0"/>
            </a:br>
            <a:r>
              <a:rPr lang="en-US" dirty="0" err="1"/>
              <a:t>Martensson</a:t>
            </a:r>
            <a:endParaRPr lang="en-US" dirty="0"/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4D45CEBA-121A-426A-897A-9E3CDC5F5C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08780" y="5019264"/>
            <a:ext cx="4367531" cy="474519"/>
          </a:xfrm>
        </p:spPr>
        <p:txBody>
          <a:bodyPr>
            <a:noAutofit/>
          </a:bodyPr>
          <a:lstStyle>
            <a:lvl1pPr marL="0" indent="0" algn="r">
              <a:buNone/>
              <a:defRPr sz="22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678-555-0128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767B0C7-7BD9-4BF1-8D3D-91DED23803E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08780" y="4805882"/>
            <a:ext cx="4367531" cy="288000"/>
          </a:xfrm>
        </p:spPr>
        <p:txBody>
          <a:bodyPr>
            <a:noAutofit/>
          </a:bodyPr>
          <a:lstStyle>
            <a:lvl1pPr marL="0" indent="0" algn="r">
              <a:buNone/>
              <a:defRPr sz="14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6B74744-5435-47DD-B65F-16D8E7AC15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5755" y="5685822"/>
            <a:ext cx="5920556" cy="474519"/>
          </a:xfrm>
        </p:spPr>
        <p:txBody>
          <a:bodyPr>
            <a:noAutofit/>
          </a:bodyPr>
          <a:lstStyle>
            <a:lvl1pPr marL="0" indent="0" algn="r">
              <a:buNone/>
              <a:defRPr sz="22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martensson@example.com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20815411-0E43-4B6B-92C7-6E312091AB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008780" y="5466001"/>
            <a:ext cx="4367531" cy="288000"/>
          </a:xfrm>
        </p:spPr>
        <p:txBody>
          <a:bodyPr>
            <a:noAutofit/>
          </a:bodyPr>
          <a:lstStyle>
            <a:lvl1pPr marL="0" indent="0" algn="r">
              <a:buNone/>
              <a:defRPr sz="14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1004464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43AF0D-28CB-4D3A-A944-CE3DCAAC5657}"/>
              </a:ext>
            </a:extLst>
          </p:cNvPr>
          <p:cNvSpPr/>
          <p:nvPr userDrawn="1"/>
        </p:nvSpPr>
        <p:spPr>
          <a:xfrm>
            <a:off x="3033191" y="0"/>
            <a:ext cx="9155634" cy="6858000"/>
          </a:xfrm>
          <a:custGeom>
            <a:avLst/>
            <a:gdLst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2101419 w 9155634"/>
              <a:gd name="connsiteY4" fmla="*/ 3511550 h 6858000"/>
              <a:gd name="connsiteX5" fmla="*/ 3591129 w 9155634"/>
              <a:gd name="connsiteY5" fmla="*/ 3511550 h 6858000"/>
              <a:gd name="connsiteX6" fmla="*/ 2150949 w 9155634"/>
              <a:gd name="connsiteY6" fmla="*/ 6858000 h 6858000"/>
              <a:gd name="connsiteX7" fmla="*/ 661239 w 9155634"/>
              <a:gd name="connsiteY7" fmla="*/ 6858000 h 6858000"/>
              <a:gd name="connsiteX8" fmla="*/ 8147889 w 9155634"/>
              <a:gd name="connsiteY8" fmla="*/ 0 h 6858000"/>
              <a:gd name="connsiteX9" fmla="*/ 9155634 w 9155634"/>
              <a:gd name="connsiteY9" fmla="*/ 0 h 6858000"/>
              <a:gd name="connsiteX10" fmla="*/ 9155634 w 9155634"/>
              <a:gd name="connsiteY10" fmla="*/ 3346450 h 6858000"/>
              <a:gd name="connsiteX11" fmla="*/ 6707709 w 9155634"/>
              <a:gd name="connsiteY11" fmla="*/ 3346450 h 6858000"/>
              <a:gd name="connsiteX12" fmla="*/ 5350079 w 9155634"/>
              <a:gd name="connsiteY12" fmla="*/ 0 h 6858000"/>
              <a:gd name="connsiteX13" fmla="*/ 7912939 w 9155634"/>
              <a:gd name="connsiteY13" fmla="*/ 0 h 6858000"/>
              <a:gd name="connsiteX14" fmla="*/ 4961459 w 9155634"/>
              <a:gd name="connsiteY14" fmla="*/ 6858000 h 6858000"/>
              <a:gd name="connsiteX15" fmla="*/ 2399869 w 9155634"/>
              <a:gd name="connsiteY15" fmla="*/ 6858000 h 6858000"/>
              <a:gd name="connsiteX16" fmla="*/ 3612719 w 9155634"/>
              <a:gd name="connsiteY16" fmla="*/ 0 h 6858000"/>
              <a:gd name="connsiteX17" fmla="*/ 5102429 w 9155634"/>
              <a:gd name="connsiteY17" fmla="*/ 0 h 6858000"/>
              <a:gd name="connsiteX18" fmla="*/ 3662249 w 9155634"/>
              <a:gd name="connsiteY18" fmla="*/ 3346450 h 6858000"/>
              <a:gd name="connsiteX19" fmla="*/ 2172539 w 9155634"/>
              <a:gd name="connsiteY19" fmla="*/ 3346450 h 6858000"/>
              <a:gd name="connsiteX20" fmla="*/ 2947249 w 9155634"/>
              <a:gd name="connsiteY20" fmla="*/ 0 h 6858000"/>
              <a:gd name="connsiteX21" fmla="*/ 3381579 w 9155634"/>
              <a:gd name="connsiteY21" fmla="*/ 0 h 6858000"/>
              <a:gd name="connsiteX22" fmla="*/ 430099 w 9155634"/>
              <a:gd name="connsiteY22" fmla="*/ 6858000 h 6858000"/>
              <a:gd name="connsiteX23" fmla="*/ 0 w 9155634"/>
              <a:gd name="connsiteY2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10852" y="3369468"/>
            <a:ext cx="37224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021" y="1096344"/>
            <a:ext cx="10510754" cy="2281355"/>
          </a:xfrm>
        </p:spPr>
        <p:txBody>
          <a:bodyPr>
            <a:noAutofit/>
          </a:bodyPr>
          <a:lstStyle>
            <a:lvl1pPr algn="l">
              <a:defRPr sz="7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046DF3F-8EBA-4583-9F19-45C979FDA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0021" y="3773554"/>
            <a:ext cx="10090287" cy="110189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3500" b="0" i="0"/>
            </a:lvl1pPr>
          </a:lstStyle>
          <a:p>
            <a:pPr marL="228600" lvl="0" indent="-22860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99544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82713AA-FAF7-4D64-AB9D-53ACFDBF8B5B}"/>
              </a:ext>
            </a:extLst>
          </p:cNvPr>
          <p:cNvSpPr/>
          <p:nvPr userDrawn="1"/>
        </p:nvSpPr>
        <p:spPr>
          <a:xfrm>
            <a:off x="-1" y="172278"/>
            <a:ext cx="12192000" cy="6559826"/>
          </a:xfrm>
          <a:custGeom>
            <a:avLst/>
            <a:gdLst>
              <a:gd name="connsiteX0" fmla="*/ 5864259 w 12192000"/>
              <a:gd name="connsiteY0" fmla="*/ 2854132 h 6559826"/>
              <a:gd name="connsiteX1" fmla="*/ 5864259 w 12192000"/>
              <a:gd name="connsiteY1" fmla="*/ 5342062 h 6559826"/>
              <a:gd name="connsiteX2" fmla="*/ 6907 w 12192000"/>
              <a:gd name="connsiteY2" fmla="*/ 6559826 h 6559826"/>
              <a:gd name="connsiteX3" fmla="*/ 0 w 12192000"/>
              <a:gd name="connsiteY3" fmla="*/ 6559826 h 6559826"/>
              <a:gd name="connsiteX4" fmla="*/ 0 w 12192000"/>
              <a:gd name="connsiteY4" fmla="*/ 4073332 h 6559826"/>
              <a:gd name="connsiteX5" fmla="*/ 12192000 w 12192000"/>
              <a:gd name="connsiteY5" fmla="*/ 2685378 h 6559826"/>
              <a:gd name="connsiteX6" fmla="*/ 12192000 w 12192000"/>
              <a:gd name="connsiteY6" fmla="*/ 5173308 h 6559826"/>
              <a:gd name="connsiteX7" fmla="*/ 6104805 w 12192000"/>
              <a:gd name="connsiteY7" fmla="*/ 6429182 h 6559826"/>
              <a:gd name="connsiteX8" fmla="*/ 6104805 w 12192000"/>
              <a:gd name="connsiteY8" fmla="*/ 3941252 h 6559826"/>
              <a:gd name="connsiteX9" fmla="*/ 11991762 w 12192000"/>
              <a:gd name="connsiteY9" fmla="*/ 0 h 6559826"/>
              <a:gd name="connsiteX10" fmla="*/ 12192000 w 12192000"/>
              <a:gd name="connsiteY10" fmla="*/ 0 h 6559826"/>
              <a:gd name="connsiteX11" fmla="*/ 12192000 w 12192000"/>
              <a:gd name="connsiteY11" fmla="*/ 2446611 h 6559826"/>
              <a:gd name="connsiteX12" fmla="*/ 6104805 w 12192000"/>
              <a:gd name="connsiteY12" fmla="*/ 3701222 h 6559826"/>
              <a:gd name="connsiteX13" fmla="*/ 6104805 w 12192000"/>
              <a:gd name="connsiteY13" fmla="*/ 1214562 h 6559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559826">
                <a:moveTo>
                  <a:pt x="5864259" y="2854132"/>
                </a:moveTo>
                <a:lnTo>
                  <a:pt x="5864259" y="5342062"/>
                </a:lnTo>
                <a:lnTo>
                  <a:pt x="6907" y="6559826"/>
                </a:lnTo>
                <a:lnTo>
                  <a:pt x="0" y="6559826"/>
                </a:lnTo>
                <a:lnTo>
                  <a:pt x="0" y="4073332"/>
                </a:lnTo>
                <a:close/>
                <a:moveTo>
                  <a:pt x="12192000" y="2685378"/>
                </a:moveTo>
                <a:lnTo>
                  <a:pt x="12192000" y="5173308"/>
                </a:lnTo>
                <a:lnTo>
                  <a:pt x="6104805" y="6429182"/>
                </a:lnTo>
                <a:lnTo>
                  <a:pt x="6104805" y="3941252"/>
                </a:lnTo>
                <a:close/>
                <a:moveTo>
                  <a:pt x="11991762" y="0"/>
                </a:moveTo>
                <a:lnTo>
                  <a:pt x="12192000" y="0"/>
                </a:lnTo>
                <a:lnTo>
                  <a:pt x="12192000" y="2446611"/>
                </a:lnTo>
                <a:lnTo>
                  <a:pt x="6104805" y="3701222"/>
                </a:lnTo>
                <a:lnTo>
                  <a:pt x="6104805" y="1214562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240" y="1033272"/>
            <a:ext cx="505608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3B87DE7-6A4B-4A0E-8622-C9BA93F0B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2225393"/>
            <a:ext cx="5110693" cy="78263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/>
            </a:lvl1pPr>
          </a:lstStyle>
          <a:p>
            <a:pPr marL="228600" lvl="0" indent="-22860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5287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799919-7F2B-44B7-BF0B-B0CE733AC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7755"/>
            <a:ext cx="10515600" cy="389920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4031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460D6CB-9BA0-4BA9-9CF5-9D21E9F570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77755"/>
            <a:ext cx="5181600" cy="3899207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B0DDB5D-8949-4E45-A7CD-0402580BB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77755"/>
            <a:ext cx="5181600" cy="389920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35845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2C817C4-D92F-4269-B22D-5C2E52241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68513"/>
            <a:ext cx="5157787" cy="43656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C61514A7-2DEE-47E3-BCB4-FB81E9981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455C9D3-0938-4236-8E64-BBF582FCD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68511"/>
            <a:ext cx="5183188" cy="436563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7331E254-1410-4989-81DE-84B684ACC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31064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8ABD79-6AF5-4911-BEC2-A492F3EC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345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489A680-EBE7-45A3-B520-2C50F59C7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66148"/>
            <a:ext cx="3932237" cy="37028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2EEB9F-D255-46E9-AFBB-FCC4D93BE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F729341-632E-4151-9863-D40D91A16F84}"/>
              </a:ext>
            </a:extLst>
          </p:cNvPr>
          <p:cNvSpPr/>
          <p:nvPr userDrawn="1"/>
        </p:nvSpPr>
        <p:spPr>
          <a:xfrm>
            <a:off x="-11174" y="1947672"/>
            <a:ext cx="493776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42832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4469CAF-CD13-4CCC-9569-14C8070A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38074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6D4C583-322D-4347-807F-F6D6AF885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30500"/>
            <a:ext cx="3932237" cy="37384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138DBAD-2265-4E62-AB5B-F66A60D53F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19738" y="0"/>
            <a:ext cx="6103620" cy="6857999"/>
          </a:xfrm>
          <a:custGeom>
            <a:avLst/>
            <a:gdLst>
              <a:gd name="connsiteX0" fmla="*/ 3914141 w 6103620"/>
              <a:gd name="connsiteY0" fmla="*/ 914400 h 6857999"/>
              <a:gd name="connsiteX1" fmla="*/ 6103620 w 6103620"/>
              <a:gd name="connsiteY1" fmla="*/ 914400 h 6857999"/>
              <a:gd name="connsiteX2" fmla="*/ 6103620 w 6103620"/>
              <a:gd name="connsiteY2" fmla="*/ 914404 h 6857999"/>
              <a:gd name="connsiteX3" fmla="*/ 4339591 w 6103620"/>
              <a:gd name="connsiteY3" fmla="*/ 6857999 h 6857999"/>
              <a:gd name="connsiteX4" fmla="*/ 2150113 w 6103620"/>
              <a:gd name="connsiteY4" fmla="*/ 6857999 h 6857999"/>
              <a:gd name="connsiteX5" fmla="*/ 1769111 w 6103620"/>
              <a:gd name="connsiteY5" fmla="*/ 0 h 6857999"/>
              <a:gd name="connsiteX6" fmla="*/ 3958591 w 6103620"/>
              <a:gd name="connsiteY6" fmla="*/ 0 h 6857999"/>
              <a:gd name="connsiteX7" fmla="*/ 2189480 w 6103620"/>
              <a:gd name="connsiteY7" fmla="*/ 5943601 h 6857999"/>
              <a:gd name="connsiteX8" fmla="*/ 0 w 6103620"/>
              <a:gd name="connsiteY8" fmla="*/ 594360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3620" h="6857999">
                <a:moveTo>
                  <a:pt x="3914141" y="914400"/>
                </a:moveTo>
                <a:lnTo>
                  <a:pt x="6103620" y="914400"/>
                </a:lnTo>
                <a:lnTo>
                  <a:pt x="6103620" y="914404"/>
                </a:lnTo>
                <a:lnTo>
                  <a:pt x="4339591" y="6857999"/>
                </a:lnTo>
                <a:lnTo>
                  <a:pt x="2150113" y="6857999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2120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D7B9076-7693-4C5F-8305-D5529FF80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033272"/>
            <a:ext cx="505608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EMPTY SLIDE</a:t>
            </a:r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73087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85925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a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10000CCD-6AFF-4E65-8858-5502306E58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5578" y="1974209"/>
            <a:ext cx="882686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5D777E5-98F6-416A-8D23-3399269D85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42535" y="1998209"/>
            <a:ext cx="3103110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2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C979BADF-99B5-4C91-AAE5-FC2C4DBEDE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20642" y="1974209"/>
            <a:ext cx="882686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endParaRPr lang="ru-RU" dirty="0"/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6706F6A2-1599-4D73-9288-3ECEACDDCA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77939" y="1998209"/>
            <a:ext cx="2243918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2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BAE5E245-1702-4722-895D-0808BB0A86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06755" y="1991988"/>
            <a:ext cx="882686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endParaRPr lang="ru-RU" dirty="0"/>
          </a:p>
        </p:txBody>
      </p:sp>
      <p:sp>
        <p:nvSpPr>
          <p:cNvPr id="36" name="Text Placeholder 24">
            <a:extLst>
              <a:ext uri="{FF2B5EF4-FFF2-40B4-BE49-F238E27FC236}">
                <a16:creationId xmlns:a16="http://schemas.microsoft.com/office/drawing/2014/main" id="{3701E665-3CED-413C-BAC6-CE003B1494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64052" y="2015988"/>
            <a:ext cx="2959116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2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4">
            <a:extLst>
              <a:ext uri="{FF2B5EF4-FFF2-40B4-BE49-F238E27FC236}">
                <a16:creationId xmlns:a16="http://schemas.microsoft.com/office/drawing/2014/main" id="{E01406B4-D44B-4D1E-91F3-D87541EAD4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20059" y="2927531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9AAD5CF9-9A59-4C5F-8C29-B92AD60121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718684" y="2927531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4">
            <a:extLst>
              <a:ext uri="{FF2B5EF4-FFF2-40B4-BE49-F238E27FC236}">
                <a16:creationId xmlns:a16="http://schemas.microsoft.com/office/drawing/2014/main" id="{C6725172-65CC-4645-B23F-E77886468F3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4793" y="2927531"/>
            <a:ext cx="2599197" cy="800100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4">
            <a:extLst>
              <a:ext uri="{FF2B5EF4-FFF2-40B4-BE49-F238E27FC236}">
                <a16:creationId xmlns:a16="http://schemas.microsoft.com/office/drawing/2014/main" id="{0EA5E6CA-5C78-4B75-BA22-59750E7D45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876955" y="2925988"/>
            <a:ext cx="3726423" cy="800100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E1C61752-F57C-4FBF-93F3-06F43CCA43C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84133" y="5751926"/>
            <a:ext cx="9623735" cy="470478"/>
          </a:xfrm>
        </p:spPr>
        <p:txBody>
          <a:bodyPr>
            <a:normAutofit/>
          </a:bodyPr>
          <a:lstStyle>
            <a:lvl1pPr marL="0" indent="0" algn="ctr">
              <a:buNone/>
              <a:defRPr sz="16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4">
            <a:extLst>
              <a:ext uri="{FF2B5EF4-FFF2-40B4-BE49-F238E27FC236}">
                <a16:creationId xmlns:a16="http://schemas.microsoft.com/office/drawing/2014/main" id="{E0232175-FB97-4039-8136-B9DD27441C0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794791" y="4893792"/>
            <a:ext cx="2599199" cy="615026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4">
            <a:extLst>
              <a:ext uri="{FF2B5EF4-FFF2-40B4-BE49-F238E27FC236}">
                <a16:creationId xmlns:a16="http://schemas.microsoft.com/office/drawing/2014/main" id="{6E5262C3-0603-403F-AB36-FB4EB9FC7BC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890713" y="4893792"/>
            <a:ext cx="3712665" cy="615026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Picture Placeholder 12">
            <a:extLst>
              <a:ext uri="{FF2B5EF4-FFF2-40B4-BE49-F238E27FC236}">
                <a16:creationId xmlns:a16="http://schemas.microsoft.com/office/drawing/2014/main" id="{D2FBACFC-8B68-4A37-95A4-26BE5A23D75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020058" y="3800404"/>
            <a:ext cx="3273552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6" name="Picture Placeholder 12">
            <a:extLst>
              <a:ext uri="{FF2B5EF4-FFF2-40B4-BE49-F238E27FC236}">
                <a16:creationId xmlns:a16="http://schemas.microsoft.com/office/drawing/2014/main" id="{5A6A36C6-8489-4333-927A-141D8F98AE50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794792" y="3864572"/>
            <a:ext cx="2599199" cy="8961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BB2DF986-C446-4302-9099-B1512AD5D8CA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7876955" y="3864572"/>
            <a:ext cx="2599200" cy="896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BB58C539-3FDE-4755-BEB4-C953AA292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741320"/>
            <a:ext cx="1050674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HOW TO USE THIS TEMPALTE</a:t>
            </a:r>
            <a:endParaRPr lang="ru-RU" dirty="0"/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id="{8EDA54DA-ED01-4416-96BF-C8968F4684B4}"/>
              </a:ext>
            </a:extLst>
          </p:cNvPr>
          <p:cNvSpPr/>
          <p:nvPr userDrawn="1"/>
        </p:nvSpPr>
        <p:spPr>
          <a:xfrm>
            <a:off x="-11173" y="1610268"/>
            <a:ext cx="9252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70822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D4BBF-215B-CB40-810B-81F9739CA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762000"/>
            <a:ext cx="10566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394D3-BA99-0C4C-A91F-C0E2A92FDD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1" y="2362201"/>
            <a:ext cx="5027084" cy="372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1E7B2-3CFE-2949-9834-1FB31BC1D6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7884" y="2362201"/>
            <a:ext cx="5027083" cy="372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318B0C-84F8-4B4B-9077-B1ED2AA2E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51201" y="6248401"/>
            <a:ext cx="2840567" cy="474663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482A53-F71C-A547-9329-E584CEDA7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21600" y="6248401"/>
            <a:ext cx="3862917" cy="47466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Smith/Davis (c) 2005 Prentice Hall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DFAC9F-322E-AC49-9305-6FE541F04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84" y="6242050"/>
            <a:ext cx="783167" cy="488950"/>
          </a:xfrm>
        </p:spPr>
        <p:txBody>
          <a:bodyPr/>
          <a:lstStyle>
            <a:lvl1pPr>
              <a:defRPr/>
            </a:lvl1pPr>
          </a:lstStyle>
          <a:p>
            <a:fld id="{37F229BC-96F6-6840-ABDA-4245C306927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75729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73512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9250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48087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1916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53425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60547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6607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8068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812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52577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28454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36411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35A96-3CFE-A14C-AC3A-5516118DB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E20CDC-BA45-144C-843B-89984E1854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583D4-D17E-C444-97A2-6D65E9174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7B526-52CB-694F-AADD-B3B9B1903E3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B6FC4-650F-D54D-A260-FEB4EF4EA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C1D50-B78C-4C45-8890-2023BE7AD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3D226-5988-1646-B056-F7FE926AB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578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758ED-915D-2A40-B906-726D41D0E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EC57D-E364-4B4C-952A-03E218311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DD73E-59D8-2842-A00C-2B8ED3A33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7B526-52CB-694F-AADD-B3B9B1903E3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14D56-4093-C143-83AF-BEE35FBAC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6C9C7-26C4-D445-99B0-9ADFABCC2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3D226-5988-1646-B056-F7FE926AB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1522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85AA2-7BBC-7A43-A621-AF6E661D3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58948-3EFD-BC4F-8483-47131E8AC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CEB26-2212-B240-9471-B1253A660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7B526-52CB-694F-AADD-B3B9B1903E3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163B8-1D81-4A48-9381-B9812DDDF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334DD-D0B5-4D4F-AAFC-199E29C61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3D226-5988-1646-B056-F7FE926AB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31602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7D9DD-2E00-7B49-8A02-71D25C55C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7BF95-F880-D946-A357-18B0C8F48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160DAA-09DB-3C4C-8420-5957BA906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88551-302B-4048-B40A-9F227A8A4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7B526-52CB-694F-AADD-B3B9B1903E3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998F22-BEC6-1B4C-820D-875D6A872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13850-BCD9-BF49-9D4A-F2B0CD54E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3D226-5988-1646-B056-F7FE926AB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1220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8F32E-74E6-DC46-84FC-09E61EC8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2D3A1-C2B1-1A44-A855-0F4E76495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92FE6E-D037-FA4F-BF2A-E1FB8DE154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D7B18E-D443-8645-A42A-8E24D9AC46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136DAB-944F-9B41-BD9C-63EB64B829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277B1D-CB4B-E74B-A2F7-934E2CFAE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7B526-52CB-694F-AADD-B3B9B1903E3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C612B1-E78E-6040-AFA3-BC1C0E419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6CAC1F-6C69-F848-80DE-BA90FE9C4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3D226-5988-1646-B056-F7FE926AB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1449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C906E-3D4D-3644-831D-9A46EF4BF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32EE89-2FD7-484C-B4F5-560B9ECDE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7B526-52CB-694F-AADD-B3B9B1903E3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972CF0-12F8-DD41-97EC-CB0EAC5D8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FA652-B7F2-A145-8B9D-A1E9E79EC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3D226-5988-1646-B056-F7FE926AB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84130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D125EB-A188-3142-A285-0D735243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7B526-52CB-694F-AADD-B3B9B1903E3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2AEDEE-5A5F-1D4F-96B5-5C6DD2967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6FDC9-D2E0-8D43-8D4A-2D2A1317D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3D226-5988-1646-B056-F7FE926AB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8463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734A3-1E18-0E4B-ABFB-8474E18A0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FFFE5-15EA-254F-B97B-D4AB80A7E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EC5457-69CD-C84D-88B3-BEA3CD3E5F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3D2A0-E15A-FC4D-B96D-3637199FD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7B526-52CB-694F-AADD-B3B9B1903E3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73413-FF62-1C42-B38A-5A8D942F9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A1DF9E-AD0C-8748-91E4-C3F844C1B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3D226-5988-1646-B056-F7FE926AB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90262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BF6B1-366F-C449-9FF1-869B7D7B9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696000-1961-9740-9AB1-9D2CECB41F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5B5C5-30C1-5A48-B531-14E2B5ED5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244C9-9239-AB4B-8AE7-8F2040952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7B526-52CB-694F-AADD-B3B9B1903E3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4EA9D-0CE8-3043-A4C4-FA972284B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CF4A07-4BA3-9E44-B667-9C4EEFA69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3D226-5988-1646-B056-F7FE926AB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84289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9F1E6-93EF-204B-8AEF-A80C00C1D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AFB92-C43C-2C46-8C5E-BE58117F85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12C43-6A6B-3148-A5B0-269368FCB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7B526-52CB-694F-AADD-B3B9B1903E3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ACDC4-AE21-A041-B7BA-DA0115C23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A8C28-44B6-AB48-8509-0AA680A18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3D226-5988-1646-B056-F7FE926AB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071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EB2608-7839-F848-928F-C15A7D76BB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88AF5E-542A-4740-AE19-21471FFD7A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F27D2-E82B-5648-BA94-71EC417F1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7B526-52CB-694F-AADD-B3B9B1903E3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C9012-4C2B-634A-ABE4-13F553FE6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B2568-3A32-EA49-A233-F93CA94E6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3D226-5988-1646-B056-F7FE926AB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72878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BC82C-D723-364A-8463-D876DD46B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200"/>
            <a:ext cx="121920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071D3687-734C-0E45-8EBE-BF2B19E4DA9B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304800" y="1371600"/>
            <a:ext cx="11582400" cy="4572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803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AE749-047E-F34D-9C28-28DD2B04B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762000"/>
            <a:ext cx="10566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3873B-E028-ED41-BB60-08478C1C5FB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117601" y="2362200"/>
            <a:ext cx="5027084" cy="1785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65BF42-AB50-2347-ABEA-8BACF22450FE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1117601" y="4300539"/>
            <a:ext cx="5027084" cy="1785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3940E5-24A0-E749-9437-9923B80880DE}"/>
              </a:ext>
            </a:extLst>
          </p:cNvPr>
          <p:cNvSpPr>
            <a:spLocks noGrp="1"/>
          </p:cNvSpPr>
          <p:nvPr>
            <p:ph type="body" sz="half" idx="3"/>
          </p:nvPr>
        </p:nvSpPr>
        <p:spPr>
          <a:xfrm>
            <a:off x="6347884" y="2362201"/>
            <a:ext cx="5027083" cy="372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8B20AB4-1B8D-7342-88DB-AB8BA24EEF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51201" y="6248401"/>
            <a:ext cx="2840567" cy="474663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692D8F1-9984-FA42-A612-A2E238DB0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21600" y="6248401"/>
            <a:ext cx="3862917" cy="47466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Smith/Davis (c) 2005 Prentice Hall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D0CA0EA-B4D9-024E-A3E2-79A9F0F44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84" y="6242050"/>
            <a:ext cx="783167" cy="488950"/>
          </a:xfrm>
        </p:spPr>
        <p:txBody>
          <a:bodyPr/>
          <a:lstStyle>
            <a:lvl1pPr>
              <a:defRPr/>
            </a:lvl1pPr>
          </a:lstStyle>
          <a:p>
            <a:fld id="{F6D4EA0C-0515-A240-B669-43C5E9B5392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015971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D4BBF-215B-CB40-810B-81F9739CA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762000"/>
            <a:ext cx="10566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394D3-BA99-0C4C-A91F-C0E2A92FDD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1" y="2362201"/>
            <a:ext cx="5027084" cy="372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1E7B2-3CFE-2949-9834-1FB31BC1D6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7884" y="2362201"/>
            <a:ext cx="5027083" cy="372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318B0C-84F8-4B4B-9077-B1ED2AA2E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51201" y="6248401"/>
            <a:ext cx="2840567" cy="474663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482A53-F71C-A547-9329-E584CEDA7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21600" y="6248401"/>
            <a:ext cx="3862917" cy="47466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Smith/Davis (c) 2005 Prentice Hall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DFAC9F-322E-AC49-9305-6FE541F04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84" y="6242050"/>
            <a:ext cx="783167" cy="488950"/>
          </a:xfrm>
        </p:spPr>
        <p:txBody>
          <a:bodyPr/>
          <a:lstStyle>
            <a:lvl1pPr>
              <a:defRPr/>
            </a:lvl1pPr>
          </a:lstStyle>
          <a:p>
            <a:fld id="{37F229BC-96F6-6840-ABDA-4245C306927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342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30162" y="6002372"/>
            <a:ext cx="5494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n-lt"/>
              </a:defRPr>
            </a:lvl1pPr>
          </a:lstStyle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60023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MM.DD.20XX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002372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ADD A FOOTER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4041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>
          <p15:clr>
            <a:srgbClr val="F26B43"/>
          </p15:clr>
        </p15:guide>
        <p15:guide id="2" pos="574">
          <p15:clr>
            <a:srgbClr val="F26B43"/>
          </p15:clr>
        </p15:guide>
        <p15:guide id="3" pos="7106">
          <p15:clr>
            <a:srgbClr val="F26B43"/>
          </p15:clr>
        </p15:guide>
        <p15:guide id="4" orient="horz" pos="3748">
          <p15:clr>
            <a:srgbClr val="F26B43"/>
          </p15:clr>
        </p15:guide>
        <p15:guide id="5" pos="4407">
          <p15:clr>
            <a:srgbClr val="F26B43"/>
          </p15:clr>
        </p15:guide>
        <p15:guide id="6" pos="3273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216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51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9EE237-7898-A44A-9E89-29CF387D9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C0B3E-59C2-E54F-9536-56846E0A3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01DCE-303E-7742-81C4-DDC06DC59D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67B526-52CB-694F-AADD-B3B9B1903E3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BBEE9-1544-494D-89BB-1EBBC9D30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E6EDD-BFEC-4048-B515-44E883874C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3D226-5988-1646-B056-F7FE926AB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367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13" Type="http://schemas.openxmlformats.org/officeDocument/2006/relationships/oleObject" Target="../embeddings/oleObject7.bin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9.e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11.emf"/><Relationship Id="rId4" Type="http://schemas.openxmlformats.org/officeDocument/2006/relationships/image" Target="../media/image8.e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13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19.emf"/><Relationship Id="rId18" Type="http://schemas.openxmlformats.org/officeDocument/2006/relationships/oleObject" Target="../embeddings/oleObject16.bin"/><Relationship Id="rId3" Type="http://schemas.openxmlformats.org/officeDocument/2006/relationships/image" Target="../media/image14.emf"/><Relationship Id="rId7" Type="http://schemas.openxmlformats.org/officeDocument/2006/relationships/image" Target="../media/image16.emf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21.emf"/><Relationship Id="rId2" Type="http://schemas.openxmlformats.org/officeDocument/2006/relationships/oleObject" Target="../embeddings/oleObject8.bin"/><Relationship Id="rId16" Type="http://schemas.openxmlformats.org/officeDocument/2006/relationships/oleObject" Target="../embeddings/oleObject15.bin"/><Relationship Id="rId1" Type="http://schemas.openxmlformats.org/officeDocument/2006/relationships/slideLayout" Target="../slideLayouts/slideLayout37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8.emf"/><Relationship Id="rId5" Type="http://schemas.openxmlformats.org/officeDocument/2006/relationships/image" Target="../media/image15.emf"/><Relationship Id="rId15" Type="http://schemas.openxmlformats.org/officeDocument/2006/relationships/image" Target="../media/image20.emf"/><Relationship Id="rId10" Type="http://schemas.openxmlformats.org/officeDocument/2006/relationships/oleObject" Target="../embeddings/oleObject12.bin"/><Relationship Id="rId19" Type="http://schemas.openxmlformats.org/officeDocument/2006/relationships/image" Target="../media/image22.e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17.emf"/><Relationship Id="rId14" Type="http://schemas.openxmlformats.org/officeDocument/2006/relationships/oleObject" Target="../embeddings/oleObject14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27.emf"/><Relationship Id="rId3" Type="http://schemas.openxmlformats.org/officeDocument/2006/relationships/image" Target="../media/image19.emf"/><Relationship Id="rId7" Type="http://schemas.openxmlformats.org/officeDocument/2006/relationships/image" Target="../media/image24.emf"/><Relationship Id="rId12" Type="http://schemas.openxmlformats.org/officeDocument/2006/relationships/oleObject" Target="../embeddings/oleObject22.bin"/><Relationship Id="rId17" Type="http://schemas.openxmlformats.org/officeDocument/2006/relationships/image" Target="../media/image29.emf"/><Relationship Id="rId2" Type="http://schemas.openxmlformats.org/officeDocument/2006/relationships/oleObject" Target="../embeddings/oleObject17.bin"/><Relationship Id="rId16" Type="http://schemas.openxmlformats.org/officeDocument/2006/relationships/oleObject" Target="../embeddings/oleObject24.bin"/><Relationship Id="rId1" Type="http://schemas.openxmlformats.org/officeDocument/2006/relationships/slideLayout" Target="../slideLayouts/slideLayout45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6.emf"/><Relationship Id="rId5" Type="http://schemas.openxmlformats.org/officeDocument/2006/relationships/image" Target="../media/image23.emf"/><Relationship Id="rId15" Type="http://schemas.openxmlformats.org/officeDocument/2006/relationships/image" Target="../media/image28.e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5.emf"/><Relationship Id="rId14" Type="http://schemas.openxmlformats.org/officeDocument/2006/relationships/oleObject" Target="../embeddings/oleObject23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0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24.png"/><Relationship Id="rId21" Type="http://schemas.openxmlformats.org/officeDocument/2006/relationships/image" Target="../media/image160.png"/><Relationship Id="rId34" Type="http://schemas.openxmlformats.org/officeDocument/2006/relationships/image" Target="../media/image220.png"/><Relationship Id="rId42" Type="http://schemas.openxmlformats.org/officeDocument/2006/relationships/customXml" Target="../ink/ink22.xml"/><Relationship Id="rId7" Type="http://schemas.openxmlformats.org/officeDocument/2006/relationships/customXml" Target="../ink/ink3.xml"/><Relationship Id="rId2" Type="http://schemas.openxmlformats.org/officeDocument/2006/relationships/image" Target="../media/image35.png"/><Relationship Id="rId16" Type="http://schemas.openxmlformats.org/officeDocument/2006/relationships/customXml" Target="../ink/ink8.xml"/><Relationship Id="rId29" Type="http://schemas.openxmlformats.org/officeDocument/2006/relationships/image" Target="../media/image200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0.png"/><Relationship Id="rId11" Type="http://schemas.openxmlformats.org/officeDocument/2006/relationships/image" Target="../media/image110.png"/><Relationship Id="rId24" Type="http://schemas.openxmlformats.org/officeDocument/2006/relationships/customXml" Target="../ink/ink12.xml"/><Relationship Id="rId32" Type="http://schemas.openxmlformats.org/officeDocument/2006/relationships/image" Target="../media/image210.png"/><Relationship Id="rId37" Type="http://schemas.openxmlformats.org/officeDocument/2006/relationships/image" Target="../media/image230.png"/><Relationship Id="rId40" Type="http://schemas.openxmlformats.org/officeDocument/2006/relationships/customXml" Target="../ink/ink21.xml"/><Relationship Id="rId45" Type="http://schemas.openxmlformats.org/officeDocument/2006/relationships/customXml" Target="../ink/ink24.xml"/><Relationship Id="rId5" Type="http://schemas.openxmlformats.org/officeDocument/2006/relationships/customXml" Target="../ink/ink2.xml"/><Relationship Id="rId15" Type="http://schemas.openxmlformats.org/officeDocument/2006/relationships/image" Target="../media/image130.png"/><Relationship Id="rId23" Type="http://schemas.openxmlformats.org/officeDocument/2006/relationships/image" Target="../media/image170.png"/><Relationship Id="rId28" Type="http://schemas.openxmlformats.org/officeDocument/2006/relationships/customXml" Target="../ink/ink14.xml"/><Relationship Id="rId36" Type="http://schemas.openxmlformats.org/officeDocument/2006/relationships/customXml" Target="../ink/ink19.xml"/><Relationship Id="rId10" Type="http://schemas.openxmlformats.org/officeDocument/2006/relationships/customXml" Target="../ink/ink5.xml"/><Relationship Id="rId19" Type="http://schemas.openxmlformats.org/officeDocument/2006/relationships/image" Target="../media/image15.png"/><Relationship Id="rId31" Type="http://schemas.openxmlformats.org/officeDocument/2006/relationships/customXml" Target="../ink/ink16.xml"/><Relationship Id="rId44" Type="http://schemas.openxmlformats.org/officeDocument/2006/relationships/customXml" Target="../ink/ink23.xml"/><Relationship Id="rId4" Type="http://schemas.openxmlformats.org/officeDocument/2006/relationships/image" Target="../media/image8.png"/><Relationship Id="rId9" Type="http://schemas.openxmlformats.org/officeDocument/2006/relationships/image" Target="../media/image100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90.png"/><Relationship Id="rId30" Type="http://schemas.openxmlformats.org/officeDocument/2006/relationships/customXml" Target="../ink/ink15.xml"/><Relationship Id="rId35" Type="http://schemas.openxmlformats.org/officeDocument/2006/relationships/customXml" Target="../ink/ink18.xml"/><Relationship Id="rId43" Type="http://schemas.openxmlformats.org/officeDocument/2006/relationships/image" Target="../media/image26.png"/><Relationship Id="rId8" Type="http://schemas.openxmlformats.org/officeDocument/2006/relationships/customXml" Target="../ink/ink4.xml"/><Relationship Id="rId3" Type="http://schemas.openxmlformats.org/officeDocument/2006/relationships/customXml" Target="../ink/ink1.xml"/><Relationship Id="rId12" Type="http://schemas.openxmlformats.org/officeDocument/2006/relationships/customXml" Target="../ink/ink6.xml"/><Relationship Id="rId17" Type="http://schemas.openxmlformats.org/officeDocument/2006/relationships/image" Target="../media/image140.png"/><Relationship Id="rId25" Type="http://schemas.openxmlformats.org/officeDocument/2006/relationships/image" Target="../media/image180.png"/><Relationship Id="rId33" Type="http://schemas.openxmlformats.org/officeDocument/2006/relationships/customXml" Target="../ink/ink17.xml"/><Relationship Id="rId38" Type="http://schemas.openxmlformats.org/officeDocument/2006/relationships/customXml" Target="../ink/ink20.xml"/><Relationship Id="rId46" Type="http://schemas.openxmlformats.org/officeDocument/2006/relationships/image" Target="../media/image27.png"/><Relationship Id="rId20" Type="http://schemas.openxmlformats.org/officeDocument/2006/relationships/customXml" Target="../ink/ink10.xml"/><Relationship Id="rId41" Type="http://schemas.openxmlformats.org/officeDocument/2006/relationships/image" Target="../media/image2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.xml"/><Relationship Id="rId3" Type="http://schemas.openxmlformats.org/officeDocument/2006/relationships/image" Target="NULL"/><Relationship Id="rId7" Type="http://schemas.openxmlformats.org/officeDocument/2006/relationships/customXml" Target="../ink/ink29.xml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14.xml"/><Relationship Id="rId6" Type="http://schemas.openxmlformats.org/officeDocument/2006/relationships/customXml" Target="../ink/ink28.xml"/><Relationship Id="rId5" Type="http://schemas.openxmlformats.org/officeDocument/2006/relationships/customXml" Target="../ink/ink27.xml"/><Relationship Id="rId4" Type="http://schemas.openxmlformats.org/officeDocument/2006/relationships/customXml" Target="../ink/ink26.xml"/><Relationship Id="rId9" Type="http://schemas.openxmlformats.org/officeDocument/2006/relationships/customXml" Target="../ink/ink3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image" Target="NUL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7.w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1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3.xml"/><Relationship Id="rId4" Type="http://schemas.openxmlformats.org/officeDocument/2006/relationships/image" Target="NUL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hyperlink" Target="https://go.microsoft.com/fwlink/?linkid=2006808&amp;clcid=0x409" TargetMode="Externa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EE56B2-37D4-357F-93A9-115A2724A0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95E168-DA5E-4888-8D8A-92B118324C14}" type="slidenum">
              <a:rPr kumimoji="0" lang="ru-RU" sz="1400" b="0" i="0" u="none" strike="noStrike" kern="1200" cap="none" spc="0" normalizeH="0" baseline="0" noProof="0" smtClean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CD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F5AD70-ECA5-2BE0-3AC8-880EFCDF6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Procedures Covered in this Course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6F680-9B16-3DEB-2346-0396C7781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Ordinary Least Squares regression</a:t>
            </a:r>
          </a:p>
          <a:p>
            <a:r>
              <a:rPr lang="en-US" dirty="0"/>
              <a:t>Logistic regression</a:t>
            </a:r>
          </a:p>
          <a:p>
            <a:r>
              <a:rPr lang="en-US" dirty="0"/>
              <a:t>Cluster analysis</a:t>
            </a:r>
          </a:p>
          <a:p>
            <a:r>
              <a:rPr lang="en-US" dirty="0"/>
              <a:t>Exploratory factor analysis</a:t>
            </a:r>
          </a:p>
          <a:p>
            <a:r>
              <a:rPr lang="en-US" dirty="0"/>
              <a:t>Path analysis, confirmatory factor analysis, and structural equation modeling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876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607" y="643467"/>
            <a:ext cx="464878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581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18160" y="1318591"/>
            <a:ext cx="10385367" cy="42208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dirty="0">
                <a:solidFill>
                  <a:schemeClr val="tx2">
                    <a:lumMod val="75000"/>
                  </a:schemeClr>
                </a:solidFill>
              </a:rPr>
              <a:t>Fundamental Concepts</a:t>
            </a:r>
          </a:p>
        </p:txBody>
      </p:sp>
    </p:spTree>
    <p:extLst>
      <p:ext uri="{BB962C8B-B14F-4D97-AF65-F5344CB8AC3E}">
        <p14:creationId xmlns:p14="http://schemas.microsoft.com/office/powerpoint/2010/main" val="4168500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843391" y="624110"/>
            <a:ext cx="9383408" cy="128089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Hypothesis Testing</a:t>
            </a:r>
          </a:p>
        </p:txBody>
      </p:sp>
      <p:graphicFrame>
        <p:nvGraphicFramePr>
          <p:cNvPr id="20" name="Content Placeholder 4">
            <a:extLst>
              <a:ext uri="{FF2B5EF4-FFF2-40B4-BE49-F238E27FC236}">
                <a16:creationId xmlns:a16="http://schemas.microsoft.com/office/drawing/2014/main" id="{87893671-C4F9-4709-B27B-A76EC428C2C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61012" y="2930805"/>
          <a:ext cx="10265786" cy="29619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2337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453" y="457200"/>
            <a:ext cx="8915399" cy="82344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400" dirty="0"/>
              <a:t>Types of Decisions and Errors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505" y="2431157"/>
          <a:ext cx="10919834" cy="30442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41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5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3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502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</a:tabLst>
                      </a:pPr>
                      <a:r>
                        <a:rPr lang="en-US" sz="2600">
                          <a:effectLst/>
                        </a:rPr>
                        <a:t> 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1405" marR="151405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</a:tabLst>
                      </a:pPr>
                      <a:r>
                        <a:rPr lang="en-US" sz="2600">
                          <a:effectLst/>
                        </a:rPr>
                        <a:t>Decision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1405" marR="15140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7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</a:tabLst>
                      </a:pPr>
                      <a:r>
                        <a:rPr lang="en-US" sz="2600">
                          <a:effectLst/>
                        </a:rPr>
                        <a:t>State of Nature (reality)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1405" marR="151405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</a:tabLst>
                      </a:pPr>
                      <a:r>
                        <a:rPr lang="en-US" sz="2600" b="1" dirty="0">
                          <a:effectLst/>
                        </a:rPr>
                        <a:t>Fail to reject H</a:t>
                      </a:r>
                      <a:r>
                        <a:rPr lang="en-US" sz="2600" b="1" baseline="-25000" dirty="0">
                          <a:effectLst/>
                        </a:rPr>
                        <a:t>0</a:t>
                      </a:r>
                      <a:endParaRPr lang="en-US" sz="2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1405" marR="151405" marT="0" marB="0"/>
                </a:tc>
                <a:tc>
                  <a:txBody>
                    <a:bodyPr/>
                    <a:lstStyle/>
                    <a:p>
                      <a:pPr marL="0" marR="0" indent="45720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</a:tabLst>
                      </a:pPr>
                      <a:r>
                        <a:rPr lang="en-US" sz="2600" b="1" dirty="0">
                          <a:effectLst/>
                        </a:rPr>
                        <a:t>Reject H</a:t>
                      </a:r>
                      <a:r>
                        <a:rPr lang="en-US" sz="2600" b="1" baseline="-25000" dirty="0">
                          <a:effectLst/>
                        </a:rPr>
                        <a:t>0</a:t>
                      </a:r>
                      <a:r>
                        <a:rPr lang="en-US" sz="2600" b="1" dirty="0">
                          <a:effectLst/>
                        </a:rPr>
                        <a:t> </a:t>
                      </a:r>
                      <a:endParaRPr lang="en-US" sz="2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1405" marR="15140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99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</a:tabLst>
                      </a:pPr>
                      <a:r>
                        <a:rPr lang="en-US" sz="2600" dirty="0">
                          <a:effectLst/>
                        </a:rPr>
                        <a:t>H</a:t>
                      </a:r>
                      <a:r>
                        <a:rPr lang="en-US" sz="2600" baseline="-25000" dirty="0">
                          <a:effectLst/>
                        </a:rPr>
                        <a:t>0</a:t>
                      </a:r>
                      <a:r>
                        <a:rPr lang="en-US" sz="2600" dirty="0">
                          <a:effectLst/>
                        </a:rPr>
                        <a:t> is true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1405" marR="15140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</a:tabLst>
                      </a:pPr>
                      <a:r>
                        <a:rPr lang="en-US" sz="2600" dirty="0">
                          <a:effectLst/>
                        </a:rPr>
                        <a:t>Correct decision</a:t>
                      </a:r>
                      <a:br>
                        <a:rPr lang="en-US" sz="2600" dirty="0">
                          <a:effectLst/>
                        </a:rPr>
                      </a:br>
                      <a:r>
                        <a:rPr lang="en-US" sz="2600" dirty="0">
                          <a:effectLst/>
                        </a:rPr>
                        <a:t>(1 – </a:t>
                      </a:r>
                      <a:r>
                        <a:rPr lang="en-US" sz="2600" dirty="0">
                          <a:effectLst/>
                          <a:latin typeface="Symbol" panose="05050102010706020507" pitchFamily="18" charset="2"/>
                        </a:rPr>
                        <a:t>a</a:t>
                      </a:r>
                      <a:r>
                        <a:rPr lang="en-US" sz="2600" dirty="0">
                          <a:effectLst/>
                        </a:rPr>
                        <a:t>)</a:t>
                      </a:r>
                    </a:p>
                  </a:txBody>
                  <a:tcPr marL="151405" marR="151405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</a:tabLst>
                      </a:pPr>
                      <a:r>
                        <a:rPr lang="en-US" sz="2600">
                          <a:effectLst/>
                        </a:rPr>
                        <a:t>Type I error</a:t>
                      </a:r>
                      <a:br>
                        <a:rPr lang="en-US" sz="2600">
                          <a:effectLst/>
                        </a:rPr>
                      </a:br>
                      <a:r>
                        <a:rPr lang="en-US" sz="2600">
                          <a:effectLst/>
                        </a:rPr>
                        <a:t>(</a:t>
                      </a:r>
                      <a:r>
                        <a:rPr lang="en-US" sz="2600">
                          <a:effectLst/>
                          <a:latin typeface="Symbol" panose="05050102010706020507" pitchFamily="18" charset="2"/>
                        </a:rPr>
                        <a:t>a</a:t>
                      </a:r>
                      <a:r>
                        <a:rPr lang="en-US" sz="2600">
                          <a:effectLst/>
                        </a:rPr>
                        <a:t>)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1405" marR="15140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42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</a:tabLst>
                      </a:pPr>
                      <a:r>
                        <a:rPr lang="en-US" sz="2600" dirty="0">
                          <a:effectLst/>
                        </a:rPr>
                        <a:t>H</a:t>
                      </a:r>
                      <a:r>
                        <a:rPr lang="en-US" sz="2600" baseline="-25000" dirty="0">
                          <a:effectLst/>
                        </a:rPr>
                        <a:t>0</a:t>
                      </a:r>
                      <a:r>
                        <a:rPr lang="en-US" sz="2600" dirty="0">
                          <a:effectLst/>
                        </a:rPr>
                        <a:t> is false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1405" marR="15140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</a:tabLst>
                      </a:pPr>
                      <a:r>
                        <a:rPr lang="en-US" sz="2600" dirty="0">
                          <a:effectLst/>
                        </a:rPr>
                        <a:t>Type II error</a:t>
                      </a:r>
                      <a:br>
                        <a:rPr lang="en-US" sz="2600" dirty="0">
                          <a:effectLst/>
                        </a:rPr>
                      </a:br>
                      <a:r>
                        <a:rPr lang="en-US" sz="2600" dirty="0">
                          <a:effectLst/>
                        </a:rPr>
                        <a:t>(</a:t>
                      </a:r>
                      <a:r>
                        <a:rPr lang="en-US" sz="2600" dirty="0">
                          <a:effectLst/>
                          <a:latin typeface="Symbol" panose="05050102010706020507" pitchFamily="18" charset="2"/>
                        </a:rPr>
                        <a:t>b</a:t>
                      </a:r>
                      <a:r>
                        <a:rPr lang="en-US" sz="2600" dirty="0">
                          <a:effectLst/>
                        </a:rPr>
                        <a:t>)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1405" marR="151405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</a:tabLst>
                      </a:pPr>
                      <a:r>
                        <a:rPr lang="en-US" sz="2600" dirty="0">
                          <a:effectLst/>
                        </a:rPr>
                        <a:t>Correct decision</a:t>
                      </a:r>
                      <a:br>
                        <a:rPr lang="en-US" sz="2600" dirty="0">
                          <a:effectLst/>
                        </a:rPr>
                      </a:br>
                      <a:r>
                        <a:rPr lang="en-US" sz="2600" dirty="0">
                          <a:effectLst/>
                        </a:rPr>
                        <a:t>(1 – </a:t>
                      </a:r>
                      <a:r>
                        <a:rPr lang="en-US" sz="2600" dirty="0">
                          <a:effectLst/>
                          <a:latin typeface="Symbol" panose="05050102010706020507" pitchFamily="18" charset="2"/>
                        </a:rPr>
                        <a:t>b</a:t>
                      </a:r>
                      <a:r>
                        <a:rPr lang="en-US" sz="2600" dirty="0">
                          <a:effectLst/>
                        </a:rPr>
                        <a:t>) = power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1405" marR="15140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503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B890DF-E824-53F9-89DC-4E4A38BB84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3F7A0A-DC47-52EC-490A-D40A3EEDA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51357F-B2AE-B92E-08FF-798186A21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7754"/>
            <a:ext cx="10515600" cy="3899207"/>
          </a:xfrm>
        </p:spPr>
        <p:txBody>
          <a:bodyPr/>
          <a:lstStyle/>
          <a:p>
            <a:r>
              <a:rPr lang="en-US" dirty="0"/>
              <a:t>A man is on trial for murder;</a:t>
            </a:r>
          </a:p>
          <a:p>
            <a:r>
              <a:rPr lang="en-US" dirty="0"/>
              <a:t>The null hypothesis</a:t>
            </a:r>
          </a:p>
          <a:p>
            <a:r>
              <a:rPr lang="en-US" dirty="0"/>
              <a:t>What are the possible decisions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332799A-CB19-7674-AF53-3460CB5DC0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285249"/>
              </p:ext>
            </p:extLst>
          </p:nvPr>
        </p:nvGraphicFramePr>
        <p:xfrm>
          <a:off x="1701801" y="4132108"/>
          <a:ext cx="878839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650">
                  <a:extLst>
                    <a:ext uri="{9D8B030D-6E8A-4147-A177-3AD203B41FA5}">
                      <a16:colId xmlns:a16="http://schemas.microsoft.com/office/drawing/2014/main" val="3597676860"/>
                    </a:ext>
                  </a:extLst>
                </a:gridCol>
                <a:gridCol w="2384424">
                  <a:extLst>
                    <a:ext uri="{9D8B030D-6E8A-4147-A177-3AD203B41FA5}">
                      <a16:colId xmlns:a16="http://schemas.microsoft.com/office/drawing/2014/main" val="1458104239"/>
                    </a:ext>
                  </a:extLst>
                </a:gridCol>
                <a:gridCol w="2727324">
                  <a:extLst>
                    <a:ext uri="{9D8B030D-6E8A-4147-A177-3AD203B41FA5}">
                      <a16:colId xmlns:a16="http://schemas.microsoft.com/office/drawing/2014/main" val="374462216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r>
                        <a:rPr lang="en-US" dirty="0"/>
                        <a:t>Hypothesis testing framework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626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Person Not guilty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Person is guilty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857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Jury Decides Person Not guilty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Correct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 I 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778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Jury Decides Person Guilty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 II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245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6467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EE56B2-37D4-357F-93A9-115A2724A0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F5AD70-ECA5-2BE0-3AC8-880EFCDF6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versus Practical Significance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6F680-9B16-3DEB-2346-0396C7781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Statistical significance</a:t>
            </a:r>
          </a:p>
          <a:p>
            <a:pPr lvl="1"/>
            <a:r>
              <a:rPr lang="en-US" dirty="0"/>
              <a:t>Determined through null hypothesis significance testing</a:t>
            </a:r>
          </a:p>
          <a:p>
            <a:r>
              <a:rPr lang="en-US" dirty="0"/>
              <a:t>Practical significance</a:t>
            </a:r>
          </a:p>
          <a:p>
            <a:pPr lvl="1"/>
            <a:r>
              <a:rPr lang="en-US" dirty="0"/>
              <a:t>Measured by effect size</a:t>
            </a:r>
          </a:p>
          <a:p>
            <a:r>
              <a:rPr lang="en-US" dirty="0"/>
              <a:t>Legal significance</a:t>
            </a:r>
          </a:p>
          <a:p>
            <a:pPr lvl="1"/>
            <a:r>
              <a:rPr lang="en-US" dirty="0"/>
              <a:t>Measured by the weight of the evidence</a:t>
            </a:r>
          </a:p>
          <a:p>
            <a:pPr lvl="2"/>
            <a:r>
              <a:rPr lang="en-US" dirty="0"/>
              <a:t>Beyond a reasonable doubt</a:t>
            </a:r>
          </a:p>
          <a:p>
            <a:pPr lvl="2"/>
            <a:r>
              <a:rPr lang="en-US" dirty="0"/>
              <a:t>Probable cause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94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8" descr="Building glass walls and sky">
            <a:extLst>
              <a:ext uri="{FF2B5EF4-FFF2-40B4-BE49-F238E27FC236}">
                <a16:creationId xmlns:a16="http://schemas.microsoft.com/office/drawing/2014/main" id="{873751CF-C490-45B5-B248-BF86A59ECF2E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2"/>
          <a:srcRect l="-48" t="6766" r="19843" b="3091"/>
          <a:stretch/>
        </p:blipFill>
        <p:spPr>
          <a:xfrm>
            <a:off x="3033191" y="0"/>
            <a:ext cx="9155634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6E9371-6E05-45E0-803B-4C39AC28C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0" y="1096344"/>
            <a:ext cx="11212429" cy="2281355"/>
          </a:xfrm>
        </p:spPr>
        <p:txBody>
          <a:bodyPr/>
          <a:lstStyle/>
          <a:p>
            <a:r>
              <a:rPr lang="en-US" dirty="0"/>
              <a:t>Correlation &amp; Simple Linear Regression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0A1A89-FE18-44C6-B3EE-49541CB8507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Social Work Statistics II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3697A7-775B-4995-AFA7-E4B1B1C1C8F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Week 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0506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F8089FD-4BA7-9FF3-F2D5-CDBB2AE61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37" y="1889159"/>
            <a:ext cx="9801225" cy="429577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D7FBBE-A20C-4B1D-90B6-5532C7C69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730162" y="6002372"/>
            <a:ext cx="549442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495E168-DA5E-4888-8D8A-92B118324C14}" type="slidenum">
              <a:rPr kumimoji="0" lang="ru-RU" sz="1400" b="0" i="0" u="none" strike="noStrike" kern="1200" cap="none" spc="0" normalizeH="0" baseline="0" noProof="0" smtClean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ru-RU" sz="1400" b="0" i="0" u="none" strike="noStrike" kern="1200" cap="none" spc="0" normalizeH="0" baseline="0" noProof="0">
              <a:ln>
                <a:noFill/>
              </a:ln>
              <a:solidFill>
                <a:srgbClr val="FFCD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3C249D8E-1B1B-4C20-A54F-B66E633DC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579"/>
            <a:ext cx="10515600" cy="1325563"/>
          </a:xfrm>
        </p:spPr>
        <p:txBody>
          <a:bodyPr/>
          <a:lstStyle/>
          <a:p>
            <a:r>
              <a:rPr lang="en-US" dirty="0"/>
              <a:t>Basic Statistics for Continuous Variables</a:t>
            </a:r>
          </a:p>
        </p:txBody>
      </p:sp>
      <p:sp>
        <p:nvSpPr>
          <p:cNvPr id="8" name="Oval 22">
            <a:extLst>
              <a:ext uri="{FF2B5EF4-FFF2-40B4-BE49-F238E27FC236}">
                <a16:creationId xmlns:a16="http://schemas.microsoft.com/office/drawing/2014/main" id="{E9666A15-4B6E-4872-ABFD-077460EEF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016" y="3714059"/>
            <a:ext cx="2971800" cy="1219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09ADA94-E3C5-C967-FAD2-5AE7DD5D341C}"/>
              </a:ext>
            </a:extLst>
          </p:cNvPr>
          <p:cNvCxnSpPr/>
          <p:nvPr/>
        </p:nvCxnSpPr>
        <p:spPr>
          <a:xfrm>
            <a:off x="5177816" y="4267200"/>
            <a:ext cx="2861284" cy="733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335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b="1"/>
              <a:t>Correlation analysis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 dirty="0"/>
              <a:t>Measures the degree of </a:t>
            </a:r>
            <a:r>
              <a:rPr lang="en-US" sz="2200" b="1" u="sng" dirty="0"/>
              <a:t>linear relationship </a:t>
            </a:r>
            <a:r>
              <a:rPr lang="en-US" sz="2200" dirty="0"/>
              <a:t>between two continuous variables, x and y</a:t>
            </a:r>
          </a:p>
          <a:p>
            <a:r>
              <a:rPr lang="en-US" sz="2200" dirty="0"/>
              <a:t>We have a </a:t>
            </a:r>
            <a:r>
              <a:rPr lang="en-US" sz="2200" b="1" u="sng" dirty="0"/>
              <a:t>linear relationship</a:t>
            </a:r>
            <a:r>
              <a:rPr lang="en-US" sz="2200" dirty="0"/>
              <a:t> between x and y if a straight line drawn through the points provides </a:t>
            </a:r>
            <a:r>
              <a:rPr lang="en-US" sz="2200" u="sng" dirty="0"/>
              <a:t>the most appropriate approximation</a:t>
            </a:r>
            <a:r>
              <a:rPr lang="en-US" sz="2200" dirty="0"/>
              <a:t> to the observed relationship</a:t>
            </a:r>
          </a:p>
          <a:p>
            <a:r>
              <a:rPr lang="en-US" sz="2200" dirty="0"/>
              <a:t>We measure how close the observations are to the straight line that best describes their linear relationship by calculating the </a:t>
            </a:r>
            <a:r>
              <a:rPr lang="en-US" sz="2200" b="1" dirty="0"/>
              <a:t>Pearson product moment correlation coefficient</a:t>
            </a:r>
            <a:r>
              <a:rPr lang="en-US" sz="2200" dirty="0"/>
              <a:t>, usually simply called the </a:t>
            </a:r>
            <a:r>
              <a:rPr lang="en-US" sz="2200" b="1" dirty="0"/>
              <a:t>correlation coefficient, denoted “</a:t>
            </a:r>
            <a:r>
              <a:rPr lang="en-US" sz="2200" b="1" i="1" dirty="0"/>
              <a:t>r” </a:t>
            </a:r>
            <a:r>
              <a:rPr lang="en-US" sz="2200" b="1" dirty="0"/>
              <a:t>or “rho” (</a:t>
            </a:r>
            <a:r>
              <a:rPr lang="el-GR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lang="en-US" sz="2200" b="1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0EF3D226-5988-1646-B056-F7FE926AB73A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 altLang="en-US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272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312E8E-DEEB-7D45-905F-4EA2738126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375" y="1320219"/>
            <a:ext cx="4412419" cy="1830754"/>
          </a:xfrm>
        </p:spPr>
        <p:txBody>
          <a:bodyPr anchor="t">
            <a:normAutofit/>
          </a:bodyPr>
          <a:lstStyle/>
          <a:p>
            <a:r>
              <a:rPr lang="en-US" sz="6200" dirty="0">
                <a:solidFill>
                  <a:schemeClr val="bg1"/>
                </a:solidFill>
              </a:rPr>
              <a:t>Faulty Analyses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159151B-F3F7-D940-A3E3-00691DF631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707027"/>
            <a:ext cx="4412417" cy="2674723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Correlation does not equal causation</a:t>
            </a:r>
          </a:p>
          <a:p>
            <a:r>
              <a:rPr lang="en-US" sz="2800" dirty="0">
                <a:solidFill>
                  <a:schemeClr val="bg1"/>
                </a:solidFill>
              </a:rPr>
              <a:t>There are rules that determine causal effects</a:t>
            </a:r>
          </a:p>
          <a:p>
            <a:r>
              <a:rPr lang="en-US" sz="2800" dirty="0">
                <a:solidFill>
                  <a:schemeClr val="bg1"/>
                </a:solidFill>
              </a:rPr>
              <a:t>Data is often incorrectly analyzed in addition to presented in different ways</a:t>
            </a:r>
          </a:p>
          <a:p>
            <a:pPr algn="r"/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6" name="image14.png">
            <a:extLst>
              <a:ext uri="{FF2B5EF4-FFF2-40B4-BE49-F238E27FC236}">
                <a16:creationId xmlns:a16="http://schemas.microsoft.com/office/drawing/2014/main" id="{230695C5-8279-5D4F-9BF3-9CFB3A4822E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986926" y="1846906"/>
            <a:ext cx="5569864" cy="428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876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BA335-49AF-874E-9B65-CEB418A53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701" y="602965"/>
            <a:ext cx="6190412" cy="1182927"/>
          </a:xfrm>
        </p:spPr>
        <p:txBody>
          <a:bodyPr anchor="b">
            <a:normAutofit/>
          </a:bodyPr>
          <a:lstStyle/>
          <a:p>
            <a:r>
              <a:rPr lang="en-US" sz="3800"/>
              <a:t>Confusing Correlation and Causation</a:t>
            </a:r>
          </a:p>
        </p:txBody>
      </p:sp>
      <p:sp>
        <p:nvSpPr>
          <p:cNvPr id="22" name="Content Placeholder 8">
            <a:extLst>
              <a:ext uri="{FF2B5EF4-FFF2-40B4-BE49-F238E27FC236}">
                <a16:creationId xmlns:a16="http://schemas.microsoft.com/office/drawing/2014/main" id="{344A10D6-E01B-4AB1-8C9E-A5ADAD7AB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701" y="2547274"/>
            <a:ext cx="6190412" cy="2524835"/>
          </a:xfrm>
        </p:spPr>
        <p:txBody>
          <a:bodyPr anchor="t">
            <a:normAutofit/>
          </a:bodyPr>
          <a:lstStyle/>
          <a:p>
            <a:endParaRPr lang="en-US" sz="1800" dirty="0"/>
          </a:p>
          <a:p>
            <a:r>
              <a:rPr lang="en-US" sz="1800" dirty="0"/>
              <a:t>Correlation = covariation (co-occurrence of change on two variables) </a:t>
            </a:r>
          </a:p>
          <a:p>
            <a:pPr lvl="1"/>
            <a:r>
              <a:rPr lang="en-US" sz="1400" dirty="0"/>
              <a:t>This tells us nothing about cause (why the two variables changed)</a:t>
            </a:r>
          </a:p>
          <a:p>
            <a:r>
              <a:rPr lang="en-US" sz="1800" dirty="0"/>
              <a:t>Causation: Change in one variable RESULTS IN change in another</a:t>
            </a:r>
          </a:p>
          <a:p>
            <a:endParaRPr lang="en-US" sz="1800" dirty="0"/>
          </a:p>
        </p:txBody>
      </p:sp>
      <p:pic>
        <p:nvPicPr>
          <p:cNvPr id="4" name="image15.png">
            <a:extLst>
              <a:ext uri="{FF2B5EF4-FFF2-40B4-BE49-F238E27FC236}">
                <a16:creationId xmlns:a16="http://schemas.microsoft.com/office/drawing/2014/main" id="{BFBDC981-DF8D-8247-BFA8-685CCF09AF8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058025" y="1457325"/>
            <a:ext cx="4686300" cy="408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665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1" name="Slide Number Placeholder 1">
            <a:extLst>
              <a:ext uri="{FF2B5EF4-FFF2-40B4-BE49-F238E27FC236}">
                <a16:creationId xmlns:a16="http://schemas.microsoft.com/office/drawing/2014/main" id="{CC6352EF-5D19-838B-9796-AC6B1C73A5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730162" y="6002372"/>
            <a:ext cx="54944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D495E168-DA5E-4888-8D8A-92B118324C14}" type="slidenum">
              <a:rPr lang="ru-RU" smtClean="0"/>
              <a:pPr>
                <a:spcAft>
                  <a:spcPts val="600"/>
                </a:spcAft>
              </a:pPr>
              <a:t>13</a:t>
            </a:fld>
            <a:endParaRPr lang="ru-RU"/>
          </a:p>
        </p:txBody>
      </p:sp>
      <p:sp>
        <p:nvSpPr>
          <p:cNvPr id="10242" name="AutoShape 2">
            <a:extLst>
              <a:ext uri="{FF2B5EF4-FFF2-40B4-BE49-F238E27FC236}">
                <a16:creationId xmlns:a16="http://schemas.microsoft.com/office/drawing/2014/main" id="{FA1D2D97-E777-AF4E-A742-E7C041A909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US" altLang="en-US" sz="36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Correlation &amp; Causation, blah blah (use common sense)</a:t>
            </a:r>
          </a:p>
        </p:txBody>
      </p:sp>
      <p:sp>
        <p:nvSpPr>
          <p:cNvPr id="10253" name="Text Placeholder 3">
            <a:extLst>
              <a:ext uri="{FF2B5EF4-FFF2-40B4-BE49-F238E27FC236}">
                <a16:creationId xmlns:a16="http://schemas.microsoft.com/office/drawing/2014/main" id="{C6EA4A9B-7393-28AC-D760-D52B8CCC5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4063" y="2068511"/>
            <a:ext cx="5157787" cy="628364"/>
          </a:xfrm>
        </p:spPr>
        <p:txBody>
          <a:bodyPr>
            <a:normAutofit/>
          </a:bodyPr>
          <a:lstStyle/>
          <a:p>
            <a:r>
              <a:rPr kumimoji="0" lang="en-US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“There’s a significant NEGATIVE correlation between the number of  mules and the number of academics in a state, but remember, correlation is not causation” </a:t>
            </a:r>
          </a:p>
        </p:txBody>
      </p:sp>
      <p:pic>
        <p:nvPicPr>
          <p:cNvPr id="10245" name="Picture 5">
            <a:extLst>
              <a:ext uri="{FF2B5EF4-FFF2-40B4-BE49-F238E27FC236}">
                <a16:creationId xmlns:a16="http://schemas.microsoft.com/office/drawing/2014/main" id="{A948A42A-A0CD-064B-8AAD-6301BF92FB4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696877"/>
            <a:ext cx="5157787" cy="330098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10246" name="Text Box 6">
            <a:extLst>
              <a:ext uri="{FF2B5EF4-FFF2-40B4-BE49-F238E27FC236}">
                <a16:creationId xmlns:a16="http://schemas.microsoft.com/office/drawing/2014/main" id="{2D6FA37D-D4C4-7546-8E13-E53F2AE2A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2068511"/>
            <a:ext cx="5183188" cy="43656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b">
            <a:normAutofit/>
          </a:bodyPr>
          <a:lstStyle/>
          <a:p>
            <a:pPr marR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CFE48AF-B734-F04B-9125-4215755D2E4F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>
          <a:xfrm>
            <a:off x="6172200" y="2505075"/>
            <a:ext cx="5183188" cy="3987800"/>
          </a:xfr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en-US" dirty="0"/>
              <a:t>Often used as means for prediction, correlation tells us how related two variables are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However, note that even though two variables may be highly correlated, you should not assume that one variable causes the other</a:t>
            </a:r>
          </a:p>
          <a:p>
            <a:pPr>
              <a:lnSpc>
                <a:spcPct val="120000"/>
              </a:lnSpc>
            </a:pPr>
            <a:r>
              <a:rPr lang="en-US" altLang="en-US" b="1" dirty="0"/>
              <a:t>Note </a:t>
            </a:r>
            <a:r>
              <a:rPr lang="en-US" altLang="en-US" dirty="0"/>
              <a:t>: no other analysis implies correlation either</a:t>
            </a:r>
          </a:p>
          <a:p>
            <a:pPr lvl="1">
              <a:lnSpc>
                <a:spcPct val="120000"/>
              </a:lnSpc>
            </a:pPr>
            <a:r>
              <a:rPr lang="en-US" altLang="en-US" dirty="0"/>
              <a:t>Ex. Regression analysis is a method of prediction, but it does not imply causation, but merely correlation (albeit a partial correlation)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The question becomes: what other variable is ‘causing’ the observed relationship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When might we be more confident that an observed correlation is causal?</a:t>
            </a:r>
          </a:p>
        </p:txBody>
      </p:sp>
    </p:spTree>
    <p:extLst>
      <p:ext uri="{BB962C8B-B14F-4D97-AF65-F5344CB8AC3E}">
        <p14:creationId xmlns:p14="http://schemas.microsoft.com/office/powerpoint/2010/main" val="1543285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170" name="Line 2">
            <a:extLst>
              <a:ext uri="{FF2B5EF4-FFF2-40B4-BE49-F238E27FC236}">
                <a16:creationId xmlns:a16="http://schemas.microsoft.com/office/drawing/2014/main" id="{514BA853-B3CC-442A-B3CC-274A03DBB4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4724400"/>
            <a:ext cx="0" cy="14478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171" name="Oval 3">
            <a:extLst>
              <a:ext uri="{FF2B5EF4-FFF2-40B4-BE49-F238E27FC236}">
                <a16:creationId xmlns:a16="http://schemas.microsoft.com/office/drawing/2014/main" id="{6F1A2F79-862A-455E-8C94-09E5FBBA87F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267200" y="5791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172" name="Oval 4">
            <a:extLst>
              <a:ext uri="{FF2B5EF4-FFF2-40B4-BE49-F238E27FC236}">
                <a16:creationId xmlns:a16="http://schemas.microsoft.com/office/drawing/2014/main" id="{F8BF2532-7DFA-4E78-A04F-F0559003E81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895600" y="4953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173" name="Oval 5">
            <a:extLst>
              <a:ext uri="{FF2B5EF4-FFF2-40B4-BE49-F238E27FC236}">
                <a16:creationId xmlns:a16="http://schemas.microsoft.com/office/drawing/2014/main" id="{97EEE005-AF74-444B-BAE3-02F0A907B1F8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648200" y="5791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174" name="Oval 6">
            <a:extLst>
              <a:ext uri="{FF2B5EF4-FFF2-40B4-BE49-F238E27FC236}">
                <a16:creationId xmlns:a16="http://schemas.microsoft.com/office/drawing/2014/main" id="{47B93920-E1AA-440F-9DB6-2DF36C9820E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276600" y="4800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175" name="Oval 7">
            <a:extLst>
              <a:ext uri="{FF2B5EF4-FFF2-40B4-BE49-F238E27FC236}">
                <a16:creationId xmlns:a16="http://schemas.microsoft.com/office/drawing/2014/main" id="{7C05183D-7A66-4C6A-A652-97919BB64E03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038600" y="5486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176" name="Oval 8">
            <a:extLst>
              <a:ext uri="{FF2B5EF4-FFF2-40B4-BE49-F238E27FC236}">
                <a16:creationId xmlns:a16="http://schemas.microsoft.com/office/drawing/2014/main" id="{8E4CBC02-FBD2-42DE-928B-DA99AD1BB6C3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343400" y="5638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177" name="Oval 9">
            <a:extLst>
              <a:ext uri="{FF2B5EF4-FFF2-40B4-BE49-F238E27FC236}">
                <a16:creationId xmlns:a16="http://schemas.microsoft.com/office/drawing/2014/main" id="{F91DE016-9BD5-4C00-86FD-DCEF07B0C95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657600" y="5105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178" name="Oval 10">
            <a:extLst>
              <a:ext uri="{FF2B5EF4-FFF2-40B4-BE49-F238E27FC236}">
                <a16:creationId xmlns:a16="http://schemas.microsoft.com/office/drawing/2014/main" id="{4EE39266-0BAB-4995-A0FC-E0270BE5C56E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819400" y="4724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179" name="Oval 11">
            <a:extLst>
              <a:ext uri="{FF2B5EF4-FFF2-40B4-BE49-F238E27FC236}">
                <a16:creationId xmlns:a16="http://schemas.microsoft.com/office/drawing/2014/main" id="{277CBDAF-1B5C-4ABE-A1E5-ED5DE6A5B4E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124200" y="5105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180" name="Oval 12">
            <a:extLst>
              <a:ext uri="{FF2B5EF4-FFF2-40B4-BE49-F238E27FC236}">
                <a16:creationId xmlns:a16="http://schemas.microsoft.com/office/drawing/2014/main" id="{60585A30-011C-4C74-A606-0BDFEDD885D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429000" y="5181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31181" name="Oval 13">
            <a:extLst>
              <a:ext uri="{FF2B5EF4-FFF2-40B4-BE49-F238E27FC236}">
                <a16:creationId xmlns:a16="http://schemas.microsoft.com/office/drawing/2014/main" id="{2C0AB873-F2ED-4AED-8C35-15C7FB2DF89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962400" y="5715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182" name="Oval 14">
            <a:extLst>
              <a:ext uri="{FF2B5EF4-FFF2-40B4-BE49-F238E27FC236}">
                <a16:creationId xmlns:a16="http://schemas.microsoft.com/office/drawing/2014/main" id="{F940C3D8-7CDC-456E-A7FC-A950E7514E53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886200" y="5257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183" name="Oval 15">
            <a:extLst>
              <a:ext uri="{FF2B5EF4-FFF2-40B4-BE49-F238E27FC236}">
                <a16:creationId xmlns:a16="http://schemas.microsoft.com/office/drawing/2014/main" id="{2DF1ED49-1B87-49E7-9C42-839C3F20547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657600" y="5410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184" name="Text Box 16">
            <a:extLst>
              <a:ext uri="{FF2B5EF4-FFF2-40B4-BE49-F238E27FC236}">
                <a16:creationId xmlns:a16="http://schemas.microsoft.com/office/drawing/2014/main" id="{826B0F0A-C25E-4E06-B6CE-59943A9CD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4465639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1114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Y</a:t>
            </a:r>
          </a:p>
        </p:txBody>
      </p:sp>
      <p:sp>
        <p:nvSpPr>
          <p:cNvPr id="1031185" name="Line 17">
            <a:extLst>
              <a:ext uri="{FF2B5EF4-FFF2-40B4-BE49-F238E27FC236}">
                <a16:creationId xmlns:a16="http://schemas.microsoft.com/office/drawing/2014/main" id="{4B9B239E-3E0F-4882-8C87-A1B95C005E3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6172200"/>
            <a:ext cx="2286000" cy="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186" name="Text Box 18">
            <a:extLst>
              <a:ext uri="{FF2B5EF4-FFF2-40B4-BE49-F238E27FC236}">
                <a16:creationId xmlns:a16="http://schemas.microsoft.com/office/drawing/2014/main" id="{170DE36E-F02B-41DD-A073-4AAED96EF9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9188" y="6065839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1114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X</a:t>
            </a:r>
          </a:p>
        </p:txBody>
      </p:sp>
      <p:sp>
        <p:nvSpPr>
          <p:cNvPr id="1031187" name="Line 19">
            <a:extLst>
              <a:ext uri="{FF2B5EF4-FFF2-40B4-BE49-F238E27FC236}">
                <a16:creationId xmlns:a16="http://schemas.microsoft.com/office/drawing/2014/main" id="{4393540D-87BF-49E7-8867-7A57B9699D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2438400"/>
            <a:ext cx="0" cy="15240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188" name="Oval 20">
            <a:extLst>
              <a:ext uri="{FF2B5EF4-FFF2-40B4-BE49-F238E27FC236}">
                <a16:creationId xmlns:a16="http://schemas.microsoft.com/office/drawing/2014/main" id="{594FDCA6-839D-461B-8E05-ED6BAD02C314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743200" y="3657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189" name="Oval 21">
            <a:extLst>
              <a:ext uri="{FF2B5EF4-FFF2-40B4-BE49-F238E27FC236}">
                <a16:creationId xmlns:a16="http://schemas.microsoft.com/office/drawing/2014/main" id="{5FCEA5DE-25C0-4E22-B48A-CFDCE0427F6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971800" y="3352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190" name="Oval 22">
            <a:extLst>
              <a:ext uri="{FF2B5EF4-FFF2-40B4-BE49-F238E27FC236}">
                <a16:creationId xmlns:a16="http://schemas.microsoft.com/office/drawing/2014/main" id="{E6C9E794-02F7-43D5-84F2-8A8ED78995D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648200" y="2286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191" name="Oval 23">
            <a:extLst>
              <a:ext uri="{FF2B5EF4-FFF2-40B4-BE49-F238E27FC236}">
                <a16:creationId xmlns:a16="http://schemas.microsoft.com/office/drawing/2014/main" id="{11DA7D01-6025-4B49-B650-CD9B8A2139B6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800600" y="2667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192" name="Oval 24">
            <a:extLst>
              <a:ext uri="{FF2B5EF4-FFF2-40B4-BE49-F238E27FC236}">
                <a16:creationId xmlns:a16="http://schemas.microsoft.com/office/drawing/2014/main" id="{57ABECBF-5338-45CE-9884-8FC39DA2D0E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200400" y="3505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193" name="Oval 25">
            <a:extLst>
              <a:ext uri="{FF2B5EF4-FFF2-40B4-BE49-F238E27FC236}">
                <a16:creationId xmlns:a16="http://schemas.microsoft.com/office/drawing/2014/main" id="{D3CDD365-BE58-4738-B67B-484FBFDE546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953000" y="2438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194" name="Oval 26">
            <a:extLst>
              <a:ext uri="{FF2B5EF4-FFF2-40B4-BE49-F238E27FC236}">
                <a16:creationId xmlns:a16="http://schemas.microsoft.com/office/drawing/2014/main" id="{813D273A-223F-40BD-96FE-A67B748BD774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114800" y="2971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195" name="Oval 27">
            <a:extLst>
              <a:ext uri="{FF2B5EF4-FFF2-40B4-BE49-F238E27FC236}">
                <a16:creationId xmlns:a16="http://schemas.microsoft.com/office/drawing/2014/main" id="{8E96FACE-784E-4321-86EE-6F4F2253622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114800" y="2667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196" name="Oval 28">
            <a:extLst>
              <a:ext uri="{FF2B5EF4-FFF2-40B4-BE49-F238E27FC236}">
                <a16:creationId xmlns:a16="http://schemas.microsoft.com/office/drawing/2014/main" id="{D845DD47-357B-4DFD-BEB9-5E0D7168D92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495800" y="2667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197" name="Oval 29">
            <a:extLst>
              <a:ext uri="{FF2B5EF4-FFF2-40B4-BE49-F238E27FC236}">
                <a16:creationId xmlns:a16="http://schemas.microsoft.com/office/drawing/2014/main" id="{3BA893D8-2E0A-40E5-9067-E0CDCFEB1A1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810000" y="2819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198" name="Oval 30">
            <a:extLst>
              <a:ext uri="{FF2B5EF4-FFF2-40B4-BE49-F238E27FC236}">
                <a16:creationId xmlns:a16="http://schemas.microsoft.com/office/drawing/2014/main" id="{58FC1266-3248-44D2-AA86-005ED692B6B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200400" y="3200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199" name="Oval 31">
            <a:extLst>
              <a:ext uri="{FF2B5EF4-FFF2-40B4-BE49-F238E27FC236}">
                <a16:creationId xmlns:a16="http://schemas.microsoft.com/office/drawing/2014/main" id="{011DCDD8-4485-4DEB-A7D8-53D46860D99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429000" y="3082925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31200" name="Oval 32">
            <a:extLst>
              <a:ext uri="{FF2B5EF4-FFF2-40B4-BE49-F238E27FC236}">
                <a16:creationId xmlns:a16="http://schemas.microsoft.com/office/drawing/2014/main" id="{9A4EA380-7873-40A1-8804-7867F025B02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343400" y="2971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01" name="Oval 33">
            <a:extLst>
              <a:ext uri="{FF2B5EF4-FFF2-40B4-BE49-F238E27FC236}">
                <a16:creationId xmlns:a16="http://schemas.microsoft.com/office/drawing/2014/main" id="{518C1185-B848-4B0A-8AEF-AA93AEE20EF6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810000" y="3048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02" name="Oval 34">
            <a:extLst>
              <a:ext uri="{FF2B5EF4-FFF2-40B4-BE49-F238E27FC236}">
                <a16:creationId xmlns:a16="http://schemas.microsoft.com/office/drawing/2014/main" id="{9865D5FF-7ACC-4B02-B870-4D39A04C0D19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581400" y="3352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03" name="Text Box 35">
            <a:extLst>
              <a:ext uri="{FF2B5EF4-FFF2-40B4-BE49-F238E27FC236}">
                <a16:creationId xmlns:a16="http://schemas.microsoft.com/office/drawing/2014/main" id="{39639517-29C9-4C27-8FAD-D0198668A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2255839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1114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Y</a:t>
            </a:r>
          </a:p>
        </p:txBody>
      </p:sp>
      <p:sp>
        <p:nvSpPr>
          <p:cNvPr id="1031204" name="Line 36">
            <a:extLst>
              <a:ext uri="{FF2B5EF4-FFF2-40B4-BE49-F238E27FC236}">
                <a16:creationId xmlns:a16="http://schemas.microsoft.com/office/drawing/2014/main" id="{2E109C67-BAAC-4A57-9083-A3582DDCA4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3962400"/>
            <a:ext cx="2286000" cy="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05" name="Text Box 37">
            <a:extLst>
              <a:ext uri="{FF2B5EF4-FFF2-40B4-BE49-F238E27FC236}">
                <a16:creationId xmlns:a16="http://schemas.microsoft.com/office/drawing/2014/main" id="{A7781154-DF29-47D1-8D40-818935150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9188" y="3856039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1114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X</a:t>
            </a:r>
          </a:p>
        </p:txBody>
      </p:sp>
      <p:sp>
        <p:nvSpPr>
          <p:cNvPr id="1031206" name="Rectangle 38">
            <a:extLst>
              <a:ext uri="{FF2B5EF4-FFF2-40B4-BE49-F238E27FC236}">
                <a16:creationId xmlns:a16="http://schemas.microsoft.com/office/drawing/2014/main" id="{89CA4717-510A-4E23-8568-8412907D4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371600"/>
            <a:ext cx="8077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5342" tIns="42672" rIns="85342" bIns="42672"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031207" name="Line 39">
            <a:extLst>
              <a:ext uri="{FF2B5EF4-FFF2-40B4-BE49-F238E27FC236}">
                <a16:creationId xmlns:a16="http://schemas.microsoft.com/office/drawing/2014/main" id="{D003F5EB-0ABB-420A-B66F-A9D73FFFB1E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4724400"/>
            <a:ext cx="0" cy="14478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08" name="Oval 40">
            <a:extLst>
              <a:ext uri="{FF2B5EF4-FFF2-40B4-BE49-F238E27FC236}">
                <a16:creationId xmlns:a16="http://schemas.microsoft.com/office/drawing/2014/main" id="{751C4DC8-D1A9-4843-B5CB-6CEEB2A7BC13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620000" y="5105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09" name="Oval 41">
            <a:extLst>
              <a:ext uri="{FF2B5EF4-FFF2-40B4-BE49-F238E27FC236}">
                <a16:creationId xmlns:a16="http://schemas.microsoft.com/office/drawing/2014/main" id="{DB87AD18-A4CF-461B-BB58-A44EFEFD097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620000" y="4648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10" name="Oval 42">
            <a:extLst>
              <a:ext uri="{FF2B5EF4-FFF2-40B4-BE49-F238E27FC236}">
                <a16:creationId xmlns:a16="http://schemas.microsoft.com/office/drawing/2014/main" id="{5EE31940-7D20-4359-8EAE-3CF8CC770E6C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077200" y="5257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11" name="Oval 43">
            <a:extLst>
              <a:ext uri="{FF2B5EF4-FFF2-40B4-BE49-F238E27FC236}">
                <a16:creationId xmlns:a16="http://schemas.microsoft.com/office/drawing/2014/main" id="{CED48213-A2D3-4B25-82CE-B3AE945FE91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915400" y="5867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12" name="Oval 44">
            <a:extLst>
              <a:ext uri="{FF2B5EF4-FFF2-40B4-BE49-F238E27FC236}">
                <a16:creationId xmlns:a16="http://schemas.microsoft.com/office/drawing/2014/main" id="{EAF55288-BAA4-431B-AA0C-D544F8147F5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772400" y="5334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13" name="Oval 45">
            <a:extLst>
              <a:ext uri="{FF2B5EF4-FFF2-40B4-BE49-F238E27FC236}">
                <a16:creationId xmlns:a16="http://schemas.microsoft.com/office/drawing/2014/main" id="{1A85C8FD-63D2-43FE-9D33-F3423931ACF9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458200" y="4724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14" name="Oval 46">
            <a:extLst>
              <a:ext uri="{FF2B5EF4-FFF2-40B4-BE49-F238E27FC236}">
                <a16:creationId xmlns:a16="http://schemas.microsoft.com/office/drawing/2014/main" id="{7510554E-674A-40E1-8D2D-9383594E6748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839200" y="5410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15" name="Oval 47">
            <a:extLst>
              <a:ext uri="{FF2B5EF4-FFF2-40B4-BE49-F238E27FC236}">
                <a16:creationId xmlns:a16="http://schemas.microsoft.com/office/drawing/2014/main" id="{B6C1221B-9DA7-4A9C-935A-55CA2CBF9E4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763000" y="5029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16" name="Oval 48">
            <a:extLst>
              <a:ext uri="{FF2B5EF4-FFF2-40B4-BE49-F238E27FC236}">
                <a16:creationId xmlns:a16="http://schemas.microsoft.com/office/drawing/2014/main" id="{0E8DF80A-1393-4D03-8504-D7590F7B3EB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458200" y="5029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17" name="Oval 49">
            <a:extLst>
              <a:ext uri="{FF2B5EF4-FFF2-40B4-BE49-F238E27FC236}">
                <a16:creationId xmlns:a16="http://schemas.microsoft.com/office/drawing/2014/main" id="{6F6F20D6-EC57-488F-A8B2-93673187686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077200" y="4800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31218" name="Oval 50">
            <a:extLst>
              <a:ext uri="{FF2B5EF4-FFF2-40B4-BE49-F238E27FC236}">
                <a16:creationId xmlns:a16="http://schemas.microsoft.com/office/drawing/2014/main" id="{8B8D28DB-9A1B-4C98-BBAE-FB23506493D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067800" y="5029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19" name="Oval 51">
            <a:extLst>
              <a:ext uri="{FF2B5EF4-FFF2-40B4-BE49-F238E27FC236}">
                <a16:creationId xmlns:a16="http://schemas.microsoft.com/office/drawing/2014/main" id="{DA11896E-B4F9-4D5B-91CE-9E6F7ADBF3D6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534400" y="5334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20" name="Oval 52">
            <a:extLst>
              <a:ext uri="{FF2B5EF4-FFF2-40B4-BE49-F238E27FC236}">
                <a16:creationId xmlns:a16="http://schemas.microsoft.com/office/drawing/2014/main" id="{FCD69780-13D7-4421-8838-A33117BD81A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305800" y="5715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21" name="Text Box 53">
            <a:extLst>
              <a:ext uri="{FF2B5EF4-FFF2-40B4-BE49-F238E27FC236}">
                <a16:creationId xmlns:a16="http://schemas.microsoft.com/office/drawing/2014/main" id="{51614DA3-21EC-45B1-BABF-1A2947FB7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1" y="4465639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1114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Y</a:t>
            </a:r>
          </a:p>
        </p:txBody>
      </p:sp>
      <p:sp>
        <p:nvSpPr>
          <p:cNvPr id="1031222" name="Line 54">
            <a:extLst>
              <a:ext uri="{FF2B5EF4-FFF2-40B4-BE49-F238E27FC236}">
                <a16:creationId xmlns:a16="http://schemas.microsoft.com/office/drawing/2014/main" id="{3071D415-7FCD-4E39-B56C-EE8817CE7F6A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6172200"/>
            <a:ext cx="2286000" cy="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23" name="Line 55">
            <a:extLst>
              <a:ext uri="{FF2B5EF4-FFF2-40B4-BE49-F238E27FC236}">
                <a16:creationId xmlns:a16="http://schemas.microsoft.com/office/drawing/2014/main" id="{20934CF2-2660-45F9-84D4-0A803BC95C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67600" y="2438400"/>
            <a:ext cx="0" cy="15240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24" name="Oval 56">
            <a:extLst>
              <a:ext uri="{FF2B5EF4-FFF2-40B4-BE49-F238E27FC236}">
                <a16:creationId xmlns:a16="http://schemas.microsoft.com/office/drawing/2014/main" id="{229D9E0A-FE90-4001-B46B-C199B0CAC4A3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610600" y="2514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25" name="Oval 57">
            <a:extLst>
              <a:ext uri="{FF2B5EF4-FFF2-40B4-BE49-F238E27FC236}">
                <a16:creationId xmlns:a16="http://schemas.microsoft.com/office/drawing/2014/main" id="{314AD718-C035-44E6-9C38-7AB38D728CE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772400" y="3352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26" name="Oval 58">
            <a:extLst>
              <a:ext uri="{FF2B5EF4-FFF2-40B4-BE49-F238E27FC236}">
                <a16:creationId xmlns:a16="http://schemas.microsoft.com/office/drawing/2014/main" id="{24AB6F09-5478-41F5-8279-490036AD4B5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839200" y="3276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27" name="Oval 59">
            <a:extLst>
              <a:ext uri="{FF2B5EF4-FFF2-40B4-BE49-F238E27FC236}">
                <a16:creationId xmlns:a16="http://schemas.microsoft.com/office/drawing/2014/main" id="{0F25088B-9397-4847-8B37-30E191FC3C7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220200" y="2590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28" name="Oval 60">
            <a:extLst>
              <a:ext uri="{FF2B5EF4-FFF2-40B4-BE49-F238E27FC236}">
                <a16:creationId xmlns:a16="http://schemas.microsoft.com/office/drawing/2014/main" id="{567EF235-8561-4C61-9A36-90DD3CFC41A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077200" y="2590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29" name="Oval 61">
            <a:extLst>
              <a:ext uri="{FF2B5EF4-FFF2-40B4-BE49-F238E27FC236}">
                <a16:creationId xmlns:a16="http://schemas.microsoft.com/office/drawing/2014/main" id="{142E887D-511E-4B83-9AD1-29555B26F4A3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153400" y="3657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30" name="Oval 62">
            <a:extLst>
              <a:ext uri="{FF2B5EF4-FFF2-40B4-BE49-F238E27FC236}">
                <a16:creationId xmlns:a16="http://schemas.microsoft.com/office/drawing/2014/main" id="{493880EB-6B18-4898-9680-08EB855E7686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382000" y="3276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31" name="Oval 63">
            <a:extLst>
              <a:ext uri="{FF2B5EF4-FFF2-40B4-BE49-F238E27FC236}">
                <a16:creationId xmlns:a16="http://schemas.microsoft.com/office/drawing/2014/main" id="{75FA09CC-06C7-447B-9AF6-741A6911F148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915400" y="2667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32" name="Oval 64">
            <a:extLst>
              <a:ext uri="{FF2B5EF4-FFF2-40B4-BE49-F238E27FC236}">
                <a16:creationId xmlns:a16="http://schemas.microsoft.com/office/drawing/2014/main" id="{F47E8F01-B278-4EA4-BD31-068BBD95DF09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382000" y="2286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33" name="Oval 65">
            <a:extLst>
              <a:ext uri="{FF2B5EF4-FFF2-40B4-BE49-F238E27FC236}">
                <a16:creationId xmlns:a16="http://schemas.microsoft.com/office/drawing/2014/main" id="{884B464E-B8A8-484C-9DA4-344FE8B2256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772400" y="3048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34" name="Oval 66">
            <a:extLst>
              <a:ext uri="{FF2B5EF4-FFF2-40B4-BE49-F238E27FC236}">
                <a16:creationId xmlns:a16="http://schemas.microsoft.com/office/drawing/2014/main" id="{BB95FEE1-F94A-45F3-99F3-764ED5D607D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696200" y="2590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35" name="Oval 67">
            <a:extLst>
              <a:ext uri="{FF2B5EF4-FFF2-40B4-BE49-F238E27FC236}">
                <a16:creationId xmlns:a16="http://schemas.microsoft.com/office/drawing/2014/main" id="{19AB51F4-182B-46BF-BB38-111BB711C8D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229600" y="2971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31236" name="Oval 68">
            <a:extLst>
              <a:ext uri="{FF2B5EF4-FFF2-40B4-BE49-F238E27FC236}">
                <a16:creationId xmlns:a16="http://schemas.microsoft.com/office/drawing/2014/main" id="{CE39A194-F02A-45E8-A18B-23BBF0E351F6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144000" y="2971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37" name="Oval 69">
            <a:extLst>
              <a:ext uri="{FF2B5EF4-FFF2-40B4-BE49-F238E27FC236}">
                <a16:creationId xmlns:a16="http://schemas.microsoft.com/office/drawing/2014/main" id="{AF3411DE-A153-4C96-8228-F3C70016A0EE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610600" y="2895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38" name="Oval 70">
            <a:extLst>
              <a:ext uri="{FF2B5EF4-FFF2-40B4-BE49-F238E27FC236}">
                <a16:creationId xmlns:a16="http://schemas.microsoft.com/office/drawing/2014/main" id="{B6E6BE90-4D94-477F-86AD-3AB7BA9AC3C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839200" y="2133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39" name="Text Box 71">
            <a:extLst>
              <a:ext uri="{FF2B5EF4-FFF2-40B4-BE49-F238E27FC236}">
                <a16:creationId xmlns:a16="http://schemas.microsoft.com/office/drawing/2014/main" id="{4EF51ABA-8FC0-469B-A951-A4E5D1F31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1" y="2255839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1114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Y</a:t>
            </a:r>
          </a:p>
        </p:txBody>
      </p:sp>
      <p:sp>
        <p:nvSpPr>
          <p:cNvPr id="1031240" name="Line 72">
            <a:extLst>
              <a:ext uri="{FF2B5EF4-FFF2-40B4-BE49-F238E27FC236}">
                <a16:creationId xmlns:a16="http://schemas.microsoft.com/office/drawing/2014/main" id="{D2733C7F-36E1-4C78-8554-0EC4A433A0D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3962400"/>
            <a:ext cx="2286000" cy="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41" name="Oval 73">
            <a:extLst>
              <a:ext uri="{FF2B5EF4-FFF2-40B4-BE49-F238E27FC236}">
                <a16:creationId xmlns:a16="http://schemas.microsoft.com/office/drawing/2014/main" id="{11A17818-3629-4562-B21E-D890A8E00F9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677400" y="2362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42" name="Text Box 74">
            <a:extLst>
              <a:ext uri="{FF2B5EF4-FFF2-40B4-BE49-F238E27FC236}">
                <a16:creationId xmlns:a16="http://schemas.microsoft.com/office/drawing/2014/main" id="{49AF197F-2A53-4726-9BF1-A49FEAC69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9788" y="3856039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1114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X</a:t>
            </a:r>
          </a:p>
        </p:txBody>
      </p:sp>
      <p:sp>
        <p:nvSpPr>
          <p:cNvPr id="1031243" name="Text Box 75">
            <a:extLst>
              <a:ext uri="{FF2B5EF4-FFF2-40B4-BE49-F238E27FC236}">
                <a16:creationId xmlns:a16="http://schemas.microsoft.com/office/drawing/2014/main" id="{96C789F5-6370-4507-8FF5-9CA44FBE4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3601" y="6065839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1114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X</a:t>
            </a:r>
          </a:p>
        </p:txBody>
      </p:sp>
      <p:sp>
        <p:nvSpPr>
          <p:cNvPr id="1031244" name="Text Box 76">
            <a:extLst>
              <a:ext uri="{FF2B5EF4-FFF2-40B4-BE49-F238E27FC236}">
                <a16:creationId xmlns:a16="http://schemas.microsoft.com/office/drawing/2014/main" id="{345795F3-1929-4E19-AAB1-866A827F5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1676401"/>
            <a:ext cx="2667000" cy="409575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Strong relationships</a:t>
            </a:r>
          </a:p>
        </p:txBody>
      </p:sp>
      <p:sp>
        <p:nvSpPr>
          <p:cNvPr id="1031245" name="Text Box 77">
            <a:extLst>
              <a:ext uri="{FF2B5EF4-FFF2-40B4-BE49-F238E27FC236}">
                <a16:creationId xmlns:a16="http://schemas.microsoft.com/office/drawing/2014/main" id="{92E9A0A9-4ED3-4328-B0A6-28A7FC026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1676401"/>
            <a:ext cx="2590800" cy="409575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Weak relationships</a:t>
            </a:r>
          </a:p>
        </p:txBody>
      </p:sp>
      <p:sp>
        <p:nvSpPr>
          <p:cNvPr id="1031246" name="Line 78">
            <a:extLst>
              <a:ext uri="{FF2B5EF4-FFF2-40B4-BE49-F238E27FC236}">
                <a16:creationId xmlns:a16="http://schemas.microsoft.com/office/drawing/2014/main" id="{02B3A1DB-AEDB-4B75-8140-93817769BA7A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1676400"/>
            <a:ext cx="0" cy="4724400"/>
          </a:xfrm>
          <a:prstGeom prst="line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47" name="Oval 79">
            <a:extLst>
              <a:ext uri="{FF2B5EF4-FFF2-40B4-BE49-F238E27FC236}">
                <a16:creationId xmlns:a16="http://schemas.microsoft.com/office/drawing/2014/main" id="{CA4C84B8-3D45-421A-9233-231D63140A54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525000" y="2819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48" name="Oval 80">
            <a:extLst>
              <a:ext uri="{FF2B5EF4-FFF2-40B4-BE49-F238E27FC236}">
                <a16:creationId xmlns:a16="http://schemas.microsoft.com/office/drawing/2014/main" id="{98E1882A-73CA-473B-A959-F1C04B2BC76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372600" y="2209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49" name="Oval 81">
            <a:extLst>
              <a:ext uri="{FF2B5EF4-FFF2-40B4-BE49-F238E27FC236}">
                <a16:creationId xmlns:a16="http://schemas.microsoft.com/office/drawing/2014/main" id="{5CF62F78-30C8-4B55-89A7-1208944D2C89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144000" y="5562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50" name="Oval 82">
            <a:extLst>
              <a:ext uri="{FF2B5EF4-FFF2-40B4-BE49-F238E27FC236}">
                <a16:creationId xmlns:a16="http://schemas.microsoft.com/office/drawing/2014/main" id="{5CE7FBE4-56D1-46AB-949F-2FB8A90D588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525000" y="5257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51" name="Oval 83">
            <a:extLst>
              <a:ext uri="{FF2B5EF4-FFF2-40B4-BE49-F238E27FC236}">
                <a16:creationId xmlns:a16="http://schemas.microsoft.com/office/drawing/2014/main" id="{799F1D09-5B52-402F-845F-0DB5784E24F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372600" y="4953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52" name="Oval 84">
            <a:extLst>
              <a:ext uri="{FF2B5EF4-FFF2-40B4-BE49-F238E27FC236}">
                <a16:creationId xmlns:a16="http://schemas.microsoft.com/office/drawing/2014/main" id="{2A43F8C9-BBD5-496D-8948-2FBFA48D3E6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525000" y="5638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53" name="Oval 85">
            <a:extLst>
              <a:ext uri="{FF2B5EF4-FFF2-40B4-BE49-F238E27FC236}">
                <a16:creationId xmlns:a16="http://schemas.microsoft.com/office/drawing/2014/main" id="{553EDB66-B981-4E27-8E82-8B312CB324C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839200" y="4724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54" name="Oval 86">
            <a:extLst>
              <a:ext uri="{FF2B5EF4-FFF2-40B4-BE49-F238E27FC236}">
                <a16:creationId xmlns:a16="http://schemas.microsoft.com/office/drawing/2014/main" id="{41C2AE56-3FA6-4A47-8FCB-320199C8C37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153400" y="4343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55" name="Line 87">
            <a:extLst>
              <a:ext uri="{FF2B5EF4-FFF2-40B4-BE49-F238E27FC236}">
                <a16:creationId xmlns:a16="http://schemas.microsoft.com/office/drawing/2014/main" id="{93009EB4-061D-419C-BD67-5426D51EB1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43200" y="2209800"/>
            <a:ext cx="2057400" cy="1295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56" name="Line 88">
            <a:extLst>
              <a:ext uri="{FF2B5EF4-FFF2-40B4-BE49-F238E27FC236}">
                <a16:creationId xmlns:a16="http://schemas.microsoft.com/office/drawing/2014/main" id="{553579D4-EF84-4927-9D83-FAA4FB43DE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667000"/>
            <a:ext cx="2057400" cy="1295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57" name="Line 89">
            <a:extLst>
              <a:ext uri="{FF2B5EF4-FFF2-40B4-BE49-F238E27FC236}">
                <a16:creationId xmlns:a16="http://schemas.microsoft.com/office/drawing/2014/main" id="{170D142E-9B9F-4DDC-8FE9-3E3087BF4C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7600" y="2057400"/>
            <a:ext cx="1143000" cy="68580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58" name="Line 90">
            <a:extLst>
              <a:ext uri="{FF2B5EF4-FFF2-40B4-BE49-F238E27FC236}">
                <a16:creationId xmlns:a16="http://schemas.microsoft.com/office/drawing/2014/main" id="{1589FD13-0F1B-4F4C-881C-A7041C9B21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34400" y="2895600"/>
            <a:ext cx="1676400" cy="106680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59" name="Line 91">
            <a:extLst>
              <a:ext uri="{FF2B5EF4-FFF2-40B4-BE49-F238E27FC236}">
                <a16:creationId xmlns:a16="http://schemas.microsoft.com/office/drawing/2014/main" id="{B6F6FAB5-93DC-4105-A824-BD71DC9C27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4572000"/>
            <a:ext cx="1905000" cy="1371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60" name="Line 92">
            <a:extLst>
              <a:ext uri="{FF2B5EF4-FFF2-40B4-BE49-F238E27FC236}">
                <a16:creationId xmlns:a16="http://schemas.microsoft.com/office/drawing/2014/main" id="{9C08A6BC-304C-44A6-9A11-E932E37968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4953000"/>
            <a:ext cx="1676400" cy="1219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61" name="Line 93">
            <a:extLst>
              <a:ext uri="{FF2B5EF4-FFF2-40B4-BE49-F238E27FC236}">
                <a16:creationId xmlns:a16="http://schemas.microsoft.com/office/drawing/2014/main" id="{F5DFC966-EFF7-4E93-8751-1974F092261C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4267200"/>
            <a:ext cx="1524000" cy="114300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62" name="Line 94">
            <a:extLst>
              <a:ext uri="{FF2B5EF4-FFF2-40B4-BE49-F238E27FC236}">
                <a16:creationId xmlns:a16="http://schemas.microsoft.com/office/drawing/2014/main" id="{4EDF242E-5F16-4118-8FB2-EFE95B729CDF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5486400"/>
            <a:ext cx="990600" cy="68580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63" name="Line 95">
            <a:extLst>
              <a:ext uri="{FF2B5EF4-FFF2-40B4-BE49-F238E27FC236}">
                <a16:creationId xmlns:a16="http://schemas.microsoft.com/office/drawing/2014/main" id="{A98490D7-3742-4CAA-A649-2FCC55E117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2514600"/>
            <a:ext cx="2057400" cy="1295400"/>
          </a:xfrm>
          <a:prstGeom prst="line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64" name="Line 96">
            <a:extLst>
              <a:ext uri="{FF2B5EF4-FFF2-40B4-BE49-F238E27FC236}">
                <a16:creationId xmlns:a16="http://schemas.microsoft.com/office/drawing/2014/main" id="{C12908C1-C981-456E-8D6C-45CA20FC50F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4724400"/>
            <a:ext cx="1905000" cy="1371600"/>
          </a:xfrm>
          <a:prstGeom prst="line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65" name="Line 97">
            <a:extLst>
              <a:ext uri="{FF2B5EF4-FFF2-40B4-BE49-F238E27FC236}">
                <a16:creationId xmlns:a16="http://schemas.microsoft.com/office/drawing/2014/main" id="{1B208E06-A21F-4AA7-9D76-1D650868A2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6200" y="2209800"/>
            <a:ext cx="2057400" cy="1295400"/>
          </a:xfrm>
          <a:prstGeom prst="line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66" name="Line 98">
            <a:extLst>
              <a:ext uri="{FF2B5EF4-FFF2-40B4-BE49-F238E27FC236}">
                <a16:creationId xmlns:a16="http://schemas.microsoft.com/office/drawing/2014/main" id="{8524D89B-D5C2-4969-937D-D5C45D095771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4724400"/>
            <a:ext cx="1752600" cy="1295400"/>
          </a:xfrm>
          <a:prstGeom prst="line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1267" name="Rectangle 99">
            <a:extLst>
              <a:ext uri="{FF2B5EF4-FFF2-40B4-BE49-F238E27FC236}">
                <a16:creationId xmlns:a16="http://schemas.microsoft.com/office/drawing/2014/main" id="{D063141F-6F9D-4E1B-9D4E-E8266B6BCF6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4638" y="346997"/>
            <a:ext cx="10515600" cy="773046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altLang="en-US" dirty="0"/>
              <a:t>Scatter Plots of Various Correlations</a:t>
            </a:r>
          </a:p>
        </p:txBody>
      </p:sp>
    </p:spTree>
    <p:extLst>
      <p:ext uri="{BB962C8B-B14F-4D97-AF65-F5344CB8AC3E}">
        <p14:creationId xmlns:p14="http://schemas.microsoft.com/office/powerpoint/2010/main" val="3190980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706" name="Line 2">
            <a:extLst>
              <a:ext uri="{FF2B5EF4-FFF2-40B4-BE49-F238E27FC236}">
                <a16:creationId xmlns:a16="http://schemas.microsoft.com/office/drawing/2014/main" id="{68D69DB0-7DEA-4FF9-9ADF-008DD07028B9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2590800"/>
            <a:ext cx="2286000" cy="0"/>
          </a:xfrm>
          <a:prstGeom prst="line">
            <a:avLst/>
          </a:prstGeom>
          <a:noFill/>
          <a:ln w="25400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07" name="Line 3">
            <a:extLst>
              <a:ext uri="{FF2B5EF4-FFF2-40B4-BE49-F238E27FC236}">
                <a16:creationId xmlns:a16="http://schemas.microsoft.com/office/drawing/2014/main" id="{8C906BD0-7172-4D44-8F76-0F2B874D1FE7}"/>
              </a:ext>
            </a:extLst>
          </p:cNvPr>
          <p:cNvSpPr>
            <a:spLocks noChangeShapeType="1"/>
          </p:cNvSpPr>
          <p:nvPr/>
        </p:nvSpPr>
        <p:spPr bwMode="auto">
          <a:xfrm>
            <a:off x="7918450" y="5181600"/>
            <a:ext cx="2286000" cy="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08" name="Rectangle 4">
            <a:extLst>
              <a:ext uri="{FF2B5EF4-FFF2-40B4-BE49-F238E27FC236}">
                <a16:creationId xmlns:a16="http://schemas.microsoft.com/office/drawing/2014/main" id="{096493B2-8266-49CA-AAA8-01EE3775BF1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04447" y="228600"/>
            <a:ext cx="11787554" cy="11430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en-US" dirty="0"/>
              <a:t>Scatter Plots of Various Correlations</a:t>
            </a:r>
          </a:p>
        </p:txBody>
      </p:sp>
      <p:sp>
        <p:nvSpPr>
          <p:cNvPr id="968709" name="Line 5">
            <a:extLst>
              <a:ext uri="{FF2B5EF4-FFF2-40B4-BE49-F238E27FC236}">
                <a16:creationId xmlns:a16="http://schemas.microsoft.com/office/drawing/2014/main" id="{4FE838CA-91A8-472E-BD29-21CA0A62D8C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8338" y="1985964"/>
            <a:ext cx="0" cy="1519237"/>
          </a:xfrm>
          <a:prstGeom prst="line">
            <a:avLst/>
          </a:prstGeom>
          <a:noFill/>
          <a:ln w="25400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10" name="Line 6">
            <a:extLst>
              <a:ext uri="{FF2B5EF4-FFF2-40B4-BE49-F238E27FC236}">
                <a16:creationId xmlns:a16="http://schemas.microsoft.com/office/drawing/2014/main" id="{A886FC93-B362-4E1B-A76A-BB4C50C29C7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938339" y="2133601"/>
            <a:ext cx="2574925" cy="873125"/>
          </a:xfrm>
          <a:prstGeom prst="line">
            <a:avLst/>
          </a:prstGeom>
          <a:noFill/>
          <a:ln w="28575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11" name="Oval 7">
            <a:extLst>
              <a:ext uri="{FF2B5EF4-FFF2-40B4-BE49-F238E27FC236}">
                <a16:creationId xmlns:a16="http://schemas.microsoft.com/office/drawing/2014/main" id="{7851D545-9979-4CE2-9B04-295A8B01AAD8}"/>
              </a:ext>
            </a:extLst>
          </p:cNvPr>
          <p:cNvSpPr>
            <a:spLocks noChangeArrowheads="1"/>
          </p:cNvSpPr>
          <p:nvPr/>
        </p:nvSpPr>
        <p:spPr bwMode="auto">
          <a:xfrm rot="7282380" flipH="1">
            <a:off x="4056063" y="2819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12" name="Oval 8">
            <a:extLst>
              <a:ext uri="{FF2B5EF4-FFF2-40B4-BE49-F238E27FC236}">
                <a16:creationId xmlns:a16="http://schemas.microsoft.com/office/drawing/2014/main" id="{925E0237-2CB6-432D-AFB2-6AA99A90F4B7}"/>
              </a:ext>
            </a:extLst>
          </p:cNvPr>
          <p:cNvSpPr>
            <a:spLocks noChangeArrowheads="1"/>
          </p:cNvSpPr>
          <p:nvPr/>
        </p:nvSpPr>
        <p:spPr bwMode="auto">
          <a:xfrm rot="7282380" flipH="1">
            <a:off x="3294063" y="2514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13" name="Oval 9">
            <a:extLst>
              <a:ext uri="{FF2B5EF4-FFF2-40B4-BE49-F238E27FC236}">
                <a16:creationId xmlns:a16="http://schemas.microsoft.com/office/drawing/2014/main" id="{33EC51D4-DA18-4B8D-B35C-04B83365DDD3}"/>
              </a:ext>
            </a:extLst>
          </p:cNvPr>
          <p:cNvSpPr>
            <a:spLocks noChangeArrowheads="1"/>
          </p:cNvSpPr>
          <p:nvPr/>
        </p:nvSpPr>
        <p:spPr bwMode="auto">
          <a:xfrm rot="7282380" flipH="1">
            <a:off x="2989263" y="2438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14" name="Oval 10">
            <a:extLst>
              <a:ext uri="{FF2B5EF4-FFF2-40B4-BE49-F238E27FC236}">
                <a16:creationId xmlns:a16="http://schemas.microsoft.com/office/drawing/2014/main" id="{D0A64292-1391-42C9-AE58-38FA58DB7DAB}"/>
              </a:ext>
            </a:extLst>
          </p:cNvPr>
          <p:cNvSpPr>
            <a:spLocks noChangeArrowheads="1"/>
          </p:cNvSpPr>
          <p:nvPr/>
        </p:nvSpPr>
        <p:spPr bwMode="auto">
          <a:xfrm rot="7282380" flipH="1">
            <a:off x="1998663" y="2057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15" name="Oval 11">
            <a:extLst>
              <a:ext uri="{FF2B5EF4-FFF2-40B4-BE49-F238E27FC236}">
                <a16:creationId xmlns:a16="http://schemas.microsoft.com/office/drawing/2014/main" id="{19970D5F-3E66-45B8-873E-4CA231DBCDD5}"/>
              </a:ext>
            </a:extLst>
          </p:cNvPr>
          <p:cNvSpPr>
            <a:spLocks noChangeArrowheads="1"/>
          </p:cNvSpPr>
          <p:nvPr/>
        </p:nvSpPr>
        <p:spPr bwMode="auto">
          <a:xfrm rot="7282380" flipH="1">
            <a:off x="2379663" y="22098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16" name="Oval 12">
            <a:extLst>
              <a:ext uri="{FF2B5EF4-FFF2-40B4-BE49-F238E27FC236}">
                <a16:creationId xmlns:a16="http://schemas.microsoft.com/office/drawing/2014/main" id="{459D6CB9-A116-4B1A-BB4D-970EE9F64974}"/>
              </a:ext>
            </a:extLst>
          </p:cNvPr>
          <p:cNvSpPr>
            <a:spLocks noChangeArrowheads="1"/>
          </p:cNvSpPr>
          <p:nvPr/>
        </p:nvSpPr>
        <p:spPr bwMode="auto">
          <a:xfrm rot="7282380" flipH="1">
            <a:off x="2684463" y="2286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FFCD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68717" name="Text Box 13">
            <a:extLst>
              <a:ext uri="{FF2B5EF4-FFF2-40B4-BE49-F238E27FC236}">
                <a16:creationId xmlns:a16="http://schemas.microsoft.com/office/drawing/2014/main" id="{F35A7153-CB70-4DCD-86D5-4FDCBF0F5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16002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Y</a:t>
            </a:r>
          </a:p>
        </p:txBody>
      </p:sp>
      <p:sp>
        <p:nvSpPr>
          <p:cNvPr id="968718" name="Line 14">
            <a:extLst>
              <a:ext uri="{FF2B5EF4-FFF2-40B4-BE49-F238E27FC236}">
                <a16:creationId xmlns:a16="http://schemas.microsoft.com/office/drawing/2014/main" id="{C6C4BD74-F30C-4F69-B69F-1D824B6DA3D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22463" y="3505200"/>
            <a:ext cx="2286000" cy="0"/>
          </a:xfrm>
          <a:prstGeom prst="line">
            <a:avLst/>
          </a:prstGeom>
          <a:noFill/>
          <a:ln w="25400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19" name="Oval 15">
            <a:extLst>
              <a:ext uri="{FF2B5EF4-FFF2-40B4-BE49-F238E27FC236}">
                <a16:creationId xmlns:a16="http://schemas.microsoft.com/office/drawing/2014/main" id="{68A4C3AA-9D6B-44DF-971B-6A1D91865EC5}"/>
              </a:ext>
            </a:extLst>
          </p:cNvPr>
          <p:cNvSpPr>
            <a:spLocks noChangeArrowheads="1"/>
          </p:cNvSpPr>
          <p:nvPr/>
        </p:nvSpPr>
        <p:spPr bwMode="auto">
          <a:xfrm rot="7282380" flipH="1">
            <a:off x="3675063" y="2667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20" name="Text Box 16">
            <a:extLst>
              <a:ext uri="{FF2B5EF4-FFF2-40B4-BE49-F238E27FC236}">
                <a16:creationId xmlns:a16="http://schemas.microsoft.com/office/drawing/2014/main" id="{9D1E6A74-53A9-470D-8AD5-11DC1E7CB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32766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X</a:t>
            </a:r>
          </a:p>
        </p:txBody>
      </p:sp>
      <p:sp>
        <p:nvSpPr>
          <p:cNvPr id="968721" name="Line 17">
            <a:extLst>
              <a:ext uri="{FF2B5EF4-FFF2-40B4-BE49-F238E27FC236}">
                <a16:creationId xmlns:a16="http://schemas.microsoft.com/office/drawing/2014/main" id="{9CD0F97D-196E-4E55-90B8-25907E458D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2675" y="1985964"/>
            <a:ext cx="0" cy="1519237"/>
          </a:xfrm>
          <a:prstGeom prst="line">
            <a:avLst/>
          </a:prstGeom>
          <a:noFill/>
          <a:ln w="25400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22" name="Line 18">
            <a:extLst>
              <a:ext uri="{FF2B5EF4-FFF2-40B4-BE49-F238E27FC236}">
                <a16:creationId xmlns:a16="http://schemas.microsoft.com/office/drawing/2014/main" id="{C2FF543B-6A31-431C-953C-075E5D2F832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92676" y="2133601"/>
            <a:ext cx="2574925" cy="873125"/>
          </a:xfrm>
          <a:prstGeom prst="line">
            <a:avLst/>
          </a:prstGeom>
          <a:noFill/>
          <a:ln w="28575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23" name="Oval 19">
            <a:extLst>
              <a:ext uri="{FF2B5EF4-FFF2-40B4-BE49-F238E27FC236}">
                <a16:creationId xmlns:a16="http://schemas.microsoft.com/office/drawing/2014/main" id="{A26EE303-75AA-4DAA-903F-7F8B6B2CAEE8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010400" y="3124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24" name="Oval 20">
            <a:extLst>
              <a:ext uri="{FF2B5EF4-FFF2-40B4-BE49-F238E27FC236}">
                <a16:creationId xmlns:a16="http://schemas.microsoft.com/office/drawing/2014/main" id="{13F27DAE-585C-4D9D-BBCD-164291BE50A4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934200" y="2743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25" name="Oval 21">
            <a:extLst>
              <a:ext uri="{FF2B5EF4-FFF2-40B4-BE49-F238E27FC236}">
                <a16:creationId xmlns:a16="http://schemas.microsoft.com/office/drawing/2014/main" id="{2A9759D4-416D-4916-8518-4EEBF1B975C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105400" y="1752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26" name="Oval 22">
            <a:extLst>
              <a:ext uri="{FF2B5EF4-FFF2-40B4-BE49-F238E27FC236}">
                <a16:creationId xmlns:a16="http://schemas.microsoft.com/office/drawing/2014/main" id="{31229842-7EE9-4AC4-9F8D-5A5321CC9A6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257800" y="2133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27" name="Oval 23">
            <a:extLst>
              <a:ext uri="{FF2B5EF4-FFF2-40B4-BE49-F238E27FC236}">
                <a16:creationId xmlns:a16="http://schemas.microsoft.com/office/drawing/2014/main" id="{607D19F6-CBB0-4DF8-A5F0-C1EDF2E73659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629400" y="29718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28" name="Oval 24">
            <a:extLst>
              <a:ext uri="{FF2B5EF4-FFF2-40B4-BE49-F238E27FC236}">
                <a16:creationId xmlns:a16="http://schemas.microsoft.com/office/drawing/2014/main" id="{79BF9C27-2FD3-4DAD-8499-027564751B7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953000" y="2438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29" name="Oval 25">
            <a:extLst>
              <a:ext uri="{FF2B5EF4-FFF2-40B4-BE49-F238E27FC236}">
                <a16:creationId xmlns:a16="http://schemas.microsoft.com/office/drawing/2014/main" id="{BC9EAF3A-F434-489D-AAD0-D5ACFDC5B4E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248400" y="2743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30" name="Oval 26">
            <a:extLst>
              <a:ext uri="{FF2B5EF4-FFF2-40B4-BE49-F238E27FC236}">
                <a16:creationId xmlns:a16="http://schemas.microsoft.com/office/drawing/2014/main" id="{65504223-3F5D-4D9C-ABEE-7E2C630A7059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715000" y="2133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31" name="Oval 27">
            <a:extLst>
              <a:ext uri="{FF2B5EF4-FFF2-40B4-BE49-F238E27FC236}">
                <a16:creationId xmlns:a16="http://schemas.microsoft.com/office/drawing/2014/main" id="{3EE87328-5FFD-4DC6-9923-2FD916245136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943600" y="1981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32" name="Oval 28">
            <a:extLst>
              <a:ext uri="{FF2B5EF4-FFF2-40B4-BE49-F238E27FC236}">
                <a16:creationId xmlns:a16="http://schemas.microsoft.com/office/drawing/2014/main" id="{95040439-A388-4035-BE63-0A1334B03C7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781800" y="2514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33" name="Oval 29">
            <a:extLst>
              <a:ext uri="{FF2B5EF4-FFF2-40B4-BE49-F238E27FC236}">
                <a16:creationId xmlns:a16="http://schemas.microsoft.com/office/drawing/2014/main" id="{43F6B43A-0B53-463F-B2A7-9A913DF1822C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334000" y="2438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34" name="Oval 30">
            <a:extLst>
              <a:ext uri="{FF2B5EF4-FFF2-40B4-BE49-F238E27FC236}">
                <a16:creationId xmlns:a16="http://schemas.microsoft.com/office/drawing/2014/main" id="{9B7F08AA-7B71-4490-8D93-2EE1E3D9562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553200" y="2286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FFCD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68735" name="Oval 31">
            <a:extLst>
              <a:ext uri="{FF2B5EF4-FFF2-40B4-BE49-F238E27FC236}">
                <a16:creationId xmlns:a16="http://schemas.microsoft.com/office/drawing/2014/main" id="{DB44479D-B294-45F9-9F0F-9309FC8604B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638800" y="2438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36" name="Oval 32">
            <a:extLst>
              <a:ext uri="{FF2B5EF4-FFF2-40B4-BE49-F238E27FC236}">
                <a16:creationId xmlns:a16="http://schemas.microsoft.com/office/drawing/2014/main" id="{20C1363E-4979-4919-9D96-3E716757CC9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019800" y="2514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37" name="Oval 33">
            <a:extLst>
              <a:ext uri="{FF2B5EF4-FFF2-40B4-BE49-F238E27FC236}">
                <a16:creationId xmlns:a16="http://schemas.microsoft.com/office/drawing/2014/main" id="{DEC540F8-CE31-42CC-91E9-118C8B50EC7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791200" y="2743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38" name="Text Box 34">
            <a:extLst>
              <a:ext uri="{FF2B5EF4-FFF2-40B4-BE49-F238E27FC236}">
                <a16:creationId xmlns:a16="http://schemas.microsoft.com/office/drawing/2014/main" id="{BD5D151C-F0BD-44A2-8964-63E3D2531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15240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Y</a:t>
            </a:r>
          </a:p>
        </p:txBody>
      </p:sp>
      <p:sp>
        <p:nvSpPr>
          <p:cNvPr id="968739" name="Line 35">
            <a:extLst>
              <a:ext uri="{FF2B5EF4-FFF2-40B4-BE49-F238E27FC236}">
                <a16:creationId xmlns:a16="http://schemas.microsoft.com/office/drawing/2014/main" id="{72CCA55E-35B7-434B-B503-6FA2FCEE31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505200"/>
            <a:ext cx="2286000" cy="0"/>
          </a:xfrm>
          <a:prstGeom prst="line">
            <a:avLst/>
          </a:prstGeom>
          <a:noFill/>
          <a:ln w="25400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40" name="Text Box 36">
            <a:extLst>
              <a:ext uri="{FF2B5EF4-FFF2-40B4-BE49-F238E27FC236}">
                <a16:creationId xmlns:a16="http://schemas.microsoft.com/office/drawing/2014/main" id="{DA4F61FC-AF9B-41D5-BBCC-45F167AFC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8988" y="32766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X</a:t>
            </a:r>
          </a:p>
        </p:txBody>
      </p:sp>
      <p:sp>
        <p:nvSpPr>
          <p:cNvPr id="968741" name="Line 37">
            <a:extLst>
              <a:ext uri="{FF2B5EF4-FFF2-40B4-BE49-F238E27FC236}">
                <a16:creationId xmlns:a16="http://schemas.microsoft.com/office/drawing/2014/main" id="{7044C4AB-376F-4097-83EA-F40F96FBF11A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8288" y="1985964"/>
            <a:ext cx="0" cy="1519237"/>
          </a:xfrm>
          <a:prstGeom prst="line">
            <a:avLst/>
          </a:prstGeom>
          <a:noFill/>
          <a:ln w="25400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42" name="Oval 38">
            <a:extLst>
              <a:ext uri="{FF2B5EF4-FFF2-40B4-BE49-F238E27FC236}">
                <a16:creationId xmlns:a16="http://schemas.microsoft.com/office/drawing/2014/main" id="{6BC09628-4464-42A7-90C6-7B4371C6949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177213" y="2819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43" name="Oval 39">
            <a:extLst>
              <a:ext uri="{FF2B5EF4-FFF2-40B4-BE49-F238E27FC236}">
                <a16:creationId xmlns:a16="http://schemas.microsoft.com/office/drawing/2014/main" id="{90C27149-1F25-4AD0-BD0A-1E00F3F1364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10006013" y="2133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44" name="Oval 40">
            <a:extLst>
              <a:ext uri="{FF2B5EF4-FFF2-40B4-BE49-F238E27FC236}">
                <a16:creationId xmlns:a16="http://schemas.microsoft.com/office/drawing/2014/main" id="{9AE4400C-EA00-42C6-9801-FE63427F981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10158413" y="2438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45" name="Oval 41">
            <a:extLst>
              <a:ext uri="{FF2B5EF4-FFF2-40B4-BE49-F238E27FC236}">
                <a16:creationId xmlns:a16="http://schemas.microsoft.com/office/drawing/2014/main" id="{BAD4B1DD-DC48-4733-9F47-A35191A74C6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244013" y="2743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46" name="Oval 42">
            <a:extLst>
              <a:ext uri="{FF2B5EF4-FFF2-40B4-BE49-F238E27FC236}">
                <a16:creationId xmlns:a16="http://schemas.microsoft.com/office/drawing/2014/main" id="{529D96BD-1623-4B66-9AE1-1A6A9DF218F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320213" y="2133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47" name="Oval 43">
            <a:extLst>
              <a:ext uri="{FF2B5EF4-FFF2-40B4-BE49-F238E27FC236}">
                <a16:creationId xmlns:a16="http://schemas.microsoft.com/office/drawing/2014/main" id="{02CFA515-9152-455A-8983-6AD8CAB4558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839200" y="2057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48" name="Oval 44">
            <a:extLst>
              <a:ext uri="{FF2B5EF4-FFF2-40B4-BE49-F238E27FC236}">
                <a16:creationId xmlns:a16="http://schemas.microsoft.com/office/drawing/2014/main" id="{FB60407E-89EC-444D-9F7D-2D4F399D4CD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024813" y="22098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49" name="Oval 45">
            <a:extLst>
              <a:ext uri="{FF2B5EF4-FFF2-40B4-BE49-F238E27FC236}">
                <a16:creationId xmlns:a16="http://schemas.microsoft.com/office/drawing/2014/main" id="{DE842453-8B46-47A3-9773-C4682EA1F176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329613" y="2362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50" name="Oval 46">
            <a:extLst>
              <a:ext uri="{FF2B5EF4-FFF2-40B4-BE49-F238E27FC236}">
                <a16:creationId xmlns:a16="http://schemas.microsoft.com/office/drawing/2014/main" id="{EA14E90C-F2D1-471B-9EBF-5AF82E20A0DC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634413" y="2549525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FFCD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68751" name="Oval 47">
            <a:extLst>
              <a:ext uri="{FF2B5EF4-FFF2-40B4-BE49-F238E27FC236}">
                <a16:creationId xmlns:a16="http://schemas.microsoft.com/office/drawing/2014/main" id="{895A0B0D-8231-4880-9CD7-EB35DA80274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015413" y="2514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52" name="Oval 48">
            <a:extLst>
              <a:ext uri="{FF2B5EF4-FFF2-40B4-BE49-F238E27FC236}">
                <a16:creationId xmlns:a16="http://schemas.microsoft.com/office/drawing/2014/main" id="{2EE90986-FDB1-4104-8546-A8020B41B58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786813" y="2819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53" name="Text Box 49">
            <a:extLst>
              <a:ext uri="{FF2B5EF4-FFF2-40B4-BE49-F238E27FC236}">
                <a16:creationId xmlns:a16="http://schemas.microsoft.com/office/drawing/2014/main" id="{D6C353F7-C55C-456A-ABB9-EF2A30D58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3813" y="15240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Y</a:t>
            </a:r>
          </a:p>
        </p:txBody>
      </p:sp>
      <p:sp>
        <p:nvSpPr>
          <p:cNvPr id="968754" name="Line 50">
            <a:extLst>
              <a:ext uri="{FF2B5EF4-FFF2-40B4-BE49-F238E27FC236}">
                <a16:creationId xmlns:a16="http://schemas.microsoft.com/office/drawing/2014/main" id="{34EF5958-B23A-449C-8D46-017B57CB73B5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2413" y="3505200"/>
            <a:ext cx="2286000" cy="0"/>
          </a:xfrm>
          <a:prstGeom prst="line">
            <a:avLst/>
          </a:prstGeom>
          <a:noFill/>
          <a:ln w="25400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55" name="Oval 51">
            <a:extLst>
              <a:ext uri="{FF2B5EF4-FFF2-40B4-BE49-F238E27FC236}">
                <a16:creationId xmlns:a16="http://schemas.microsoft.com/office/drawing/2014/main" id="{68248A3C-78EE-48D8-9BAC-670CD5EA6A9E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753600" y="2667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56" name="Text Box 52">
            <a:extLst>
              <a:ext uri="{FF2B5EF4-FFF2-40B4-BE49-F238E27FC236}">
                <a16:creationId xmlns:a16="http://schemas.microsoft.com/office/drawing/2014/main" id="{CC06D733-5E5E-4DFB-81AF-4555B2347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34600" y="32766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X</a:t>
            </a:r>
          </a:p>
        </p:txBody>
      </p:sp>
      <p:sp>
        <p:nvSpPr>
          <p:cNvPr id="968757" name="Line 53">
            <a:extLst>
              <a:ext uri="{FF2B5EF4-FFF2-40B4-BE49-F238E27FC236}">
                <a16:creationId xmlns:a16="http://schemas.microsoft.com/office/drawing/2014/main" id="{1976A468-1902-42F1-ABB4-FBA99A42E4E2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6338" y="4576764"/>
            <a:ext cx="0" cy="15192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58" name="Line 54">
            <a:extLst>
              <a:ext uri="{FF2B5EF4-FFF2-40B4-BE49-F238E27FC236}">
                <a16:creationId xmlns:a16="http://schemas.microsoft.com/office/drawing/2014/main" id="{0A252E06-E435-419C-A763-FDF3A40819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86339" y="4724401"/>
            <a:ext cx="2574925" cy="873125"/>
          </a:xfrm>
          <a:prstGeom prst="line">
            <a:avLst/>
          </a:prstGeom>
          <a:noFill/>
          <a:ln w="28575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59" name="Oval 55">
            <a:extLst>
              <a:ext uri="{FF2B5EF4-FFF2-40B4-BE49-F238E27FC236}">
                <a16:creationId xmlns:a16="http://schemas.microsoft.com/office/drawing/2014/main" id="{47ABC922-AE8A-481B-9E93-3603B71AE7C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046663" y="5715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60" name="Oval 56">
            <a:extLst>
              <a:ext uri="{FF2B5EF4-FFF2-40B4-BE49-F238E27FC236}">
                <a16:creationId xmlns:a16="http://schemas.microsoft.com/office/drawing/2014/main" id="{F8E62BC4-537E-4F6C-9231-9F5EDA432B7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275263" y="5410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61" name="Oval 57">
            <a:extLst>
              <a:ext uri="{FF2B5EF4-FFF2-40B4-BE49-F238E27FC236}">
                <a16:creationId xmlns:a16="http://schemas.microsoft.com/office/drawing/2014/main" id="{74257FD4-2048-472E-9716-1A3B161E80E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934200" y="41148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62" name="Oval 58">
            <a:extLst>
              <a:ext uri="{FF2B5EF4-FFF2-40B4-BE49-F238E27FC236}">
                <a16:creationId xmlns:a16="http://schemas.microsoft.com/office/drawing/2014/main" id="{A34E0906-197D-427E-B8CA-537461D52CBE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104063" y="4724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63" name="Oval 59">
            <a:extLst>
              <a:ext uri="{FF2B5EF4-FFF2-40B4-BE49-F238E27FC236}">
                <a16:creationId xmlns:a16="http://schemas.microsoft.com/office/drawing/2014/main" id="{5A829AC8-1977-4433-BD7A-E262D9A6CA2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562600" y="5715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64" name="Oval 60">
            <a:extLst>
              <a:ext uri="{FF2B5EF4-FFF2-40B4-BE49-F238E27FC236}">
                <a16:creationId xmlns:a16="http://schemas.microsoft.com/office/drawing/2014/main" id="{C069609F-97AA-4EDB-9691-A59A5626B14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315200" y="5181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65" name="Oval 61">
            <a:extLst>
              <a:ext uri="{FF2B5EF4-FFF2-40B4-BE49-F238E27FC236}">
                <a16:creationId xmlns:a16="http://schemas.microsoft.com/office/drawing/2014/main" id="{8046D2ED-5DB1-4BCB-9521-24FFDCCEFE4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477000" y="5562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66" name="Oval 62">
            <a:extLst>
              <a:ext uri="{FF2B5EF4-FFF2-40B4-BE49-F238E27FC236}">
                <a16:creationId xmlns:a16="http://schemas.microsoft.com/office/drawing/2014/main" id="{AD036661-F340-48B7-9D49-C862D87C911C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553200" y="4419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67" name="Oval 63">
            <a:extLst>
              <a:ext uri="{FF2B5EF4-FFF2-40B4-BE49-F238E27FC236}">
                <a16:creationId xmlns:a16="http://schemas.microsoft.com/office/drawing/2014/main" id="{F02E0D7B-FDB5-45C7-9477-1A29A696A41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943600" y="4419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68" name="Oval 64">
            <a:extLst>
              <a:ext uri="{FF2B5EF4-FFF2-40B4-BE49-F238E27FC236}">
                <a16:creationId xmlns:a16="http://schemas.microsoft.com/office/drawing/2014/main" id="{715D27B6-7FC2-44BF-A703-C3C3C8BB1D6C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105400" y="5029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69" name="Oval 65">
            <a:extLst>
              <a:ext uri="{FF2B5EF4-FFF2-40B4-BE49-F238E27FC236}">
                <a16:creationId xmlns:a16="http://schemas.microsoft.com/office/drawing/2014/main" id="{6DD57878-DDCB-4153-9333-C06A55EF6F3E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334000" y="4572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70" name="Oval 66">
            <a:extLst>
              <a:ext uri="{FF2B5EF4-FFF2-40B4-BE49-F238E27FC236}">
                <a16:creationId xmlns:a16="http://schemas.microsoft.com/office/drawing/2014/main" id="{BE509877-26A9-4732-BA03-62874B0156C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715000" y="4953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FFCD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68771" name="Oval 67">
            <a:extLst>
              <a:ext uri="{FF2B5EF4-FFF2-40B4-BE49-F238E27FC236}">
                <a16:creationId xmlns:a16="http://schemas.microsoft.com/office/drawing/2014/main" id="{18AE7B86-9B00-458C-B219-28D5EE40F0C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858000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72" name="Oval 68">
            <a:extLst>
              <a:ext uri="{FF2B5EF4-FFF2-40B4-BE49-F238E27FC236}">
                <a16:creationId xmlns:a16="http://schemas.microsoft.com/office/drawing/2014/main" id="{5AEAF9B7-091D-476F-808C-A5A35CF9EE0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113463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73" name="Oval 69">
            <a:extLst>
              <a:ext uri="{FF2B5EF4-FFF2-40B4-BE49-F238E27FC236}">
                <a16:creationId xmlns:a16="http://schemas.microsoft.com/office/drawing/2014/main" id="{BE85A9BC-CDB0-4DB3-BAA9-19CDDF38C4CE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096000" y="5791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74" name="Text Box 70">
            <a:extLst>
              <a:ext uri="{FF2B5EF4-FFF2-40B4-BE49-F238E27FC236}">
                <a16:creationId xmlns:a16="http://schemas.microsoft.com/office/drawing/2014/main" id="{470A60BB-BDD6-450F-88FD-452EB198E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8050" y="43434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Y</a:t>
            </a:r>
          </a:p>
        </p:txBody>
      </p:sp>
      <p:sp>
        <p:nvSpPr>
          <p:cNvPr id="968775" name="Line 71">
            <a:extLst>
              <a:ext uri="{FF2B5EF4-FFF2-40B4-BE49-F238E27FC236}">
                <a16:creationId xmlns:a16="http://schemas.microsoft.com/office/drawing/2014/main" id="{08A81174-13BF-49E7-B4A4-5F788E6376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0463" y="6096000"/>
            <a:ext cx="2286000" cy="0"/>
          </a:xfrm>
          <a:prstGeom prst="line">
            <a:avLst/>
          </a:prstGeom>
          <a:noFill/>
          <a:ln w="25400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76" name="Oval 72">
            <a:extLst>
              <a:ext uri="{FF2B5EF4-FFF2-40B4-BE49-F238E27FC236}">
                <a16:creationId xmlns:a16="http://schemas.microsoft.com/office/drawing/2014/main" id="{B63DF551-AB54-4E6B-8F9E-B22E343E796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858000" y="5486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77" name="Text Box 73">
            <a:extLst>
              <a:ext uri="{FF2B5EF4-FFF2-40B4-BE49-F238E27FC236}">
                <a16:creationId xmlns:a16="http://schemas.microsoft.com/office/drawing/2014/main" id="{2A0212AB-35AF-4415-91D8-7D140C2E6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2650" y="58674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X</a:t>
            </a:r>
          </a:p>
        </p:txBody>
      </p:sp>
      <p:sp>
        <p:nvSpPr>
          <p:cNvPr id="968778" name="Line 74">
            <a:extLst>
              <a:ext uri="{FF2B5EF4-FFF2-40B4-BE49-F238E27FC236}">
                <a16:creationId xmlns:a16="http://schemas.microsoft.com/office/drawing/2014/main" id="{CF695A3D-BAD9-4AAD-8B9D-A5696A45E5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20875" y="4576764"/>
            <a:ext cx="0" cy="1519237"/>
          </a:xfrm>
          <a:prstGeom prst="line">
            <a:avLst/>
          </a:prstGeom>
          <a:noFill/>
          <a:ln w="25400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79" name="Line 75">
            <a:extLst>
              <a:ext uri="{FF2B5EF4-FFF2-40B4-BE49-F238E27FC236}">
                <a16:creationId xmlns:a16="http://schemas.microsoft.com/office/drawing/2014/main" id="{BED5664A-264C-4BA7-BDA5-F74D3F27BC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20876" y="4724401"/>
            <a:ext cx="2574925" cy="873125"/>
          </a:xfrm>
          <a:prstGeom prst="line">
            <a:avLst/>
          </a:prstGeom>
          <a:noFill/>
          <a:ln w="28575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80" name="Oval 76">
            <a:extLst>
              <a:ext uri="{FF2B5EF4-FFF2-40B4-BE49-F238E27FC236}">
                <a16:creationId xmlns:a16="http://schemas.microsoft.com/office/drawing/2014/main" id="{819D8BDB-CFED-480D-920B-F017E250B58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1981200" y="5410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81" name="Oval 77">
            <a:extLst>
              <a:ext uri="{FF2B5EF4-FFF2-40B4-BE49-F238E27FC236}">
                <a16:creationId xmlns:a16="http://schemas.microsoft.com/office/drawing/2014/main" id="{7C1C0835-3EEC-42EB-815D-55E9B17E9E4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286000" y="5334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82" name="Oval 78">
            <a:extLst>
              <a:ext uri="{FF2B5EF4-FFF2-40B4-BE49-F238E27FC236}">
                <a16:creationId xmlns:a16="http://schemas.microsoft.com/office/drawing/2014/main" id="{811F6519-DF57-49DA-9085-D1D6A1F74D3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343400" y="4648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83" name="Oval 79">
            <a:extLst>
              <a:ext uri="{FF2B5EF4-FFF2-40B4-BE49-F238E27FC236}">
                <a16:creationId xmlns:a16="http://schemas.microsoft.com/office/drawing/2014/main" id="{7CB1D043-8A66-4C7D-A40F-05F05CCEFF1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962400" y="4724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84" name="Oval 80">
            <a:extLst>
              <a:ext uri="{FF2B5EF4-FFF2-40B4-BE49-F238E27FC236}">
                <a16:creationId xmlns:a16="http://schemas.microsoft.com/office/drawing/2014/main" id="{DA1F2395-8B67-432A-9867-CE83ECA89073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590800" y="5181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FFCD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68785" name="Oval 81">
            <a:extLst>
              <a:ext uri="{FF2B5EF4-FFF2-40B4-BE49-F238E27FC236}">
                <a16:creationId xmlns:a16="http://schemas.microsoft.com/office/drawing/2014/main" id="{54B5A453-8212-4072-96B6-3DB3292DCC9C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276600" y="4953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86" name="Oval 82">
            <a:extLst>
              <a:ext uri="{FF2B5EF4-FFF2-40B4-BE49-F238E27FC236}">
                <a16:creationId xmlns:a16="http://schemas.microsoft.com/office/drawing/2014/main" id="{A8EE3868-A16E-4C4B-8842-0E7B55DDA4F8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971800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87" name="Text Box 83">
            <a:extLst>
              <a:ext uri="{FF2B5EF4-FFF2-40B4-BE49-F238E27FC236}">
                <a16:creationId xmlns:a16="http://schemas.microsoft.com/office/drawing/2014/main" id="{F7C1CD01-4BFB-4FAB-9A0A-82DED887A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388" y="43434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Y</a:t>
            </a:r>
          </a:p>
        </p:txBody>
      </p:sp>
      <p:sp>
        <p:nvSpPr>
          <p:cNvPr id="968788" name="Line 84">
            <a:extLst>
              <a:ext uri="{FF2B5EF4-FFF2-40B4-BE49-F238E27FC236}">
                <a16:creationId xmlns:a16="http://schemas.microsoft.com/office/drawing/2014/main" id="{05C37C4E-4CF7-45DB-AB7B-2EC0E2B1EEA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6096000"/>
            <a:ext cx="2286000" cy="0"/>
          </a:xfrm>
          <a:prstGeom prst="line">
            <a:avLst/>
          </a:prstGeom>
          <a:noFill/>
          <a:ln w="25400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89" name="Oval 85">
            <a:extLst>
              <a:ext uri="{FF2B5EF4-FFF2-40B4-BE49-F238E27FC236}">
                <a16:creationId xmlns:a16="http://schemas.microsoft.com/office/drawing/2014/main" id="{4BC6D4D9-1316-4700-99FE-FE9E2328421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657600" y="48768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90" name="Text Box 86">
            <a:extLst>
              <a:ext uri="{FF2B5EF4-FFF2-40B4-BE49-F238E27FC236}">
                <a16:creationId xmlns:a16="http://schemas.microsoft.com/office/drawing/2014/main" id="{39C5970C-BC9B-482F-9BB1-E68FFA792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7188" y="58674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X</a:t>
            </a:r>
          </a:p>
        </p:txBody>
      </p:sp>
      <p:sp>
        <p:nvSpPr>
          <p:cNvPr id="968791" name="Text Box 87">
            <a:extLst>
              <a:ext uri="{FF2B5EF4-FFF2-40B4-BE49-F238E27FC236}">
                <a16:creationId xmlns:a16="http://schemas.microsoft.com/office/drawing/2014/main" id="{00FDFFE7-242D-40E2-B005-CD6D8E406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2389" y="3581400"/>
            <a:ext cx="915987" cy="4699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1114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 = -1</a:t>
            </a:r>
          </a:p>
        </p:txBody>
      </p:sp>
      <p:sp>
        <p:nvSpPr>
          <p:cNvPr id="968792" name="Text Box 88">
            <a:extLst>
              <a:ext uri="{FF2B5EF4-FFF2-40B4-BE49-F238E27FC236}">
                <a16:creationId xmlns:a16="http://schemas.microsoft.com/office/drawing/2014/main" id="{F65C7C7F-B1F5-4EF8-A787-AFBBB863D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076" y="3590925"/>
            <a:ext cx="1000125" cy="4699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1114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 = -.6</a:t>
            </a:r>
          </a:p>
        </p:txBody>
      </p:sp>
      <p:sp>
        <p:nvSpPr>
          <p:cNvPr id="968793" name="Text Box 89">
            <a:extLst>
              <a:ext uri="{FF2B5EF4-FFF2-40B4-BE49-F238E27FC236}">
                <a16:creationId xmlns:a16="http://schemas.microsoft.com/office/drawing/2014/main" id="{0D49C668-6A9D-4986-ACA1-4BAC775B0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3590925"/>
            <a:ext cx="814388" cy="4699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1114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 = 0</a:t>
            </a:r>
          </a:p>
        </p:txBody>
      </p:sp>
      <p:sp>
        <p:nvSpPr>
          <p:cNvPr id="968794" name="Text Box 90">
            <a:extLst>
              <a:ext uri="{FF2B5EF4-FFF2-40B4-BE49-F238E27FC236}">
                <a16:creationId xmlns:a16="http://schemas.microsoft.com/office/drawing/2014/main" id="{809F6798-7615-4720-B831-39E21BE622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6739" y="6161088"/>
            <a:ext cx="1076325" cy="4699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1114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 = +.3</a:t>
            </a:r>
          </a:p>
        </p:txBody>
      </p:sp>
      <p:sp>
        <p:nvSpPr>
          <p:cNvPr id="968795" name="Text Box 91">
            <a:extLst>
              <a:ext uri="{FF2B5EF4-FFF2-40B4-BE49-F238E27FC236}">
                <a16:creationId xmlns:a16="http://schemas.microsoft.com/office/drawing/2014/main" id="{2C0DAD4C-AB0D-401D-BAD0-A222D7555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275" y="6146800"/>
            <a:ext cx="992188" cy="4699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1114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 = +1</a:t>
            </a:r>
          </a:p>
        </p:txBody>
      </p:sp>
      <p:sp>
        <p:nvSpPr>
          <p:cNvPr id="968796" name="Line 92">
            <a:extLst>
              <a:ext uri="{FF2B5EF4-FFF2-40B4-BE49-F238E27FC236}">
                <a16:creationId xmlns:a16="http://schemas.microsoft.com/office/drawing/2014/main" id="{0E2B4C33-CFF2-4B4E-ADEE-1FC02BD5FC90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1938" y="4576764"/>
            <a:ext cx="0" cy="1519237"/>
          </a:xfrm>
          <a:prstGeom prst="line">
            <a:avLst/>
          </a:prstGeom>
          <a:noFill/>
          <a:ln w="25400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97" name="Oval 93">
            <a:extLst>
              <a:ext uri="{FF2B5EF4-FFF2-40B4-BE49-F238E27FC236}">
                <a16:creationId xmlns:a16="http://schemas.microsoft.com/office/drawing/2014/main" id="{61F22E72-D270-4321-A7A3-4D894EE55F3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10058400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98" name="Oval 94">
            <a:extLst>
              <a:ext uri="{FF2B5EF4-FFF2-40B4-BE49-F238E27FC236}">
                <a16:creationId xmlns:a16="http://schemas.microsoft.com/office/drawing/2014/main" id="{30802241-E758-4F99-9533-CC87FD83C7D3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525000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799" name="Oval 95">
            <a:extLst>
              <a:ext uri="{FF2B5EF4-FFF2-40B4-BE49-F238E27FC236}">
                <a16:creationId xmlns:a16="http://schemas.microsoft.com/office/drawing/2014/main" id="{E971457C-AFC1-4B7A-930D-77C6F046E49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077200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800" name="Oval 96">
            <a:extLst>
              <a:ext uri="{FF2B5EF4-FFF2-40B4-BE49-F238E27FC236}">
                <a16:creationId xmlns:a16="http://schemas.microsoft.com/office/drawing/2014/main" id="{FB99765B-A81D-4E40-B2C2-E24D4B83D40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382000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801" name="Oval 97">
            <a:extLst>
              <a:ext uri="{FF2B5EF4-FFF2-40B4-BE49-F238E27FC236}">
                <a16:creationId xmlns:a16="http://schemas.microsoft.com/office/drawing/2014/main" id="{B52E083B-6755-4280-B39E-E2628B4FB14E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686800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FFCD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68802" name="Oval 98">
            <a:extLst>
              <a:ext uri="{FF2B5EF4-FFF2-40B4-BE49-F238E27FC236}">
                <a16:creationId xmlns:a16="http://schemas.microsoft.com/office/drawing/2014/main" id="{218007D2-714E-4D5B-8DB2-710C0FA11E64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009063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803" name="Text Box 99">
            <a:extLst>
              <a:ext uri="{FF2B5EF4-FFF2-40B4-BE49-F238E27FC236}">
                <a16:creationId xmlns:a16="http://schemas.microsoft.com/office/drawing/2014/main" id="{6D8FBB21-901A-4EA6-9B5A-03514A23E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7463" y="41148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Y</a:t>
            </a:r>
          </a:p>
        </p:txBody>
      </p:sp>
      <p:sp>
        <p:nvSpPr>
          <p:cNvPr id="968804" name="Line 100">
            <a:extLst>
              <a:ext uri="{FF2B5EF4-FFF2-40B4-BE49-F238E27FC236}">
                <a16:creationId xmlns:a16="http://schemas.microsoft.com/office/drawing/2014/main" id="{12E7B9E1-1F6E-46E7-AA37-F660BFE48106}"/>
              </a:ext>
            </a:extLst>
          </p:cNvPr>
          <p:cNvSpPr>
            <a:spLocks noChangeShapeType="1"/>
          </p:cNvSpPr>
          <p:nvPr/>
        </p:nvSpPr>
        <p:spPr bwMode="auto">
          <a:xfrm>
            <a:off x="7866063" y="6096000"/>
            <a:ext cx="2286000" cy="0"/>
          </a:xfrm>
          <a:prstGeom prst="line">
            <a:avLst/>
          </a:prstGeom>
          <a:noFill/>
          <a:ln w="25400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805" name="Text Box 101">
            <a:extLst>
              <a:ext uri="{FF2B5EF4-FFF2-40B4-BE49-F238E27FC236}">
                <a16:creationId xmlns:a16="http://schemas.microsoft.com/office/drawing/2014/main" id="{B9231961-C72A-4E8B-AE1E-F15A726853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8250" y="58674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X</a:t>
            </a:r>
          </a:p>
        </p:txBody>
      </p:sp>
      <p:sp>
        <p:nvSpPr>
          <p:cNvPr id="968806" name="Text Box 102">
            <a:extLst>
              <a:ext uri="{FF2B5EF4-FFF2-40B4-BE49-F238E27FC236}">
                <a16:creationId xmlns:a16="http://schemas.microsoft.com/office/drawing/2014/main" id="{329D1F3F-D769-41D0-91C7-3999164C83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0925" y="6159500"/>
            <a:ext cx="814388" cy="4699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1114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 = 0</a:t>
            </a:r>
          </a:p>
        </p:txBody>
      </p:sp>
      <p:sp>
        <p:nvSpPr>
          <p:cNvPr id="968807" name="Oval 103">
            <a:extLst>
              <a:ext uri="{FF2B5EF4-FFF2-40B4-BE49-F238E27FC236}">
                <a16:creationId xmlns:a16="http://schemas.microsoft.com/office/drawing/2014/main" id="{0BDB9BD1-113A-4E24-B2A7-EAD6CDEF807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477000" y="48768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808" name="Oval 104">
            <a:extLst>
              <a:ext uri="{FF2B5EF4-FFF2-40B4-BE49-F238E27FC236}">
                <a16:creationId xmlns:a16="http://schemas.microsoft.com/office/drawing/2014/main" id="{D6A661B1-38C1-4A1B-A563-2D411B9EC71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867400" y="5486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68809" name="Oval 105">
            <a:extLst>
              <a:ext uri="{FF2B5EF4-FFF2-40B4-BE49-F238E27FC236}">
                <a16:creationId xmlns:a16="http://schemas.microsoft.com/office/drawing/2014/main" id="{F3C4062C-2056-4D72-806E-390E158C6A8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248400" y="44958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841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146" name="Line 2">
            <a:extLst>
              <a:ext uri="{FF2B5EF4-FFF2-40B4-BE49-F238E27FC236}">
                <a16:creationId xmlns:a16="http://schemas.microsoft.com/office/drawing/2014/main" id="{60610E49-B644-4F0B-AEC2-3FE76B9257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4724400"/>
            <a:ext cx="0" cy="14478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47" name="Oval 3">
            <a:extLst>
              <a:ext uri="{FF2B5EF4-FFF2-40B4-BE49-F238E27FC236}">
                <a16:creationId xmlns:a16="http://schemas.microsoft.com/office/drawing/2014/main" id="{6E1D458F-EBED-4A64-851F-BC93C04071E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191000" y="5867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48" name="Oval 4">
            <a:extLst>
              <a:ext uri="{FF2B5EF4-FFF2-40B4-BE49-F238E27FC236}">
                <a16:creationId xmlns:a16="http://schemas.microsoft.com/office/drawing/2014/main" id="{62AAD655-E933-41E7-8255-F1A9DF55F65E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895600" y="4953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49" name="Oval 5">
            <a:extLst>
              <a:ext uri="{FF2B5EF4-FFF2-40B4-BE49-F238E27FC236}">
                <a16:creationId xmlns:a16="http://schemas.microsoft.com/office/drawing/2014/main" id="{F243EB97-349B-4FC7-8259-7084EEC7AE28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648200" y="5791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50" name="Oval 6">
            <a:extLst>
              <a:ext uri="{FF2B5EF4-FFF2-40B4-BE49-F238E27FC236}">
                <a16:creationId xmlns:a16="http://schemas.microsoft.com/office/drawing/2014/main" id="{D9C83FE3-ECB2-4B09-9A73-BB25D431F2E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276600" y="4800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51" name="Oval 7">
            <a:extLst>
              <a:ext uri="{FF2B5EF4-FFF2-40B4-BE49-F238E27FC236}">
                <a16:creationId xmlns:a16="http://schemas.microsoft.com/office/drawing/2014/main" id="{8499FA45-9DAC-4E15-9097-D8D843FA41D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038600" y="5486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52" name="Oval 8">
            <a:extLst>
              <a:ext uri="{FF2B5EF4-FFF2-40B4-BE49-F238E27FC236}">
                <a16:creationId xmlns:a16="http://schemas.microsoft.com/office/drawing/2014/main" id="{986D0B7F-F619-43AD-AA64-5D3B5517061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343400" y="5638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53" name="Oval 9">
            <a:extLst>
              <a:ext uri="{FF2B5EF4-FFF2-40B4-BE49-F238E27FC236}">
                <a16:creationId xmlns:a16="http://schemas.microsoft.com/office/drawing/2014/main" id="{6B01601C-7DFA-407A-9D0C-E0089785B29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581400" y="5029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54" name="Oval 10">
            <a:extLst>
              <a:ext uri="{FF2B5EF4-FFF2-40B4-BE49-F238E27FC236}">
                <a16:creationId xmlns:a16="http://schemas.microsoft.com/office/drawing/2014/main" id="{2B26B77A-8FF1-46FA-86C3-9E6D4E19B6D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819400" y="4724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55" name="Oval 11">
            <a:extLst>
              <a:ext uri="{FF2B5EF4-FFF2-40B4-BE49-F238E27FC236}">
                <a16:creationId xmlns:a16="http://schemas.microsoft.com/office/drawing/2014/main" id="{20F2CA42-BFEA-4878-AB0F-3E6482A3F406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124200" y="5105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56" name="Oval 12">
            <a:extLst>
              <a:ext uri="{FF2B5EF4-FFF2-40B4-BE49-F238E27FC236}">
                <a16:creationId xmlns:a16="http://schemas.microsoft.com/office/drawing/2014/main" id="{E54E7063-C462-43BB-A1E4-06CA72C5C906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352800" y="5334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30157" name="Oval 13">
            <a:extLst>
              <a:ext uri="{FF2B5EF4-FFF2-40B4-BE49-F238E27FC236}">
                <a16:creationId xmlns:a16="http://schemas.microsoft.com/office/drawing/2014/main" id="{516DA9C8-4787-40B7-A44C-AF152FAE287E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962400" y="5715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58" name="Oval 14">
            <a:extLst>
              <a:ext uri="{FF2B5EF4-FFF2-40B4-BE49-F238E27FC236}">
                <a16:creationId xmlns:a16="http://schemas.microsoft.com/office/drawing/2014/main" id="{448731FE-E6CC-45CF-9BA9-A62DC5C1263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886200" y="5257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59" name="Oval 15">
            <a:extLst>
              <a:ext uri="{FF2B5EF4-FFF2-40B4-BE49-F238E27FC236}">
                <a16:creationId xmlns:a16="http://schemas.microsoft.com/office/drawing/2014/main" id="{C7AFA9B5-D85D-42F6-BD07-E38F311574F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657600" y="5334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60" name="Text Box 16">
            <a:extLst>
              <a:ext uri="{FF2B5EF4-FFF2-40B4-BE49-F238E27FC236}">
                <a16:creationId xmlns:a16="http://schemas.microsoft.com/office/drawing/2014/main" id="{C738F5AC-DA43-48D1-8514-2E331C073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4465639"/>
            <a:ext cx="354013" cy="396875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1114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Y</a:t>
            </a:r>
          </a:p>
        </p:txBody>
      </p:sp>
      <p:sp>
        <p:nvSpPr>
          <p:cNvPr id="1030161" name="Line 17">
            <a:extLst>
              <a:ext uri="{FF2B5EF4-FFF2-40B4-BE49-F238E27FC236}">
                <a16:creationId xmlns:a16="http://schemas.microsoft.com/office/drawing/2014/main" id="{87A22895-4616-4AF1-AD36-9C7214F754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6172200"/>
            <a:ext cx="2286000" cy="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62" name="Text Box 18">
            <a:extLst>
              <a:ext uri="{FF2B5EF4-FFF2-40B4-BE49-F238E27FC236}">
                <a16:creationId xmlns:a16="http://schemas.microsoft.com/office/drawing/2014/main" id="{B4AEAB35-AB29-4E0D-9CC8-49AC7014F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9188" y="6065839"/>
            <a:ext cx="354012" cy="396875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1114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X</a:t>
            </a:r>
          </a:p>
        </p:txBody>
      </p:sp>
      <p:sp>
        <p:nvSpPr>
          <p:cNvPr id="1030163" name="Line 19">
            <a:extLst>
              <a:ext uri="{FF2B5EF4-FFF2-40B4-BE49-F238E27FC236}">
                <a16:creationId xmlns:a16="http://schemas.microsoft.com/office/drawing/2014/main" id="{3EF031FC-2557-4E8B-88F2-B68CDB717B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2438400"/>
            <a:ext cx="0" cy="15240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64" name="Oval 20">
            <a:extLst>
              <a:ext uri="{FF2B5EF4-FFF2-40B4-BE49-F238E27FC236}">
                <a16:creationId xmlns:a16="http://schemas.microsoft.com/office/drawing/2014/main" id="{E92CECB2-DD32-447C-BBF8-B699FEDA527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743200" y="3657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65" name="Oval 21">
            <a:extLst>
              <a:ext uri="{FF2B5EF4-FFF2-40B4-BE49-F238E27FC236}">
                <a16:creationId xmlns:a16="http://schemas.microsoft.com/office/drawing/2014/main" id="{9C91133F-2C9C-42EA-B502-C78C33FF751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971800" y="3352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66" name="Oval 22">
            <a:extLst>
              <a:ext uri="{FF2B5EF4-FFF2-40B4-BE49-F238E27FC236}">
                <a16:creationId xmlns:a16="http://schemas.microsoft.com/office/drawing/2014/main" id="{BEB4C2CC-DCE6-4999-A1EF-F0F602343FD3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648200" y="2286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67" name="Oval 23">
            <a:extLst>
              <a:ext uri="{FF2B5EF4-FFF2-40B4-BE49-F238E27FC236}">
                <a16:creationId xmlns:a16="http://schemas.microsoft.com/office/drawing/2014/main" id="{29A42099-3D1C-4913-A85A-E51809409E7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800600" y="2667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68" name="Oval 24">
            <a:extLst>
              <a:ext uri="{FF2B5EF4-FFF2-40B4-BE49-F238E27FC236}">
                <a16:creationId xmlns:a16="http://schemas.microsoft.com/office/drawing/2014/main" id="{D116F655-FB3A-4E5B-8310-450607DE6A1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200400" y="3505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69" name="Oval 25">
            <a:extLst>
              <a:ext uri="{FF2B5EF4-FFF2-40B4-BE49-F238E27FC236}">
                <a16:creationId xmlns:a16="http://schemas.microsoft.com/office/drawing/2014/main" id="{6932A1FC-E60E-427D-846F-B66C7F77C6EC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419600" y="2667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70" name="Oval 26">
            <a:extLst>
              <a:ext uri="{FF2B5EF4-FFF2-40B4-BE49-F238E27FC236}">
                <a16:creationId xmlns:a16="http://schemas.microsoft.com/office/drawing/2014/main" id="{A2F1D32F-2F27-42D7-B92D-6CCDA45E328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038600" y="3276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71" name="Oval 27">
            <a:extLst>
              <a:ext uri="{FF2B5EF4-FFF2-40B4-BE49-F238E27FC236}">
                <a16:creationId xmlns:a16="http://schemas.microsoft.com/office/drawing/2014/main" id="{FDB4A6DE-3DF4-46D4-A5C7-C9922E1183B4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114800" y="2667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72" name="Oval 28">
            <a:extLst>
              <a:ext uri="{FF2B5EF4-FFF2-40B4-BE49-F238E27FC236}">
                <a16:creationId xmlns:a16="http://schemas.microsoft.com/office/drawing/2014/main" id="{CCE57761-AB7A-4FFA-9CBB-8852D54CBD1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733800" y="2514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73" name="Oval 29">
            <a:extLst>
              <a:ext uri="{FF2B5EF4-FFF2-40B4-BE49-F238E27FC236}">
                <a16:creationId xmlns:a16="http://schemas.microsoft.com/office/drawing/2014/main" id="{FF248011-CD58-4ACF-986C-E9A4675E984C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819400" y="3048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74" name="Oval 30">
            <a:extLst>
              <a:ext uri="{FF2B5EF4-FFF2-40B4-BE49-F238E27FC236}">
                <a16:creationId xmlns:a16="http://schemas.microsoft.com/office/drawing/2014/main" id="{2EFC2AF3-2314-4394-ABD2-93CE68B593D9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124200" y="2895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75" name="Oval 31">
            <a:extLst>
              <a:ext uri="{FF2B5EF4-FFF2-40B4-BE49-F238E27FC236}">
                <a16:creationId xmlns:a16="http://schemas.microsoft.com/office/drawing/2014/main" id="{A688F5EB-153D-4AE3-8C33-D73623E5548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429000" y="3082925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30176" name="Oval 32">
            <a:extLst>
              <a:ext uri="{FF2B5EF4-FFF2-40B4-BE49-F238E27FC236}">
                <a16:creationId xmlns:a16="http://schemas.microsoft.com/office/drawing/2014/main" id="{FAC32706-EF30-46C4-ABAC-CC20854A9576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343400" y="2971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77" name="Oval 33">
            <a:extLst>
              <a:ext uri="{FF2B5EF4-FFF2-40B4-BE49-F238E27FC236}">
                <a16:creationId xmlns:a16="http://schemas.microsoft.com/office/drawing/2014/main" id="{0740DD90-8A99-4E02-BD82-D6AFB9AC0CC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810000" y="3048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78" name="Oval 34">
            <a:extLst>
              <a:ext uri="{FF2B5EF4-FFF2-40B4-BE49-F238E27FC236}">
                <a16:creationId xmlns:a16="http://schemas.microsoft.com/office/drawing/2014/main" id="{5CFF230C-7EB2-48DA-B3C5-0336D45D105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581400" y="3352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79" name="Text Box 35">
            <a:extLst>
              <a:ext uri="{FF2B5EF4-FFF2-40B4-BE49-F238E27FC236}">
                <a16:creationId xmlns:a16="http://schemas.microsoft.com/office/drawing/2014/main" id="{D9AD3A28-9EC1-43A8-8B2F-AB233F9A8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2255839"/>
            <a:ext cx="354013" cy="396875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1114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Y</a:t>
            </a:r>
          </a:p>
        </p:txBody>
      </p:sp>
      <p:sp>
        <p:nvSpPr>
          <p:cNvPr id="1030180" name="Line 36">
            <a:extLst>
              <a:ext uri="{FF2B5EF4-FFF2-40B4-BE49-F238E27FC236}">
                <a16:creationId xmlns:a16="http://schemas.microsoft.com/office/drawing/2014/main" id="{CD96D519-D9D8-49E8-A54A-75049204100E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3962400"/>
            <a:ext cx="2286000" cy="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81" name="Oval 37">
            <a:extLst>
              <a:ext uri="{FF2B5EF4-FFF2-40B4-BE49-F238E27FC236}">
                <a16:creationId xmlns:a16="http://schemas.microsoft.com/office/drawing/2014/main" id="{19FB657C-B860-48AC-9519-6F94345593E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648200" y="2971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82" name="Text Box 38">
            <a:extLst>
              <a:ext uri="{FF2B5EF4-FFF2-40B4-BE49-F238E27FC236}">
                <a16:creationId xmlns:a16="http://schemas.microsoft.com/office/drawing/2014/main" id="{914EDA67-6A15-4868-9199-F2FD4E001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9188" y="3856039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1114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X</a:t>
            </a:r>
          </a:p>
        </p:txBody>
      </p:sp>
      <p:sp>
        <p:nvSpPr>
          <p:cNvPr id="1030183" name="Rectangle 39">
            <a:extLst>
              <a:ext uri="{FF2B5EF4-FFF2-40B4-BE49-F238E27FC236}">
                <a16:creationId xmlns:a16="http://schemas.microsoft.com/office/drawing/2014/main" id="{1F017F08-520E-45C8-88C9-F85FB20CC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371600"/>
            <a:ext cx="8077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5342" tIns="42672" rIns="85342" bIns="42672"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030184" name="Line 40">
            <a:extLst>
              <a:ext uri="{FF2B5EF4-FFF2-40B4-BE49-F238E27FC236}">
                <a16:creationId xmlns:a16="http://schemas.microsoft.com/office/drawing/2014/main" id="{0CA01F25-3ED2-43DF-8183-5066963BB883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4724400"/>
            <a:ext cx="0" cy="14478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85" name="Oval 41">
            <a:extLst>
              <a:ext uri="{FF2B5EF4-FFF2-40B4-BE49-F238E27FC236}">
                <a16:creationId xmlns:a16="http://schemas.microsoft.com/office/drawing/2014/main" id="{255EAA6D-7F0F-4036-9973-91F11AF3705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543800" y="5715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86" name="Oval 42">
            <a:extLst>
              <a:ext uri="{FF2B5EF4-FFF2-40B4-BE49-F238E27FC236}">
                <a16:creationId xmlns:a16="http://schemas.microsoft.com/office/drawing/2014/main" id="{B9B9FEA8-6681-49A3-BAA4-4BDDD56F83BE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848600" y="5562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87" name="Oval 43">
            <a:extLst>
              <a:ext uri="{FF2B5EF4-FFF2-40B4-BE49-F238E27FC236}">
                <a16:creationId xmlns:a16="http://schemas.microsoft.com/office/drawing/2014/main" id="{50F3CCA1-B39C-4EBD-AB78-4F213891B14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372600" y="4495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88" name="Oval 44">
            <a:extLst>
              <a:ext uri="{FF2B5EF4-FFF2-40B4-BE49-F238E27FC236}">
                <a16:creationId xmlns:a16="http://schemas.microsoft.com/office/drawing/2014/main" id="{F838AC22-5125-4A93-A149-0B16CF8909C9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296400" y="4800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89" name="Oval 45">
            <a:extLst>
              <a:ext uri="{FF2B5EF4-FFF2-40B4-BE49-F238E27FC236}">
                <a16:creationId xmlns:a16="http://schemas.microsoft.com/office/drawing/2014/main" id="{B03F2597-68DD-4004-BDA2-0714EB8874A6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924800" y="5791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90" name="Oval 46">
            <a:extLst>
              <a:ext uri="{FF2B5EF4-FFF2-40B4-BE49-F238E27FC236}">
                <a16:creationId xmlns:a16="http://schemas.microsoft.com/office/drawing/2014/main" id="{05CE2FB5-42E7-458B-B7E6-920707169C1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991600" y="4648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91" name="Oval 47">
            <a:extLst>
              <a:ext uri="{FF2B5EF4-FFF2-40B4-BE49-F238E27FC236}">
                <a16:creationId xmlns:a16="http://schemas.microsoft.com/office/drawing/2014/main" id="{295137E7-F823-43C0-AED7-A92353A42E54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915400" y="5410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92" name="Oval 48">
            <a:extLst>
              <a:ext uri="{FF2B5EF4-FFF2-40B4-BE49-F238E27FC236}">
                <a16:creationId xmlns:a16="http://schemas.microsoft.com/office/drawing/2014/main" id="{FEBFF7B9-71DA-4B71-919C-BBB6F454008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839200" y="5105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93" name="Oval 49">
            <a:extLst>
              <a:ext uri="{FF2B5EF4-FFF2-40B4-BE49-F238E27FC236}">
                <a16:creationId xmlns:a16="http://schemas.microsoft.com/office/drawing/2014/main" id="{F79144AD-A840-485C-84F9-FCFDF99BAF39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144000" y="4343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94" name="Oval 50">
            <a:extLst>
              <a:ext uri="{FF2B5EF4-FFF2-40B4-BE49-F238E27FC236}">
                <a16:creationId xmlns:a16="http://schemas.microsoft.com/office/drawing/2014/main" id="{09F57E89-8BA7-412B-91B6-9C2403218F9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153400" y="5486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30195" name="Oval 51">
            <a:extLst>
              <a:ext uri="{FF2B5EF4-FFF2-40B4-BE49-F238E27FC236}">
                <a16:creationId xmlns:a16="http://schemas.microsoft.com/office/drawing/2014/main" id="{F429669C-F0A0-41B3-986E-3A4120CA5E1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144000" y="5105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96" name="Oval 52">
            <a:extLst>
              <a:ext uri="{FF2B5EF4-FFF2-40B4-BE49-F238E27FC236}">
                <a16:creationId xmlns:a16="http://schemas.microsoft.com/office/drawing/2014/main" id="{C82975E4-E457-46CA-855D-273C5E13D74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534400" y="5334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97" name="Oval 53">
            <a:extLst>
              <a:ext uri="{FF2B5EF4-FFF2-40B4-BE49-F238E27FC236}">
                <a16:creationId xmlns:a16="http://schemas.microsoft.com/office/drawing/2014/main" id="{95DC185D-BCA6-4595-BFD0-FBAD122CAA6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382000" y="5638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198" name="Text Box 54">
            <a:extLst>
              <a:ext uri="{FF2B5EF4-FFF2-40B4-BE49-F238E27FC236}">
                <a16:creationId xmlns:a16="http://schemas.microsoft.com/office/drawing/2014/main" id="{8990FCD4-E21E-4412-9294-787AC833C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1" y="4465639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1114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Y</a:t>
            </a:r>
          </a:p>
        </p:txBody>
      </p:sp>
      <p:sp>
        <p:nvSpPr>
          <p:cNvPr id="1030199" name="Line 55">
            <a:extLst>
              <a:ext uri="{FF2B5EF4-FFF2-40B4-BE49-F238E27FC236}">
                <a16:creationId xmlns:a16="http://schemas.microsoft.com/office/drawing/2014/main" id="{DD921F09-D620-413F-9F2C-5D012459327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6172200"/>
            <a:ext cx="2286000" cy="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200" name="Line 56">
            <a:extLst>
              <a:ext uri="{FF2B5EF4-FFF2-40B4-BE49-F238E27FC236}">
                <a16:creationId xmlns:a16="http://schemas.microsoft.com/office/drawing/2014/main" id="{965239E8-7318-4C85-BB45-09E6F4F71A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67600" y="2438400"/>
            <a:ext cx="0" cy="15240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201" name="Oval 57">
            <a:extLst>
              <a:ext uri="{FF2B5EF4-FFF2-40B4-BE49-F238E27FC236}">
                <a16:creationId xmlns:a16="http://schemas.microsoft.com/office/drawing/2014/main" id="{1AE48A80-C8F3-4508-BCBF-FA8BB1F0D25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543800" y="3657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202" name="Oval 58">
            <a:extLst>
              <a:ext uri="{FF2B5EF4-FFF2-40B4-BE49-F238E27FC236}">
                <a16:creationId xmlns:a16="http://schemas.microsoft.com/office/drawing/2014/main" id="{7C0C7385-F1FB-4022-886D-B984D32A086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772400" y="3352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203" name="Oval 59">
            <a:extLst>
              <a:ext uri="{FF2B5EF4-FFF2-40B4-BE49-F238E27FC236}">
                <a16:creationId xmlns:a16="http://schemas.microsoft.com/office/drawing/2014/main" id="{738AC118-4EAB-468F-AA95-BDC948E70A6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677400" y="3200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204" name="Oval 60">
            <a:extLst>
              <a:ext uri="{FF2B5EF4-FFF2-40B4-BE49-F238E27FC236}">
                <a16:creationId xmlns:a16="http://schemas.microsoft.com/office/drawing/2014/main" id="{1609429A-1AD9-4BEE-A771-32BEBCD3D4B8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220200" y="2590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205" name="Oval 61">
            <a:extLst>
              <a:ext uri="{FF2B5EF4-FFF2-40B4-BE49-F238E27FC236}">
                <a16:creationId xmlns:a16="http://schemas.microsoft.com/office/drawing/2014/main" id="{1EA0249E-7F80-44B7-A4EA-F434C241F19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153400" y="2667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206" name="Oval 62">
            <a:extLst>
              <a:ext uri="{FF2B5EF4-FFF2-40B4-BE49-F238E27FC236}">
                <a16:creationId xmlns:a16="http://schemas.microsoft.com/office/drawing/2014/main" id="{779EDB24-D90F-4409-8CB6-B9E5FEE295D9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677400" y="3505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207" name="Oval 63">
            <a:extLst>
              <a:ext uri="{FF2B5EF4-FFF2-40B4-BE49-F238E27FC236}">
                <a16:creationId xmlns:a16="http://schemas.microsoft.com/office/drawing/2014/main" id="{DFFA2C2F-5D01-4771-BD5E-9D18B3C5543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372600" y="3276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208" name="Oval 64">
            <a:extLst>
              <a:ext uri="{FF2B5EF4-FFF2-40B4-BE49-F238E27FC236}">
                <a16:creationId xmlns:a16="http://schemas.microsoft.com/office/drawing/2014/main" id="{F86AEA57-7FCE-43B6-89FD-59A7644E9DC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915400" y="2743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209" name="Oval 65">
            <a:extLst>
              <a:ext uri="{FF2B5EF4-FFF2-40B4-BE49-F238E27FC236}">
                <a16:creationId xmlns:a16="http://schemas.microsoft.com/office/drawing/2014/main" id="{A1608702-474A-4465-A921-633BACC4BB48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534400" y="2590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210" name="Oval 66">
            <a:extLst>
              <a:ext uri="{FF2B5EF4-FFF2-40B4-BE49-F238E27FC236}">
                <a16:creationId xmlns:a16="http://schemas.microsoft.com/office/drawing/2014/main" id="{9EA83A1E-2C9F-4F90-8922-C473E657FBA8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696200" y="3048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211" name="Oval 67">
            <a:extLst>
              <a:ext uri="{FF2B5EF4-FFF2-40B4-BE49-F238E27FC236}">
                <a16:creationId xmlns:a16="http://schemas.microsoft.com/office/drawing/2014/main" id="{D1EA82D7-FDF2-4892-A443-3756185D262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924800" y="2895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212" name="Oval 68">
            <a:extLst>
              <a:ext uri="{FF2B5EF4-FFF2-40B4-BE49-F238E27FC236}">
                <a16:creationId xmlns:a16="http://schemas.microsoft.com/office/drawing/2014/main" id="{B90B5616-9E64-47EF-9BC7-8702E7CAAE2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229600" y="3082925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30213" name="Oval 69">
            <a:extLst>
              <a:ext uri="{FF2B5EF4-FFF2-40B4-BE49-F238E27FC236}">
                <a16:creationId xmlns:a16="http://schemas.microsoft.com/office/drawing/2014/main" id="{A2D26949-7E4B-4F3F-845A-28CACBBFDB1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144000" y="2971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214" name="Oval 70">
            <a:extLst>
              <a:ext uri="{FF2B5EF4-FFF2-40B4-BE49-F238E27FC236}">
                <a16:creationId xmlns:a16="http://schemas.microsoft.com/office/drawing/2014/main" id="{A2300E1E-1DFB-4A4A-921A-E28C31A32206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610600" y="2895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215" name="Oval 71">
            <a:extLst>
              <a:ext uri="{FF2B5EF4-FFF2-40B4-BE49-F238E27FC236}">
                <a16:creationId xmlns:a16="http://schemas.microsoft.com/office/drawing/2014/main" id="{95D603EB-7B7B-4EEE-A537-F1280DBEE2B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839200" y="2438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216" name="Text Box 72">
            <a:extLst>
              <a:ext uri="{FF2B5EF4-FFF2-40B4-BE49-F238E27FC236}">
                <a16:creationId xmlns:a16="http://schemas.microsoft.com/office/drawing/2014/main" id="{798ECA04-4A27-434C-9BEC-DFC4F7DD5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1" y="2255839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1114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Y</a:t>
            </a:r>
          </a:p>
        </p:txBody>
      </p:sp>
      <p:sp>
        <p:nvSpPr>
          <p:cNvPr id="1030217" name="Line 73">
            <a:extLst>
              <a:ext uri="{FF2B5EF4-FFF2-40B4-BE49-F238E27FC236}">
                <a16:creationId xmlns:a16="http://schemas.microsoft.com/office/drawing/2014/main" id="{85E6D858-AFCB-4EFB-93D0-69AE129DC71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3962400"/>
            <a:ext cx="2286000" cy="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218" name="Oval 74">
            <a:extLst>
              <a:ext uri="{FF2B5EF4-FFF2-40B4-BE49-F238E27FC236}">
                <a16:creationId xmlns:a16="http://schemas.microsoft.com/office/drawing/2014/main" id="{C2DD99B4-4A6A-442F-BEEF-C8E14D9273F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448800" y="2971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219" name="Text Box 75">
            <a:extLst>
              <a:ext uri="{FF2B5EF4-FFF2-40B4-BE49-F238E27FC236}">
                <a16:creationId xmlns:a16="http://schemas.microsoft.com/office/drawing/2014/main" id="{BD453999-5B94-4525-87CF-A89A21C46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9788" y="3856039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1114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X</a:t>
            </a:r>
          </a:p>
        </p:txBody>
      </p:sp>
      <p:sp>
        <p:nvSpPr>
          <p:cNvPr id="1030220" name="Text Box 76">
            <a:extLst>
              <a:ext uri="{FF2B5EF4-FFF2-40B4-BE49-F238E27FC236}">
                <a16:creationId xmlns:a16="http://schemas.microsoft.com/office/drawing/2014/main" id="{6CFEA2A9-5E45-4A01-802D-0156D09AB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3601" y="6065839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1114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X</a:t>
            </a:r>
          </a:p>
        </p:txBody>
      </p:sp>
      <p:sp>
        <p:nvSpPr>
          <p:cNvPr id="1030221" name="Text Box 77">
            <a:extLst>
              <a:ext uri="{FF2B5EF4-FFF2-40B4-BE49-F238E27FC236}">
                <a16:creationId xmlns:a16="http://schemas.microsoft.com/office/drawing/2014/main" id="{263282CD-D1C2-45A7-86FD-71399FB65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1676401"/>
            <a:ext cx="2667000" cy="409575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Linear relationships</a:t>
            </a:r>
          </a:p>
        </p:txBody>
      </p:sp>
      <p:sp>
        <p:nvSpPr>
          <p:cNvPr id="1030222" name="Text Box 78">
            <a:extLst>
              <a:ext uri="{FF2B5EF4-FFF2-40B4-BE49-F238E27FC236}">
                <a16:creationId xmlns:a16="http://schemas.microsoft.com/office/drawing/2014/main" id="{9B1AB533-D1BA-47B5-8D60-D65045F331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1676401"/>
            <a:ext cx="3200400" cy="409575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Curvilinear relationships</a:t>
            </a:r>
          </a:p>
        </p:txBody>
      </p:sp>
      <p:sp>
        <p:nvSpPr>
          <p:cNvPr id="1030223" name="Line 79">
            <a:extLst>
              <a:ext uri="{FF2B5EF4-FFF2-40B4-BE49-F238E27FC236}">
                <a16:creationId xmlns:a16="http://schemas.microsoft.com/office/drawing/2014/main" id="{6E4160CF-C566-4323-BBFE-81068FE6C0F7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1676400"/>
            <a:ext cx="0" cy="4724400"/>
          </a:xfrm>
          <a:prstGeom prst="line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224" name="Line 80">
            <a:extLst>
              <a:ext uri="{FF2B5EF4-FFF2-40B4-BE49-F238E27FC236}">
                <a16:creationId xmlns:a16="http://schemas.microsoft.com/office/drawing/2014/main" id="{C36ECC58-DE70-49D3-A6AD-B540976589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2590800"/>
            <a:ext cx="2362200" cy="1143000"/>
          </a:xfrm>
          <a:prstGeom prst="line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225" name="Line 81">
            <a:extLst>
              <a:ext uri="{FF2B5EF4-FFF2-40B4-BE49-F238E27FC236}">
                <a16:creationId xmlns:a16="http://schemas.microsoft.com/office/drawing/2014/main" id="{1B8FB222-95DC-4B6B-B2DB-08439F3F8D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4724400"/>
            <a:ext cx="1828800" cy="1295400"/>
          </a:xfrm>
          <a:prstGeom prst="line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226" name="Freeform 82">
            <a:extLst>
              <a:ext uri="{FF2B5EF4-FFF2-40B4-BE49-F238E27FC236}">
                <a16:creationId xmlns:a16="http://schemas.microsoft.com/office/drawing/2014/main" id="{1E700FBE-4098-4C97-A7F5-9465AA3F55C1}"/>
              </a:ext>
            </a:extLst>
          </p:cNvPr>
          <p:cNvSpPr>
            <a:spLocks/>
          </p:cNvSpPr>
          <p:nvPr/>
        </p:nvSpPr>
        <p:spPr bwMode="auto">
          <a:xfrm>
            <a:off x="7620000" y="2692400"/>
            <a:ext cx="2209800" cy="1117600"/>
          </a:xfrm>
          <a:custGeom>
            <a:avLst/>
            <a:gdLst>
              <a:gd name="T0" fmla="*/ 0 w 1392"/>
              <a:gd name="T1" fmla="*/ 704 h 704"/>
              <a:gd name="T2" fmla="*/ 720 w 1392"/>
              <a:gd name="T3" fmla="*/ 32 h 704"/>
              <a:gd name="T4" fmla="*/ 1392 w 1392"/>
              <a:gd name="T5" fmla="*/ 512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92" h="704">
                <a:moveTo>
                  <a:pt x="0" y="704"/>
                </a:moveTo>
                <a:cubicBezTo>
                  <a:pt x="244" y="384"/>
                  <a:pt x="488" y="64"/>
                  <a:pt x="720" y="32"/>
                </a:cubicBezTo>
                <a:cubicBezTo>
                  <a:pt x="952" y="0"/>
                  <a:pt x="1172" y="256"/>
                  <a:pt x="1392" y="512"/>
                </a:cubicBezTo>
              </a:path>
            </a:pathLst>
          </a:custGeom>
          <a:noFill/>
          <a:ln w="19050" cap="flat" cmpd="sng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227" name="Freeform 83">
            <a:extLst>
              <a:ext uri="{FF2B5EF4-FFF2-40B4-BE49-F238E27FC236}">
                <a16:creationId xmlns:a16="http://schemas.microsoft.com/office/drawing/2014/main" id="{3ECE00E2-2805-4A38-A3F4-5DEF33407C95}"/>
              </a:ext>
            </a:extLst>
          </p:cNvPr>
          <p:cNvSpPr>
            <a:spLocks/>
          </p:cNvSpPr>
          <p:nvPr/>
        </p:nvSpPr>
        <p:spPr bwMode="auto">
          <a:xfrm>
            <a:off x="7620000" y="4419600"/>
            <a:ext cx="1828800" cy="1447800"/>
          </a:xfrm>
          <a:custGeom>
            <a:avLst/>
            <a:gdLst>
              <a:gd name="T0" fmla="*/ 0 w 1152"/>
              <a:gd name="T1" fmla="*/ 912 h 912"/>
              <a:gd name="T2" fmla="*/ 816 w 1152"/>
              <a:gd name="T3" fmla="*/ 624 h 912"/>
              <a:gd name="T4" fmla="*/ 1152 w 1152"/>
              <a:gd name="T5" fmla="*/ 0 h 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52" h="912">
                <a:moveTo>
                  <a:pt x="0" y="912"/>
                </a:moveTo>
                <a:cubicBezTo>
                  <a:pt x="312" y="844"/>
                  <a:pt x="624" y="776"/>
                  <a:pt x="816" y="624"/>
                </a:cubicBezTo>
                <a:cubicBezTo>
                  <a:pt x="1008" y="472"/>
                  <a:pt x="1080" y="236"/>
                  <a:pt x="1152" y="0"/>
                </a:cubicBezTo>
              </a:path>
            </a:pathLst>
          </a:custGeom>
          <a:noFill/>
          <a:ln w="19050" cap="flat" cmpd="sng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30228" name="Rectangle 84">
            <a:extLst>
              <a:ext uri="{FF2B5EF4-FFF2-40B4-BE49-F238E27FC236}">
                <a16:creationId xmlns:a16="http://schemas.microsoft.com/office/drawing/2014/main" id="{569400CD-4E60-4A8A-A7DA-601C0ACFA8D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54013" y="285450"/>
            <a:ext cx="10515600" cy="827155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altLang="en-US" dirty="0"/>
              <a:t>Scatter Plots of Various Correlations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A5D07A5-1133-6DE3-7EE3-D0C200CB5895}"/>
              </a:ext>
            </a:extLst>
          </p:cNvPr>
          <p:cNvCxnSpPr/>
          <p:nvPr/>
        </p:nvCxnSpPr>
        <p:spPr>
          <a:xfrm>
            <a:off x="7043805" y="2543175"/>
            <a:ext cx="4562475" cy="3238500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2122CDD-7298-9480-F41F-DF9EE83B3149}"/>
              </a:ext>
            </a:extLst>
          </p:cNvPr>
          <p:cNvCxnSpPr>
            <a:cxnSpLocks/>
          </p:cNvCxnSpPr>
          <p:nvPr/>
        </p:nvCxnSpPr>
        <p:spPr>
          <a:xfrm flipH="1">
            <a:off x="6595995" y="2457383"/>
            <a:ext cx="4229100" cy="3376612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5DCA0B-06E1-5DD0-0FC2-F938454411E1}"/>
              </a:ext>
            </a:extLst>
          </p:cNvPr>
          <p:cNvCxnSpPr/>
          <p:nvPr/>
        </p:nvCxnSpPr>
        <p:spPr>
          <a:xfrm>
            <a:off x="7467600" y="3166995"/>
            <a:ext cx="3855396" cy="0"/>
          </a:xfrm>
          <a:prstGeom prst="line">
            <a:avLst/>
          </a:prstGeom>
          <a:ln w="381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F76D7B-187E-8608-B634-35C2662217E5}"/>
                  </a:ext>
                </a:extLst>
              </p:cNvPr>
              <p:cNvSpPr txBox="1"/>
              <p:nvPr/>
            </p:nvSpPr>
            <p:spPr>
              <a:xfrm>
                <a:off x="11344210" y="2989772"/>
                <a:ext cx="62478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F76D7B-187E-8608-B634-35C266221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4210" y="2989772"/>
                <a:ext cx="624786" cy="276999"/>
              </a:xfrm>
              <a:prstGeom prst="rect">
                <a:avLst/>
              </a:prstGeom>
              <a:blipFill>
                <a:blip r:embed="rId2"/>
                <a:stretch>
                  <a:fillRect l="-7843" r="-7843" b="-28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5914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2C4595-F4B0-3F42-8AB9-1336FBAF9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5" y="1106007"/>
            <a:ext cx="10550025" cy="1182927"/>
          </a:xfrm>
        </p:spPr>
        <p:txBody>
          <a:bodyPr anchor="b">
            <a:normAutofit/>
          </a:bodyPr>
          <a:lstStyle/>
          <a:p>
            <a:r>
              <a:rPr lang="en-US" sz="6600"/>
              <a:t>Demonstrating Causation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3764" y="232542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Nova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CD159-2868-4648-A23C-0131B84C9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5" y="2598947"/>
            <a:ext cx="10550025" cy="3677348"/>
          </a:xfrm>
        </p:spPr>
        <p:txBody>
          <a:bodyPr anchor="t">
            <a:normAutofit/>
          </a:bodyPr>
          <a:lstStyle/>
          <a:p>
            <a:r>
              <a:rPr lang="en-US" sz="1800" dirty="0"/>
              <a:t>4 requirements to logically infer a causal relationship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Covariation--statistical association: if A changes, B must also change. This is </a:t>
            </a:r>
            <a:r>
              <a:rPr lang="en-US" sz="1800" u="sng" dirty="0"/>
              <a:t>necessary</a:t>
            </a:r>
            <a:r>
              <a:rPr lang="en-US" sz="1800" dirty="0"/>
              <a:t>, but not </a:t>
            </a:r>
            <a:r>
              <a:rPr lang="en-US" sz="1800" u="sng" dirty="0"/>
              <a:t>sufficient</a:t>
            </a:r>
            <a:r>
              <a:rPr lang="en-US" sz="1800" dirty="0"/>
              <a:t>.</a:t>
            </a:r>
          </a:p>
          <a:p>
            <a:pPr lvl="1"/>
            <a:r>
              <a:rPr lang="en-US" sz="1800" dirty="0"/>
              <a:t>Not enough alone to show cause.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Time order--IV must come before DV</a:t>
            </a:r>
          </a:p>
          <a:p>
            <a:pPr lvl="1"/>
            <a:r>
              <a:rPr lang="en-US" sz="1800" dirty="0"/>
              <a:t>big problem in cross-sectional surveys.</a:t>
            </a:r>
          </a:p>
          <a:p>
            <a:pPr lvl="1"/>
            <a:r>
              <a:rPr lang="en-US" sz="1800" dirty="0"/>
              <a:t>Note: sometimes you can make reasonable inferences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Nonspurious--no third factor can explain the covariation</a:t>
            </a:r>
          </a:p>
          <a:p>
            <a:pPr lvl="1"/>
            <a:r>
              <a:rPr lang="en-US" sz="1800" dirty="0"/>
              <a:t>Ice cream and violent crime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Theory--logical explanation of the relationship </a:t>
            </a:r>
          </a:p>
          <a:p>
            <a:endParaRPr lang="en-US" sz="1800" dirty="0"/>
          </a:p>
        </p:txBody>
      </p:sp>
      <p:sp>
        <p:nvSpPr>
          <p:cNvPr id="14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2544" y="255471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Nova"/>
              <a:ea typeface="+mn-ea"/>
              <a:cs typeface="+mn-cs"/>
            </a:endParaRPr>
          </a:p>
        </p:txBody>
      </p:sp>
      <p:sp>
        <p:nvSpPr>
          <p:cNvPr id="16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8224" y="306986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Nov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1087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46E13B-CA43-1B46-91E6-C4932FB3A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940" y="1345957"/>
            <a:ext cx="4924251" cy="4166085"/>
          </a:xfrm>
        </p:spPr>
        <p:txBody>
          <a:bodyPr>
            <a:normAutofit/>
          </a:bodyPr>
          <a:lstStyle/>
          <a:p>
            <a:r>
              <a:rPr lang="en-US" sz="4600" dirty="0"/>
              <a:t>Common misinterpretations: where does causation fail?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A084E8-FA2E-3F4F-94A2-DF769BFA3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9734" y="750307"/>
            <a:ext cx="5369326" cy="5357387"/>
          </a:xfrm>
        </p:spPr>
        <p:txBody>
          <a:bodyPr anchor="ctr">
            <a:normAutofit/>
          </a:bodyPr>
          <a:lstStyle/>
          <a:p>
            <a:r>
              <a:rPr lang="en-US" sz="2200" dirty="0"/>
              <a:t>Poverty is a major source of child welfare involvement</a:t>
            </a:r>
          </a:p>
          <a:p>
            <a:r>
              <a:rPr lang="en-US" sz="2200" dirty="0"/>
              <a:t>Children who are abused have higher risk of adult criminal behavior</a:t>
            </a:r>
          </a:p>
          <a:p>
            <a:r>
              <a:rPr lang="en-US" sz="2200" dirty="0"/>
              <a:t>Victims of domestic violence are more likely to be housing insecure (i.e., be evicted)</a:t>
            </a:r>
          </a:p>
          <a:p>
            <a:r>
              <a:rPr lang="en-US" sz="2200" dirty="0"/>
              <a:t>Homeless individuals are likely to have physical and mental health problems</a:t>
            </a:r>
          </a:p>
          <a:p>
            <a:r>
              <a:rPr lang="en-US" sz="2200" dirty="0"/>
              <a:t>People who are highly educated make more money</a:t>
            </a:r>
          </a:p>
          <a:p>
            <a:r>
              <a:rPr lang="en-US" sz="2200" dirty="0"/>
              <a:t>Drug overdoses increased during the COVID-19 pandemic</a:t>
            </a:r>
          </a:p>
        </p:txBody>
      </p:sp>
    </p:spTree>
    <p:extLst>
      <p:ext uri="{BB962C8B-B14F-4D97-AF65-F5344CB8AC3E}">
        <p14:creationId xmlns:p14="http://schemas.microsoft.com/office/powerpoint/2010/main" val="194837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A7F9C6-98E9-014F-960A-C15A15421568}"/>
              </a:ext>
            </a:extLst>
          </p:cNvPr>
          <p:cNvSpPr/>
          <p:nvPr/>
        </p:nvSpPr>
        <p:spPr>
          <a:xfrm>
            <a:off x="1137034" y="609600"/>
            <a:ext cx="4784796" cy="1330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General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Requirements</a:t>
            </a:r>
            <a:endParaRPr kumimoji="0" lang="en-US" sz="4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9B2763-F698-DD42-A9C1-C33304C189D7}"/>
              </a:ext>
            </a:extLst>
          </p:cNvPr>
          <p:cNvSpPr/>
          <p:nvPr/>
        </p:nvSpPr>
        <p:spPr>
          <a:xfrm>
            <a:off x="266700" y="2194102"/>
            <a:ext cx="5829300" cy="39085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85763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Two or more continuous variables, </a:t>
            </a:r>
          </a:p>
          <a:p>
            <a:pPr marL="385763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 necessarily directional (one causes the other)</a:t>
            </a:r>
          </a:p>
          <a:p>
            <a:pPr marL="385763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Linear Relationship (or at least ordinal)</a:t>
            </a:r>
          </a:p>
          <a:p>
            <a:pPr marL="385763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5976E1B-731E-B944-A0B6-C091087F5C69}"/>
              </a:ext>
            </a:extLst>
          </p:cNvPr>
          <p:cNvGraphicFramePr>
            <a:graphicFrameLocks noGrp="1"/>
          </p:cNvGraphicFramePr>
          <p:nvPr/>
        </p:nvGraphicFramePr>
        <p:xfrm>
          <a:off x="6880610" y="741627"/>
          <a:ext cx="4737651" cy="5396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1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4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5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9663">
                <a:tc>
                  <a:txBody>
                    <a:bodyPr/>
                    <a:lstStyle/>
                    <a:p>
                      <a:pPr algn="ctr"/>
                      <a:r>
                        <a:rPr lang="en-US" sz="3100"/>
                        <a:t>ID</a:t>
                      </a:r>
                    </a:p>
                  </a:txBody>
                  <a:tcPr marL="87329" marR="87329" marT="43665" marB="4366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100" dirty="0"/>
                        <a:t>Age</a:t>
                      </a:r>
                    </a:p>
                  </a:txBody>
                  <a:tcPr marL="87329" marR="87329" marT="43665" marB="4366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100" dirty="0"/>
                        <a:t>Score</a:t>
                      </a:r>
                    </a:p>
                  </a:txBody>
                  <a:tcPr marL="87329" marR="87329" marT="43665" marB="4366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663">
                <a:tc>
                  <a:txBody>
                    <a:bodyPr/>
                    <a:lstStyle/>
                    <a:p>
                      <a:pPr algn="ctr"/>
                      <a:r>
                        <a:rPr lang="en-US" sz="3100"/>
                        <a:t>1</a:t>
                      </a:r>
                    </a:p>
                  </a:txBody>
                  <a:tcPr marL="87329" marR="87329" marT="43665" marB="43665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3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097" marR="9097" marT="909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3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097" marR="9097" marT="9097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663">
                <a:tc>
                  <a:txBody>
                    <a:bodyPr/>
                    <a:lstStyle/>
                    <a:p>
                      <a:pPr algn="ctr"/>
                      <a:r>
                        <a:rPr lang="en-US" sz="3100"/>
                        <a:t>2</a:t>
                      </a:r>
                    </a:p>
                  </a:txBody>
                  <a:tcPr marL="87329" marR="87329" marT="43665" marB="43665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3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097" marR="9097" marT="909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3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097" marR="9097" marT="9097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9663">
                <a:tc>
                  <a:txBody>
                    <a:bodyPr/>
                    <a:lstStyle/>
                    <a:p>
                      <a:pPr algn="ctr"/>
                      <a:r>
                        <a:rPr lang="en-US" sz="3100"/>
                        <a:t>3</a:t>
                      </a:r>
                    </a:p>
                  </a:txBody>
                  <a:tcPr marL="87329" marR="87329" marT="43665" marB="43665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3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097" marR="9097" marT="909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3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097" marR="9097" marT="9097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9663">
                <a:tc>
                  <a:txBody>
                    <a:bodyPr/>
                    <a:lstStyle/>
                    <a:p>
                      <a:pPr algn="ctr"/>
                      <a:r>
                        <a:rPr lang="en-US" sz="3100"/>
                        <a:t>4</a:t>
                      </a:r>
                    </a:p>
                  </a:txBody>
                  <a:tcPr marL="87329" marR="87329" marT="43665" marB="43665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3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097" marR="9097" marT="909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3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097" marR="9097" marT="9097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9663">
                <a:tc>
                  <a:txBody>
                    <a:bodyPr/>
                    <a:lstStyle/>
                    <a:p>
                      <a:pPr algn="ctr"/>
                      <a:r>
                        <a:rPr lang="en-US" sz="3100"/>
                        <a:t>5</a:t>
                      </a:r>
                    </a:p>
                  </a:txBody>
                  <a:tcPr marL="87329" marR="87329" marT="43665" marB="43665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3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097" marR="9097" marT="909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3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097" marR="9097" marT="9097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9663">
                <a:tc>
                  <a:txBody>
                    <a:bodyPr/>
                    <a:lstStyle/>
                    <a:p>
                      <a:pPr algn="ctr"/>
                      <a:r>
                        <a:rPr lang="en-US" sz="3100"/>
                        <a:t>6</a:t>
                      </a:r>
                    </a:p>
                  </a:txBody>
                  <a:tcPr marL="87329" marR="87329" marT="43665" marB="43665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3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097" marR="9097" marT="909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3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097" marR="9097" marT="9097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9663">
                <a:tc>
                  <a:txBody>
                    <a:bodyPr/>
                    <a:lstStyle/>
                    <a:p>
                      <a:pPr algn="ctr"/>
                      <a:r>
                        <a:rPr lang="en-US" sz="3100"/>
                        <a:t>7</a:t>
                      </a:r>
                    </a:p>
                  </a:txBody>
                  <a:tcPr marL="87329" marR="87329" marT="43665" marB="43665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3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097" marR="9097" marT="909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3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097" marR="9097" marT="9097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9663">
                <a:tc>
                  <a:txBody>
                    <a:bodyPr/>
                    <a:lstStyle/>
                    <a:p>
                      <a:pPr algn="ctr"/>
                      <a:r>
                        <a:rPr lang="en-US" sz="3100"/>
                        <a:t>8</a:t>
                      </a:r>
                    </a:p>
                  </a:txBody>
                  <a:tcPr marL="87329" marR="87329" marT="43665" marB="43665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3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097" marR="9097" marT="909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3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097" marR="9097" marT="9097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2244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3" name="Rectangle 3">
            <a:extLst>
              <a:ext uri="{FF2B5EF4-FFF2-40B4-BE49-F238E27FC236}">
                <a16:creationId xmlns:a16="http://schemas.microsoft.com/office/drawing/2014/main" id="{C38E06B5-0E38-954C-82A4-4E5D96E4D9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Correlation</a:t>
            </a:r>
          </a:p>
        </p:txBody>
      </p:sp>
      <p:sp>
        <p:nvSpPr>
          <p:cNvPr id="778248" name="Rectangle 8">
            <a:extLst>
              <a:ext uri="{FF2B5EF4-FFF2-40B4-BE49-F238E27FC236}">
                <a16:creationId xmlns:a16="http://schemas.microsoft.com/office/drawing/2014/main" id="{1492EF29-0600-EC47-A76D-AAC98E367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308101"/>
            <a:ext cx="8382000" cy="156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40404">
                        <a:alpha val="70000"/>
                      </a:srgbClr>
                    </a:gs>
                    <a:gs pos="100000">
                      <a:srgbClr val="740404">
                        <a:gamma/>
                        <a:tint val="0"/>
                        <a:invGamma/>
                      </a:srgbClr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defRPr sz="28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t"/>
              <a:defRPr sz="28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spcBef>
                <a:spcPct val="20000"/>
              </a:spcBef>
              <a:buChar char="&gt;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/>
              </a:buClr>
              <a:buSzPct val="75000"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A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correlation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is a relationship between two variables.  The data can be represented by the ordered pairs (x, y) where x is the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 independent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(or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 explanatory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)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 variable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, and y is the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 dependent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(or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 response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)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 variable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.  </a:t>
            </a:r>
          </a:p>
        </p:txBody>
      </p:sp>
      <p:sp>
        <p:nvSpPr>
          <p:cNvPr id="778312" name="Rectangle 72">
            <a:extLst>
              <a:ext uri="{FF2B5EF4-FFF2-40B4-BE49-F238E27FC236}">
                <a16:creationId xmlns:a16="http://schemas.microsoft.com/office/drawing/2014/main" id="{3D3B8A23-3A24-064B-8DE6-D6BF4774C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971799"/>
            <a:ext cx="5410200" cy="1611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40404">
                        <a:alpha val="70000"/>
                      </a:srgbClr>
                    </a:gs>
                    <a:gs pos="100000">
                      <a:srgbClr val="740404">
                        <a:gamma/>
                        <a:tint val="0"/>
                        <a:invGamma/>
                      </a:srgbClr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defRPr sz="28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t"/>
              <a:defRPr sz="28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spcBef>
                <a:spcPct val="20000"/>
              </a:spcBef>
              <a:buChar char="&gt;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/>
              </a:buClr>
              <a:buSzPct val="75000"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A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scatter plot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can be used to determine whether a </a:t>
            </a:r>
            <a:r>
              <a:rPr kumimoji="0" lang="en-US" altLang="en-US" sz="2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linear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  (straight line) v.</a:t>
            </a:r>
            <a:r>
              <a:rPr kumimoji="0" lang="en-US" altLang="en-US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 some other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relationship exists between two variables.</a:t>
            </a:r>
          </a:p>
        </p:txBody>
      </p:sp>
      <p:grpSp>
        <p:nvGrpSpPr>
          <p:cNvPr id="778425" name="Group 185">
            <a:extLst>
              <a:ext uri="{FF2B5EF4-FFF2-40B4-BE49-F238E27FC236}">
                <a16:creationId xmlns:a16="http://schemas.microsoft.com/office/drawing/2014/main" id="{DB1CE38C-6120-994F-BD1E-F3C4217678F4}"/>
              </a:ext>
            </a:extLst>
          </p:cNvPr>
          <p:cNvGrpSpPr>
            <a:grpSpLocks/>
          </p:cNvGrpSpPr>
          <p:nvPr/>
        </p:nvGrpSpPr>
        <p:grpSpPr bwMode="auto">
          <a:xfrm>
            <a:off x="6697664" y="2909888"/>
            <a:ext cx="4198937" cy="3549650"/>
            <a:chOff x="3259" y="1833"/>
            <a:chExt cx="2645" cy="2236"/>
          </a:xfrm>
        </p:grpSpPr>
        <p:sp>
          <p:nvSpPr>
            <p:cNvPr id="778314" name="Line 74">
              <a:extLst>
                <a:ext uri="{FF2B5EF4-FFF2-40B4-BE49-F238E27FC236}">
                  <a16:creationId xmlns:a16="http://schemas.microsoft.com/office/drawing/2014/main" id="{E0DBF979-F819-6242-8D39-219D9370B6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9" y="2852"/>
              <a:ext cx="22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8315" name="Line 75">
              <a:extLst>
                <a:ext uri="{FF2B5EF4-FFF2-40B4-BE49-F238E27FC236}">
                  <a16:creationId xmlns:a16="http://schemas.microsoft.com/office/drawing/2014/main" id="{7ACC7DC3-9CF3-E74E-8934-63EA1F2DE3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0" y="2748"/>
              <a:ext cx="0" cy="2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8316" name="Text Box 76">
              <a:extLst>
                <a:ext uri="{FF2B5EF4-FFF2-40B4-BE49-F238E27FC236}">
                  <a16:creationId xmlns:a16="http://schemas.microsoft.com/office/drawing/2014/main" id="{E6A9A82B-E50C-EF48-A3B0-AF0B81B04B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3" y="2655"/>
              <a:ext cx="34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778317" name="Line 77">
              <a:extLst>
                <a:ext uri="{FF2B5EF4-FFF2-40B4-BE49-F238E27FC236}">
                  <a16:creationId xmlns:a16="http://schemas.microsoft.com/office/drawing/2014/main" id="{2A61E5CD-CA49-7C40-A60D-B29F201BFF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1" y="2748"/>
              <a:ext cx="0" cy="2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8318" name="Line 78">
              <a:extLst>
                <a:ext uri="{FF2B5EF4-FFF2-40B4-BE49-F238E27FC236}">
                  <a16:creationId xmlns:a16="http://schemas.microsoft.com/office/drawing/2014/main" id="{AB1DE96C-F2E7-5D4B-A549-1EB6A879BF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6" y="2748"/>
              <a:ext cx="0" cy="2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8319" name="Line 79">
              <a:extLst>
                <a:ext uri="{FF2B5EF4-FFF2-40B4-BE49-F238E27FC236}">
                  <a16:creationId xmlns:a16="http://schemas.microsoft.com/office/drawing/2014/main" id="{5ED998C8-687E-E747-BB79-9745A32988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8" y="2748"/>
              <a:ext cx="0" cy="2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8320" name="Line 80">
              <a:extLst>
                <a:ext uri="{FF2B5EF4-FFF2-40B4-BE49-F238E27FC236}">
                  <a16:creationId xmlns:a16="http://schemas.microsoft.com/office/drawing/2014/main" id="{761E0388-ACC4-5346-AD12-4BF8E39A70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7" y="2748"/>
              <a:ext cx="0" cy="2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8321" name="Text Box 81">
              <a:extLst>
                <a:ext uri="{FF2B5EF4-FFF2-40B4-BE49-F238E27FC236}">
                  <a16:creationId xmlns:a16="http://schemas.microsoft.com/office/drawing/2014/main" id="{5A367B7D-25D2-E243-972D-2D40AFCA9D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5" y="2919"/>
              <a:ext cx="34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78322" name="Text Box 82">
              <a:extLst>
                <a:ext uri="{FF2B5EF4-FFF2-40B4-BE49-F238E27FC236}">
                  <a16:creationId xmlns:a16="http://schemas.microsoft.com/office/drawing/2014/main" id="{6EC51480-9DC1-BA42-93B0-C86C5CBA22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2" y="2919"/>
              <a:ext cx="34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4</a:t>
              </a:r>
            </a:p>
          </p:txBody>
        </p:sp>
        <p:grpSp>
          <p:nvGrpSpPr>
            <p:cNvPr id="778424" name="Group 184">
              <a:extLst>
                <a:ext uri="{FF2B5EF4-FFF2-40B4-BE49-F238E27FC236}">
                  <a16:creationId xmlns:a16="http://schemas.microsoft.com/office/drawing/2014/main" id="{C8D8DEE7-304F-B245-AE4A-6746423256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9" y="1833"/>
              <a:ext cx="678" cy="2236"/>
              <a:chOff x="3309" y="1833"/>
              <a:chExt cx="678" cy="2236"/>
            </a:xfrm>
          </p:grpSpPr>
          <p:sp>
            <p:nvSpPr>
              <p:cNvPr id="778324" name="Text Box 84">
                <a:extLst>
                  <a:ext uri="{FF2B5EF4-FFF2-40B4-BE49-F238E27FC236}">
                    <a16:creationId xmlns:a16="http://schemas.microsoft.com/office/drawing/2014/main" id="{124746CA-4695-1F40-8058-13F09AFEC8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33" y="3312"/>
                <a:ext cx="34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  <a:sym typeface="Symbol" pitchFamily="2" charset="2"/>
                  </a:rPr>
                  <a:t>–</a:t>
                </a: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778325" name="Text Box 85">
                <a:extLst>
                  <a:ext uri="{FF2B5EF4-FFF2-40B4-BE49-F238E27FC236}">
                    <a16:creationId xmlns:a16="http://schemas.microsoft.com/office/drawing/2014/main" id="{7CE0DA20-776B-1C4A-A78D-35F3696036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09" y="3838"/>
                <a:ext cx="34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  <a:sym typeface="Symbol" pitchFamily="2" charset="2"/>
                  </a:rPr>
                  <a:t>–</a:t>
                </a: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rPr>
                  <a:t> 4</a:t>
                </a:r>
              </a:p>
            </p:txBody>
          </p:sp>
          <p:sp>
            <p:nvSpPr>
              <p:cNvPr id="778326" name="Line 86">
                <a:extLst>
                  <a:ext uri="{FF2B5EF4-FFF2-40B4-BE49-F238E27FC236}">
                    <a16:creationId xmlns:a16="http://schemas.microsoft.com/office/drawing/2014/main" id="{5CB2F031-3B76-EF47-A455-4EF7E032DF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79" y="2082"/>
                <a:ext cx="0" cy="197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8327" name="Line 87">
                <a:extLst>
                  <a:ext uri="{FF2B5EF4-FFF2-40B4-BE49-F238E27FC236}">
                    <a16:creationId xmlns:a16="http://schemas.microsoft.com/office/drawing/2014/main" id="{CD24BDDE-EA22-BF49-B776-B344D1E69D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6" y="3438"/>
                <a:ext cx="22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8328" name="Line 88">
                <a:extLst>
                  <a:ext uri="{FF2B5EF4-FFF2-40B4-BE49-F238E27FC236}">
                    <a16:creationId xmlns:a16="http://schemas.microsoft.com/office/drawing/2014/main" id="{1B41F24C-73E5-7B48-92E8-CEBDC4F84F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6" y="2613"/>
                <a:ext cx="22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8329" name="Line 89">
                <a:extLst>
                  <a:ext uri="{FF2B5EF4-FFF2-40B4-BE49-F238E27FC236}">
                    <a16:creationId xmlns:a16="http://schemas.microsoft.com/office/drawing/2014/main" id="{7A0E39AD-A6EB-0240-8530-CFD5485914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6" y="3164"/>
                <a:ext cx="22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8330" name="Text Box 90">
                <a:extLst>
                  <a:ext uri="{FF2B5EF4-FFF2-40B4-BE49-F238E27FC236}">
                    <a16:creationId xmlns:a16="http://schemas.microsoft.com/office/drawing/2014/main" id="{3F4EFF0D-A8EB-7547-A978-EDE5C0BF2D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9" y="1833"/>
                <a:ext cx="39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rPr>
                  <a:t>y</a:t>
                </a:r>
              </a:p>
            </p:txBody>
          </p:sp>
          <p:sp>
            <p:nvSpPr>
              <p:cNvPr id="778331" name="Line 91">
                <a:extLst>
                  <a:ext uri="{FF2B5EF4-FFF2-40B4-BE49-F238E27FC236}">
                    <a16:creationId xmlns:a16="http://schemas.microsoft.com/office/drawing/2014/main" id="{516E37D9-AF20-B04D-9C7F-488DA65ECD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4" y="3715"/>
                <a:ext cx="22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8332" name="Line 92">
                <a:extLst>
                  <a:ext uri="{FF2B5EF4-FFF2-40B4-BE49-F238E27FC236}">
                    <a16:creationId xmlns:a16="http://schemas.microsoft.com/office/drawing/2014/main" id="{445DE30C-19E2-E540-A066-5A3997E50B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5" y="2372"/>
                <a:ext cx="22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8334" name="Text Box 94">
                <a:extLst>
                  <a:ext uri="{FF2B5EF4-FFF2-40B4-BE49-F238E27FC236}">
                    <a16:creationId xmlns:a16="http://schemas.microsoft.com/office/drawing/2014/main" id="{1ADCB3A0-933F-5542-AC97-3E5F7F2E45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90" y="2247"/>
                <a:ext cx="34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778335" name="Line 95">
                <a:extLst>
                  <a:ext uri="{FF2B5EF4-FFF2-40B4-BE49-F238E27FC236}">
                    <a16:creationId xmlns:a16="http://schemas.microsoft.com/office/drawing/2014/main" id="{8D85CDFC-3DBE-104B-964C-A82EEEE28A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4" y="3959"/>
                <a:ext cx="22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8338" name="Line 98">
                <a:extLst>
                  <a:ext uri="{FF2B5EF4-FFF2-40B4-BE49-F238E27FC236}">
                    <a16:creationId xmlns:a16="http://schemas.microsoft.com/office/drawing/2014/main" id="{6A05A42E-9751-844E-A375-3838835E9F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3" y="2748"/>
                <a:ext cx="0" cy="20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8339" name="Line 99">
                <a:extLst>
                  <a:ext uri="{FF2B5EF4-FFF2-40B4-BE49-F238E27FC236}">
                    <a16:creationId xmlns:a16="http://schemas.microsoft.com/office/drawing/2014/main" id="{60EFC499-4B85-B549-99FB-0970332200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9" y="2755"/>
                <a:ext cx="0" cy="20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78340" name="Text Box 100">
              <a:extLst>
                <a:ext uri="{FF2B5EF4-FFF2-40B4-BE49-F238E27FC236}">
                  <a16:creationId xmlns:a16="http://schemas.microsoft.com/office/drawing/2014/main" id="{90F37E59-5DE2-9F4A-9C88-D91887C049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3" y="2919"/>
              <a:ext cx="34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778342" name="Oval 102">
            <a:extLst>
              <a:ext uri="{FF2B5EF4-FFF2-40B4-BE49-F238E27FC236}">
                <a16:creationId xmlns:a16="http://schemas.microsoft.com/office/drawing/2014/main" id="{1AA1BFF2-CFEE-3A45-B339-C04A6AB5F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8225" y="4960939"/>
            <a:ext cx="134938" cy="134937"/>
          </a:xfrm>
          <a:prstGeom prst="ellipse">
            <a:avLst/>
          </a:prstGeom>
          <a:solidFill>
            <a:srgbClr val="E11521"/>
          </a:solidFill>
          <a:ln w="9525">
            <a:solidFill>
              <a:srgbClr val="E1152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8343" name="Oval 103">
            <a:extLst>
              <a:ext uri="{FF2B5EF4-FFF2-40B4-BE49-F238E27FC236}">
                <a16:creationId xmlns:a16="http://schemas.microsoft.com/office/drawing/2014/main" id="{57F095AE-0AEE-754A-8886-3089CC3BB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7214" y="5395914"/>
            <a:ext cx="134937" cy="134937"/>
          </a:xfrm>
          <a:prstGeom prst="ellipse">
            <a:avLst/>
          </a:prstGeom>
          <a:solidFill>
            <a:srgbClr val="E11521"/>
          </a:solidFill>
          <a:ln w="9525">
            <a:solidFill>
              <a:srgbClr val="E1152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8345" name="Oval 105">
            <a:extLst>
              <a:ext uri="{FF2B5EF4-FFF2-40B4-BE49-F238E27FC236}">
                <a16:creationId xmlns:a16="http://schemas.microsoft.com/office/drawing/2014/main" id="{16A872AD-6772-654B-92F9-A16C4D507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8425" y="6223000"/>
            <a:ext cx="134938" cy="134938"/>
          </a:xfrm>
          <a:prstGeom prst="ellipse">
            <a:avLst/>
          </a:prstGeom>
          <a:solidFill>
            <a:srgbClr val="E11521"/>
          </a:solidFill>
          <a:ln w="9525">
            <a:solidFill>
              <a:srgbClr val="E1152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8346" name="Oval 106">
            <a:extLst>
              <a:ext uri="{FF2B5EF4-FFF2-40B4-BE49-F238E27FC236}">
                <a16:creationId xmlns:a16="http://schemas.microsoft.com/office/drawing/2014/main" id="{B39D7A9E-A176-1F4E-9F43-C2637B2D8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9" y="4468814"/>
            <a:ext cx="134937" cy="134937"/>
          </a:xfrm>
          <a:prstGeom prst="ellipse">
            <a:avLst/>
          </a:prstGeom>
          <a:solidFill>
            <a:srgbClr val="E11521"/>
          </a:solidFill>
          <a:ln w="9525">
            <a:solidFill>
              <a:srgbClr val="E1152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8347" name="Oval 107">
            <a:extLst>
              <a:ext uri="{FF2B5EF4-FFF2-40B4-BE49-F238E27FC236}">
                <a16:creationId xmlns:a16="http://schemas.microsoft.com/office/drawing/2014/main" id="{50D506C3-7010-F145-9E58-89F0822B1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4850" y="3695700"/>
            <a:ext cx="134938" cy="134938"/>
          </a:xfrm>
          <a:prstGeom prst="ellipse">
            <a:avLst/>
          </a:prstGeom>
          <a:solidFill>
            <a:srgbClr val="E11521"/>
          </a:solidFill>
          <a:ln w="9525">
            <a:solidFill>
              <a:srgbClr val="E1152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78423" name="Group 183">
            <a:extLst>
              <a:ext uri="{FF2B5EF4-FFF2-40B4-BE49-F238E27FC236}">
                <a16:creationId xmlns:a16="http://schemas.microsoft.com/office/drawing/2014/main" id="{6E849045-C2FC-C641-956C-FA88D2C42BD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362200" y="5253038"/>
          <a:ext cx="3581400" cy="9144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19213602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2475306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1254492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9004123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8930465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705409092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x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47078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y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 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– 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– 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– 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786511"/>
                  </a:ext>
                </a:extLst>
              </a:tr>
            </a:tbl>
          </a:graphicData>
        </a:graphic>
      </p:graphicFrame>
      <p:sp>
        <p:nvSpPr>
          <p:cNvPr id="778381" name="Rectangle 141">
            <a:extLst>
              <a:ext uri="{FF2B5EF4-FFF2-40B4-BE49-F238E27FC236}">
                <a16:creationId xmlns:a16="http://schemas.microsoft.com/office/drawing/2014/main" id="{63ED0643-1D03-F54C-BE67-228B8465A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4817269"/>
            <a:ext cx="105791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BDF849-D81A-6740-89AB-30137B026885}"/>
              </a:ext>
            </a:extLst>
          </p:cNvPr>
          <p:cNvCxnSpPr/>
          <p:nvPr/>
        </p:nvCxnSpPr>
        <p:spPr>
          <a:xfrm flipV="1">
            <a:off x="7539040" y="3305176"/>
            <a:ext cx="2451099" cy="3154363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78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8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312" grpId="0"/>
      <p:bldP spid="77838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2FD20C-5C16-4480-9078-9A041F9C49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730162" y="6002372"/>
            <a:ext cx="549442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495E168-DA5E-4888-8D8A-92B118324C14}" type="slidenum">
              <a:rPr kumimoji="0" lang="ru-RU" sz="1400" b="0" i="0" u="none" strike="noStrike" kern="1200" cap="none" spc="0" normalizeH="0" baseline="0" noProof="0" smtClean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ru-RU" sz="1400" b="0" i="0" u="none" strike="noStrike" kern="1200" cap="none" spc="0" normalizeH="0" baseline="0" noProof="0">
              <a:ln>
                <a:noFill/>
              </a:ln>
              <a:solidFill>
                <a:srgbClr val="FFCD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196108-FA77-4C93-B1A1-5D7598960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8304212" cy="1345096"/>
          </a:xfrm>
        </p:spPr>
        <p:txBody>
          <a:bodyPr anchor="b">
            <a:normAutofit/>
          </a:bodyPr>
          <a:lstStyle/>
          <a:p>
            <a:r>
              <a:rPr lang="en-US" dirty="0"/>
              <a:t>Covariance (review &amp; example)</a:t>
            </a:r>
          </a:p>
        </p:txBody>
      </p:sp>
      <p:graphicFrame>
        <p:nvGraphicFramePr>
          <p:cNvPr id="18" name="Text Placeholder 13">
            <a:extLst>
              <a:ext uri="{FF2B5EF4-FFF2-40B4-BE49-F238E27FC236}">
                <a16:creationId xmlns:a16="http://schemas.microsoft.com/office/drawing/2014/main" id="{75528EAE-1FB9-4AD9-849A-781C5322E2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1225954"/>
              </p:ext>
            </p:extLst>
          </p:nvPr>
        </p:nvGraphicFramePr>
        <p:xfrm>
          <a:off x="6025738" y="2042746"/>
          <a:ext cx="5332657" cy="3310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F5E089-DC0C-4586-9CEC-32FD71571E93}"/>
                  </a:ext>
                </a:extLst>
              </p:cNvPr>
              <p:cNvSpPr txBox="1"/>
              <p:nvPr/>
            </p:nvSpPr>
            <p:spPr>
              <a:xfrm>
                <a:off x="972525" y="2486727"/>
                <a:ext cx="4448119" cy="7405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𝑐𝑜𝑣</m:t>
                      </m:r>
                      <m:d>
                        <m:d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sup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(</m:t>
                              </m:r>
                              <m:sSub>
                                <m:sSubPr>
                                  <m:ctrlP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</m:t>
                              </m:r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𝑌</m:t>
                                  </m:r>
                                </m:e>
                              </m:acc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F5E089-DC0C-4586-9CEC-32FD71571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525" y="2486727"/>
                <a:ext cx="4448119" cy="7405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887A3FB-419F-10D9-46E9-4C1F86F318F5}"/>
              </a:ext>
            </a:extLst>
          </p:cNvPr>
          <p:cNvSpPr txBox="1"/>
          <p:nvPr/>
        </p:nvSpPr>
        <p:spPr>
          <a:xfrm>
            <a:off x="1543050" y="3467100"/>
            <a:ext cx="3662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Calculate the covariance between these two variables</a:t>
            </a:r>
          </a:p>
        </p:txBody>
      </p:sp>
      <p:graphicFrame>
        <p:nvGraphicFramePr>
          <p:cNvPr id="5" name="Group 183">
            <a:extLst>
              <a:ext uri="{FF2B5EF4-FFF2-40B4-BE49-F238E27FC236}">
                <a16:creationId xmlns:a16="http://schemas.microsoft.com/office/drawing/2014/main" id="{990CF6C9-8F75-F2DB-CADA-03A9484190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2803207"/>
              </p:ext>
            </p:extLst>
          </p:nvPr>
        </p:nvGraphicFramePr>
        <p:xfrm>
          <a:off x="1624500" y="4113431"/>
          <a:ext cx="3581400" cy="9144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19213602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2475306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1254492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9004123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8930465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705409092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" panose="02040604050505020304" pitchFamily="18" charset="0"/>
                        </a:rPr>
                        <a:t>x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" panose="02040604050505020304" pitchFamily="18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" panose="02040604050505020304" pitchFamily="18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" panose="02040604050505020304" pitchFamily="18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" panose="02040604050505020304" pitchFamily="18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" panose="02040604050505020304" pitchFamily="18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47078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" panose="02040604050505020304" pitchFamily="18" charset="0"/>
                        </a:rPr>
                        <a:t>y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" panose="02040604050505020304" pitchFamily="18" charset="0"/>
                        </a:rPr>
                        <a:t> 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– 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– 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– 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786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4348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17AA54-20C0-42C4-88E7-0AE58E3CD8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95E168-DA5E-4888-8D8A-92B118324C14}" type="slidenum">
              <a:rPr kumimoji="0" lang="ru-RU" sz="1400" b="0" i="0" u="none" strike="noStrike" kern="1200" cap="none" spc="0" normalizeH="0" baseline="0" noProof="0" smtClean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CD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5D43C71-A8B7-4F87-A7E9-30D88C1C6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= Standardized Covariance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4">
                <a:extLst>
                  <a:ext uri="{FF2B5EF4-FFF2-40B4-BE49-F238E27FC236}">
                    <a16:creationId xmlns:a16="http://schemas.microsoft.com/office/drawing/2014/main" id="{4EA0153D-9703-4A37-AF22-E908CAB6D310}"/>
                  </a:ext>
                </a:extLst>
              </p:cNvPr>
              <p:cNvSpPr txBox="1"/>
              <p:nvPr/>
            </p:nvSpPr>
            <p:spPr bwMode="auto">
              <a:xfrm>
                <a:off x="3594962" y="2542807"/>
                <a:ext cx="4843220" cy="3213467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</m:e>
                      </m:acc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𝐶𝑂𝑉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func>
                                <m:funcPr>
                                  <m:ctrlP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0" lang="en-US" sz="24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var</m:t>
                                  </m:r>
                                </m:fName>
                                <m:e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rad>
                          <m:rad>
                            <m:radPr>
                              <m:degHide m:val="on"/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func>
                                <m:funcPr>
                                  <m:ctrlP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0" lang="en-US" sz="24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var</m:t>
                                  </m:r>
                                </m:fName>
                                <m:e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𝑦</m:t>
                                  </m:r>
                                </m:e>
                              </m:func>
                            </m:e>
                          </m:rad>
                        </m:den>
                      </m:f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</m:oMath>
                  </m:oMathPara>
                </a14:m>
                <a:endPara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>
                  <a:defRPr/>
                </a:pPr>
                <a:endParaRPr lang="en-US" sz="2400" dirty="0">
                  <a:solidFill>
                    <a:prstClr val="white"/>
                  </a:solidFill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naryPr>
                                <m:sub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̄"/>
                                      <m:ctrlP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)(</m:t>
                                  </m:r>
                                  <m:sSub>
                                    <m:sSubPr>
                                      <m:ctrlP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̄"/>
                                      <m:ctrlP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)</m:t>
                                  </m:r>
                                </m:e>
                              </m:nary>
                            </m:num>
                            <m:den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−1</m:t>
                              </m:r>
                            </m:den>
                          </m:f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ctrlP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</m:t>
                                      </m:r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kumimoji="0" lang="en-US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kumimoji="0" lang="en-US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̄"/>
                                          <m:ctrlPr>
                                            <a:rPr kumimoji="0" lang="en-US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kumimoji="0" lang="en-US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  <m:sSup>
                                        <m:sSupPr>
                                          <m:ctrlPr>
                                            <a:rPr kumimoji="0" lang="en-US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0" lang="en-US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kumimoji="0" lang="en-US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nary>
                                </m:num>
                                <m:den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−1</m:t>
                                  </m:r>
                                </m:den>
                              </m:f>
                            </m:e>
                          </m:rad>
                          <m:rad>
                            <m:radPr>
                              <m:degHide m:val="on"/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ctrlP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</m:t>
                                      </m:r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kumimoji="0" lang="en-US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kumimoji="0" lang="en-US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̄"/>
                                          <m:ctrlPr>
                                            <a:rPr kumimoji="0" lang="en-US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kumimoji="0" lang="en-US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sSup>
                                        <m:sSupPr>
                                          <m:ctrlPr>
                                            <a:rPr kumimoji="0" lang="en-US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0" lang="en-US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kumimoji="0" lang="en-US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nary>
                                </m:num>
                                <m:den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−1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Object 4">
                <a:extLst>
                  <a:ext uri="{FF2B5EF4-FFF2-40B4-BE49-F238E27FC236}">
                    <a16:creationId xmlns:a16="http://schemas.microsoft.com/office/drawing/2014/main" id="{4EA0153D-9703-4A37-AF22-E908CAB6D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94962" y="2542807"/>
                <a:ext cx="4843220" cy="32134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8868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754" name="Rectangle 2">
            <a:extLst>
              <a:ext uri="{FF2B5EF4-FFF2-40B4-BE49-F238E27FC236}">
                <a16:creationId xmlns:a16="http://schemas.microsoft.com/office/drawing/2014/main" id="{B45355FF-9157-48B4-9AF5-221B7A045C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Simpler calculation formula…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0756" name="Object 4">
                <a:extLst>
                  <a:ext uri="{FF2B5EF4-FFF2-40B4-BE49-F238E27FC236}">
                    <a16:creationId xmlns:a16="http://schemas.microsoft.com/office/drawing/2014/main" id="{4FF59E1D-C9EB-45DE-8F4D-88254B57481C}"/>
                  </a:ext>
                </a:extLst>
              </p:cNvPr>
              <p:cNvSpPr txBox="1"/>
              <p:nvPr/>
            </p:nvSpPr>
            <p:spPr bwMode="auto">
              <a:xfrm>
                <a:off x="641735" y="2179453"/>
                <a:ext cx="4530534" cy="444586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95000"/>
                  </a:schemeClr>
                </a:solidFill>
                <a:miter lim="800000"/>
                <a:headEnd/>
                <a:tailEnd/>
              </a:ln>
            </p:spPr>
            <p:txBody>
              <a:bodyPr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</m:e>
                      </m:acc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naryPr>
                                <m:sub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̄"/>
                                      <m:ctrlP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)(</m:t>
                                  </m:r>
                                  <m:sSub>
                                    <m:sSubPr>
                                      <m:ctrlP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̄"/>
                                      <m:ctrlP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)</m:t>
                                  </m:r>
                                </m:e>
                              </m:nary>
                            </m:num>
                            <m:den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−1</m:t>
                              </m:r>
                            </m:den>
                          </m:f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ctrlP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</m:t>
                                      </m:r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kumimoji="0" lang="en-US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kumimoji="0" lang="en-US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̄"/>
                                          <m:ctrlPr>
                                            <a:rPr kumimoji="0" lang="en-US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kumimoji="0" lang="en-US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  <m:sSup>
                                        <m:sSupPr>
                                          <m:ctrlPr>
                                            <a:rPr kumimoji="0" lang="en-US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0" lang="en-US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kumimoji="0" lang="en-US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nary>
                                </m:num>
                                <m:den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−1</m:t>
                                  </m:r>
                                </m:den>
                              </m:f>
                            </m:e>
                          </m:rad>
                          <m:rad>
                            <m:radPr>
                              <m:degHide m:val="on"/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ctrlP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</m:t>
                                      </m:r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kumimoji="0" lang="en-US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kumimoji="0" lang="en-US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̄"/>
                                          <m:ctrlPr>
                                            <a:rPr kumimoji="0" lang="en-US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kumimoji="0" lang="en-US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sSup>
                                        <m:sSupPr>
                                          <m:ctrlPr>
                                            <a:rPr kumimoji="0" lang="en-US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0" lang="en-US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kumimoji="0" lang="en-US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nary>
                                </m:num>
                                <m:den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−1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naryPr>
                            <m:sub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sup>
                            <m:e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acc>
                                <m:accPr>
                                  <m:chr m:val="̄"/>
                                  <m:ctrlP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acc>
                                <m:accPr>
                                  <m:chr m:val="̄"/>
                                  <m:ctrlP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naryPr>
                                <m:sub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̄"/>
                                      <m:ctrlP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</m:acc>
                                  <m:sSup>
                                    <m:sSupPr>
                                      <m:ctrlP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naryPr>
                                <m:sub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̄"/>
                                      <m:ctrlP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𝑦</m:t>
                                      </m:r>
                                    </m:e>
                                  </m:acc>
                                  <m:sSup>
                                    <m:sSupPr>
                                      <m:ctrlP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𝑆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70756" name="Object 4">
                <a:extLst>
                  <a:ext uri="{FF2B5EF4-FFF2-40B4-BE49-F238E27FC236}">
                    <a16:creationId xmlns:a16="http://schemas.microsoft.com/office/drawing/2014/main" id="{4FF59E1D-C9EB-45DE-8F4D-88254B574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1735" y="2179453"/>
                <a:ext cx="4530534" cy="4445867"/>
              </a:xfrm>
              <a:prstGeom prst="rect">
                <a:avLst/>
              </a:prstGeom>
              <a:blipFill>
                <a:blip r:embed="rId2"/>
                <a:stretch>
                  <a:fillRect t="-137"/>
                </a:stretch>
              </a:blipFill>
              <a:ln w="9525">
                <a:solidFill>
                  <a:schemeClr val="bg1">
                    <a:lumMod val="95000"/>
                  </a:schemeClr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0757" name="Object 5">
                <a:extLst>
                  <a:ext uri="{FF2B5EF4-FFF2-40B4-BE49-F238E27FC236}">
                    <a16:creationId xmlns:a16="http://schemas.microsoft.com/office/drawing/2014/main" id="{94AB822C-51D8-4190-95C0-0E1E323A6857}"/>
                  </a:ext>
                </a:extLst>
              </p:cNvPr>
              <p:cNvSpPr txBox="1"/>
              <p:nvPr/>
            </p:nvSpPr>
            <p:spPr bwMode="auto">
              <a:xfrm>
                <a:off x="7534728" y="4092233"/>
                <a:ext cx="2207439" cy="1052513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</m:e>
                      </m:acc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𝑆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70757" name="Object 5">
                <a:extLst>
                  <a:ext uri="{FF2B5EF4-FFF2-40B4-BE49-F238E27FC236}">
                    <a16:creationId xmlns:a16="http://schemas.microsoft.com/office/drawing/2014/main" id="{94AB822C-51D8-4190-95C0-0E1E323A6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34728" y="4092233"/>
                <a:ext cx="2207439" cy="10525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0767" name="Text Box 15">
            <a:extLst>
              <a:ext uri="{FF2B5EF4-FFF2-40B4-BE49-F238E27FC236}">
                <a16:creationId xmlns:a16="http://schemas.microsoft.com/office/drawing/2014/main" id="{E2BF2B33-A2CA-4682-89DA-B41D1FC9A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5029200"/>
            <a:ext cx="1981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grpSp>
        <p:nvGrpSpPr>
          <p:cNvPr id="970773" name="Group 21">
            <a:extLst>
              <a:ext uri="{FF2B5EF4-FFF2-40B4-BE49-F238E27FC236}">
                <a16:creationId xmlns:a16="http://schemas.microsoft.com/office/drawing/2014/main" id="{FD057F97-953C-4430-9325-2315195B3378}"/>
              </a:ext>
            </a:extLst>
          </p:cNvPr>
          <p:cNvGrpSpPr>
            <a:grpSpLocks/>
          </p:cNvGrpSpPr>
          <p:nvPr/>
        </p:nvGrpSpPr>
        <p:grpSpPr bwMode="auto">
          <a:xfrm>
            <a:off x="6149690" y="2186348"/>
            <a:ext cx="4722446" cy="4200645"/>
            <a:chOff x="4224" y="1248"/>
            <a:chExt cx="1296" cy="1941"/>
          </a:xfrm>
        </p:grpSpPr>
        <p:sp>
          <p:nvSpPr>
            <p:cNvPr id="970768" name="Text Box 16">
              <a:extLst>
                <a:ext uri="{FF2B5EF4-FFF2-40B4-BE49-F238E27FC236}">
                  <a16:creationId xmlns:a16="http://schemas.microsoft.com/office/drawing/2014/main" id="{71C9E87D-809F-4E2E-8014-ADB51105EB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1248"/>
              <a:ext cx="1248" cy="213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rPr>
                <a:t>Numerator of covariance</a:t>
              </a:r>
            </a:p>
          </p:txBody>
        </p:sp>
        <p:sp>
          <p:nvSpPr>
            <p:cNvPr id="970769" name="Text Box 17">
              <a:extLst>
                <a:ext uri="{FF2B5EF4-FFF2-40B4-BE49-F238E27FC236}">
                  <a16:creationId xmlns:a16="http://schemas.microsoft.com/office/drawing/2014/main" id="{F596D9BC-7529-44AB-8702-1A2D7B5160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2976"/>
              <a:ext cx="1248" cy="213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rPr>
                <a:t>Numerators of variance</a:t>
              </a:r>
            </a:p>
          </p:txBody>
        </p:sp>
        <p:sp>
          <p:nvSpPr>
            <p:cNvPr id="970770" name="Line 18">
              <a:extLst>
                <a:ext uri="{FF2B5EF4-FFF2-40B4-BE49-F238E27FC236}">
                  <a16:creationId xmlns:a16="http://schemas.microsoft.com/office/drawing/2014/main" id="{D0DE176A-C17E-4C94-B428-8AC445861B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07" y="1461"/>
              <a:ext cx="37" cy="653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endParaRPr>
            </a:p>
          </p:txBody>
        </p:sp>
        <p:sp>
          <p:nvSpPr>
            <p:cNvPr id="970771" name="Line 19">
              <a:extLst>
                <a:ext uri="{FF2B5EF4-FFF2-40B4-BE49-F238E27FC236}">
                  <a16:creationId xmlns:a16="http://schemas.microsoft.com/office/drawing/2014/main" id="{FA7B00C2-5908-4535-95DF-3F3CAAFC7F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79" y="2501"/>
              <a:ext cx="17" cy="475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endParaRPr>
            </a:p>
          </p:txBody>
        </p:sp>
        <p:sp>
          <p:nvSpPr>
            <p:cNvPr id="970772" name="Line 20">
              <a:extLst>
                <a:ext uri="{FF2B5EF4-FFF2-40B4-BE49-F238E27FC236}">
                  <a16:creationId xmlns:a16="http://schemas.microsoft.com/office/drawing/2014/main" id="{6306F615-AA51-4C1E-9B5B-51A181FD1A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4" y="2501"/>
              <a:ext cx="120" cy="475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endParaRPr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066F19A-5472-4AF2-AC9A-29F8AF1FD702}"/>
              </a:ext>
            </a:extLst>
          </p:cNvPr>
          <p:cNvCxnSpPr>
            <a:cxnSpLocks/>
          </p:cNvCxnSpPr>
          <p:nvPr/>
        </p:nvCxnSpPr>
        <p:spPr>
          <a:xfrm flipV="1">
            <a:off x="1864325" y="3776189"/>
            <a:ext cx="814753" cy="94311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B04D31B-08ED-41F9-9C8E-8B0C20AA095D}"/>
              </a:ext>
            </a:extLst>
          </p:cNvPr>
          <p:cNvCxnSpPr>
            <a:cxnSpLocks/>
          </p:cNvCxnSpPr>
          <p:nvPr/>
        </p:nvCxnSpPr>
        <p:spPr>
          <a:xfrm flipV="1">
            <a:off x="4033060" y="3870500"/>
            <a:ext cx="656187" cy="87035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A8822A3-2E30-4FE0-A241-D53A04E3C418}"/>
              </a:ext>
            </a:extLst>
          </p:cNvPr>
          <p:cNvCxnSpPr>
            <a:cxnSpLocks/>
          </p:cNvCxnSpPr>
          <p:nvPr/>
        </p:nvCxnSpPr>
        <p:spPr>
          <a:xfrm flipV="1">
            <a:off x="2679078" y="3098180"/>
            <a:ext cx="656187" cy="87035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7942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707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707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226" name="Rectangle 2">
            <a:extLst>
              <a:ext uri="{FF2B5EF4-FFF2-40B4-BE49-F238E27FC236}">
                <a16:creationId xmlns:a16="http://schemas.microsoft.com/office/drawing/2014/main" id="{5FF9CF03-A05F-8A40-AF36-BBB5B3FA6C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Yet another…</a:t>
            </a:r>
          </a:p>
        </p:txBody>
      </p:sp>
      <p:sp>
        <p:nvSpPr>
          <p:cNvPr id="1076227" name="Rectangle 3">
            <a:extLst>
              <a:ext uri="{FF2B5EF4-FFF2-40B4-BE49-F238E27FC236}">
                <a16:creationId xmlns:a16="http://schemas.microsoft.com/office/drawing/2014/main" id="{7BF2A24D-4E99-5641-8D25-F80F425F0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236663"/>
            <a:ext cx="8382000" cy="156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40404">
                        <a:alpha val="70000"/>
                      </a:srgbClr>
                    </a:gs>
                    <a:gs pos="100000">
                      <a:srgbClr val="740404">
                        <a:gamma/>
                        <a:tint val="0"/>
                        <a:invGamma/>
                      </a:srgbClr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Century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defRPr sz="28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t"/>
              <a:defRPr sz="28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spcBef>
                <a:spcPct val="20000"/>
              </a:spcBef>
              <a:buChar char="&gt;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Century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Century" panose="02040604050505020304" pitchFamily="18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Century" panose="02040604050505020304" pitchFamily="18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Century" panose="02040604050505020304" pitchFamily="18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Century" panose="020406040505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/>
              </a:buClr>
              <a:buSzPct val="75000"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The formula can also be expressed as follows, by manipulating the terms</a:t>
            </a:r>
          </a:p>
        </p:txBody>
      </p:sp>
      <p:graphicFrame>
        <p:nvGraphicFramePr>
          <p:cNvPr id="1076284" name="Object 60">
            <a:extLst>
              <a:ext uri="{FF2B5EF4-FFF2-40B4-BE49-F238E27FC236}">
                <a16:creationId xmlns:a16="http://schemas.microsoft.com/office/drawing/2014/main" id="{FB25BFA9-549E-9042-BC36-04899E9B86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7751" y="2862264"/>
          <a:ext cx="4494213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3804700" imgH="22237700" progId="Equation.DSMT4">
                  <p:embed/>
                </p:oleObj>
              </mc:Choice>
              <mc:Fallback>
                <p:oleObj name="Equation" r:id="rId2" imgW="113804700" imgH="22237700" progId="Equation.DSMT4">
                  <p:embed/>
                  <p:pic>
                    <p:nvPicPr>
                      <p:cNvPr id="1076284" name="Object 60">
                        <a:extLst>
                          <a:ext uri="{FF2B5EF4-FFF2-40B4-BE49-F238E27FC236}">
                            <a16:creationId xmlns:a16="http://schemas.microsoft.com/office/drawing/2014/main" id="{FB25BFA9-549E-9042-BC36-04899E9B86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7751" y="2862264"/>
                        <a:ext cx="4494213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6285" name="Rectangle 61">
            <a:extLst>
              <a:ext uri="{FF2B5EF4-FFF2-40B4-BE49-F238E27FC236}">
                <a16:creationId xmlns:a16="http://schemas.microsoft.com/office/drawing/2014/main" id="{3EAA700C-14C5-E246-8BBB-7C1458A1B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1" y="4257675"/>
            <a:ext cx="825817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range of the correlation coefficient is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itchFamily="2" charset="2"/>
              </a:rPr>
              <a:t>1 to 1. If </a:t>
            </a: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itchFamily="2" charset="2"/>
              </a:rPr>
              <a:t>x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itchFamily="2" charset="2"/>
              </a:rPr>
              <a:t> and </a:t>
            </a: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itchFamily="2" charset="2"/>
              </a:rPr>
              <a:t>y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itchFamily="2" charset="2"/>
              </a:rPr>
              <a:t>have a strong positive linear correlation, </a:t>
            </a: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itchFamily="2" charset="2"/>
              </a:rPr>
              <a:t>r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itchFamily="2" charset="2"/>
              </a:rPr>
              <a:t> is close to 1. If </a:t>
            </a: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itchFamily="2" charset="2"/>
              </a:rPr>
              <a:t>x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itchFamily="2" charset="2"/>
              </a:rPr>
              <a:t> and </a:t>
            </a: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itchFamily="2" charset="2"/>
              </a:rPr>
              <a:t>y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itchFamily="2" charset="2"/>
              </a:rPr>
              <a:t>have a strong negative linear correlation, </a:t>
            </a: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itchFamily="2" charset="2"/>
              </a:rPr>
              <a:t>r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itchFamily="2" charset="2"/>
              </a:rPr>
              <a:t> is close to 1. If there is no linear correlation or a weak linear correlation, </a:t>
            </a: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itchFamily="2" charset="2"/>
              </a:rPr>
              <a:t>r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itchFamily="2" charset="2"/>
              </a:rPr>
              <a:t> is close to 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076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370" name="Rectangle 2">
            <a:extLst>
              <a:ext uri="{FF2B5EF4-FFF2-40B4-BE49-F238E27FC236}">
                <a16:creationId xmlns:a16="http://schemas.microsoft.com/office/drawing/2014/main" id="{EA5040AF-C43A-B54E-8AF0-1D6FB475B7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12727"/>
            <a:ext cx="10515600" cy="930275"/>
          </a:xfrm>
        </p:spPr>
        <p:txBody>
          <a:bodyPr/>
          <a:lstStyle/>
          <a:p>
            <a:r>
              <a:rPr lang="en-US" altLang="en-US" sz="4000" dirty="0"/>
              <a:t>Calculating a Correlation Coefficient</a:t>
            </a:r>
            <a:endParaRPr lang="el-GR" altLang="en-US" sz="4000" dirty="0"/>
          </a:p>
        </p:txBody>
      </p:sp>
      <p:sp>
        <p:nvSpPr>
          <p:cNvPr id="1082371" name="Text Box 3">
            <a:extLst>
              <a:ext uri="{FF2B5EF4-FFF2-40B4-BE49-F238E27FC236}">
                <a16:creationId xmlns:a16="http://schemas.microsoft.com/office/drawing/2014/main" id="{62BB04F8-0E2D-4D48-8BCE-94B15BA73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0225" y="1219201"/>
            <a:ext cx="8610600" cy="4848225"/>
          </a:xfrm>
          <a:prstGeom prst="rect">
            <a:avLst/>
          </a:prstGeom>
          <a:solidFill>
            <a:schemeClr val="folHlink">
              <a:alpha val="3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Symbol" pitchFamily="2" charset="2"/>
            </a:endParaRPr>
          </a:p>
        </p:txBody>
      </p:sp>
      <p:sp>
        <p:nvSpPr>
          <p:cNvPr id="1082372" name="Text Box 4">
            <a:extLst>
              <a:ext uri="{FF2B5EF4-FFF2-40B4-BE49-F238E27FC236}">
                <a16:creationId xmlns:a16="http://schemas.microsoft.com/office/drawing/2014/main" id="{CA1FC2F1-151B-A14E-AE8D-687357841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6114" y="2198688"/>
            <a:ext cx="5627687" cy="3647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Arial Narrow" panose="020B0604020202020204" pitchFamily="34" charset="0"/>
              </a:defRPr>
            </a:lvl1pPr>
            <a:lvl2pPr marL="9144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Arial Narrow" panose="020B0604020202020204" pitchFamily="34" charset="0"/>
              </a:defRPr>
            </a:lvl2pPr>
            <a:lvl3pPr marL="13716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Arial Narrow" panose="020B0604020202020204" pitchFamily="34" charset="0"/>
              </a:defRPr>
            </a:lvl3pPr>
            <a:lvl4pPr marL="18288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Arial Narrow" panose="020B0604020202020204" pitchFamily="34" charset="0"/>
              </a:defRPr>
            </a:lvl4pPr>
            <a:lvl5pPr marL="22860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Arial Narrow" panose="020B0604020202020204" pitchFamily="34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Find the sum of the </a:t>
            </a:r>
            <a:r>
              <a:rPr kumimoji="0" lang="en-US" alt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-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values.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Find the sum of the </a:t>
            </a:r>
            <a:r>
              <a:rPr kumimoji="0" lang="en-US" alt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y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-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values.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  <a:sym typeface="Symbol" pitchFamily="2" charset="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Multiply each </a:t>
            </a:r>
            <a:r>
              <a:rPr kumimoji="0" lang="en-US" alt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-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value by its corresponding </a:t>
            </a:r>
            <a:r>
              <a:rPr kumimoji="0" lang="en-US" alt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y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-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value and find the sum.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  <a:sym typeface="Symbol" pitchFamily="2" charset="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  <a:sym typeface="Symbol" pitchFamily="2" charset="2"/>
              </a:rPr>
              <a:t>Square each </a:t>
            </a:r>
            <a:r>
              <a:rPr kumimoji="0" lang="en-US" alt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-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value and find the sum.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  <a:sym typeface="Symbol" pitchFamily="2" charset="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  <a:sym typeface="Symbol" pitchFamily="2" charset="2"/>
              </a:rPr>
              <a:t>Square each </a:t>
            </a:r>
            <a:r>
              <a:rPr kumimoji="0" lang="en-US" alt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y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-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value and find the sum.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  <a:sym typeface="Symbol" pitchFamily="2" charset="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  <a:sym typeface="Symbol" pitchFamily="2" charset="2"/>
              </a:rPr>
              <a:t>Use these five sums to calculate          the correlation coefficient.</a:t>
            </a:r>
          </a:p>
        </p:txBody>
      </p:sp>
      <p:sp>
        <p:nvSpPr>
          <p:cNvPr id="1082374" name="Text Box 6">
            <a:extLst>
              <a:ext uri="{FF2B5EF4-FFF2-40B4-BE49-F238E27FC236}">
                <a16:creationId xmlns:a16="http://schemas.microsoft.com/office/drawing/2014/main" id="{236BFE86-D9E4-F34D-A114-811B15EF8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295400"/>
            <a:ext cx="8229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Calculating a Correlation Coefficient</a:t>
            </a:r>
            <a:endParaRPr kumimoji="0" lang="el-G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2375" name="Text Box 7">
            <a:extLst>
              <a:ext uri="{FF2B5EF4-FFF2-40B4-BE49-F238E27FC236}">
                <a16:creationId xmlns:a16="http://schemas.microsoft.com/office/drawing/2014/main" id="{9091A41B-8A92-F540-97DA-5204280FC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6176" y="1719263"/>
            <a:ext cx="7948613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E1152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Words					In Symbols</a:t>
            </a:r>
            <a:endParaRPr kumimoji="0" lang="el-GR" altLang="en-US" sz="1800" b="0" i="1" u="none" strike="noStrike" kern="1200" cap="none" spc="0" normalizeH="0" baseline="0" noProof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Symbol" pitchFamily="2" charset="2"/>
            </a:endParaRPr>
          </a:p>
        </p:txBody>
      </p:sp>
      <p:graphicFrame>
        <p:nvGraphicFramePr>
          <p:cNvPr id="1082380" name="Object 12">
            <a:extLst>
              <a:ext uri="{FF2B5EF4-FFF2-40B4-BE49-F238E27FC236}">
                <a16:creationId xmlns:a16="http://schemas.microsoft.com/office/drawing/2014/main" id="{8906C26B-1A2E-CB45-8073-D1664A61BC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01000" y="2274888"/>
          <a:ext cx="508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696700" imgH="7315200" progId="Equation.DSMT4">
                  <p:embed/>
                </p:oleObj>
              </mc:Choice>
              <mc:Fallback>
                <p:oleObj name="Equation" r:id="rId3" imgW="11696700" imgH="7315200" progId="Equation.DSMT4">
                  <p:embed/>
                  <p:pic>
                    <p:nvPicPr>
                      <p:cNvPr id="1082380" name="Object 12">
                        <a:extLst>
                          <a:ext uri="{FF2B5EF4-FFF2-40B4-BE49-F238E27FC236}">
                            <a16:creationId xmlns:a16="http://schemas.microsoft.com/office/drawing/2014/main" id="{8906C26B-1A2E-CB45-8073-D1664A61BC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2274888"/>
                        <a:ext cx="508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2381" name="Object 13">
            <a:extLst>
              <a:ext uri="{FF2B5EF4-FFF2-40B4-BE49-F238E27FC236}">
                <a16:creationId xmlns:a16="http://schemas.microsoft.com/office/drawing/2014/main" id="{4020791B-FB21-6A43-8976-098D96AC95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01000" y="2720975"/>
          <a:ext cx="520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001500" imgH="7899400" progId="Equation.DSMT4">
                  <p:embed/>
                </p:oleObj>
              </mc:Choice>
              <mc:Fallback>
                <p:oleObj name="Equation" r:id="rId5" imgW="12001500" imgH="7899400" progId="Equation.DSMT4">
                  <p:embed/>
                  <p:pic>
                    <p:nvPicPr>
                      <p:cNvPr id="1082381" name="Object 13">
                        <a:extLst>
                          <a:ext uri="{FF2B5EF4-FFF2-40B4-BE49-F238E27FC236}">
                            <a16:creationId xmlns:a16="http://schemas.microsoft.com/office/drawing/2014/main" id="{4020791B-FB21-6A43-8976-098D96AC95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2720975"/>
                        <a:ext cx="5207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2382" name="Object 14">
            <a:extLst>
              <a:ext uri="{FF2B5EF4-FFF2-40B4-BE49-F238E27FC236}">
                <a16:creationId xmlns:a16="http://schemas.microsoft.com/office/drawing/2014/main" id="{D77F63F0-418B-E340-9D0D-C44B455281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01000" y="3144838"/>
          <a:ext cx="673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506700" imgH="7899400" progId="Equation.DSMT4">
                  <p:embed/>
                </p:oleObj>
              </mc:Choice>
              <mc:Fallback>
                <p:oleObj name="Equation" r:id="rId7" imgW="15506700" imgH="7899400" progId="Equation.DSMT4">
                  <p:embed/>
                  <p:pic>
                    <p:nvPicPr>
                      <p:cNvPr id="1082382" name="Object 14">
                        <a:extLst>
                          <a:ext uri="{FF2B5EF4-FFF2-40B4-BE49-F238E27FC236}">
                            <a16:creationId xmlns:a16="http://schemas.microsoft.com/office/drawing/2014/main" id="{D77F63F0-418B-E340-9D0D-C44B455281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3144838"/>
                        <a:ext cx="673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2383" name="Object 15">
            <a:extLst>
              <a:ext uri="{FF2B5EF4-FFF2-40B4-BE49-F238E27FC236}">
                <a16:creationId xmlns:a16="http://schemas.microsoft.com/office/drawing/2014/main" id="{81C5263F-67DB-1540-B6E3-CD1425012F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01000" y="4167188"/>
          <a:ext cx="622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338300" imgH="9067800" progId="Equation.DSMT4">
                  <p:embed/>
                </p:oleObj>
              </mc:Choice>
              <mc:Fallback>
                <p:oleObj name="Equation" r:id="rId9" imgW="14338300" imgH="9067800" progId="Equation.DSMT4">
                  <p:embed/>
                  <p:pic>
                    <p:nvPicPr>
                      <p:cNvPr id="1082383" name="Object 15">
                        <a:extLst>
                          <a:ext uri="{FF2B5EF4-FFF2-40B4-BE49-F238E27FC236}">
                            <a16:creationId xmlns:a16="http://schemas.microsoft.com/office/drawing/2014/main" id="{81C5263F-67DB-1540-B6E3-CD1425012F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4167188"/>
                        <a:ext cx="622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2384" name="Object 16">
            <a:extLst>
              <a:ext uri="{FF2B5EF4-FFF2-40B4-BE49-F238E27FC236}">
                <a16:creationId xmlns:a16="http://schemas.microsoft.com/office/drawing/2014/main" id="{23A9B68C-4562-BB4B-848C-72700EFDE1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01000" y="4600575"/>
          <a:ext cx="647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922500" imgH="9652000" progId="Equation.DSMT4">
                  <p:embed/>
                </p:oleObj>
              </mc:Choice>
              <mc:Fallback>
                <p:oleObj name="Equation" r:id="rId11" imgW="14922500" imgH="9652000" progId="Equation.DSMT4">
                  <p:embed/>
                  <p:pic>
                    <p:nvPicPr>
                      <p:cNvPr id="1082384" name="Object 16">
                        <a:extLst>
                          <a:ext uri="{FF2B5EF4-FFF2-40B4-BE49-F238E27FC236}">
                            <a16:creationId xmlns:a16="http://schemas.microsoft.com/office/drawing/2014/main" id="{23A9B68C-4562-BB4B-848C-72700EFDE1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4600575"/>
                        <a:ext cx="647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2386" name="Object 18">
            <a:extLst>
              <a:ext uri="{FF2B5EF4-FFF2-40B4-BE49-F238E27FC236}">
                <a16:creationId xmlns:a16="http://schemas.microsoft.com/office/drawing/2014/main" id="{B7687F3A-5A10-0B49-A154-2652AC2966C0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6919914" y="5168901"/>
          <a:ext cx="3367087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3804700" imgH="22237700" progId="Equation.DSMT4">
                  <p:embed/>
                </p:oleObj>
              </mc:Choice>
              <mc:Fallback>
                <p:oleObj name="Equation" r:id="rId13" imgW="113804700" imgH="22237700" progId="Equation.DSMT4">
                  <p:embed/>
                  <p:pic>
                    <p:nvPicPr>
                      <p:cNvPr id="1082386" name="Object 18">
                        <a:extLst>
                          <a:ext uri="{FF2B5EF4-FFF2-40B4-BE49-F238E27FC236}">
                            <a16:creationId xmlns:a16="http://schemas.microsoft.com/office/drawing/2014/main" id="{B7687F3A-5A10-0B49-A154-2652AC2966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9914" y="5168901"/>
                        <a:ext cx="3367087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037699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82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82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082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082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0823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10823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0823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2372" grpId="0" uiExpand="1" build="p"/>
      <p:bldP spid="108237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130" name="Rectangle 2">
            <a:extLst>
              <a:ext uri="{FF2B5EF4-FFF2-40B4-BE49-F238E27FC236}">
                <a16:creationId xmlns:a16="http://schemas.microsoft.com/office/drawing/2014/main" id="{40F85982-5BA6-FD40-8180-2C7DC509C4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Correlation Coefficient</a:t>
            </a:r>
          </a:p>
        </p:txBody>
      </p:sp>
      <p:sp>
        <p:nvSpPr>
          <p:cNvPr id="1072186" name="Rectangle 58">
            <a:extLst>
              <a:ext uri="{FF2B5EF4-FFF2-40B4-BE49-F238E27FC236}">
                <a16:creationId xmlns:a16="http://schemas.microsoft.com/office/drawing/2014/main" id="{04803E32-A316-CD47-A346-C97D14E76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271589"/>
            <a:ext cx="8610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Calculate the correlation coefficient </a:t>
            </a: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for the following data.</a:t>
            </a:r>
          </a:p>
        </p:txBody>
      </p:sp>
      <p:graphicFrame>
        <p:nvGraphicFramePr>
          <p:cNvPr id="1072499" name="Group 371">
            <a:extLst>
              <a:ext uri="{FF2B5EF4-FFF2-40B4-BE49-F238E27FC236}">
                <a16:creationId xmlns:a16="http://schemas.microsoft.com/office/drawing/2014/main" id="{78A16E38-7263-C545-8074-3C6B26322DD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362200" y="2165350"/>
          <a:ext cx="6324600" cy="2616200"/>
        </p:xfrm>
        <a:graphic>
          <a:graphicData uri="http://schemas.openxmlformats.org/drawingml/2006/table">
            <a:tbl>
              <a:tblPr/>
              <a:tblGrid>
                <a:gridCol w="1135063">
                  <a:extLst>
                    <a:ext uri="{9D8B030D-6E8A-4147-A177-3AD203B41FA5}">
                      <a16:colId xmlns:a16="http://schemas.microsoft.com/office/drawing/2014/main" val="3756562316"/>
                    </a:ext>
                  </a:extLst>
                </a:gridCol>
                <a:gridCol w="1298575">
                  <a:extLst>
                    <a:ext uri="{9D8B030D-6E8A-4147-A177-3AD203B41FA5}">
                      <a16:colId xmlns:a16="http://schemas.microsoft.com/office/drawing/2014/main" val="4197972939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114894168"/>
                    </a:ext>
                  </a:extLst>
                </a:gridCol>
                <a:gridCol w="1300162">
                  <a:extLst>
                    <a:ext uri="{9D8B030D-6E8A-4147-A177-3AD203B41FA5}">
                      <a16:colId xmlns:a16="http://schemas.microsoft.com/office/drawing/2014/main" val="54312811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753140942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x</a:t>
                      </a:r>
                    </a:p>
                  </a:txBody>
                  <a:tcPr marL="45720" marR="45720" marT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 </a:t>
                      </a:r>
                      <a:r>
                        <a:rPr kumimoji="0" lang="en-US" altLang="en-US" sz="2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y</a:t>
                      </a: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 </a:t>
                      </a:r>
                    </a:p>
                  </a:txBody>
                  <a:tcPr marL="45720" marR="45720" marT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xy</a:t>
                      </a:r>
                      <a:endParaRPr kumimoji="0" lang="en-US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45720" marR="45720" marT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x</a:t>
                      </a:r>
                      <a:r>
                        <a:rPr kumimoji="0" lang="en-US" altLang="en-US" sz="22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2</a:t>
                      </a:r>
                      <a:endParaRPr kumimoji="0" lang="en-US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45720" marR="45720" marT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y</a:t>
                      </a:r>
                      <a:r>
                        <a:rPr kumimoji="0" lang="en-US" altLang="en-US" sz="22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2</a:t>
                      </a:r>
                      <a:endParaRPr kumimoji="0" lang="en-US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45720" marR="45720" marT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211376"/>
                  </a:ext>
                </a:extLst>
              </a:tr>
              <a:tr h="295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1</a:t>
                      </a:r>
                    </a:p>
                  </a:txBody>
                  <a:tcPr marL="45720" marR="4572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– 3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– 3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1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9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361151"/>
                  </a:ext>
                </a:extLst>
              </a:tr>
              <a:tr h="2968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2</a:t>
                      </a:r>
                    </a:p>
                  </a:txBody>
                  <a:tcPr marL="45720" marR="4572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– 1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– 2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4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1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857161"/>
                  </a:ext>
                </a:extLst>
              </a:tr>
              <a:tr h="295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3</a:t>
                      </a:r>
                    </a:p>
                  </a:txBody>
                  <a:tcPr marL="45720" marR="4572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0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0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9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0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968975"/>
                  </a:ext>
                </a:extLst>
              </a:tr>
              <a:tr h="2968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4</a:t>
                      </a:r>
                    </a:p>
                  </a:txBody>
                  <a:tcPr marL="45720" marR="4572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1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4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16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1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2525823"/>
                  </a:ext>
                </a:extLst>
              </a:tr>
              <a:tr h="295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5</a:t>
                      </a:r>
                    </a:p>
                  </a:txBody>
                  <a:tcPr marL="45720" marR="4572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2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10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25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4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66064"/>
                  </a:ext>
                </a:extLst>
              </a:tr>
              <a:tr h="558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45720" marR="4572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sym typeface="Symbol" pitchFamily="2" charset="2"/>
                      </a:endParaRP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sym typeface="Symbol" pitchFamily="2" charset="2"/>
                      </a:endParaRP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sym typeface="Symbol" pitchFamily="2" charset="2"/>
                      </a:endParaRP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sym typeface="Symbol" pitchFamily="2" charset="2"/>
                      </a:endParaRP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2249250"/>
                  </a:ext>
                </a:extLst>
              </a:tr>
            </a:tbl>
          </a:graphicData>
        </a:graphic>
      </p:graphicFrame>
      <p:graphicFrame>
        <p:nvGraphicFramePr>
          <p:cNvPr id="1072484" name="Object 356">
            <a:extLst>
              <a:ext uri="{FF2B5EF4-FFF2-40B4-BE49-F238E27FC236}">
                <a16:creationId xmlns:a16="http://schemas.microsoft.com/office/drawing/2014/main" id="{E2D6DD1E-E784-2249-A294-5A4B63A806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27300" y="4384675"/>
          <a:ext cx="838200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035000" imgH="7315200" progId="Equation.DSMT4">
                  <p:embed/>
                </p:oleObj>
              </mc:Choice>
              <mc:Fallback>
                <p:oleObj name="Equation" r:id="rId2" imgW="26035000" imgH="7315200" progId="Equation.DSMT4">
                  <p:embed/>
                  <p:pic>
                    <p:nvPicPr>
                      <p:cNvPr id="1072484" name="Object 356">
                        <a:extLst>
                          <a:ext uri="{FF2B5EF4-FFF2-40B4-BE49-F238E27FC236}">
                            <a16:creationId xmlns:a16="http://schemas.microsoft.com/office/drawing/2014/main" id="{E2D6DD1E-E784-2249-A294-5A4B63A806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7300" y="4384675"/>
                        <a:ext cx="838200" cy="23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2486" name="Object 358">
            <a:extLst>
              <a:ext uri="{FF2B5EF4-FFF2-40B4-BE49-F238E27FC236}">
                <a16:creationId xmlns:a16="http://schemas.microsoft.com/office/drawing/2014/main" id="{9F6200F8-D490-824F-BDA6-8F64A41EBE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1400" y="4375150"/>
          <a:ext cx="8763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203400" imgH="7899400" progId="Equation.DSMT4">
                  <p:embed/>
                </p:oleObj>
              </mc:Choice>
              <mc:Fallback>
                <p:oleObj name="Equation" r:id="rId4" imgW="27203400" imgH="7899400" progId="Equation.DSMT4">
                  <p:embed/>
                  <p:pic>
                    <p:nvPicPr>
                      <p:cNvPr id="1072486" name="Object 358">
                        <a:extLst>
                          <a:ext uri="{FF2B5EF4-FFF2-40B4-BE49-F238E27FC236}">
                            <a16:creationId xmlns:a16="http://schemas.microsoft.com/office/drawing/2014/main" id="{9F6200F8-D490-824F-BDA6-8F64A41EBE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4375150"/>
                        <a:ext cx="8763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2487" name="Object 359">
            <a:extLst>
              <a:ext uri="{FF2B5EF4-FFF2-40B4-BE49-F238E27FC236}">
                <a16:creationId xmlns:a16="http://schemas.microsoft.com/office/drawing/2014/main" id="{EC006B12-7B42-9A43-92AE-9681FDEA5A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97450" y="4375150"/>
          <a:ext cx="85725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19200" imgH="7899400" progId="Equation.DSMT4">
                  <p:embed/>
                </p:oleObj>
              </mc:Choice>
              <mc:Fallback>
                <p:oleObj name="Equation" r:id="rId6" imgW="26619200" imgH="7899400" progId="Equation.DSMT4">
                  <p:embed/>
                  <p:pic>
                    <p:nvPicPr>
                      <p:cNvPr id="1072487" name="Object 359">
                        <a:extLst>
                          <a:ext uri="{FF2B5EF4-FFF2-40B4-BE49-F238E27FC236}">
                            <a16:creationId xmlns:a16="http://schemas.microsoft.com/office/drawing/2014/main" id="{EC006B12-7B42-9A43-92AE-9681FDEA5A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7450" y="4375150"/>
                        <a:ext cx="85725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2488" name="Object 360">
            <a:extLst>
              <a:ext uri="{FF2B5EF4-FFF2-40B4-BE49-F238E27FC236}">
                <a16:creationId xmlns:a16="http://schemas.microsoft.com/office/drawing/2014/main" id="{E454BCA4-2B1B-644E-ADDF-43ADF9F4B5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35701" y="4356100"/>
          <a:ext cx="95091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9552900" imgH="9067800" progId="Equation.DSMT4">
                  <p:embed/>
                </p:oleObj>
              </mc:Choice>
              <mc:Fallback>
                <p:oleObj name="Equation" r:id="rId8" imgW="29552900" imgH="9067800" progId="Equation.DSMT4">
                  <p:embed/>
                  <p:pic>
                    <p:nvPicPr>
                      <p:cNvPr id="1072488" name="Object 360">
                        <a:extLst>
                          <a:ext uri="{FF2B5EF4-FFF2-40B4-BE49-F238E27FC236}">
                            <a16:creationId xmlns:a16="http://schemas.microsoft.com/office/drawing/2014/main" id="{E454BCA4-2B1B-644E-ADDF-43ADF9F4B5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5701" y="4356100"/>
                        <a:ext cx="950913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2489" name="Object 361">
            <a:extLst>
              <a:ext uri="{FF2B5EF4-FFF2-40B4-BE49-F238E27FC236}">
                <a16:creationId xmlns:a16="http://schemas.microsoft.com/office/drawing/2014/main" id="{3748FFBA-69DB-7446-85BE-896F3E77C3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86651" y="4346575"/>
          <a:ext cx="950913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552900" imgH="9652000" progId="Equation.DSMT4">
                  <p:embed/>
                </p:oleObj>
              </mc:Choice>
              <mc:Fallback>
                <p:oleObj name="Equation" r:id="rId10" imgW="29552900" imgH="9652000" progId="Equation.DSMT4">
                  <p:embed/>
                  <p:pic>
                    <p:nvPicPr>
                      <p:cNvPr id="1072489" name="Object 361">
                        <a:extLst>
                          <a:ext uri="{FF2B5EF4-FFF2-40B4-BE49-F238E27FC236}">
                            <a16:creationId xmlns:a16="http://schemas.microsoft.com/office/drawing/2014/main" id="{3748FFBA-69DB-7446-85BE-896F3E77C3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6651" y="4346575"/>
                        <a:ext cx="950913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2490" name="Object 362">
            <a:extLst>
              <a:ext uri="{FF2B5EF4-FFF2-40B4-BE49-F238E27FC236}">
                <a16:creationId xmlns:a16="http://schemas.microsoft.com/office/drawing/2014/main" id="{E766A3D1-5B2D-E449-915E-F6B458499318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905001" y="4865689"/>
          <a:ext cx="3370263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1760000" imgH="22237700" progId="Equation.DSMT4">
                  <p:embed/>
                </p:oleObj>
              </mc:Choice>
              <mc:Fallback>
                <p:oleObj name="Equation" r:id="rId12" imgW="111760000" imgH="22237700" progId="Equation.DSMT4">
                  <p:embed/>
                  <p:pic>
                    <p:nvPicPr>
                      <p:cNvPr id="1072490" name="Object 362">
                        <a:extLst>
                          <a:ext uri="{FF2B5EF4-FFF2-40B4-BE49-F238E27FC236}">
                            <a16:creationId xmlns:a16="http://schemas.microsoft.com/office/drawing/2014/main" id="{E766A3D1-5B2D-E449-915E-F6B4584993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1" y="4865689"/>
                        <a:ext cx="3370263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2491" name="Object 363">
            <a:extLst>
              <a:ext uri="{FF2B5EF4-FFF2-40B4-BE49-F238E27FC236}">
                <a16:creationId xmlns:a16="http://schemas.microsoft.com/office/drawing/2014/main" id="{058150BA-4371-7A46-8BA3-8B8D2DBCE4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9075" y="4868863"/>
          <a:ext cx="3106738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6601300" imgH="22237700" progId="Equation.DSMT4">
                  <p:embed/>
                </p:oleObj>
              </mc:Choice>
              <mc:Fallback>
                <p:oleObj name="Equation" r:id="rId14" imgW="86601300" imgH="22237700" progId="Equation.DSMT4">
                  <p:embed/>
                  <p:pic>
                    <p:nvPicPr>
                      <p:cNvPr id="1072491" name="Object 363">
                        <a:extLst>
                          <a:ext uri="{FF2B5EF4-FFF2-40B4-BE49-F238E27FC236}">
                            <a16:creationId xmlns:a16="http://schemas.microsoft.com/office/drawing/2014/main" id="{058150BA-4371-7A46-8BA3-8B8D2DBCE4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9075" y="4868863"/>
                        <a:ext cx="3106738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2495" name="Object 367">
            <a:extLst>
              <a:ext uri="{FF2B5EF4-FFF2-40B4-BE49-F238E27FC236}">
                <a16:creationId xmlns:a16="http://schemas.microsoft.com/office/drawing/2014/main" id="{19ECD875-056F-6642-BD85-B1F3A76A13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13364" y="5753101"/>
          <a:ext cx="1227137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4226500" imgH="16967200" progId="Equation.DSMT4">
                  <p:embed/>
                </p:oleObj>
              </mc:Choice>
              <mc:Fallback>
                <p:oleObj name="Equation" r:id="rId16" imgW="34226500" imgH="16967200" progId="Equation.DSMT4">
                  <p:embed/>
                  <p:pic>
                    <p:nvPicPr>
                      <p:cNvPr id="1072495" name="Object 367">
                        <a:extLst>
                          <a:ext uri="{FF2B5EF4-FFF2-40B4-BE49-F238E27FC236}">
                            <a16:creationId xmlns:a16="http://schemas.microsoft.com/office/drawing/2014/main" id="{19ECD875-056F-6642-BD85-B1F3A76A13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3364" y="5753101"/>
                        <a:ext cx="1227137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2496" name="Object 368">
            <a:extLst>
              <a:ext uri="{FF2B5EF4-FFF2-40B4-BE49-F238E27FC236}">
                <a16:creationId xmlns:a16="http://schemas.microsoft.com/office/drawing/2014/main" id="{8B7103FE-557D-B84B-B2C0-D6C8091869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1613" y="5880100"/>
          <a:ext cx="849312" cy="1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3698200" imgH="6438900" progId="Equation.DSMT4">
                  <p:embed/>
                </p:oleObj>
              </mc:Choice>
              <mc:Fallback>
                <p:oleObj name="Equation" r:id="rId18" imgW="23698200" imgH="6438900" progId="Equation.DSMT4">
                  <p:embed/>
                  <p:pic>
                    <p:nvPicPr>
                      <p:cNvPr id="1072496" name="Object 368">
                        <a:extLst>
                          <a:ext uri="{FF2B5EF4-FFF2-40B4-BE49-F238E27FC236}">
                            <a16:creationId xmlns:a16="http://schemas.microsoft.com/office/drawing/2014/main" id="{8B7103FE-557D-B84B-B2C0-D6C8091869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1613" y="5880100"/>
                        <a:ext cx="849312" cy="192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2497" name="Text Box 369">
            <a:extLst>
              <a:ext uri="{FF2B5EF4-FFF2-40B4-BE49-F238E27FC236}">
                <a16:creationId xmlns:a16="http://schemas.microsoft.com/office/drawing/2014/main" id="{501301EC-C8CA-604E-910E-5B7C2BBAA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5605464"/>
            <a:ext cx="304800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954F7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There is a strong positive linear correlation between </a:t>
            </a: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954F7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954F7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</a:t>
            </a: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954F7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954F7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072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072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072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072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072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072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249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418" name="Rectangle 2">
            <a:extLst>
              <a:ext uri="{FF2B5EF4-FFF2-40B4-BE49-F238E27FC236}">
                <a16:creationId xmlns:a16="http://schemas.microsoft.com/office/drawing/2014/main" id="{39386A70-5EDB-6B4F-A047-A4880752C7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0025" y="290513"/>
            <a:ext cx="11791950" cy="85344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Correlation Coefficient</a:t>
            </a:r>
          </a:p>
        </p:txBody>
      </p:sp>
      <p:graphicFrame>
        <p:nvGraphicFramePr>
          <p:cNvPr id="1084419" name="Group 3">
            <a:extLst>
              <a:ext uri="{FF2B5EF4-FFF2-40B4-BE49-F238E27FC236}">
                <a16:creationId xmlns:a16="http://schemas.microsoft.com/office/drawing/2014/main" id="{9A2D7A6C-122D-1348-9F23-4325AFBA50A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81200" y="4419600"/>
          <a:ext cx="8382000" cy="8534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530000247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651482365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178257859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71443617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137089855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869323946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02999415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4217941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14501897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08897938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728647948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44582184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51715947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Hours, </a:t>
                      </a:r>
                      <a:r>
                        <a:rPr kumimoji="0" lang="en-US" altLang="en-US" sz="2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x</a:t>
                      </a:r>
                      <a:endParaRPr kumimoji="0" lang="en-US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751805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Test score, </a:t>
                      </a:r>
                      <a:r>
                        <a:rPr kumimoji="0" lang="en-US" altLang="en-US" sz="2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y</a:t>
                      </a:r>
                      <a:endParaRPr kumimoji="0" lang="en-US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96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85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82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74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95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68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76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84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58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65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75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085969"/>
                  </a:ext>
                </a:extLst>
              </a:tr>
            </a:tbl>
          </a:graphicData>
        </a:graphic>
      </p:graphicFrame>
      <p:sp>
        <p:nvSpPr>
          <p:cNvPr id="1084463" name="Rectangle 47">
            <a:extLst>
              <a:ext uri="{FF2B5EF4-FFF2-40B4-BE49-F238E27FC236}">
                <a16:creationId xmlns:a16="http://schemas.microsoft.com/office/drawing/2014/main" id="{D1339D61-8B37-A94B-8840-E8BF4920A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371600"/>
            <a:ext cx="82296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following data represents the number of hours 12 different students watched television during the weekend and the scores of each student who took a test the following Monday.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a.)  Display the scatter plot.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b.)  Calculate the correlation coefficient </a:t>
            </a: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084464" name="Rectangle 48">
            <a:extLst>
              <a:ext uri="{FF2B5EF4-FFF2-40B4-BE49-F238E27FC236}">
                <a16:creationId xmlns:a16="http://schemas.microsoft.com/office/drawing/2014/main" id="{3F085031-D036-E04A-994C-7150C15B1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6049963"/>
            <a:ext cx="12180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Continued.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4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1084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4463" grpId="0"/>
      <p:bldP spid="108446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178" name="Rectangle 2">
            <a:extLst>
              <a:ext uri="{FF2B5EF4-FFF2-40B4-BE49-F238E27FC236}">
                <a16:creationId xmlns:a16="http://schemas.microsoft.com/office/drawing/2014/main" id="{6DC10033-5CCC-EC4B-8FD4-8F1E296D84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Correlation Coefficient</a:t>
            </a:r>
          </a:p>
        </p:txBody>
      </p:sp>
      <p:graphicFrame>
        <p:nvGraphicFramePr>
          <p:cNvPr id="1074179" name="Group 3">
            <a:extLst>
              <a:ext uri="{FF2B5EF4-FFF2-40B4-BE49-F238E27FC236}">
                <a16:creationId xmlns:a16="http://schemas.microsoft.com/office/drawing/2014/main" id="{FE67F8FF-AE66-024A-9D84-D115A09079C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05000" y="1828800"/>
          <a:ext cx="8382000" cy="8534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973312958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2459386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72706927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49761197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269899896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128940838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83232603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7751793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1479787545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974717157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99526638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42292669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160427575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Hours, </a:t>
                      </a:r>
                      <a:r>
                        <a:rPr kumimoji="0" lang="en-US" altLang="en-US" sz="2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x</a:t>
                      </a:r>
                      <a:endParaRPr kumimoji="0" lang="en-US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91305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Test score, </a:t>
                      </a:r>
                      <a:r>
                        <a:rPr kumimoji="0" lang="en-US" altLang="en-US" sz="2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y</a:t>
                      </a:r>
                      <a:endParaRPr kumimoji="0" lang="en-US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96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85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82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74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95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68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76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84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58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65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75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937069"/>
                  </a:ext>
                </a:extLst>
              </a:tr>
            </a:tbl>
          </a:graphicData>
        </a:graphic>
      </p:graphicFrame>
      <p:sp>
        <p:nvSpPr>
          <p:cNvPr id="1074223" name="Rectangle 47">
            <a:extLst>
              <a:ext uri="{FF2B5EF4-FFF2-40B4-BE49-F238E27FC236}">
                <a16:creationId xmlns:a16="http://schemas.microsoft.com/office/drawing/2014/main" id="{5A5D4AF8-0594-B248-B7DA-7F40D6C89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463" y="1204913"/>
            <a:ext cx="8229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continued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</p:txBody>
      </p:sp>
      <p:grpSp>
        <p:nvGrpSpPr>
          <p:cNvPr id="1074272" name="Group 96">
            <a:extLst>
              <a:ext uri="{FF2B5EF4-FFF2-40B4-BE49-F238E27FC236}">
                <a16:creationId xmlns:a16="http://schemas.microsoft.com/office/drawing/2014/main" id="{CA8E8E47-5945-EC42-8561-B10F06E0DF01}"/>
              </a:ext>
            </a:extLst>
          </p:cNvPr>
          <p:cNvGrpSpPr>
            <a:grpSpLocks/>
          </p:cNvGrpSpPr>
          <p:nvPr/>
        </p:nvGrpSpPr>
        <p:grpSpPr bwMode="auto">
          <a:xfrm>
            <a:off x="3276601" y="2819400"/>
            <a:ext cx="4398963" cy="3543300"/>
            <a:chOff x="1104" y="1776"/>
            <a:chExt cx="2771" cy="2232"/>
          </a:xfrm>
        </p:grpSpPr>
        <p:sp>
          <p:nvSpPr>
            <p:cNvPr id="1074244" name="Text Box 68">
              <a:extLst>
                <a:ext uri="{FF2B5EF4-FFF2-40B4-BE49-F238E27FC236}">
                  <a16:creationId xmlns:a16="http://schemas.microsoft.com/office/drawing/2014/main" id="{01232D55-0A51-F848-BB85-D7B40F97AC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3" y="2052"/>
              <a:ext cx="34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100</a:t>
              </a:r>
            </a:p>
          </p:txBody>
        </p:sp>
        <p:grpSp>
          <p:nvGrpSpPr>
            <p:cNvPr id="1074271" name="Group 95">
              <a:extLst>
                <a:ext uri="{FF2B5EF4-FFF2-40B4-BE49-F238E27FC236}">
                  <a16:creationId xmlns:a16="http://schemas.microsoft.com/office/drawing/2014/main" id="{7D86DC40-9F2A-EB4B-A481-526CA892FC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3" y="1776"/>
              <a:ext cx="2292" cy="1840"/>
              <a:chOff x="1583" y="1776"/>
              <a:chExt cx="2292" cy="1840"/>
            </a:xfrm>
          </p:grpSpPr>
          <p:sp>
            <p:nvSpPr>
              <p:cNvPr id="1074225" name="Line 49">
                <a:extLst>
                  <a:ext uri="{FF2B5EF4-FFF2-40B4-BE49-F238E27FC236}">
                    <a16:creationId xmlns:a16="http://schemas.microsoft.com/office/drawing/2014/main" id="{AE47104A-1B80-1B4A-9BE8-2DC103F3C2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04" y="3511"/>
                <a:ext cx="1847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4226" name="Line 50">
                <a:extLst>
                  <a:ext uri="{FF2B5EF4-FFF2-40B4-BE49-F238E27FC236}">
                    <a16:creationId xmlns:a16="http://schemas.microsoft.com/office/drawing/2014/main" id="{836251E9-1F6E-884A-8C26-19BB3CF32A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90" y="3408"/>
                <a:ext cx="0" cy="20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4227" name="Text Box 51">
                <a:extLst>
                  <a:ext uri="{FF2B5EF4-FFF2-40B4-BE49-F238E27FC236}">
                    <a16:creationId xmlns:a16="http://schemas.microsoft.com/office/drawing/2014/main" id="{81702214-9916-6A41-95AE-6E5D4AF4A7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34" y="3333"/>
                <a:ext cx="341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rPr>
                  <a:t>x</a:t>
                </a:r>
              </a:p>
            </p:txBody>
          </p:sp>
          <p:sp>
            <p:nvSpPr>
              <p:cNvPr id="1074228" name="Line 52">
                <a:extLst>
                  <a:ext uri="{FF2B5EF4-FFF2-40B4-BE49-F238E27FC236}">
                    <a16:creationId xmlns:a16="http://schemas.microsoft.com/office/drawing/2014/main" id="{A81E2034-3E06-9748-BEBB-863A24D732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0" y="3408"/>
                <a:ext cx="0" cy="20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4237" name="Line 61">
                <a:extLst>
                  <a:ext uri="{FF2B5EF4-FFF2-40B4-BE49-F238E27FC236}">
                    <a16:creationId xmlns:a16="http://schemas.microsoft.com/office/drawing/2014/main" id="{1884F6C7-3F6D-2640-8B2E-2D3A9F529F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98" y="1997"/>
                <a:ext cx="8" cy="151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4238" name="Line 62">
                <a:extLst>
                  <a:ext uri="{FF2B5EF4-FFF2-40B4-BE49-F238E27FC236}">
                    <a16:creationId xmlns:a16="http://schemas.microsoft.com/office/drawing/2014/main" id="{AF653765-7BC1-9747-9D21-BA6E5811F9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5" y="3000"/>
                <a:ext cx="22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4239" name="Line 63">
                <a:extLst>
                  <a:ext uri="{FF2B5EF4-FFF2-40B4-BE49-F238E27FC236}">
                    <a16:creationId xmlns:a16="http://schemas.microsoft.com/office/drawing/2014/main" id="{825E2614-6508-2F45-A91E-310FEDDCB1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5" y="2174"/>
                <a:ext cx="22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4240" name="Line 64">
                <a:extLst>
                  <a:ext uri="{FF2B5EF4-FFF2-40B4-BE49-F238E27FC236}">
                    <a16:creationId xmlns:a16="http://schemas.microsoft.com/office/drawing/2014/main" id="{12AD05A1-A062-3B4F-8876-CF56FD71BF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5" y="2725"/>
                <a:ext cx="22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4241" name="Text Box 65">
                <a:extLst>
                  <a:ext uri="{FF2B5EF4-FFF2-40B4-BE49-F238E27FC236}">
                    <a16:creationId xmlns:a16="http://schemas.microsoft.com/office/drawing/2014/main" id="{851D2035-FADA-4441-BEC4-59687C2293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26" y="1776"/>
                <a:ext cx="39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rPr>
                  <a:t>y</a:t>
                </a:r>
              </a:p>
            </p:txBody>
          </p:sp>
          <p:sp>
            <p:nvSpPr>
              <p:cNvPr id="1074242" name="Line 66">
                <a:extLst>
                  <a:ext uri="{FF2B5EF4-FFF2-40B4-BE49-F238E27FC236}">
                    <a16:creationId xmlns:a16="http://schemas.microsoft.com/office/drawing/2014/main" id="{0AF9A848-0316-764D-BB59-875B01810E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3" y="3276"/>
                <a:ext cx="22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4245" name="Line 69">
                <a:extLst>
                  <a:ext uri="{FF2B5EF4-FFF2-40B4-BE49-F238E27FC236}">
                    <a16:creationId xmlns:a16="http://schemas.microsoft.com/office/drawing/2014/main" id="{92307DBA-013B-5249-B7DE-5133A7819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3" y="2449"/>
                <a:ext cx="22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4246" name="Line 70">
                <a:extLst>
                  <a:ext uri="{FF2B5EF4-FFF2-40B4-BE49-F238E27FC236}">
                    <a16:creationId xmlns:a16="http://schemas.microsoft.com/office/drawing/2014/main" id="{95E1B110-8F8C-DD46-918A-951089FFCE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0" y="3408"/>
                <a:ext cx="0" cy="20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4247" name="Line 71">
                <a:extLst>
                  <a:ext uri="{FF2B5EF4-FFF2-40B4-BE49-F238E27FC236}">
                    <a16:creationId xmlns:a16="http://schemas.microsoft.com/office/drawing/2014/main" id="{506CC5A0-4AA6-6C44-9CC9-D5D12CE9D3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1" y="3408"/>
                <a:ext cx="0" cy="20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4254" name="Line 78">
                <a:extLst>
                  <a:ext uri="{FF2B5EF4-FFF2-40B4-BE49-F238E27FC236}">
                    <a16:creationId xmlns:a16="http://schemas.microsoft.com/office/drawing/2014/main" id="{91E12D75-BE52-2E42-86FB-539082C31C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0" y="3408"/>
                <a:ext cx="0" cy="20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074257" name="Text Box 81">
              <a:extLst>
                <a:ext uri="{FF2B5EF4-FFF2-40B4-BE49-F238E27FC236}">
                  <a16:creationId xmlns:a16="http://schemas.microsoft.com/office/drawing/2014/main" id="{66050AE5-9FC6-D24D-B8FC-E2AAC35342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1" y="3777"/>
              <a:ext cx="16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Hours watching TV</a:t>
              </a:r>
            </a:p>
          </p:txBody>
        </p:sp>
        <p:sp>
          <p:nvSpPr>
            <p:cNvPr id="1074259" name="Text Box 83">
              <a:extLst>
                <a:ext uri="{FF2B5EF4-FFF2-40B4-BE49-F238E27FC236}">
                  <a16:creationId xmlns:a16="http://schemas.microsoft.com/office/drawing/2014/main" id="{71515F7F-D81D-2546-851B-9526041F50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694" y="2642"/>
              <a:ext cx="105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Test score</a:t>
              </a:r>
            </a:p>
          </p:txBody>
        </p:sp>
        <p:sp>
          <p:nvSpPr>
            <p:cNvPr id="1074260" name="Text Box 84">
              <a:extLst>
                <a:ext uri="{FF2B5EF4-FFF2-40B4-BE49-F238E27FC236}">
                  <a16:creationId xmlns:a16="http://schemas.microsoft.com/office/drawing/2014/main" id="{EDD8A214-3071-EF46-B380-3DD049F6A8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3" y="2330"/>
              <a:ext cx="34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1074261" name="Text Box 85">
              <a:extLst>
                <a:ext uri="{FF2B5EF4-FFF2-40B4-BE49-F238E27FC236}">
                  <a16:creationId xmlns:a16="http://schemas.microsoft.com/office/drawing/2014/main" id="{7C1E8D51-28A4-FC47-903F-1814984363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3" y="2608"/>
              <a:ext cx="34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1074262" name="Text Box 86">
              <a:extLst>
                <a:ext uri="{FF2B5EF4-FFF2-40B4-BE49-F238E27FC236}">
                  <a16:creationId xmlns:a16="http://schemas.microsoft.com/office/drawing/2014/main" id="{8AC80896-D3D8-AA4F-B133-6A4184320C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3" y="2886"/>
              <a:ext cx="34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1074263" name="Text Box 87">
              <a:extLst>
                <a:ext uri="{FF2B5EF4-FFF2-40B4-BE49-F238E27FC236}">
                  <a16:creationId xmlns:a16="http://schemas.microsoft.com/office/drawing/2014/main" id="{442D225C-9659-9B45-B3FE-3A18AD89B1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3" y="3165"/>
              <a:ext cx="34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074264" name="Text Box 88">
              <a:extLst>
                <a:ext uri="{FF2B5EF4-FFF2-40B4-BE49-F238E27FC236}">
                  <a16:creationId xmlns:a16="http://schemas.microsoft.com/office/drawing/2014/main" id="{5B0C146F-C593-8641-9E6B-57960ABDB0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2" y="3588"/>
              <a:ext cx="25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74265" name="Text Box 89">
              <a:extLst>
                <a:ext uri="{FF2B5EF4-FFF2-40B4-BE49-F238E27FC236}">
                  <a16:creationId xmlns:a16="http://schemas.microsoft.com/office/drawing/2014/main" id="{10F73722-F573-CA49-A407-B89FCAFD6E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0" y="3588"/>
              <a:ext cx="25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74266" name="Text Box 90">
              <a:extLst>
                <a:ext uri="{FF2B5EF4-FFF2-40B4-BE49-F238E27FC236}">
                  <a16:creationId xmlns:a16="http://schemas.microsoft.com/office/drawing/2014/main" id="{1C18CF56-55D1-7C4D-B667-8F43397FFB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8" y="3588"/>
              <a:ext cx="25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74267" name="Text Box 91">
              <a:extLst>
                <a:ext uri="{FF2B5EF4-FFF2-40B4-BE49-F238E27FC236}">
                  <a16:creationId xmlns:a16="http://schemas.microsoft.com/office/drawing/2014/main" id="{DE223A08-2062-124B-94D9-793FD0343B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4" y="3588"/>
              <a:ext cx="25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 8</a:t>
              </a:r>
            </a:p>
          </p:txBody>
        </p:sp>
        <p:sp>
          <p:nvSpPr>
            <p:cNvPr id="1074268" name="Text Box 92">
              <a:extLst>
                <a:ext uri="{FF2B5EF4-FFF2-40B4-BE49-F238E27FC236}">
                  <a16:creationId xmlns:a16="http://schemas.microsoft.com/office/drawing/2014/main" id="{FEF7A142-3784-634A-AEF3-26D6C50A35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3588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10</a:t>
              </a:r>
            </a:p>
          </p:txBody>
        </p:sp>
      </p:grpSp>
      <p:sp>
        <p:nvSpPr>
          <p:cNvPr id="1074251" name="Oval 75">
            <a:extLst>
              <a:ext uri="{FF2B5EF4-FFF2-40B4-BE49-F238E27FC236}">
                <a16:creationId xmlns:a16="http://schemas.microsoft.com/office/drawing/2014/main" id="{DF6338F9-1AFF-9548-B00E-A1A0EA3958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81475" y="3500439"/>
            <a:ext cx="109538" cy="109537"/>
          </a:xfrm>
          <a:prstGeom prst="ellipse">
            <a:avLst/>
          </a:prstGeom>
          <a:solidFill>
            <a:schemeClr val="folHlink">
              <a:alpha val="70000"/>
            </a:schemeClr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4273" name="Oval 97">
            <a:extLst>
              <a:ext uri="{FF2B5EF4-FFF2-40B4-BE49-F238E27FC236}">
                <a16:creationId xmlns:a16="http://schemas.microsoft.com/office/drawing/2014/main" id="{A908A449-CDE2-844D-A701-ACF62C41B2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57714" y="3751264"/>
            <a:ext cx="109537" cy="109537"/>
          </a:xfrm>
          <a:prstGeom prst="ellipse">
            <a:avLst/>
          </a:prstGeom>
          <a:solidFill>
            <a:schemeClr val="folHlink">
              <a:alpha val="70000"/>
            </a:schemeClr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4274" name="Oval 98">
            <a:extLst>
              <a:ext uri="{FF2B5EF4-FFF2-40B4-BE49-F238E27FC236}">
                <a16:creationId xmlns:a16="http://schemas.microsoft.com/office/drawing/2014/main" id="{67EB533B-08EC-D143-AF7C-BA318120E0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56164" y="3978275"/>
            <a:ext cx="109537" cy="109538"/>
          </a:xfrm>
          <a:prstGeom prst="ellipse">
            <a:avLst/>
          </a:prstGeom>
          <a:solidFill>
            <a:schemeClr val="folHlink">
              <a:alpha val="70000"/>
            </a:schemeClr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4275" name="Oval 99">
            <a:extLst>
              <a:ext uri="{FF2B5EF4-FFF2-40B4-BE49-F238E27FC236}">
                <a16:creationId xmlns:a16="http://schemas.microsoft.com/office/drawing/2014/main" id="{4DB4F281-76E4-674F-B792-B8F940BD76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56164" y="3681414"/>
            <a:ext cx="109537" cy="109537"/>
          </a:xfrm>
          <a:prstGeom prst="ellipse">
            <a:avLst/>
          </a:prstGeom>
          <a:solidFill>
            <a:schemeClr val="folHlink">
              <a:alpha val="70000"/>
            </a:schemeClr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4276" name="Oval 100">
            <a:extLst>
              <a:ext uri="{FF2B5EF4-FFF2-40B4-BE49-F238E27FC236}">
                <a16:creationId xmlns:a16="http://schemas.microsoft.com/office/drawing/2014/main" id="{29476BA6-E53B-B343-B351-EEDA15437A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21314" y="4106864"/>
            <a:ext cx="109537" cy="109537"/>
          </a:xfrm>
          <a:prstGeom prst="ellipse">
            <a:avLst/>
          </a:prstGeom>
          <a:solidFill>
            <a:schemeClr val="folHlink">
              <a:alpha val="70000"/>
            </a:schemeClr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4277" name="Oval 101">
            <a:extLst>
              <a:ext uri="{FF2B5EF4-FFF2-40B4-BE49-F238E27FC236}">
                <a16:creationId xmlns:a16="http://schemas.microsoft.com/office/drawing/2014/main" id="{93561E67-0E6D-F44C-BDE8-A8230E1A13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21314" y="3914775"/>
            <a:ext cx="109537" cy="109538"/>
          </a:xfrm>
          <a:prstGeom prst="ellipse">
            <a:avLst/>
          </a:prstGeom>
          <a:solidFill>
            <a:schemeClr val="folHlink">
              <a:alpha val="70000"/>
            </a:schemeClr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4278" name="Oval 102">
            <a:extLst>
              <a:ext uri="{FF2B5EF4-FFF2-40B4-BE49-F238E27FC236}">
                <a16:creationId xmlns:a16="http://schemas.microsoft.com/office/drawing/2014/main" id="{FAC9B30B-447D-984F-A0D9-C9C818747E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9725" y="3724275"/>
            <a:ext cx="109538" cy="109538"/>
          </a:xfrm>
          <a:prstGeom prst="ellipse">
            <a:avLst/>
          </a:prstGeom>
          <a:solidFill>
            <a:schemeClr val="folHlink">
              <a:alpha val="70000"/>
            </a:schemeClr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4279" name="Oval 103">
            <a:extLst>
              <a:ext uri="{FF2B5EF4-FFF2-40B4-BE49-F238E27FC236}">
                <a16:creationId xmlns:a16="http://schemas.microsoft.com/office/drawing/2014/main" id="{1B9E8CCE-A3B6-2649-BA35-00853C9B13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13414" y="4364039"/>
            <a:ext cx="109537" cy="109537"/>
          </a:xfrm>
          <a:prstGeom prst="ellipse">
            <a:avLst/>
          </a:prstGeom>
          <a:solidFill>
            <a:schemeClr val="folHlink">
              <a:alpha val="70000"/>
            </a:schemeClr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4280" name="Oval 104">
            <a:extLst>
              <a:ext uri="{FF2B5EF4-FFF2-40B4-BE49-F238E27FC236}">
                <a16:creationId xmlns:a16="http://schemas.microsoft.com/office/drawing/2014/main" id="{0E40D75A-8815-3A49-8B2F-1908951569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0114" y="4127500"/>
            <a:ext cx="109537" cy="109538"/>
          </a:xfrm>
          <a:prstGeom prst="ellipse">
            <a:avLst/>
          </a:prstGeom>
          <a:solidFill>
            <a:schemeClr val="folHlink">
              <a:alpha val="70000"/>
            </a:schemeClr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4281" name="Oval 105">
            <a:extLst>
              <a:ext uri="{FF2B5EF4-FFF2-40B4-BE49-F238E27FC236}">
                <a16:creationId xmlns:a16="http://schemas.microsoft.com/office/drawing/2014/main" id="{D1A9E99B-24E5-5243-868B-02924C0AEC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0114" y="3957639"/>
            <a:ext cx="109537" cy="109537"/>
          </a:xfrm>
          <a:prstGeom prst="ellipse">
            <a:avLst/>
          </a:prstGeom>
          <a:solidFill>
            <a:schemeClr val="folHlink">
              <a:alpha val="70000"/>
            </a:schemeClr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4282" name="Oval 106">
            <a:extLst>
              <a:ext uri="{FF2B5EF4-FFF2-40B4-BE49-F238E27FC236}">
                <a16:creationId xmlns:a16="http://schemas.microsoft.com/office/drawing/2014/main" id="{FF9CA49B-4BEA-544D-9C1B-6FE6D62823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58000" y="4486275"/>
            <a:ext cx="109538" cy="109538"/>
          </a:xfrm>
          <a:prstGeom prst="ellipse">
            <a:avLst/>
          </a:prstGeom>
          <a:solidFill>
            <a:schemeClr val="folHlink">
              <a:alpha val="70000"/>
            </a:schemeClr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4283" name="Rectangle 107">
            <a:extLst>
              <a:ext uri="{FF2B5EF4-FFF2-40B4-BE49-F238E27FC236}">
                <a16:creationId xmlns:a16="http://schemas.microsoft.com/office/drawing/2014/main" id="{F3ECB094-2C51-7F41-ADD2-EDD4E712B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6049963"/>
            <a:ext cx="12180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Continued.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514" name="Rectangle 2">
            <a:extLst>
              <a:ext uri="{FF2B5EF4-FFF2-40B4-BE49-F238E27FC236}">
                <a16:creationId xmlns:a16="http://schemas.microsoft.com/office/drawing/2014/main" id="{BB9973E7-E4A9-5C42-9578-367D1C7ECB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Correlation Coefficient</a:t>
            </a:r>
          </a:p>
        </p:txBody>
      </p:sp>
      <p:graphicFrame>
        <p:nvGraphicFramePr>
          <p:cNvPr id="1088515" name="Group 3">
            <a:extLst>
              <a:ext uri="{FF2B5EF4-FFF2-40B4-BE49-F238E27FC236}">
                <a16:creationId xmlns:a16="http://schemas.microsoft.com/office/drawing/2014/main" id="{8F63FD41-DDF0-0A42-876B-492D79C3D3B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30621" y="1844516"/>
          <a:ext cx="8899525" cy="1829435"/>
        </p:xfrm>
        <a:graphic>
          <a:graphicData uri="http://schemas.openxmlformats.org/drawingml/2006/table">
            <a:tbl>
              <a:tblPr/>
              <a:tblGrid>
                <a:gridCol w="1722437">
                  <a:extLst>
                    <a:ext uri="{9D8B030D-6E8A-4147-A177-3AD203B41FA5}">
                      <a16:colId xmlns:a16="http://schemas.microsoft.com/office/drawing/2014/main" val="1441973815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1093644764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4272429372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582349254"/>
                    </a:ext>
                  </a:extLst>
                </a:gridCol>
                <a:gridCol w="595312">
                  <a:extLst>
                    <a:ext uri="{9D8B030D-6E8A-4147-A177-3AD203B41FA5}">
                      <a16:colId xmlns:a16="http://schemas.microsoft.com/office/drawing/2014/main" val="377687753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947161658"/>
                    </a:ext>
                  </a:extLst>
                </a:gridCol>
                <a:gridCol w="579437">
                  <a:extLst>
                    <a:ext uri="{9D8B030D-6E8A-4147-A177-3AD203B41FA5}">
                      <a16:colId xmlns:a16="http://schemas.microsoft.com/office/drawing/2014/main" val="3518348935"/>
                    </a:ext>
                  </a:extLst>
                </a:gridCol>
                <a:gridCol w="579438">
                  <a:extLst>
                    <a:ext uri="{9D8B030D-6E8A-4147-A177-3AD203B41FA5}">
                      <a16:colId xmlns:a16="http://schemas.microsoft.com/office/drawing/2014/main" val="42323624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97515103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43994490"/>
                    </a:ext>
                  </a:extLst>
                </a:gridCol>
                <a:gridCol w="579437">
                  <a:extLst>
                    <a:ext uri="{9D8B030D-6E8A-4147-A177-3AD203B41FA5}">
                      <a16:colId xmlns:a16="http://schemas.microsoft.com/office/drawing/2014/main" val="81917887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612549617"/>
                    </a:ext>
                  </a:extLst>
                </a:gridCol>
                <a:gridCol w="579438">
                  <a:extLst>
                    <a:ext uri="{9D8B030D-6E8A-4147-A177-3AD203B41FA5}">
                      <a16:colId xmlns:a16="http://schemas.microsoft.com/office/drawing/2014/main" val="1370463501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Hours, </a:t>
                      </a:r>
                      <a:r>
                        <a:rPr kumimoji="0" lang="en-US" altLang="en-US" sz="2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x</a:t>
                      </a:r>
                      <a:endParaRPr kumimoji="0" lang="en-US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45720" marR="4572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0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1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2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3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3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5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5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5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6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7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7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10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640633"/>
                  </a:ext>
                </a:extLst>
              </a:tr>
              <a:tr h="65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Test score, </a:t>
                      </a:r>
                      <a:r>
                        <a:rPr kumimoji="0" lang="en-US" altLang="en-US" sz="2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y</a:t>
                      </a:r>
                      <a:endParaRPr kumimoji="0" lang="en-US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45720" marR="4572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96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85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82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74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95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68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76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84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58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65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75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50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261317"/>
                  </a:ext>
                </a:extLst>
              </a:tr>
              <a:tr h="65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xy</a:t>
                      </a:r>
                    </a:p>
                  </a:txBody>
                  <a:tcPr marL="45720" marR="4572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0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85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164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222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285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340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380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420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348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455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525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500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627375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x</a:t>
                      </a:r>
                      <a:r>
                        <a:rPr kumimoji="0" lang="en-US" altLang="en-US" sz="22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2</a:t>
                      </a:r>
                      <a:endParaRPr kumimoji="0" lang="en-US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45720" marR="4572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0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1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4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9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9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25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25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25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36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49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49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100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6821112"/>
                  </a:ext>
                </a:extLst>
              </a:tr>
              <a:tr h="441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y</a:t>
                      </a:r>
                      <a:r>
                        <a:rPr kumimoji="0" lang="en-US" altLang="en-US" sz="22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2</a:t>
                      </a:r>
                      <a:endParaRPr kumimoji="0" lang="en-US" altLang="en-US" sz="2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45720" marR="4572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9216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7225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6724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5476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9025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4624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5776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7056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3364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4225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5625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1pPr>
                      <a:lvl2pPr marL="114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2pPr>
                      <a:lvl3pPr marL="6905625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3pPr>
                      <a:lvl4pPr marL="718661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defRPr>
                      </a:lvl4pPr>
                      <a:lvl5pPr marL="758983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5pPr>
                      <a:lvl6pPr marL="8047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6pPr>
                      <a:lvl7pPr marL="8504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7pPr>
                      <a:lvl8pPr marL="89614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8pPr>
                      <a:lvl9pPr marL="941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itchFamily="2" charset="2"/>
                        </a:rPr>
                        <a:t>2500</a:t>
                      </a: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150768"/>
                  </a:ext>
                </a:extLst>
              </a:tr>
            </a:tbl>
          </a:graphicData>
        </a:graphic>
      </p:graphicFrame>
      <p:sp>
        <p:nvSpPr>
          <p:cNvPr id="1088605" name="Rectangle 93">
            <a:extLst>
              <a:ext uri="{FF2B5EF4-FFF2-40B4-BE49-F238E27FC236}">
                <a16:creationId xmlns:a16="http://schemas.microsoft.com/office/drawing/2014/main" id="{15867086-BBD0-2D42-AD96-B647441CF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463" y="1204913"/>
            <a:ext cx="8229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continued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</p:txBody>
      </p:sp>
      <p:graphicFrame>
        <p:nvGraphicFramePr>
          <p:cNvPr id="1088606" name="Object 94">
            <a:extLst>
              <a:ext uri="{FF2B5EF4-FFF2-40B4-BE49-F238E27FC236}">
                <a16:creationId xmlns:a16="http://schemas.microsoft.com/office/drawing/2014/main" id="{8155DD77-5668-6541-9804-DEABEF0CA1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1" y="4471989"/>
          <a:ext cx="3370263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1760000" imgH="22237700" progId="Equation.DSMT4">
                  <p:embed/>
                </p:oleObj>
              </mc:Choice>
              <mc:Fallback>
                <p:oleObj name="Equation" r:id="rId2" imgW="111760000" imgH="22237700" progId="Equation.DSMT4">
                  <p:embed/>
                  <p:pic>
                    <p:nvPicPr>
                      <p:cNvPr id="1088606" name="Object 94">
                        <a:extLst>
                          <a:ext uri="{FF2B5EF4-FFF2-40B4-BE49-F238E27FC236}">
                            <a16:creationId xmlns:a16="http://schemas.microsoft.com/office/drawing/2014/main" id="{8155DD77-5668-6541-9804-DEABEF0CA1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1" y="4471989"/>
                        <a:ext cx="3370263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8607" name="Object 95">
            <a:extLst>
              <a:ext uri="{FF2B5EF4-FFF2-40B4-BE49-F238E27FC236}">
                <a16:creationId xmlns:a16="http://schemas.microsoft.com/office/drawing/2014/main" id="{040426DB-4E25-CC42-A556-A8220CDB86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9525" y="4475163"/>
          <a:ext cx="4095750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096800" imgH="22237700" progId="Equation.DSMT4">
                  <p:embed/>
                </p:oleObj>
              </mc:Choice>
              <mc:Fallback>
                <p:oleObj name="Equation" r:id="rId4" imgW="114096800" imgH="22237700" progId="Equation.DSMT4">
                  <p:embed/>
                  <p:pic>
                    <p:nvPicPr>
                      <p:cNvPr id="1088607" name="Object 95">
                        <a:extLst>
                          <a:ext uri="{FF2B5EF4-FFF2-40B4-BE49-F238E27FC236}">
                            <a16:creationId xmlns:a16="http://schemas.microsoft.com/office/drawing/2014/main" id="{040426DB-4E25-CC42-A556-A8220CDB86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9525" y="4475163"/>
                        <a:ext cx="4095750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8608" name="Object 96">
            <a:extLst>
              <a:ext uri="{FF2B5EF4-FFF2-40B4-BE49-F238E27FC236}">
                <a16:creationId xmlns:a16="http://schemas.microsoft.com/office/drawing/2014/main" id="{24A86845-787A-9244-9F18-29305CFBF0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15438" y="4635500"/>
          <a:ext cx="995362" cy="1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800300" imgH="6438900" progId="Equation.DSMT4">
                  <p:embed/>
                </p:oleObj>
              </mc:Choice>
              <mc:Fallback>
                <p:oleObj name="Equation" r:id="rId6" imgW="27800300" imgH="6438900" progId="Equation.DSMT4">
                  <p:embed/>
                  <p:pic>
                    <p:nvPicPr>
                      <p:cNvPr id="1088608" name="Object 96">
                        <a:extLst>
                          <a:ext uri="{FF2B5EF4-FFF2-40B4-BE49-F238E27FC236}">
                            <a16:creationId xmlns:a16="http://schemas.microsoft.com/office/drawing/2014/main" id="{24A86845-787A-9244-9F18-29305CFBF0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15438" y="4635500"/>
                        <a:ext cx="995362" cy="192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8609" name="Text Box 97">
            <a:extLst>
              <a:ext uri="{FF2B5EF4-FFF2-40B4-BE49-F238E27FC236}">
                <a16:creationId xmlns:a16="http://schemas.microsoft.com/office/drawing/2014/main" id="{08AAD896-4609-7B49-8C35-371F8D487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5233989"/>
            <a:ext cx="74676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>
                <a:ln>
                  <a:noFill/>
                </a:ln>
                <a:solidFill>
                  <a:srgbClr val="954F7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There is a strong negative linear correlation.</a:t>
            </a:r>
          </a:p>
        </p:txBody>
      </p:sp>
      <p:sp>
        <p:nvSpPr>
          <p:cNvPr id="1088610" name="Text Box 98">
            <a:extLst>
              <a:ext uri="{FF2B5EF4-FFF2-40B4-BE49-F238E27FC236}">
                <a16:creationId xmlns:a16="http://schemas.microsoft.com/office/drawing/2014/main" id="{D212F182-C4EA-264E-850B-F9B49A488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5614988"/>
            <a:ext cx="74676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>
                <a:ln>
                  <a:noFill/>
                </a:ln>
                <a:solidFill>
                  <a:srgbClr val="954F7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 the number of hours spent watching TV increases, the test scores tend to decrease.</a:t>
            </a:r>
          </a:p>
        </p:txBody>
      </p:sp>
      <p:graphicFrame>
        <p:nvGraphicFramePr>
          <p:cNvPr id="1088611" name="Object 99">
            <a:extLst>
              <a:ext uri="{FF2B5EF4-FFF2-40B4-BE49-F238E27FC236}">
                <a16:creationId xmlns:a16="http://schemas.microsoft.com/office/drawing/2014/main" id="{4A8D24B4-0D75-444B-80EC-702EDA8C11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76334" y="1844516"/>
          <a:ext cx="866775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911300" imgH="7315200" progId="Equation.DSMT4">
                  <p:embed/>
                </p:oleObj>
              </mc:Choice>
              <mc:Fallback>
                <p:oleObj name="Equation" r:id="rId8" imgW="26911300" imgH="7315200" progId="Equation.DSMT4">
                  <p:embed/>
                  <p:pic>
                    <p:nvPicPr>
                      <p:cNvPr id="1088611" name="Object 99">
                        <a:extLst>
                          <a:ext uri="{FF2B5EF4-FFF2-40B4-BE49-F238E27FC236}">
                            <a16:creationId xmlns:a16="http://schemas.microsoft.com/office/drawing/2014/main" id="{4A8D24B4-0D75-444B-80EC-702EDA8C11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76334" y="1844516"/>
                        <a:ext cx="866775" cy="23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8612" name="Object 100">
            <a:extLst>
              <a:ext uri="{FF2B5EF4-FFF2-40B4-BE49-F238E27FC236}">
                <a16:creationId xmlns:a16="http://schemas.microsoft.com/office/drawing/2014/main" id="{88222A41-F2E9-EB42-9E12-00FE54BBDA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76334" y="2264305"/>
          <a:ext cx="998537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1013400" imgH="7899400" progId="Equation.DSMT4">
                  <p:embed/>
                </p:oleObj>
              </mc:Choice>
              <mc:Fallback>
                <p:oleObj name="Equation" r:id="rId10" imgW="31013400" imgH="7899400" progId="Equation.DSMT4">
                  <p:embed/>
                  <p:pic>
                    <p:nvPicPr>
                      <p:cNvPr id="1088612" name="Object 100">
                        <a:extLst>
                          <a:ext uri="{FF2B5EF4-FFF2-40B4-BE49-F238E27FC236}">
                            <a16:creationId xmlns:a16="http://schemas.microsoft.com/office/drawing/2014/main" id="{88222A41-F2E9-EB42-9E12-00FE54BBDA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76334" y="2264305"/>
                        <a:ext cx="998537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8613" name="Object 101">
            <a:extLst>
              <a:ext uri="{FF2B5EF4-FFF2-40B4-BE49-F238E27FC236}">
                <a16:creationId xmlns:a16="http://schemas.microsoft.com/office/drawing/2014/main" id="{380ACBEF-9530-DC47-A0E1-AA2A2374B2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76334" y="2632233"/>
          <a:ext cx="1233487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8328600" imgH="7899400" progId="Equation.DSMT4">
                  <p:embed/>
                </p:oleObj>
              </mc:Choice>
              <mc:Fallback>
                <p:oleObj name="Equation" r:id="rId12" imgW="38328600" imgH="7899400" progId="Equation.DSMT4">
                  <p:embed/>
                  <p:pic>
                    <p:nvPicPr>
                      <p:cNvPr id="1088613" name="Object 101">
                        <a:extLst>
                          <a:ext uri="{FF2B5EF4-FFF2-40B4-BE49-F238E27FC236}">
                            <a16:creationId xmlns:a16="http://schemas.microsoft.com/office/drawing/2014/main" id="{380ACBEF-9530-DC47-A0E1-AA2A2374B2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76334" y="2632233"/>
                        <a:ext cx="1233487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8614" name="Object 102">
            <a:extLst>
              <a:ext uri="{FF2B5EF4-FFF2-40B4-BE49-F238E27FC236}">
                <a16:creationId xmlns:a16="http://schemas.microsoft.com/office/drawing/2014/main" id="{2758F29C-7904-2C4B-B758-F9959B9F60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34264" y="2886233"/>
          <a:ext cx="108267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3642300" imgH="9067800" progId="Equation.DSMT4">
                  <p:embed/>
                </p:oleObj>
              </mc:Choice>
              <mc:Fallback>
                <p:oleObj name="Equation" r:id="rId14" imgW="33642300" imgH="9067800" progId="Equation.DSMT4">
                  <p:embed/>
                  <p:pic>
                    <p:nvPicPr>
                      <p:cNvPr id="1088614" name="Object 102">
                        <a:extLst>
                          <a:ext uri="{FF2B5EF4-FFF2-40B4-BE49-F238E27FC236}">
                            <a16:creationId xmlns:a16="http://schemas.microsoft.com/office/drawing/2014/main" id="{2758F29C-7904-2C4B-B758-F9959B9F60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4264" y="2886233"/>
                        <a:ext cx="108267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8615" name="Object 103">
            <a:extLst>
              <a:ext uri="{FF2B5EF4-FFF2-40B4-BE49-F238E27FC236}">
                <a16:creationId xmlns:a16="http://schemas.microsoft.com/office/drawing/2014/main" id="{1E0C87B0-0B5D-8A49-A731-60643F2C08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76334" y="3266225"/>
          <a:ext cx="13366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1541700" imgH="9652000" progId="Equation.DSMT4">
                  <p:embed/>
                </p:oleObj>
              </mc:Choice>
              <mc:Fallback>
                <p:oleObj name="Equation" r:id="rId16" imgW="41541700" imgH="9652000" progId="Equation.DSMT4">
                  <p:embed/>
                  <p:pic>
                    <p:nvPicPr>
                      <p:cNvPr id="1088615" name="Object 103">
                        <a:extLst>
                          <a:ext uri="{FF2B5EF4-FFF2-40B4-BE49-F238E27FC236}">
                            <a16:creationId xmlns:a16="http://schemas.microsoft.com/office/drawing/2014/main" id="{1E0C87B0-0B5D-8A49-A731-60643F2C08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76334" y="3266225"/>
                        <a:ext cx="1336675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8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08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08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08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08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088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108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8609" grpId="0"/>
      <p:bldP spid="10886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9FF65D-B1F3-A8AF-986F-11C5D96B6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apply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5F1D61-282E-626A-CC9E-0CDAC011D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the document review.doc</a:t>
            </a:r>
          </a:p>
          <a:p>
            <a:r>
              <a:rPr lang="en-US" dirty="0"/>
              <a:t>We will re-do these analyses in SPSS (</a:t>
            </a:r>
            <a:r>
              <a:rPr lang="en-US" dirty="0" err="1"/>
              <a:t>review.sav</a:t>
            </a:r>
            <a:r>
              <a:rPr lang="en-US" dirty="0"/>
              <a:t>)</a:t>
            </a:r>
          </a:p>
          <a:p>
            <a:r>
              <a:rPr lang="en-US" dirty="0"/>
              <a:t>Then we will do them using JASP (</a:t>
            </a:r>
            <a:r>
              <a:rPr lang="en-US" dirty="0" err="1"/>
              <a:t>review.jasp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042742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66AB3-FC43-524E-8742-5DA9F601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Correlation in SPSS/JASP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A77FC-B9EA-E34F-95DD-90E6C0632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dirty="0"/>
              <a:t>We are going to explore correlations between symptoms of PTSD following a traumatic experience</a:t>
            </a:r>
          </a:p>
          <a:p>
            <a:r>
              <a:rPr lang="en-US" sz="2200" dirty="0"/>
              <a:t>The data asked over 2000 foster youth about Potentially Traumatic Experiences (PTEs)</a:t>
            </a:r>
          </a:p>
          <a:p>
            <a:pPr lvl="1"/>
            <a:r>
              <a:rPr lang="en-US" sz="2200" dirty="0"/>
              <a:t>PTEs are sexually molested, kidnapping, badly injured or killed, watched badly injured or killed, physically attacked, threatened with a weapon</a:t>
            </a:r>
          </a:p>
          <a:p>
            <a:r>
              <a:rPr lang="en-US" sz="2200" dirty="0"/>
              <a:t>Symptoms are </a:t>
            </a:r>
            <a:r>
              <a:rPr lang="en-US" sz="2200" i="1" u="sng" dirty="0"/>
              <a:t>re-experiencing</a:t>
            </a:r>
            <a:r>
              <a:rPr lang="en-US" sz="2200" dirty="0"/>
              <a:t> (intrusive thoughts, distressing dreams, flashbacks, psychological distress, physiological reactivity), </a:t>
            </a:r>
            <a:r>
              <a:rPr lang="en-US" sz="2200" i="1" u="sng" dirty="0"/>
              <a:t>arousal problems</a:t>
            </a:r>
            <a:r>
              <a:rPr lang="en-US" sz="2200" dirty="0"/>
              <a:t> (sleep, irritability, concentration, hypervigilance, startle), </a:t>
            </a:r>
            <a:r>
              <a:rPr lang="en-US" sz="2200" i="1" u="sng" dirty="0"/>
              <a:t>avoidance</a:t>
            </a:r>
            <a:r>
              <a:rPr lang="en-US" sz="2200" dirty="0"/>
              <a:t> (avoid thoughts and places) and </a:t>
            </a:r>
            <a:r>
              <a:rPr lang="en-US" sz="2200" i="1" u="sng" dirty="0"/>
              <a:t>emotional numbing </a:t>
            </a:r>
            <a:r>
              <a:rPr lang="en-US" sz="2200" dirty="0"/>
              <a:t>(diminished interest, feeling detached, restricted affect and foreshortened future)</a:t>
            </a:r>
          </a:p>
          <a:p>
            <a:r>
              <a:rPr lang="en-US" sz="2200" b="1" dirty="0"/>
              <a:t>File: PTSD_foster_care.csv</a:t>
            </a:r>
          </a:p>
        </p:txBody>
      </p:sp>
    </p:spTree>
    <p:extLst>
      <p:ext uri="{BB962C8B-B14F-4D97-AF65-F5344CB8AC3E}">
        <p14:creationId xmlns:p14="http://schemas.microsoft.com/office/powerpoint/2010/main" val="33144262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9925" y="616549"/>
            <a:ext cx="6858000" cy="99417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/>
                </a:solidFill>
                <a:latin typeface="Consolas" charset="0"/>
                <a:ea typeface="Consolas" charset="0"/>
                <a:cs typeface="Consolas" charset="0"/>
              </a:rPr>
              <a:t>Compute the Test Statistic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74D595-141C-6849-A646-28B542DAD5D5}"/>
              </a:ext>
            </a:extLst>
          </p:cNvPr>
          <p:cNvSpPr/>
          <p:nvPr/>
        </p:nvSpPr>
        <p:spPr>
          <a:xfrm>
            <a:off x="2131161" y="42615"/>
            <a:ext cx="1078764" cy="2008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450" b="1" dirty="0">
                <a:solidFill>
                  <a:schemeClr val="accent1"/>
                </a:solidFill>
                <a:latin typeface="Consolas" charset="0"/>
                <a:cs typeface="Consolas" charset="0"/>
              </a:rPr>
              <a:t>4</a:t>
            </a:r>
            <a:endParaRPr lang="en-US" sz="12450" dirty="0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D70B74-B959-BE44-AC00-7D1544FB586E}"/>
              </a:ext>
            </a:extLst>
          </p:cNvPr>
          <p:cNvSpPr/>
          <p:nvPr/>
        </p:nvSpPr>
        <p:spPr>
          <a:xfrm>
            <a:off x="892594" y="5164933"/>
            <a:ext cx="4083169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Consolas" charset="0"/>
                <a:cs typeface="Consolas" charset="0"/>
              </a:rPr>
              <a:t>Click on </a:t>
            </a:r>
          </a:p>
          <a:p>
            <a:r>
              <a:rPr lang="en-US" b="1" dirty="0">
                <a:solidFill>
                  <a:schemeClr val="tx2"/>
                </a:solidFill>
                <a:latin typeface="Consolas" charset="0"/>
                <a:cs typeface="Consolas" charset="0"/>
              </a:rPr>
              <a:t>“Regression Tab </a:t>
            </a:r>
            <a:r>
              <a:rPr lang="en-US" b="1" dirty="0">
                <a:solidFill>
                  <a:schemeClr val="tx2"/>
                </a:solidFill>
                <a:latin typeface="Consolas" charset="0"/>
                <a:cs typeface="Consolas" charset="0"/>
                <a:sym typeface="Wingdings" pitchFamily="2" charset="2"/>
              </a:rPr>
              <a:t> Correlation</a:t>
            </a:r>
            <a:r>
              <a:rPr lang="en-US" b="1" dirty="0">
                <a:solidFill>
                  <a:schemeClr val="tx2"/>
                </a:solidFill>
                <a:latin typeface="Consolas" charset="0"/>
                <a:cs typeface="Consolas" charset="0"/>
              </a:rPr>
              <a:t>”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D2AADF-0234-424B-8B83-CB34FB8CD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999" y="2027033"/>
            <a:ext cx="10787064" cy="105775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1F536D9-1FA5-7B43-BE21-EE2238F41026}"/>
              </a:ext>
            </a:extLst>
          </p:cNvPr>
          <p:cNvCxnSpPr>
            <a:cxnSpLocks/>
          </p:cNvCxnSpPr>
          <p:nvPr/>
        </p:nvCxnSpPr>
        <p:spPr>
          <a:xfrm flipV="1">
            <a:off x="2214563" y="2856053"/>
            <a:ext cx="3881437" cy="230888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7430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9619" y="427786"/>
            <a:ext cx="8021945" cy="99417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/>
                </a:solidFill>
                <a:latin typeface="Consolas" charset="0"/>
                <a:ea typeface="Consolas" charset="0"/>
                <a:cs typeface="Consolas" charset="0"/>
              </a:rPr>
              <a:t>Compute the Test Statistic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74D595-141C-6849-A646-28B542DAD5D5}"/>
              </a:ext>
            </a:extLst>
          </p:cNvPr>
          <p:cNvSpPr/>
          <p:nvPr/>
        </p:nvSpPr>
        <p:spPr>
          <a:xfrm>
            <a:off x="393983" y="0"/>
            <a:ext cx="1063112" cy="2008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450" b="1" dirty="0">
                <a:solidFill>
                  <a:schemeClr val="accent1"/>
                </a:solidFill>
                <a:latin typeface="Consolas" charset="0"/>
                <a:cs typeface="Consolas" charset="0"/>
              </a:rPr>
              <a:t>4</a:t>
            </a:r>
            <a:endParaRPr lang="en-US" sz="12450" dirty="0">
              <a:solidFill>
                <a:schemeClr val="accent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ECA22D-C243-914F-86F7-15DB47E9BC1F}"/>
              </a:ext>
            </a:extLst>
          </p:cNvPr>
          <p:cNvSpPr/>
          <p:nvPr/>
        </p:nvSpPr>
        <p:spPr>
          <a:xfrm>
            <a:off x="89401" y="5416071"/>
            <a:ext cx="1892822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Consolas" charset="0"/>
                <a:cs typeface="Consolas" charset="0"/>
              </a:rPr>
              <a:t>Bring variables to be correlated over here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00BCA53-B1FA-B944-A553-33DB6F92F824}"/>
              </a:ext>
            </a:extLst>
          </p:cNvPr>
          <p:cNvCxnSpPr>
            <a:cxnSpLocks/>
          </p:cNvCxnSpPr>
          <p:nvPr/>
        </p:nvCxnSpPr>
        <p:spPr>
          <a:xfrm flipH="1">
            <a:off x="9779528" y="892317"/>
            <a:ext cx="740074" cy="67930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EBCF6C0-C870-9B46-B102-4EA3B84788E9}"/>
              </a:ext>
            </a:extLst>
          </p:cNvPr>
          <p:cNvSpPr/>
          <p:nvPr/>
        </p:nvSpPr>
        <p:spPr>
          <a:xfrm>
            <a:off x="10519600" y="522985"/>
            <a:ext cx="1071127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Consolas" charset="0"/>
                <a:cs typeface="Consolas" charset="0"/>
              </a:rPr>
              <a:t>Results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2458B0-C176-CB82-7395-1A2408664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0187" y="1340917"/>
            <a:ext cx="3637848" cy="430488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2B41BD-E73C-FF40-A5FA-07D30416E0D0}"/>
              </a:ext>
            </a:extLst>
          </p:cNvPr>
          <p:cNvCxnSpPr>
            <a:cxnSpLocks/>
          </p:cNvCxnSpPr>
          <p:nvPr/>
        </p:nvCxnSpPr>
        <p:spPr>
          <a:xfrm flipV="1">
            <a:off x="1108431" y="2190750"/>
            <a:ext cx="3265867" cy="332633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AD9642F-64F4-ECB5-2321-573EB1152A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831" y="1175179"/>
            <a:ext cx="3933825" cy="2826355"/>
          </a:xfrm>
          <a:prstGeom prst="rect">
            <a:avLst/>
          </a:prstGeom>
        </p:spPr>
      </p:pic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7818E7C8-61F4-7251-AC24-457E6F3951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4093" y="4152421"/>
            <a:ext cx="2527300" cy="2527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3199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1350" y="1131094"/>
            <a:ext cx="6858000" cy="99417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/>
                </a:solidFill>
                <a:latin typeface="Consolas" charset="0"/>
                <a:ea typeface="Consolas" charset="0"/>
                <a:cs typeface="Consolas" charset="0"/>
              </a:rPr>
              <a:t>Compute an Effect Size and Describe 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E219FA-28DD-894F-B184-C72CAF779949}"/>
              </a:ext>
            </a:extLst>
          </p:cNvPr>
          <p:cNvSpPr txBox="1"/>
          <p:nvPr/>
        </p:nvSpPr>
        <p:spPr>
          <a:xfrm>
            <a:off x="2152651" y="2487861"/>
            <a:ext cx="833437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chemeClr val="tx2"/>
                </a:solidFill>
                <a:latin typeface="Consolas" charset="0"/>
                <a:ea typeface="Consolas" charset="0"/>
                <a:cs typeface="Consolas" charset="0"/>
              </a:rPr>
              <a:t>One of the main effect sizes for correlation is r</a:t>
            </a:r>
            <a:r>
              <a:rPr lang="en-US" sz="2100" b="1" baseline="30000" dirty="0">
                <a:solidFill>
                  <a:schemeClr val="tx2"/>
                </a:solidFill>
                <a:latin typeface="Consolas" charset="0"/>
                <a:ea typeface="Consolas" charset="0"/>
                <a:cs typeface="Consolas" charset="0"/>
              </a:rPr>
              <a:t>2</a:t>
            </a:r>
            <a:endParaRPr lang="en-US" sz="2100" b="1" dirty="0">
              <a:solidFill>
                <a:schemeClr val="accent6"/>
              </a:solidFill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CA9FB1-CC4C-2949-843D-D8D012B694A5}"/>
              </a:ext>
            </a:extLst>
          </p:cNvPr>
          <p:cNvSpPr/>
          <p:nvPr/>
        </p:nvSpPr>
        <p:spPr>
          <a:xfrm>
            <a:off x="2007336" y="616549"/>
            <a:ext cx="1063112" cy="2008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450" b="1" dirty="0">
                <a:solidFill>
                  <a:schemeClr val="accent1"/>
                </a:solidFill>
                <a:latin typeface="Consolas" charset="0"/>
                <a:cs typeface="Consolas" charset="0"/>
              </a:rPr>
              <a:t>5</a:t>
            </a:r>
            <a:endParaRPr lang="en-US" sz="12450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7BE456-96CB-BC4C-B6B3-4AD36BD17D9E}"/>
                  </a:ext>
                </a:extLst>
              </p:cNvPr>
              <p:cNvSpPr txBox="1"/>
              <p:nvPr/>
            </p:nvSpPr>
            <p:spPr>
              <a:xfrm>
                <a:off x="5559437" y="3029107"/>
                <a:ext cx="1535998" cy="4249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7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7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7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sz="27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sz="27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7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7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7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  <m:sup>
                          <m:r>
                            <a:rPr lang="en-US" sz="27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700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7BE456-96CB-BC4C-B6B3-4AD36BD17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9437" y="3029107"/>
                <a:ext cx="1535998" cy="424925"/>
              </a:xfrm>
              <a:prstGeom prst="rect">
                <a:avLst/>
              </a:prstGeom>
              <a:blipFill>
                <a:blip r:embed="rId3"/>
                <a:stretch>
                  <a:fillRect l="-1639" r="-1639" b="-3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0E60F6F4-904B-5E4C-BA9A-6719B53D6AF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2812" y="3954642"/>
              <a:ext cx="5734050" cy="1377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4500">
                      <a:extLst>
                        <a:ext uri="{9D8B030D-6E8A-4147-A177-3AD203B41FA5}">
                          <a16:colId xmlns:a16="http://schemas.microsoft.com/office/drawing/2014/main" val="2004006104"/>
                        </a:ext>
                      </a:extLst>
                    </a:gridCol>
                    <a:gridCol w="4019550">
                      <a:extLst>
                        <a:ext uri="{9D8B030D-6E8A-4147-A177-3AD203B41FA5}">
                          <a16:colId xmlns:a16="http://schemas.microsoft.com/office/drawing/2014/main" val="2605256838"/>
                        </a:ext>
                      </a:extLst>
                    </a:gridCol>
                  </a:tblGrid>
                  <a:tr h="33210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lang="en-US" sz="1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Estimated Size of the Effect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057194693"/>
                      </a:ext>
                    </a:extLst>
                  </a:tr>
                  <a:tr h="28784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Close to .01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Small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017861069"/>
                      </a:ext>
                    </a:extLst>
                  </a:tr>
                  <a:tr h="24974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Close to .09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Moderate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515990545"/>
                      </a:ext>
                    </a:extLst>
                  </a:tr>
                  <a:tr h="13544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Close to .25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Large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158851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0E60F6F4-904B-5E4C-BA9A-6719B53D6AF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2812" y="3954642"/>
              <a:ext cx="5734050" cy="1377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4500">
                      <a:extLst>
                        <a:ext uri="{9D8B030D-6E8A-4147-A177-3AD203B41FA5}">
                          <a16:colId xmlns:a16="http://schemas.microsoft.com/office/drawing/2014/main" val="2004006104"/>
                        </a:ext>
                      </a:extLst>
                    </a:gridCol>
                    <a:gridCol w="4019550">
                      <a:extLst>
                        <a:ext uri="{9D8B030D-6E8A-4147-A177-3AD203B41FA5}">
                          <a16:colId xmlns:a16="http://schemas.microsoft.com/office/drawing/2014/main" val="2605256838"/>
                        </a:ext>
                      </a:extLst>
                    </a:gridCol>
                  </a:tblGrid>
                  <a:tr h="3490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4"/>
                          <a:stretch>
                            <a:fillRect t="-10714" r="-237037" b="-3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Estimated Size of the Effect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057194693"/>
                      </a:ext>
                    </a:extLst>
                  </a:tr>
                  <a:tr h="342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Close to .01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Small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017861069"/>
                      </a:ext>
                    </a:extLst>
                  </a:tr>
                  <a:tr h="342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Close to .09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Moderate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515990545"/>
                      </a:ext>
                    </a:extLst>
                  </a:tr>
                  <a:tr h="342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Close to .25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Large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158851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43853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3463" y="431056"/>
            <a:ext cx="9958180" cy="99417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Consolas" charset="0"/>
                <a:ea typeface="Consolas" charset="0"/>
                <a:cs typeface="Consolas" charset="0"/>
              </a:rPr>
              <a:t>Interpreting the 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E219FA-28DD-894F-B184-C72CAF779949}"/>
              </a:ext>
            </a:extLst>
          </p:cNvPr>
          <p:cNvSpPr txBox="1"/>
          <p:nvPr/>
        </p:nvSpPr>
        <p:spPr>
          <a:xfrm>
            <a:off x="358224" y="1643074"/>
            <a:ext cx="77628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chemeClr val="accent3"/>
                </a:solidFill>
                <a:latin typeface="Consolas" charset="0"/>
                <a:ea typeface="Consolas" charset="0"/>
                <a:cs typeface="Consolas" charset="0"/>
              </a:rPr>
              <a:t>Example write-up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1B028F-F67A-D147-BB84-EBBFC34336ED}"/>
              </a:ext>
            </a:extLst>
          </p:cNvPr>
          <p:cNvSpPr/>
          <p:nvPr/>
        </p:nvSpPr>
        <p:spPr>
          <a:xfrm>
            <a:off x="231477" y="-208399"/>
            <a:ext cx="1063112" cy="2008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450" b="1" dirty="0">
                <a:solidFill>
                  <a:schemeClr val="accent1"/>
                </a:solidFill>
                <a:latin typeface="Consolas" charset="0"/>
                <a:cs typeface="Consolas" charset="0"/>
              </a:rPr>
              <a:t>6</a:t>
            </a:r>
            <a:endParaRPr lang="en-US" sz="12450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B1F116-D28F-334E-893D-8C3EF434488B}"/>
              </a:ext>
            </a:extLst>
          </p:cNvPr>
          <p:cNvSpPr txBox="1"/>
          <p:nvPr/>
        </p:nvSpPr>
        <p:spPr>
          <a:xfrm>
            <a:off x="231477" y="2767972"/>
            <a:ext cx="77628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Correlations were computed among Symptoms are </a:t>
            </a:r>
            <a:r>
              <a:rPr lang="en-US" i="1" u="sng" dirty="0"/>
              <a:t>re-experiencing</a:t>
            </a:r>
            <a:r>
              <a:rPr lang="en-US" dirty="0"/>
              <a:t>, </a:t>
            </a:r>
            <a:r>
              <a:rPr lang="en-US" i="1" u="sng" dirty="0"/>
              <a:t>arousal problems</a:t>
            </a:r>
            <a:r>
              <a:rPr lang="en-US" dirty="0"/>
              <a:t>, </a:t>
            </a:r>
            <a:r>
              <a:rPr lang="en-US" i="1" u="sng" dirty="0"/>
              <a:t>avoidance</a:t>
            </a:r>
            <a:r>
              <a:rPr lang="en-US" dirty="0"/>
              <a:t> and </a:t>
            </a:r>
            <a:r>
              <a:rPr lang="en-US" i="1" u="sng" dirty="0"/>
              <a:t>emotional numbing</a:t>
            </a:r>
            <a:r>
              <a:rPr lang="en-US" dirty="0"/>
              <a:t> in over 2,000 foster care youth who experienced a potentially traumatic event. The correlations between all symptom pairs were statistically significant at the alpha = .05 level. For example, the correlation coefficient between re-experiencing and arousal was positive and highly significant indicating that as re-experiencing increases so do symptoms of arousal (r = .832, p &lt; .001). Etc.</a:t>
            </a:r>
            <a:endParaRPr lang="en-US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C1A967-8CA5-B349-AC06-B3A32FE8E1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4770" b="65021"/>
          <a:stretch/>
        </p:blipFill>
        <p:spPr>
          <a:xfrm>
            <a:off x="8121099" y="2266352"/>
            <a:ext cx="3677855" cy="239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219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next 3-4 weeks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Ordinary Least Squares</a:t>
            </a:r>
          </a:p>
          <a:p>
            <a:pPr lvl="1"/>
            <a:r>
              <a:rPr lang="en-US" dirty="0"/>
              <a:t>Simple linear regression</a:t>
            </a:r>
          </a:p>
          <a:p>
            <a:pPr lvl="2"/>
            <a:r>
              <a:rPr lang="en-US" dirty="0"/>
              <a:t>Mechanics (today)</a:t>
            </a:r>
          </a:p>
          <a:p>
            <a:pPr lvl="1"/>
            <a:r>
              <a:rPr lang="en-US" dirty="0"/>
              <a:t>Multiple linear regression</a:t>
            </a:r>
          </a:p>
          <a:p>
            <a:pPr lvl="1"/>
            <a:r>
              <a:rPr lang="en-US" dirty="0"/>
              <a:t>Power</a:t>
            </a:r>
          </a:p>
          <a:p>
            <a:pPr lvl="1"/>
            <a:r>
              <a:rPr lang="en-US" dirty="0"/>
              <a:t>Effect Size</a:t>
            </a:r>
          </a:p>
          <a:p>
            <a:pPr lvl="1"/>
            <a:r>
              <a:rPr lang="en-US" dirty="0"/>
              <a:t>Assumptions</a:t>
            </a:r>
          </a:p>
          <a:p>
            <a:r>
              <a:rPr lang="en-US" dirty="0"/>
              <a:t>Examples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1822172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D7FBBE-A20C-4B1D-90B6-5532C7C69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730162" y="6002372"/>
            <a:ext cx="549442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495E168-DA5E-4888-8D8A-92B118324C14}" type="slidenum">
              <a:rPr kumimoji="0" lang="ru-RU" sz="1400" b="0" i="0" u="none" strike="noStrike" kern="1200" cap="none" spc="0" normalizeH="0" baseline="0" noProof="0" smtClean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ru-RU" sz="1400" b="0" i="0" u="none" strike="noStrike" kern="1200" cap="none" spc="0" normalizeH="0" baseline="0" noProof="0">
              <a:ln>
                <a:noFill/>
              </a:ln>
              <a:solidFill>
                <a:srgbClr val="FFCD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3C249D8E-1B1B-4C20-A54F-B66E633DC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579"/>
            <a:ext cx="10515600" cy="1325563"/>
          </a:xfrm>
        </p:spPr>
        <p:txBody>
          <a:bodyPr/>
          <a:lstStyle/>
          <a:p>
            <a:r>
              <a:rPr lang="en-US" dirty="0"/>
              <a:t>Continuous Variables</a:t>
            </a:r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6B88C205-B8AB-46D7-9FF7-6073B30B4B4F}"/>
              </a:ext>
            </a:extLst>
          </p:cNvPr>
          <p:cNvGraphicFramePr>
            <a:graphicFrameLocks/>
          </p:cNvGraphicFramePr>
          <p:nvPr/>
        </p:nvGraphicFramePr>
        <p:xfrm>
          <a:off x="1395984" y="1924531"/>
          <a:ext cx="9400033" cy="3409336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1366001">
                  <a:extLst>
                    <a:ext uri="{9D8B030D-6E8A-4147-A177-3AD203B41FA5}">
                      <a16:colId xmlns:a16="http://schemas.microsoft.com/office/drawing/2014/main" val="2200425388"/>
                    </a:ext>
                  </a:extLst>
                </a:gridCol>
                <a:gridCol w="2571580">
                  <a:extLst>
                    <a:ext uri="{9D8B030D-6E8A-4147-A177-3AD203B41FA5}">
                      <a16:colId xmlns:a16="http://schemas.microsoft.com/office/drawing/2014/main" val="3306377049"/>
                    </a:ext>
                  </a:extLst>
                </a:gridCol>
                <a:gridCol w="2711793">
                  <a:extLst>
                    <a:ext uri="{9D8B030D-6E8A-4147-A177-3AD203B41FA5}">
                      <a16:colId xmlns:a16="http://schemas.microsoft.com/office/drawing/2014/main" val="1335301271"/>
                    </a:ext>
                  </a:extLst>
                </a:gridCol>
                <a:gridCol w="2750659">
                  <a:extLst>
                    <a:ext uri="{9D8B030D-6E8A-4147-A177-3AD203B41FA5}">
                      <a16:colId xmlns:a16="http://schemas.microsoft.com/office/drawing/2014/main" val="3742422588"/>
                    </a:ext>
                  </a:extLst>
                </a:gridCol>
              </a:tblGrid>
              <a:tr h="344092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100" b="0" i="0" u="none" strike="noStrike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0" i="0" u="none" strike="noStrike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Outcome Variable</a:t>
                      </a:r>
                    </a:p>
                  </a:txBody>
                  <a:tcPr marL="90673" marR="69748" marT="69748" marB="69748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0" i="0" u="none" strike="noStrike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Are the observations independent or correlated?</a:t>
                      </a:r>
                    </a:p>
                  </a:txBody>
                  <a:tcPr marL="90673" marR="69748" marT="69748" marB="69748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100" b="0" i="0" u="none" strike="noStrike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0" i="0" u="none" strike="noStrike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Alternatives if the normality assumption is violated (and small sample size):</a:t>
                      </a:r>
                    </a:p>
                  </a:txBody>
                  <a:tcPr marL="90673" marR="69748" marT="69748" marB="69748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050416"/>
                  </a:ext>
                </a:extLst>
              </a:tr>
              <a:tr h="3440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0" i="0" u="none" strike="noStrike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independent</a:t>
                      </a:r>
                    </a:p>
                  </a:txBody>
                  <a:tcPr marL="90673" marR="69748" marT="69748" marB="69748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0" i="0" u="none" strike="noStrike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correlated </a:t>
                      </a:r>
                    </a:p>
                  </a:txBody>
                  <a:tcPr marL="90673" marR="69748" marT="69748" marB="69748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1276731"/>
                  </a:ext>
                </a:extLst>
              </a:tr>
              <a:tr h="267368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0" i="0" u="none" strike="noStrike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Continuous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0" i="0" u="none" strike="noStrike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(e.g. pain scale, cognitive function)</a:t>
                      </a:r>
                    </a:p>
                  </a:txBody>
                  <a:tcPr marL="90673" marR="69748" marT="69748" marB="69748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1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T-test:</a:t>
                      </a:r>
                      <a:r>
                        <a:rPr kumimoji="0" lang="en-GB" alt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compares means between two independent groups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1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ANOVA:</a:t>
                      </a:r>
                      <a:r>
                        <a:rPr kumimoji="0" lang="en-GB" alt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compares means between more than two independent groups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1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Pearson’s correlation coefficient</a:t>
                      </a:r>
                      <a:r>
                        <a:rPr kumimoji="0" lang="en-GB" alt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(linear correlation): shows linear correlation between two continuous variables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1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Linear regression:</a:t>
                      </a:r>
                      <a:r>
                        <a:rPr kumimoji="0" lang="en-GB" alt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multivariate regression technique used when the outcome is continuous; gives slopes</a:t>
                      </a:r>
                      <a:endParaRPr kumimoji="0" lang="en-US" alt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0673" marR="69748" marT="69748" marB="69748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1" i="0" u="none" strike="noStrike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Paired </a:t>
                      </a:r>
                      <a:r>
                        <a:rPr kumimoji="0" lang="en-US" altLang="en-US" sz="1100" b="1" i="0" u="none" strike="noStrike" cap="none" spc="0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ttest</a:t>
                      </a:r>
                      <a:r>
                        <a:rPr kumimoji="0" lang="en-US" altLang="en-US" sz="1100" b="1" i="0" u="none" strike="noStrike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:</a:t>
                      </a:r>
                      <a:r>
                        <a:rPr kumimoji="0" lang="en-US" altLang="en-US" sz="1100" b="0" i="0" u="none" strike="noStrike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compares means between two related groups (e.g., the same subjects before and after)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100" b="0" i="0" u="none" strike="noStrike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1" i="0" u="none" strike="noStrike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Repeated-measures ANOVA:</a:t>
                      </a:r>
                      <a:r>
                        <a:rPr kumimoji="0" lang="en-US" altLang="en-US" sz="1100" b="0" i="0" u="none" strike="noStrike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compares changes over time in the means of two or more groups (repeated measurements)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100" b="0" i="0" u="none" strike="noStrike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1" i="0" u="none" strike="noStrike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Mixed models/GEE modeling</a:t>
                      </a:r>
                      <a:r>
                        <a:rPr kumimoji="0" lang="en-US" altLang="en-US" sz="1100" b="0" i="0" u="none" strike="noStrike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: multivariate regression techniques to compare changes over time between two or more groups; gives rate of change over time</a:t>
                      </a:r>
                    </a:p>
                  </a:txBody>
                  <a:tcPr marL="90673" marR="69748" marT="69748" marB="69748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0" i="0" u="sng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Non-parametric statistics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Wilcoxon sign-rank test</a:t>
                      </a:r>
                      <a:r>
                        <a:rPr kumimoji="0" lang="en-US" alt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: non-parametric alternative to the paired </a:t>
                      </a:r>
                      <a:r>
                        <a:rPr kumimoji="0" lang="en-US" altLang="en-US" sz="11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ttest</a:t>
                      </a:r>
                      <a:endParaRPr kumimoji="0" lang="en-US" altLang="en-US" sz="1100" b="1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100" b="1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Wilcoxon sum-rank test</a:t>
                      </a:r>
                      <a:r>
                        <a:rPr kumimoji="0" lang="en-US" alt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(=Mann-Whitney U test): non-parametric alternative to the </a:t>
                      </a:r>
                      <a:r>
                        <a:rPr kumimoji="0" lang="en-US" altLang="en-US" sz="11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ttest</a:t>
                      </a:r>
                      <a:endParaRPr kumimoji="0" lang="en-US" alt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Kruskal-Wallis test: </a:t>
                      </a:r>
                      <a:r>
                        <a:rPr kumimoji="0" lang="en-US" alt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non-parametric alternative to ANOVA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Spearman rank correlation coefficient:</a:t>
                      </a:r>
                      <a:r>
                        <a:rPr kumimoji="0" lang="en-US" alt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non-parametric alternative to Pearson’s correlation coefficient </a:t>
                      </a:r>
                      <a:endParaRPr kumimoji="0" lang="en-US" altLang="en-US" sz="1100" b="1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0673" marR="69748" marT="69748" marB="69748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335816"/>
                  </a:ext>
                </a:extLst>
              </a:tr>
            </a:tbl>
          </a:graphicData>
        </a:graphic>
      </p:graphicFrame>
      <p:sp>
        <p:nvSpPr>
          <p:cNvPr id="8" name="Oval 22">
            <a:extLst>
              <a:ext uri="{FF2B5EF4-FFF2-40B4-BE49-F238E27FC236}">
                <a16:creationId xmlns:a16="http://schemas.microsoft.com/office/drawing/2014/main" id="{E9666A15-4B6E-4872-ABFD-077460EEF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7370" y="4338312"/>
            <a:ext cx="2971800" cy="1219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74539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707BE0-129E-8709-64CB-2D6E37212E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38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F097E9-54E9-D42E-9D26-E6F0B491F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 of Regression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053633-8E83-65B1-255F-08EF8AAE3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2800" dirty="0">
                <a:latin typeface="+mj-lt"/>
              </a:rPr>
              <a:t>Regression analysis serves 3 major purposes:</a:t>
            </a:r>
          </a:p>
          <a:p>
            <a:pPr marL="1291590" lvl="2" indent="-514350" algn="l" rtl="0" eaLnBrk="1" hangingPunct="1">
              <a:buFont typeface="+mj-lt"/>
              <a:buAutoNum type="arabicPeriod"/>
            </a:pPr>
            <a:r>
              <a:rPr lang="en-US" altLang="en-US" sz="2800" dirty="0">
                <a:latin typeface="+mj-lt"/>
              </a:rPr>
              <a:t>Description</a:t>
            </a:r>
          </a:p>
          <a:p>
            <a:pPr marL="1291590" lvl="2" indent="-514350" algn="l" rtl="0" eaLnBrk="1" hangingPunct="1">
              <a:buFont typeface="+mj-lt"/>
              <a:buAutoNum type="arabicPeriod"/>
            </a:pPr>
            <a:r>
              <a:rPr lang="en-US" altLang="en-US" sz="2800" dirty="0">
                <a:latin typeface="+mj-lt"/>
              </a:rPr>
              <a:t>Prediction</a:t>
            </a:r>
          </a:p>
          <a:p>
            <a:pPr marL="1291590" lvl="2" indent="-514350" algn="l" rtl="0" eaLnBrk="1" hangingPunct="1">
              <a:buFont typeface="+mj-lt"/>
              <a:buAutoNum type="arabicPeriod"/>
            </a:pPr>
            <a:r>
              <a:rPr lang="en-US" altLang="en-US" sz="2800" dirty="0">
                <a:latin typeface="+mj-lt"/>
              </a:rPr>
              <a:t>Control </a:t>
            </a:r>
            <a:r>
              <a:rPr lang="en-US" altLang="en-US" sz="2800" dirty="0">
                <a:latin typeface="+mj-lt"/>
                <a:sym typeface="Wingdings" panose="05000000000000000000" pitchFamily="2" charset="2"/>
              </a:rPr>
              <a:t> ceteris paribus</a:t>
            </a:r>
          </a:p>
          <a:p>
            <a:pPr marL="1291590" lvl="2" indent="-514350" algn="l" rtl="0" eaLnBrk="1" hangingPunct="1">
              <a:buFont typeface="+mj-lt"/>
              <a:buAutoNum type="arabicPeriod"/>
            </a:pPr>
            <a:endParaRPr lang="en-US" altLang="en-US" sz="2800" dirty="0">
              <a:highlight>
                <a:srgbClr val="00FFFF"/>
              </a:highlight>
              <a:latin typeface="+mj-lt"/>
            </a:endParaRPr>
          </a:p>
          <a:p>
            <a:pPr algn="l" rtl="0" eaLnBrk="1" hangingPunct="1"/>
            <a:r>
              <a:rPr lang="en-US" altLang="en-US" sz="2800" dirty="0">
                <a:latin typeface="+mj-lt"/>
              </a:rPr>
              <a:t>The several purposes of regression analysis frequently overlap in practice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9358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57DDA7-C7CD-DBE7-3F0A-EF45A297AB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39</a:t>
            </a:fld>
            <a:endParaRPr lang="ru-R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F5E8456-0E59-7F79-5D1E-9EA252C5B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Mechanics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9D4745-E67D-4A50-6236-19BDD9DB0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>
              <a:lnSpc>
                <a:spcPct val="90000"/>
              </a:lnSpc>
            </a:pPr>
            <a:r>
              <a:rPr lang="en-US" altLang="ar-SA" sz="2800" dirty="0">
                <a:cs typeface="+mj-cs"/>
              </a:rPr>
              <a:t>Simple regression analysis is a statistical tool that gives us the ability to estimate the relationship between a dependent variable (usually called y) and an independent variable (usually called x).</a:t>
            </a:r>
          </a:p>
          <a:p>
            <a:pPr lvl="1"/>
            <a:r>
              <a:rPr lang="en-US" altLang="ar-SA" dirty="0">
                <a:cs typeface="+mj-cs"/>
              </a:rPr>
              <a:t>The dependent variable is the variable for which we want to make a prediction</a:t>
            </a:r>
          </a:p>
          <a:p>
            <a:pPr lvl="1"/>
            <a:r>
              <a:rPr lang="en-US" altLang="ar-SA" dirty="0">
                <a:cs typeface="+mj-cs"/>
              </a:rPr>
              <a:t>While various non-linear forms may be used, simple linear regression models are the most common (and the most useless)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7937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8DF10A-CC81-404A-BAE5-F2AFADF85F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95E168-DA5E-4888-8D8A-92B118324C14}" type="slidenum">
              <a:rPr kumimoji="0" lang="ru-RU" sz="1400" b="0" i="0" u="none" strike="noStrike" kern="1200" cap="none" spc="0" normalizeH="0" baseline="0" noProof="0" smtClean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CD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93CB6580-7287-4513-9175-76E38676F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245968FD-F5FB-4A28-843F-9E4EE7202D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altLang="en-US" dirty="0">
                    <a:ea typeface="ＭＳ Ｐゴシック" panose="020B0600070205080204" pitchFamily="34" charset="-128"/>
                  </a:rPr>
                  <a:t>Aims to predict the value of an </a:t>
                </a:r>
                <a:r>
                  <a:rPr lang="en-US" altLang="en-US" dirty="0">
                    <a:solidFill>
                      <a:schemeClr val="hlink"/>
                    </a:solidFill>
                    <a:ea typeface="ＭＳ Ｐゴシック" panose="020B0600070205080204" pitchFamily="34" charset="-128"/>
                  </a:rPr>
                  <a:t>outcome (e.g., violence, PTSD, </a:t>
                </a:r>
                <a:r>
                  <a:rPr lang="en-US" altLang="en-US" dirty="0" err="1">
                    <a:solidFill>
                      <a:schemeClr val="hlink"/>
                    </a:solidFill>
                    <a:ea typeface="ＭＳ Ｐゴシック" panose="020B0600070205080204" pitchFamily="34" charset="-128"/>
                  </a:rPr>
                  <a:t>etc</a:t>
                </a:r>
                <a:r>
                  <a:rPr lang="en-US" altLang="en-US" dirty="0">
                    <a:solidFill>
                      <a:schemeClr val="hlink"/>
                    </a:solidFill>
                    <a:ea typeface="ＭＳ Ｐゴシック" panose="020B0600070205080204" pitchFamily="34" charset="-128"/>
                  </a:rPr>
                  <a:t>), </a:t>
                </a:r>
                <a:r>
                  <a:rPr lang="en-US" altLang="en-US" i="1" dirty="0">
                    <a:solidFill>
                      <a:schemeClr val="hlink"/>
                    </a:solidFill>
                    <a:ea typeface="ＭＳ Ｐゴシック" panose="020B0600070205080204" pitchFamily="34" charset="-128"/>
                  </a:rPr>
                  <a:t>Y</a:t>
                </a:r>
                <a:r>
                  <a:rPr lang="en-US" altLang="en-US" dirty="0">
                    <a:ea typeface="ＭＳ Ｐゴシック" panose="020B0600070205080204" pitchFamily="34" charset="-128"/>
                  </a:rPr>
                  <a:t>, based on the value of one or more explanatory variables,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𝑋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1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, …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𝑋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en-US" dirty="0">
                    <a:ea typeface="ＭＳ Ｐゴシック" panose="020B0600070205080204" pitchFamily="34" charset="-128"/>
                  </a:rPr>
                  <a:t>.</a:t>
                </a:r>
              </a:p>
              <a:p>
                <a:pPr eaLnBrk="1" hangingPunct="1">
                  <a:lnSpc>
                    <a:spcPct val="110000"/>
                  </a:lnSpc>
                </a:pPr>
                <a:r>
                  <a:rPr lang="en-US" altLang="en-US" dirty="0">
                    <a:ea typeface="ＭＳ Ｐゴシック" panose="020B0600070205080204" pitchFamily="34" charset="-128"/>
                  </a:rPr>
                  <a:t>Two main questions</a:t>
                </a:r>
              </a:p>
              <a:p>
                <a:pPr lvl="1" eaLnBrk="1" hangingPunct="1">
                  <a:lnSpc>
                    <a:spcPct val="110000"/>
                  </a:lnSpc>
                </a:pPr>
                <a:r>
                  <a:rPr lang="en-US" altLang="en-US" dirty="0">
                    <a:ea typeface="ＭＳ Ｐゴシック" panose="020B0600070205080204" pitchFamily="34" charset="-128"/>
                  </a:rPr>
                  <a:t>What is the relationship between the Y and </a:t>
                </a:r>
                <a:r>
                  <a:rPr lang="en-US" altLang="en-US" dirty="0" err="1">
                    <a:ea typeface="ＭＳ Ｐゴシック" panose="020B0600070205080204" pitchFamily="34" charset="-128"/>
                  </a:rPr>
                  <a:t>Xs</a:t>
                </a:r>
                <a:r>
                  <a:rPr lang="en-US" altLang="en-US" dirty="0">
                    <a:ea typeface="ＭＳ Ｐゴシック" panose="020B0600070205080204" pitchFamily="34" charset="-128"/>
                  </a:rPr>
                  <a:t>, on average? </a:t>
                </a:r>
              </a:p>
              <a:p>
                <a:pPr lvl="2" eaLnBrk="1" hangingPunct="1">
                  <a:lnSpc>
                    <a:spcPct val="110000"/>
                  </a:lnSpc>
                </a:pPr>
                <a:r>
                  <a:rPr lang="en-US" altLang="en-US" dirty="0">
                    <a:ea typeface="ＭＳ Ｐゴシック" panose="020B0600070205080204" pitchFamily="34" charset="-128"/>
                  </a:rPr>
                  <a:t>The analysis “models” this as a line</a:t>
                </a:r>
              </a:p>
              <a:p>
                <a:pPr lvl="2" eaLnBrk="1" hangingPunct="1">
                  <a:lnSpc>
                    <a:spcPct val="110000"/>
                  </a:lnSpc>
                </a:pPr>
                <a:r>
                  <a:rPr lang="en-US" altLang="en-US" dirty="0">
                    <a:ea typeface="ＭＳ Ｐゴシック" panose="020B0600070205080204" pitchFamily="34" charset="-128"/>
                    <a:cs typeface="Times New Roman" panose="02020603050405020304" pitchFamily="18" charset="0"/>
                  </a:rPr>
                  <a:t>We care about “slope”—size, direction</a:t>
                </a:r>
              </a:p>
              <a:p>
                <a:pPr lvl="2" eaLnBrk="1" hangingPunct="1">
                  <a:lnSpc>
                    <a:spcPct val="110000"/>
                  </a:lnSpc>
                </a:pPr>
                <a:r>
                  <a:rPr lang="en-US" altLang="en-US" dirty="0">
                    <a:ea typeface="ＭＳ Ｐゴシック" panose="020B0600070205080204" pitchFamily="34" charset="-128"/>
                    <a:cs typeface="Times New Roman" panose="02020603050405020304" pitchFamily="18" charset="0"/>
                  </a:rPr>
                  <a:t>Slope=0 corresponds to “no association” (just as in correlation)</a:t>
                </a:r>
              </a:p>
              <a:p>
                <a:pPr lvl="1" eaLnBrk="1" hangingPunct="1">
                  <a:lnSpc>
                    <a:spcPct val="110000"/>
                  </a:lnSpc>
                </a:pPr>
                <a:r>
                  <a:rPr lang="en-US" altLang="en-US" dirty="0">
                    <a:ea typeface="ＭＳ Ｐゴシック" panose="020B0600070205080204" pitchFamily="34" charset="-128"/>
                  </a:rPr>
                  <a:t>How precisely can we predict Y conditional on certain values of the independent variables?</a:t>
                </a:r>
              </a:p>
              <a:p>
                <a:pPr lvl="2">
                  <a:lnSpc>
                    <a:spcPct val="110000"/>
                  </a:lnSpc>
                </a:pPr>
                <a:r>
                  <a:rPr lang="en-US" dirty="0">
                    <a:ea typeface="ＭＳ Ｐゴシック" panose="020B0600070205080204" pitchFamily="34" charset="-128"/>
                  </a:rPr>
                  <a:t>Another way to say this: How much of the variation in Y is being explained by X?</a:t>
                </a:r>
                <a:endParaRPr lang="en-US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245968FD-F5FB-4A28-843F-9E4EE7202D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6876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88F9E8-9C66-496D-B37E-83065854B1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95E168-DA5E-4888-8D8A-92B118324C14}" type="slidenum">
              <a:rPr kumimoji="0" lang="ru-RU" sz="1400" b="0" i="0" u="none" strike="noStrike" kern="1200" cap="none" spc="0" normalizeH="0" baseline="0" noProof="0" smtClean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CD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523E8C-F049-4B08-BEAA-E3C6C7BC7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Linear regression –Terminology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EF4A57-9583-44FE-A333-D825FEAAB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Outcome, Y</a:t>
            </a:r>
          </a:p>
          <a:p>
            <a:pPr lvl="1"/>
            <a:r>
              <a:rPr lang="en-US" dirty="0"/>
              <a:t>Dependent variable</a:t>
            </a:r>
          </a:p>
          <a:p>
            <a:pPr lvl="1"/>
            <a:r>
              <a:rPr lang="en-US" dirty="0"/>
              <a:t>Response variable</a:t>
            </a:r>
          </a:p>
          <a:p>
            <a:endParaRPr lang="en-US" dirty="0"/>
          </a:p>
          <a:p>
            <a:r>
              <a:rPr lang="en-US" dirty="0"/>
              <a:t>Explanatory variable (predictor), X</a:t>
            </a:r>
          </a:p>
          <a:p>
            <a:pPr lvl="1"/>
            <a:r>
              <a:rPr lang="en-US" dirty="0"/>
              <a:t>Independent variable</a:t>
            </a:r>
          </a:p>
          <a:p>
            <a:pPr lvl="1"/>
            <a:r>
              <a:rPr lang="en-US" dirty="0"/>
              <a:t>Covariate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5961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3AB8544D-C554-42E4-9EFA-0D06D3EFB9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2899" y="2251075"/>
            <a:ext cx="1167693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The first order linear model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  <a:buFontTx/>
              <a:buNone/>
            </a:pPr>
            <a:endParaRPr lang="en-US" altLang="en-US" dirty="0"/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i="1" dirty="0"/>
              <a:t>Y</a:t>
            </a:r>
            <a:r>
              <a:rPr lang="en-US" altLang="en-US" dirty="0"/>
              <a:t> = dependent variable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i="1" dirty="0"/>
              <a:t>X</a:t>
            </a:r>
            <a:r>
              <a:rPr lang="en-US" altLang="en-US" dirty="0"/>
              <a:t> = independent variable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/>
              <a:t>b = </a:t>
            </a:r>
            <a:r>
              <a:rPr lang="en-US" altLang="en-US" i="1" dirty="0"/>
              <a:t>Y</a:t>
            </a:r>
            <a:r>
              <a:rPr lang="en-US" altLang="en-US" dirty="0"/>
              <a:t>-intercept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/>
              <a:t>m = slope of the line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altLang="en-US" dirty="0"/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/>
              <a:t>Define b, and m</a:t>
            </a:r>
          </a:p>
        </p:txBody>
      </p:sp>
      <p:grpSp>
        <p:nvGrpSpPr>
          <p:cNvPr id="5139" name="Group 19">
            <a:extLst>
              <a:ext uri="{FF2B5EF4-FFF2-40B4-BE49-F238E27FC236}">
                <a16:creationId xmlns:a16="http://schemas.microsoft.com/office/drawing/2014/main" id="{B2F21EE9-2C77-471D-ABD4-62AF99B3E280}"/>
              </a:ext>
            </a:extLst>
          </p:cNvPr>
          <p:cNvGrpSpPr>
            <a:grpSpLocks/>
          </p:cNvGrpSpPr>
          <p:nvPr/>
        </p:nvGrpSpPr>
        <p:grpSpPr bwMode="auto">
          <a:xfrm>
            <a:off x="5427784" y="2333626"/>
            <a:ext cx="6268916" cy="3527510"/>
            <a:chOff x="3408" y="2496"/>
            <a:chExt cx="1680" cy="1248"/>
          </a:xfrm>
        </p:grpSpPr>
        <p:sp>
          <p:nvSpPr>
            <p:cNvPr id="5125" name="Line 5">
              <a:extLst>
                <a:ext uri="{FF2B5EF4-FFF2-40B4-BE49-F238E27FC236}">
                  <a16:creationId xmlns:a16="http://schemas.microsoft.com/office/drawing/2014/main" id="{843618FE-798D-4F38-953F-A19A27B193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496"/>
              <a:ext cx="0" cy="124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endParaRPr>
            </a:p>
          </p:txBody>
        </p:sp>
        <p:sp>
          <p:nvSpPr>
            <p:cNvPr id="5126" name="Line 6">
              <a:extLst>
                <a:ext uri="{FF2B5EF4-FFF2-40B4-BE49-F238E27FC236}">
                  <a16:creationId xmlns:a16="http://schemas.microsoft.com/office/drawing/2014/main" id="{88CA9C3C-6F99-4006-92CD-2C496EACE2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3744"/>
              <a:ext cx="168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endParaRPr>
            </a:p>
          </p:txBody>
        </p:sp>
      </p:grpSp>
      <p:sp>
        <p:nvSpPr>
          <p:cNvPr id="5127" name="Text Box 7">
            <a:extLst>
              <a:ext uri="{FF2B5EF4-FFF2-40B4-BE49-F238E27FC236}">
                <a16:creationId xmlns:a16="http://schemas.microsoft.com/office/drawing/2014/main" id="{ADBD7636-BA92-4C33-8193-F2755C88A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54023" y="5630303"/>
            <a:ext cx="3658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X</a:t>
            </a:r>
          </a:p>
        </p:txBody>
      </p:sp>
      <p:sp>
        <p:nvSpPr>
          <p:cNvPr id="5128" name="Text Box 8">
            <a:extLst>
              <a:ext uri="{FF2B5EF4-FFF2-40B4-BE49-F238E27FC236}">
                <a16:creationId xmlns:a16="http://schemas.microsoft.com/office/drawing/2014/main" id="{F551C333-5A32-4AE9-9B66-AB8843E7F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0492" y="1895788"/>
            <a:ext cx="3545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Y</a:t>
            </a:r>
          </a:p>
        </p:txBody>
      </p:sp>
      <p:sp>
        <p:nvSpPr>
          <p:cNvPr id="5131" name="Line 11">
            <a:extLst>
              <a:ext uri="{FF2B5EF4-FFF2-40B4-BE49-F238E27FC236}">
                <a16:creationId xmlns:a16="http://schemas.microsoft.com/office/drawing/2014/main" id="{7BE12063-0D72-40E0-826F-E53AA150AD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27784" y="2588212"/>
            <a:ext cx="3725742" cy="2366657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5132" name="Text Box 12">
            <a:extLst>
              <a:ext uri="{FF2B5EF4-FFF2-40B4-BE49-F238E27FC236}">
                <a16:creationId xmlns:a16="http://schemas.microsoft.com/office/drawing/2014/main" id="{B5A56E8F-6C7B-4C09-9C49-58DA87417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373" y="4736996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</a:t>
            </a:r>
          </a:p>
        </p:txBody>
      </p:sp>
      <p:sp>
        <p:nvSpPr>
          <p:cNvPr id="5133" name="Freeform 13">
            <a:extLst>
              <a:ext uri="{FF2B5EF4-FFF2-40B4-BE49-F238E27FC236}">
                <a16:creationId xmlns:a16="http://schemas.microsoft.com/office/drawing/2014/main" id="{14DF4386-25B6-4D05-9B7F-ABBC016A3464}"/>
              </a:ext>
            </a:extLst>
          </p:cNvPr>
          <p:cNvSpPr>
            <a:spLocks/>
          </p:cNvSpPr>
          <p:nvPr/>
        </p:nvSpPr>
        <p:spPr bwMode="auto">
          <a:xfrm>
            <a:off x="5791207" y="4282098"/>
            <a:ext cx="685800" cy="457200"/>
          </a:xfrm>
          <a:custGeom>
            <a:avLst/>
            <a:gdLst>
              <a:gd name="T0" fmla="*/ 0 w 432"/>
              <a:gd name="T1" fmla="*/ 288 h 288"/>
              <a:gd name="T2" fmla="*/ 432 w 432"/>
              <a:gd name="T3" fmla="*/ 288 h 288"/>
              <a:gd name="T4" fmla="*/ 432 w 432"/>
              <a:gd name="T5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" h="288">
                <a:moveTo>
                  <a:pt x="0" y="288"/>
                </a:moveTo>
                <a:lnTo>
                  <a:pt x="432" y="288"/>
                </a:lnTo>
                <a:lnTo>
                  <a:pt x="432" y="0"/>
                </a:lnTo>
              </a:path>
            </a:pathLst>
          </a:cu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5134" name="Text Box 14">
            <a:extLst>
              <a:ext uri="{FF2B5EF4-FFF2-40B4-BE49-F238E27FC236}">
                <a16:creationId xmlns:a16="http://schemas.microsoft.com/office/drawing/2014/main" id="{510ED92D-47EA-46E0-8CF8-1620F89CF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1010" y="4726001"/>
            <a:ext cx="5822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Run</a:t>
            </a:r>
          </a:p>
        </p:txBody>
      </p:sp>
      <p:sp>
        <p:nvSpPr>
          <p:cNvPr id="5135" name="Text Box 15">
            <a:extLst>
              <a:ext uri="{FF2B5EF4-FFF2-40B4-BE49-F238E27FC236}">
                <a16:creationId xmlns:a16="http://schemas.microsoft.com/office/drawing/2014/main" id="{9570667C-D9CC-4A72-8910-3012E14AB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841" y="4356669"/>
            <a:ext cx="5966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Rise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C6B8D43-2081-666E-D8C9-ED70C622D35E}"/>
                  </a:ext>
                </a:extLst>
              </p:cNvPr>
              <p:cNvSpPr txBox="1"/>
              <p:nvPr/>
            </p:nvSpPr>
            <p:spPr>
              <a:xfrm>
                <a:off x="0" y="2790120"/>
                <a:ext cx="4856884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𝑚𝑋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C6B8D43-2081-666E-D8C9-ED70C622D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790120"/>
                <a:ext cx="4856884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0">
            <a:extLst>
              <a:ext uri="{FF2B5EF4-FFF2-40B4-BE49-F238E27FC236}">
                <a16:creationId xmlns:a16="http://schemas.microsoft.com/office/drawing/2014/main" id="{F9A79B0E-2E88-FF6C-6E6C-EF60208A79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0568" y="344573"/>
            <a:ext cx="7569868" cy="616509"/>
          </a:xfrm>
          <a:noFill/>
          <a:ln/>
        </p:spPr>
        <p:txBody>
          <a:bodyPr>
            <a:normAutofit/>
          </a:bodyPr>
          <a:lstStyle/>
          <a:p>
            <a:pPr algn="l"/>
            <a:r>
              <a:rPr lang="en-US" altLang="en-US" sz="3600" dirty="0"/>
              <a:t>Functional Form</a:t>
            </a:r>
          </a:p>
        </p:txBody>
      </p:sp>
    </p:spTree>
    <p:extLst>
      <p:ext uri="{BB962C8B-B14F-4D97-AF65-F5344CB8AC3E}">
        <p14:creationId xmlns:p14="http://schemas.microsoft.com/office/powerpoint/2010/main" val="38874670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4" name="Text Box 6">
            <a:extLst>
              <a:ext uri="{FF2B5EF4-FFF2-40B4-BE49-F238E27FC236}">
                <a16:creationId xmlns:a16="http://schemas.microsoft.com/office/drawing/2014/main" id="{DD9C6A54-212B-48AC-80B8-546D9C759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3249" y="5802143"/>
            <a:ext cx="12715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House size</a:t>
            </a:r>
          </a:p>
        </p:txBody>
      </p:sp>
      <p:sp>
        <p:nvSpPr>
          <p:cNvPr id="68615" name="Text Box 7">
            <a:extLst>
              <a:ext uri="{FF2B5EF4-FFF2-40B4-BE49-F238E27FC236}">
                <a16:creationId xmlns:a16="http://schemas.microsoft.com/office/drawing/2014/main" id="{EFDFE6A6-CFB2-41F2-B985-2967467DA248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3146960" y="3432717"/>
            <a:ext cx="19464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House Cost</a:t>
            </a:r>
          </a:p>
        </p:txBody>
      </p:sp>
      <p:sp>
        <p:nvSpPr>
          <p:cNvPr id="68618" name="Freeform 10">
            <a:extLst>
              <a:ext uri="{FF2B5EF4-FFF2-40B4-BE49-F238E27FC236}">
                <a16:creationId xmlns:a16="http://schemas.microsoft.com/office/drawing/2014/main" id="{5080EA59-72A5-4179-AD5A-E3ED80EA1F2E}"/>
              </a:ext>
            </a:extLst>
          </p:cNvPr>
          <p:cNvSpPr>
            <a:spLocks/>
          </p:cNvSpPr>
          <p:nvPr/>
        </p:nvSpPr>
        <p:spPr bwMode="auto">
          <a:xfrm>
            <a:off x="4343401" y="2690812"/>
            <a:ext cx="5468814" cy="3038476"/>
          </a:xfrm>
          <a:custGeom>
            <a:avLst/>
            <a:gdLst>
              <a:gd name="T0" fmla="*/ 0 w 2304"/>
              <a:gd name="T1" fmla="*/ 0 h 1824"/>
              <a:gd name="T2" fmla="*/ 0 w 2304"/>
              <a:gd name="T3" fmla="*/ 1824 h 1824"/>
              <a:gd name="T4" fmla="*/ 2304 w 2304"/>
              <a:gd name="T5" fmla="*/ 1824 h 18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04" h="1824">
                <a:moveTo>
                  <a:pt x="0" y="0"/>
                </a:moveTo>
                <a:lnTo>
                  <a:pt x="0" y="1824"/>
                </a:lnTo>
                <a:lnTo>
                  <a:pt x="2304" y="1824"/>
                </a:lnTo>
              </a:path>
            </a:pathLst>
          </a:custGeom>
          <a:noFill/>
          <a:ln w="9525" cap="flat" cmpd="sng">
            <a:solidFill>
              <a:schemeClr val="bg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68619" name="Text Box 11">
            <a:extLst>
              <a:ext uri="{FF2B5EF4-FFF2-40B4-BE49-F238E27FC236}">
                <a16:creationId xmlns:a16="http://schemas.microsoft.com/office/drawing/2014/main" id="{0D99BDB0-AF20-4C1E-8E0F-0B67D24F9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8937" y="4580304"/>
            <a:ext cx="1646605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Most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lots sell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for $25,000</a:t>
            </a:r>
          </a:p>
        </p:txBody>
      </p:sp>
      <p:sp>
        <p:nvSpPr>
          <p:cNvPr id="68620" name="Text Box 12">
            <a:extLst>
              <a:ext uri="{FF2B5EF4-FFF2-40B4-BE49-F238E27FC236}">
                <a16:creationId xmlns:a16="http://schemas.microsoft.com/office/drawing/2014/main" id="{3226909B-8DC7-4934-A33C-F28B7A9667A8}"/>
              </a:ext>
            </a:extLst>
          </p:cNvPr>
          <p:cNvSpPr txBox="1">
            <a:spLocks noChangeArrowheads="1"/>
          </p:cNvSpPr>
          <p:nvPr/>
        </p:nvSpPr>
        <p:spPr bwMode="auto">
          <a:xfrm rot="20254797">
            <a:off x="4444927" y="3335276"/>
            <a:ext cx="351891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Building a house costs </a:t>
            </a:r>
            <a:r>
              <a:rPr kumimoji="0" lang="en-US" alt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about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$75 per square foot. </a:t>
            </a:r>
          </a:p>
        </p:txBody>
      </p:sp>
      <p:sp>
        <p:nvSpPr>
          <p:cNvPr id="68621" name="Line 13">
            <a:extLst>
              <a:ext uri="{FF2B5EF4-FFF2-40B4-BE49-F238E27FC236}">
                <a16:creationId xmlns:a16="http://schemas.microsoft.com/office/drawing/2014/main" id="{91B4E5DC-DB82-4422-B0CB-A4040AABF6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399" y="2131202"/>
            <a:ext cx="6093069" cy="272496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68623" name="Text Box 15">
            <a:extLst>
              <a:ext uri="{FF2B5EF4-FFF2-40B4-BE49-F238E27FC236}">
                <a16:creationId xmlns:a16="http://schemas.microsoft.com/office/drawing/2014/main" id="{1DE9E29E-8200-4FD0-B81A-82514C14E662}"/>
              </a:ext>
            </a:extLst>
          </p:cNvPr>
          <p:cNvSpPr txBox="1">
            <a:spLocks noChangeArrowheads="1"/>
          </p:cNvSpPr>
          <p:nvPr/>
        </p:nvSpPr>
        <p:spPr bwMode="auto">
          <a:xfrm rot="20257664">
            <a:off x="4618135" y="3958790"/>
            <a:ext cx="38363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House cost = $25,000 + 75(Size)</a:t>
            </a:r>
          </a:p>
        </p:txBody>
      </p:sp>
      <p:sp>
        <p:nvSpPr>
          <p:cNvPr id="68625" name="Line 17">
            <a:extLst>
              <a:ext uri="{FF2B5EF4-FFF2-40B4-BE49-F238E27FC236}">
                <a16:creationId xmlns:a16="http://schemas.microsoft.com/office/drawing/2014/main" id="{5A729D9B-D855-4E37-A907-F7F2077067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4856163"/>
            <a:ext cx="4572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68628" name="Rectangle 20">
            <a:extLst>
              <a:ext uri="{FF2B5EF4-FFF2-40B4-BE49-F238E27FC236}">
                <a16:creationId xmlns:a16="http://schemas.microsoft.com/office/drawing/2014/main" id="{8B460409-62EE-4B1B-BD28-288EB4D244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0608" y="210488"/>
            <a:ext cx="7569868" cy="616509"/>
          </a:xfrm>
          <a:noFill/>
          <a:ln/>
        </p:spPr>
        <p:txBody>
          <a:bodyPr>
            <a:normAutofit/>
          </a:bodyPr>
          <a:lstStyle/>
          <a:p>
            <a:pPr algn="l"/>
            <a:r>
              <a:rPr lang="en-US" altLang="en-US" sz="3600" dirty="0"/>
              <a:t>Functional Form</a:t>
            </a:r>
          </a:p>
        </p:txBody>
      </p:sp>
      <p:sp>
        <p:nvSpPr>
          <p:cNvPr id="68629" name="Rectangle 21">
            <a:extLst>
              <a:ext uri="{FF2B5EF4-FFF2-40B4-BE49-F238E27FC236}">
                <a16:creationId xmlns:a16="http://schemas.microsoft.com/office/drawing/2014/main" id="{4A1173F1-0F1C-4EE1-998F-CE4ABB619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849" y="2131202"/>
            <a:ext cx="7772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The model has a deterministic and a probabilistic components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4460007-B36C-AC68-3730-D39C4EE501D2}"/>
              </a:ext>
            </a:extLst>
          </p:cNvPr>
          <p:cNvCxnSpPr>
            <a:cxnSpLocks/>
            <a:endCxn id="68621" idx="0"/>
          </p:cNvCxnSpPr>
          <p:nvPr/>
        </p:nvCxnSpPr>
        <p:spPr>
          <a:xfrm flipH="1" flipV="1">
            <a:off x="4343399" y="4856163"/>
            <a:ext cx="1189406" cy="138816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EF8299D-6438-1B08-BF17-68C648D49E94}"/>
              </a:ext>
            </a:extLst>
          </p:cNvPr>
          <p:cNvSpPr txBox="1"/>
          <p:nvPr/>
        </p:nvSpPr>
        <p:spPr>
          <a:xfrm>
            <a:off x="4776049" y="6288898"/>
            <a:ext cx="6929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What is the expected value of the house  when the house size is 0?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14089D88-A7ED-9021-C58F-4B21A4FAFD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792061"/>
              </p:ext>
            </p:extLst>
          </p:nvPr>
        </p:nvGraphicFramePr>
        <p:xfrm>
          <a:off x="8498691" y="3590575"/>
          <a:ext cx="331298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491">
                  <a:extLst>
                    <a:ext uri="{9D8B030D-6E8A-4147-A177-3AD203B41FA5}">
                      <a16:colId xmlns:a16="http://schemas.microsoft.com/office/drawing/2014/main" val="2079246040"/>
                    </a:ext>
                  </a:extLst>
                </a:gridCol>
                <a:gridCol w="1656491">
                  <a:extLst>
                    <a:ext uri="{9D8B030D-6E8A-4147-A177-3AD203B41FA5}">
                      <a16:colId xmlns:a16="http://schemas.microsoft.com/office/drawing/2014/main" val="20659025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Housing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Housing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904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 sq. ft.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670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1,000 sq. ft.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207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2,500 sq. ft.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$212,500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701846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5FA36F3-F701-76FF-57AB-5E0120A589BD}"/>
              </a:ext>
            </a:extLst>
          </p:cNvPr>
          <p:cNvSpPr/>
          <p:nvPr/>
        </p:nvSpPr>
        <p:spPr>
          <a:xfrm>
            <a:off x="10163848" y="3943255"/>
            <a:ext cx="1647825" cy="1130680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4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21802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8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9" grpId="0" autoUpdateAnimBg="0"/>
      <p:bldP spid="68620" grpId="0" autoUpdateAnimBg="0"/>
      <p:bldP spid="68623" grpId="0" autoUpdateAnimBg="0"/>
      <p:bldP spid="7" grpId="0"/>
      <p:bldP spid="2" grpId="0" animBg="1"/>
      <p:bldP spid="2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42" name="Text Box 10">
            <a:extLst>
              <a:ext uri="{FF2B5EF4-FFF2-40B4-BE49-F238E27FC236}">
                <a16:creationId xmlns:a16="http://schemas.microsoft.com/office/drawing/2014/main" id="{4B367DB7-AC62-450D-B792-C44B58C06CCE}"/>
              </a:ext>
            </a:extLst>
          </p:cNvPr>
          <p:cNvSpPr txBox="1">
            <a:spLocks noChangeArrowheads="1"/>
          </p:cNvSpPr>
          <p:nvPr/>
        </p:nvSpPr>
        <p:spPr bwMode="auto">
          <a:xfrm rot="20207">
            <a:off x="6918805" y="2967635"/>
            <a:ext cx="442781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House cost = 25000 + 75 (Size)</a:t>
            </a:r>
          </a:p>
        </p:txBody>
      </p:sp>
      <p:sp>
        <p:nvSpPr>
          <p:cNvPr id="69635" name="Text Box 3">
            <a:extLst>
              <a:ext uri="{FF2B5EF4-FFF2-40B4-BE49-F238E27FC236}">
                <a16:creationId xmlns:a16="http://schemas.microsoft.com/office/drawing/2014/main" id="{57B32E86-DD05-4957-B6D5-F85EF84BA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5701" y="6314894"/>
            <a:ext cx="12715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House size</a:t>
            </a:r>
          </a:p>
        </p:txBody>
      </p:sp>
      <p:sp>
        <p:nvSpPr>
          <p:cNvPr id="69637" name="Freeform 5">
            <a:extLst>
              <a:ext uri="{FF2B5EF4-FFF2-40B4-BE49-F238E27FC236}">
                <a16:creationId xmlns:a16="http://schemas.microsoft.com/office/drawing/2014/main" id="{C02AB34F-1222-425D-92CC-BAD566FED14F}"/>
              </a:ext>
            </a:extLst>
          </p:cNvPr>
          <p:cNvSpPr>
            <a:spLocks/>
          </p:cNvSpPr>
          <p:nvPr/>
        </p:nvSpPr>
        <p:spPr bwMode="auto">
          <a:xfrm>
            <a:off x="2823076" y="2503940"/>
            <a:ext cx="6533875" cy="3748485"/>
          </a:xfrm>
          <a:custGeom>
            <a:avLst/>
            <a:gdLst>
              <a:gd name="T0" fmla="*/ 0 w 2304"/>
              <a:gd name="T1" fmla="*/ 0 h 1824"/>
              <a:gd name="T2" fmla="*/ 0 w 2304"/>
              <a:gd name="T3" fmla="*/ 1824 h 1824"/>
              <a:gd name="T4" fmla="*/ 2304 w 2304"/>
              <a:gd name="T5" fmla="*/ 1824 h 18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04" h="1824">
                <a:moveTo>
                  <a:pt x="0" y="0"/>
                </a:moveTo>
                <a:lnTo>
                  <a:pt x="0" y="1824"/>
                </a:lnTo>
                <a:lnTo>
                  <a:pt x="2304" y="1824"/>
                </a:lnTo>
              </a:path>
            </a:pathLst>
          </a:custGeom>
          <a:noFill/>
          <a:ln w="9525" cap="flat" cmpd="sng">
            <a:solidFill>
              <a:schemeClr val="bg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69638" name="Text Box 6">
            <a:extLst>
              <a:ext uri="{FF2B5EF4-FFF2-40B4-BE49-F238E27FC236}">
                <a16:creationId xmlns:a16="http://schemas.microsoft.com/office/drawing/2014/main" id="{2975B9EB-E97E-4933-BA7D-8EFC0A09E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773" y="4536333"/>
            <a:ext cx="27616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Most lots sell for $25,000</a:t>
            </a:r>
          </a:p>
        </p:txBody>
      </p:sp>
      <p:sp>
        <p:nvSpPr>
          <p:cNvPr id="69640" name="Line 8">
            <a:extLst>
              <a:ext uri="{FF2B5EF4-FFF2-40B4-BE49-F238E27FC236}">
                <a16:creationId xmlns:a16="http://schemas.microsoft.com/office/drawing/2014/main" id="{FB9127DB-E17A-44FE-BFD7-7AC00DFC17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5049" y="2947952"/>
            <a:ext cx="4309977" cy="1790701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69643" name="Text Box 11">
            <a:extLst>
              <a:ext uri="{FF2B5EF4-FFF2-40B4-BE49-F238E27FC236}">
                <a16:creationId xmlns:a16="http://schemas.microsoft.com/office/drawing/2014/main" id="{D02459E2-BDF9-4E2E-AEB8-B64E82B1DEB9}"/>
              </a:ext>
            </a:extLst>
          </p:cNvPr>
          <p:cNvSpPr txBox="1">
            <a:spLocks noChangeArrowheads="1"/>
          </p:cNvSpPr>
          <p:nvPr/>
        </p:nvSpPr>
        <p:spPr bwMode="auto">
          <a:xfrm rot="61149">
            <a:off x="11231528" y="2952395"/>
            <a:ext cx="5036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+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e</a:t>
            </a:r>
          </a:p>
        </p:txBody>
      </p:sp>
      <p:grpSp>
        <p:nvGrpSpPr>
          <p:cNvPr id="69663" name="Group 31">
            <a:extLst>
              <a:ext uri="{FF2B5EF4-FFF2-40B4-BE49-F238E27FC236}">
                <a16:creationId xmlns:a16="http://schemas.microsoft.com/office/drawing/2014/main" id="{A9F2C7C2-2664-4F3D-B69E-761C57B8CA19}"/>
              </a:ext>
            </a:extLst>
          </p:cNvPr>
          <p:cNvGrpSpPr>
            <a:grpSpLocks/>
          </p:cNvGrpSpPr>
          <p:nvPr/>
        </p:nvGrpSpPr>
        <p:grpSpPr bwMode="auto">
          <a:xfrm>
            <a:off x="3520851" y="3900453"/>
            <a:ext cx="136525" cy="990600"/>
            <a:chOff x="2208" y="2256"/>
            <a:chExt cx="86" cy="624"/>
          </a:xfrm>
          <a:solidFill>
            <a:schemeClr val="bg2">
              <a:lumMod val="20000"/>
              <a:lumOff val="80000"/>
            </a:schemeClr>
          </a:solidFill>
        </p:grpSpPr>
        <p:pic>
          <p:nvPicPr>
            <p:cNvPr id="69644" name="Picture 12">
              <a:extLst>
                <a:ext uri="{FF2B5EF4-FFF2-40B4-BE49-F238E27FC236}">
                  <a16:creationId xmlns:a16="http://schemas.microsoft.com/office/drawing/2014/main" id="{5C8AD8D4-D53C-4310-B993-1EBE9E6C38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8" y="2256"/>
              <a:ext cx="86" cy="86"/>
            </a:xfrm>
            <a:prstGeom prst="rect">
              <a:avLst/>
            </a:prstGeom>
            <a:grpFill/>
          </p:spPr>
        </p:pic>
        <p:pic>
          <p:nvPicPr>
            <p:cNvPr id="69645" name="Picture 13">
              <a:extLst>
                <a:ext uri="{FF2B5EF4-FFF2-40B4-BE49-F238E27FC236}">
                  <a16:creationId xmlns:a16="http://schemas.microsoft.com/office/drawing/2014/main" id="{8E171B8C-950F-4CC6-9151-7AF094AFA3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8" y="2410"/>
              <a:ext cx="86" cy="86"/>
            </a:xfrm>
            <a:prstGeom prst="rect">
              <a:avLst/>
            </a:prstGeom>
            <a:grpFill/>
          </p:spPr>
        </p:pic>
        <p:pic>
          <p:nvPicPr>
            <p:cNvPr id="69646" name="Picture 14">
              <a:extLst>
                <a:ext uri="{FF2B5EF4-FFF2-40B4-BE49-F238E27FC236}">
                  <a16:creationId xmlns:a16="http://schemas.microsoft.com/office/drawing/2014/main" id="{01DFBDB9-E87C-4DB6-8890-E7EFA9ADC4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8" y="2544"/>
              <a:ext cx="86" cy="86"/>
            </a:xfrm>
            <a:prstGeom prst="rect">
              <a:avLst/>
            </a:prstGeom>
            <a:grpFill/>
          </p:spPr>
        </p:pic>
        <p:pic>
          <p:nvPicPr>
            <p:cNvPr id="69647" name="Picture 15">
              <a:extLst>
                <a:ext uri="{FF2B5EF4-FFF2-40B4-BE49-F238E27FC236}">
                  <a16:creationId xmlns:a16="http://schemas.microsoft.com/office/drawing/2014/main" id="{554C30A7-C2EC-40A9-B9BF-FF509517DC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8" y="2794"/>
              <a:ext cx="86" cy="86"/>
            </a:xfrm>
            <a:prstGeom prst="rect">
              <a:avLst/>
            </a:prstGeom>
            <a:grpFill/>
          </p:spPr>
        </p:pic>
      </p:grpSp>
      <p:grpSp>
        <p:nvGrpSpPr>
          <p:cNvPr id="69664" name="Group 32">
            <a:extLst>
              <a:ext uri="{FF2B5EF4-FFF2-40B4-BE49-F238E27FC236}">
                <a16:creationId xmlns:a16="http://schemas.microsoft.com/office/drawing/2014/main" id="{F20358C2-B154-4A0C-A581-3CE217DE0082}"/>
              </a:ext>
            </a:extLst>
          </p:cNvPr>
          <p:cNvGrpSpPr>
            <a:grpSpLocks/>
          </p:cNvGrpSpPr>
          <p:nvPr/>
        </p:nvGrpSpPr>
        <p:grpSpPr bwMode="auto">
          <a:xfrm>
            <a:off x="3993926" y="3671853"/>
            <a:ext cx="136525" cy="990600"/>
            <a:chOff x="2506" y="2112"/>
            <a:chExt cx="86" cy="624"/>
          </a:xfrm>
          <a:solidFill>
            <a:schemeClr val="bg2">
              <a:lumMod val="20000"/>
              <a:lumOff val="80000"/>
            </a:schemeClr>
          </a:solidFill>
        </p:grpSpPr>
        <p:pic>
          <p:nvPicPr>
            <p:cNvPr id="69648" name="Picture 16">
              <a:extLst>
                <a:ext uri="{FF2B5EF4-FFF2-40B4-BE49-F238E27FC236}">
                  <a16:creationId xmlns:a16="http://schemas.microsoft.com/office/drawing/2014/main" id="{16C94E26-539F-44DE-9D5D-48996735D9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6" y="2112"/>
              <a:ext cx="86" cy="86"/>
            </a:xfrm>
            <a:prstGeom prst="rect">
              <a:avLst/>
            </a:prstGeom>
            <a:grpFill/>
          </p:spPr>
        </p:pic>
        <p:pic>
          <p:nvPicPr>
            <p:cNvPr id="69649" name="Picture 17">
              <a:extLst>
                <a:ext uri="{FF2B5EF4-FFF2-40B4-BE49-F238E27FC236}">
                  <a16:creationId xmlns:a16="http://schemas.microsoft.com/office/drawing/2014/main" id="{985EC1EB-33D3-423D-978D-7629B7F0D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6" y="2266"/>
              <a:ext cx="86" cy="86"/>
            </a:xfrm>
            <a:prstGeom prst="rect">
              <a:avLst/>
            </a:prstGeom>
            <a:grpFill/>
          </p:spPr>
        </p:pic>
        <p:pic>
          <p:nvPicPr>
            <p:cNvPr id="69650" name="Picture 18">
              <a:extLst>
                <a:ext uri="{FF2B5EF4-FFF2-40B4-BE49-F238E27FC236}">
                  <a16:creationId xmlns:a16="http://schemas.microsoft.com/office/drawing/2014/main" id="{C03EBBAF-25D8-41CE-8582-1CADA3EE21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6" y="2400"/>
              <a:ext cx="86" cy="86"/>
            </a:xfrm>
            <a:prstGeom prst="rect">
              <a:avLst/>
            </a:prstGeom>
            <a:grpFill/>
          </p:spPr>
        </p:pic>
        <p:pic>
          <p:nvPicPr>
            <p:cNvPr id="69651" name="Picture 19">
              <a:extLst>
                <a:ext uri="{FF2B5EF4-FFF2-40B4-BE49-F238E27FC236}">
                  <a16:creationId xmlns:a16="http://schemas.microsoft.com/office/drawing/2014/main" id="{8737210C-3211-470E-8AE8-7C13042617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6" y="2650"/>
              <a:ext cx="86" cy="86"/>
            </a:xfrm>
            <a:prstGeom prst="rect">
              <a:avLst/>
            </a:prstGeom>
            <a:grpFill/>
          </p:spPr>
        </p:pic>
      </p:grpSp>
      <p:grpSp>
        <p:nvGrpSpPr>
          <p:cNvPr id="69666" name="Group 34">
            <a:extLst>
              <a:ext uri="{FF2B5EF4-FFF2-40B4-BE49-F238E27FC236}">
                <a16:creationId xmlns:a16="http://schemas.microsoft.com/office/drawing/2014/main" id="{0DDB9AF8-D2A5-44C2-B7FA-C7EAE99A44A0}"/>
              </a:ext>
            </a:extLst>
          </p:cNvPr>
          <p:cNvGrpSpPr>
            <a:grpSpLocks/>
          </p:cNvGrpSpPr>
          <p:nvPr/>
        </p:nvGrpSpPr>
        <p:grpSpPr bwMode="auto">
          <a:xfrm>
            <a:off x="5599682" y="3232335"/>
            <a:ext cx="136525" cy="990600"/>
            <a:chOff x="3466" y="1872"/>
            <a:chExt cx="86" cy="624"/>
          </a:xfrm>
          <a:solidFill>
            <a:schemeClr val="bg2">
              <a:lumMod val="20000"/>
              <a:lumOff val="80000"/>
            </a:schemeClr>
          </a:solidFill>
        </p:grpSpPr>
        <p:pic>
          <p:nvPicPr>
            <p:cNvPr id="69656" name="Picture 24">
              <a:extLst>
                <a:ext uri="{FF2B5EF4-FFF2-40B4-BE49-F238E27FC236}">
                  <a16:creationId xmlns:a16="http://schemas.microsoft.com/office/drawing/2014/main" id="{AF5CDE29-0EB1-4762-9EBB-8372EFD1B5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66" y="1872"/>
              <a:ext cx="86" cy="86"/>
            </a:xfrm>
            <a:prstGeom prst="rect">
              <a:avLst/>
            </a:prstGeom>
            <a:grpFill/>
          </p:spPr>
        </p:pic>
        <p:pic>
          <p:nvPicPr>
            <p:cNvPr id="69657" name="Picture 25">
              <a:extLst>
                <a:ext uri="{FF2B5EF4-FFF2-40B4-BE49-F238E27FC236}">
                  <a16:creationId xmlns:a16="http://schemas.microsoft.com/office/drawing/2014/main" id="{567D7E98-A2FE-4354-A66F-4831A5BEA2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66" y="2026"/>
              <a:ext cx="86" cy="86"/>
            </a:xfrm>
            <a:prstGeom prst="rect">
              <a:avLst/>
            </a:prstGeom>
            <a:grpFill/>
          </p:spPr>
        </p:pic>
        <p:pic>
          <p:nvPicPr>
            <p:cNvPr id="69658" name="Picture 26">
              <a:extLst>
                <a:ext uri="{FF2B5EF4-FFF2-40B4-BE49-F238E27FC236}">
                  <a16:creationId xmlns:a16="http://schemas.microsoft.com/office/drawing/2014/main" id="{A4A6CB68-6262-4C7A-928C-321E9B559C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66" y="2160"/>
              <a:ext cx="86" cy="86"/>
            </a:xfrm>
            <a:prstGeom prst="rect">
              <a:avLst/>
            </a:prstGeom>
            <a:grpFill/>
          </p:spPr>
        </p:pic>
        <p:pic>
          <p:nvPicPr>
            <p:cNvPr id="69659" name="Picture 27">
              <a:extLst>
                <a:ext uri="{FF2B5EF4-FFF2-40B4-BE49-F238E27FC236}">
                  <a16:creationId xmlns:a16="http://schemas.microsoft.com/office/drawing/2014/main" id="{230751AE-6294-4F65-B1BB-7F91C3BA8D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66" y="2410"/>
              <a:ext cx="86" cy="86"/>
            </a:xfrm>
            <a:prstGeom prst="rect">
              <a:avLst/>
            </a:prstGeom>
            <a:grpFill/>
          </p:spPr>
        </p:pic>
      </p:grpSp>
      <p:grpSp>
        <p:nvGrpSpPr>
          <p:cNvPr id="69665" name="Group 33">
            <a:extLst>
              <a:ext uri="{FF2B5EF4-FFF2-40B4-BE49-F238E27FC236}">
                <a16:creationId xmlns:a16="http://schemas.microsoft.com/office/drawing/2014/main" id="{2415F5F8-E748-4FE9-AE5D-B7910BCAD7C4}"/>
              </a:ext>
            </a:extLst>
          </p:cNvPr>
          <p:cNvGrpSpPr>
            <a:grpSpLocks/>
          </p:cNvGrpSpPr>
          <p:nvPr/>
        </p:nvGrpSpPr>
        <p:grpSpPr bwMode="auto">
          <a:xfrm>
            <a:off x="4740051" y="3214653"/>
            <a:ext cx="136525" cy="1524000"/>
            <a:chOff x="2976" y="1824"/>
            <a:chExt cx="86" cy="960"/>
          </a:xfrm>
          <a:solidFill>
            <a:schemeClr val="bg2">
              <a:lumMod val="20000"/>
              <a:lumOff val="80000"/>
            </a:schemeClr>
          </a:solidFill>
        </p:grpSpPr>
        <p:pic>
          <p:nvPicPr>
            <p:cNvPr id="69652" name="Picture 20">
              <a:extLst>
                <a:ext uri="{FF2B5EF4-FFF2-40B4-BE49-F238E27FC236}">
                  <a16:creationId xmlns:a16="http://schemas.microsoft.com/office/drawing/2014/main" id="{290BD3D1-5C04-4880-9BF6-1C6F9CCCB2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1824"/>
              <a:ext cx="86" cy="86"/>
            </a:xfrm>
            <a:prstGeom prst="rect">
              <a:avLst/>
            </a:prstGeom>
            <a:grpFill/>
          </p:spPr>
        </p:pic>
        <p:pic>
          <p:nvPicPr>
            <p:cNvPr id="69653" name="Picture 21">
              <a:extLst>
                <a:ext uri="{FF2B5EF4-FFF2-40B4-BE49-F238E27FC236}">
                  <a16:creationId xmlns:a16="http://schemas.microsoft.com/office/drawing/2014/main" id="{45428437-9A2C-4FFF-AEBF-2858231D9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1978"/>
              <a:ext cx="86" cy="86"/>
            </a:xfrm>
            <a:prstGeom prst="rect">
              <a:avLst/>
            </a:prstGeom>
            <a:grpFill/>
          </p:spPr>
        </p:pic>
        <p:pic>
          <p:nvPicPr>
            <p:cNvPr id="69654" name="Picture 22">
              <a:extLst>
                <a:ext uri="{FF2B5EF4-FFF2-40B4-BE49-F238E27FC236}">
                  <a16:creationId xmlns:a16="http://schemas.microsoft.com/office/drawing/2014/main" id="{4CD620A2-848A-4A55-866C-36AD871F28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2112"/>
              <a:ext cx="86" cy="86"/>
            </a:xfrm>
            <a:prstGeom prst="rect">
              <a:avLst/>
            </a:prstGeom>
            <a:grpFill/>
          </p:spPr>
        </p:pic>
        <p:pic>
          <p:nvPicPr>
            <p:cNvPr id="69655" name="Picture 23">
              <a:extLst>
                <a:ext uri="{FF2B5EF4-FFF2-40B4-BE49-F238E27FC236}">
                  <a16:creationId xmlns:a16="http://schemas.microsoft.com/office/drawing/2014/main" id="{A2512740-504A-42AD-84CF-5DBF3E43CD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2362"/>
              <a:ext cx="86" cy="86"/>
            </a:xfrm>
            <a:prstGeom prst="rect">
              <a:avLst/>
            </a:prstGeom>
            <a:grpFill/>
          </p:spPr>
        </p:pic>
        <p:pic>
          <p:nvPicPr>
            <p:cNvPr id="69660" name="Picture 28">
              <a:extLst>
                <a:ext uri="{FF2B5EF4-FFF2-40B4-BE49-F238E27FC236}">
                  <a16:creationId xmlns:a16="http://schemas.microsoft.com/office/drawing/2014/main" id="{CC20FE5B-B389-4985-8961-EEC52E11A7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2458"/>
              <a:ext cx="86" cy="86"/>
            </a:xfrm>
            <a:prstGeom prst="rect">
              <a:avLst/>
            </a:prstGeom>
            <a:grpFill/>
          </p:spPr>
        </p:pic>
        <p:pic>
          <p:nvPicPr>
            <p:cNvPr id="69661" name="Picture 29">
              <a:extLst>
                <a:ext uri="{FF2B5EF4-FFF2-40B4-BE49-F238E27FC236}">
                  <a16:creationId xmlns:a16="http://schemas.microsoft.com/office/drawing/2014/main" id="{A96C494B-6F6C-40B7-B222-6EE35A3CB7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2698"/>
              <a:ext cx="86" cy="86"/>
            </a:xfrm>
            <a:prstGeom prst="rect">
              <a:avLst/>
            </a:prstGeom>
            <a:grpFill/>
          </p:spPr>
        </p:pic>
      </p:grpSp>
      <p:sp>
        <p:nvSpPr>
          <p:cNvPr id="69662" name="Text Box 30">
            <a:extLst>
              <a:ext uri="{FF2B5EF4-FFF2-40B4-BE49-F238E27FC236}">
                <a16:creationId xmlns:a16="http://schemas.microsoft.com/office/drawing/2014/main" id="{C3F30D71-3CFE-40EC-88DF-1A70CFEA92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773" y="1113019"/>
            <a:ext cx="102459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However, house cost vary even among same size houses!</a:t>
            </a:r>
          </a:p>
        </p:txBody>
      </p:sp>
      <p:sp>
        <p:nvSpPr>
          <p:cNvPr id="69668" name="Text Box 36">
            <a:extLst>
              <a:ext uri="{FF2B5EF4-FFF2-40B4-BE49-F238E27FC236}">
                <a16:creationId xmlns:a16="http://schemas.microsoft.com/office/drawing/2014/main" id="{58200BAF-D4CC-4737-82FF-8975D7B3DD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0492" y="5321029"/>
            <a:ext cx="79523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Since cost behave unpredictably, we add a random component. </a:t>
            </a:r>
          </a:p>
        </p:txBody>
      </p:sp>
      <p:grpSp>
        <p:nvGrpSpPr>
          <p:cNvPr id="69675" name="Group 43">
            <a:extLst>
              <a:ext uri="{FF2B5EF4-FFF2-40B4-BE49-F238E27FC236}">
                <a16:creationId xmlns:a16="http://schemas.microsoft.com/office/drawing/2014/main" id="{309328DB-57DC-470A-A48C-06D3A909490C}"/>
              </a:ext>
            </a:extLst>
          </p:cNvPr>
          <p:cNvGrpSpPr>
            <a:grpSpLocks/>
          </p:cNvGrpSpPr>
          <p:nvPr/>
        </p:nvGrpSpPr>
        <p:grpSpPr bwMode="auto">
          <a:xfrm>
            <a:off x="5438551" y="3379753"/>
            <a:ext cx="95250" cy="857250"/>
            <a:chOff x="3468" y="2172"/>
            <a:chExt cx="60" cy="540"/>
          </a:xfrm>
          <a:solidFill>
            <a:schemeClr val="bg2">
              <a:lumMod val="20000"/>
              <a:lumOff val="80000"/>
            </a:schemeClr>
          </a:solidFill>
        </p:grpSpPr>
        <p:sp>
          <p:nvSpPr>
            <p:cNvPr id="69671" name="Line 39">
              <a:extLst>
                <a:ext uri="{FF2B5EF4-FFF2-40B4-BE49-F238E27FC236}">
                  <a16:creationId xmlns:a16="http://schemas.microsoft.com/office/drawing/2014/main" id="{FD483504-7CE0-454B-997E-3AF4B5A6C6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8" y="2340"/>
              <a:ext cx="0" cy="156"/>
            </a:xfrm>
            <a:prstGeom prst="line">
              <a:avLst/>
            </a:prstGeom>
            <a:grpFill/>
            <a:ln w="9525">
              <a:solidFill>
                <a:schemeClr val="accent3">
                  <a:lumMod val="20000"/>
                  <a:lumOff val="80000"/>
                </a:schemeClr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endParaRPr>
            </a:p>
          </p:txBody>
        </p:sp>
        <p:sp>
          <p:nvSpPr>
            <p:cNvPr id="69672" name="Line 40">
              <a:extLst>
                <a:ext uri="{FF2B5EF4-FFF2-40B4-BE49-F238E27FC236}">
                  <a16:creationId xmlns:a16="http://schemas.microsoft.com/office/drawing/2014/main" id="{F94FEC71-A1FF-4AB3-A372-8854795C23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8" y="2328"/>
              <a:ext cx="0" cy="384"/>
            </a:xfrm>
            <a:prstGeom prst="line">
              <a:avLst/>
            </a:prstGeom>
            <a:grpFill/>
            <a:ln w="9525">
              <a:solidFill>
                <a:schemeClr val="accent3">
                  <a:lumMod val="20000"/>
                  <a:lumOff val="80000"/>
                </a:schemeClr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endParaRPr>
            </a:p>
          </p:txBody>
        </p:sp>
        <p:sp>
          <p:nvSpPr>
            <p:cNvPr id="69674" name="Line 42">
              <a:extLst>
                <a:ext uri="{FF2B5EF4-FFF2-40B4-BE49-F238E27FC236}">
                  <a16:creationId xmlns:a16="http://schemas.microsoft.com/office/drawing/2014/main" id="{D112CB89-1629-43B1-BAAC-30A21EE236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4" y="2172"/>
              <a:ext cx="0" cy="156"/>
            </a:xfrm>
            <a:prstGeom prst="line">
              <a:avLst/>
            </a:prstGeom>
            <a:grpFill/>
            <a:ln w="9525">
              <a:solidFill>
                <a:schemeClr val="accent3">
                  <a:lumMod val="20000"/>
                  <a:lumOff val="80000"/>
                </a:schemeClr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endParaRPr>
            </a:p>
          </p:txBody>
        </p:sp>
      </p:grpSp>
      <p:sp>
        <p:nvSpPr>
          <p:cNvPr id="37" name="Text Box 7">
            <a:extLst>
              <a:ext uri="{FF2B5EF4-FFF2-40B4-BE49-F238E27FC236}">
                <a16:creationId xmlns:a16="http://schemas.microsoft.com/office/drawing/2014/main" id="{0C5A73D2-11E2-4EB7-9469-1D4E61D8F0A9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665161" y="3274462"/>
            <a:ext cx="19464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House Cost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1885393-F517-4F67-8B26-550DE37F0B1A}"/>
                  </a:ext>
                </a:extLst>
              </p14:cNvPr>
              <p14:cNvContentPartPr/>
              <p14:nvPr/>
            </p14:nvContentPartPr>
            <p14:xfrm>
              <a:off x="11738844" y="451609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1885393-F517-4F67-8B26-550DE37F0B1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730204" y="4507455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CFC9D8E6-8C52-4F57-AB59-0AEBD45D3C40}"/>
              </a:ext>
            </a:extLst>
          </p:cNvPr>
          <p:cNvGrpSpPr/>
          <p:nvPr/>
        </p:nvGrpSpPr>
        <p:grpSpPr>
          <a:xfrm>
            <a:off x="6842484" y="2253495"/>
            <a:ext cx="4537800" cy="1377360"/>
            <a:chOff x="6842484" y="2253495"/>
            <a:chExt cx="4537800" cy="137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0E9ADB8-3045-4E2D-A7FA-B0DCC5803802}"/>
                    </a:ext>
                  </a:extLst>
                </p14:cNvPr>
                <p14:cNvContentPartPr/>
                <p14:nvPr/>
              </p14:nvContentPartPr>
              <p14:xfrm>
                <a:off x="6842484" y="2778735"/>
                <a:ext cx="4537800" cy="8521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0E9ADB8-3045-4E2D-A7FA-B0DCC580380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833484" y="2770095"/>
                  <a:ext cx="4555440" cy="86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9B070B9-FD66-4076-AEF0-3A387F43D5C9}"/>
                    </a:ext>
                  </a:extLst>
                </p14:cNvPr>
                <p14:cNvContentPartPr/>
                <p14:nvPr/>
              </p14:nvContentPartPr>
              <p14:xfrm>
                <a:off x="8053884" y="2798175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9B070B9-FD66-4076-AEF0-3A387F43D5C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045244" y="278953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2C69D87-2FDF-42A2-BC19-0D1D5C39D9F3}"/>
                    </a:ext>
                  </a:extLst>
                </p14:cNvPr>
                <p14:cNvContentPartPr/>
                <p14:nvPr/>
              </p14:nvContentPartPr>
              <p14:xfrm>
                <a:off x="8848044" y="2433135"/>
                <a:ext cx="171360" cy="263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2C69D87-2FDF-42A2-BC19-0D1D5C39D9F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839404" y="2424135"/>
                  <a:ext cx="1890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51E2B65-7877-4C26-BA39-AC8583764032}"/>
                    </a:ext>
                  </a:extLst>
                </p14:cNvPr>
                <p14:cNvContentPartPr/>
                <p14:nvPr/>
              </p14:nvContentPartPr>
              <p14:xfrm>
                <a:off x="8931204" y="2253495"/>
                <a:ext cx="448560" cy="188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51E2B65-7877-4C26-BA39-AC858376403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922564" y="2244495"/>
                  <a:ext cx="466200" cy="2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0628BCA-0C3E-4F24-9B03-62A51DAE185B}"/>
              </a:ext>
            </a:extLst>
          </p:cNvPr>
          <p:cNvGrpSpPr/>
          <p:nvPr/>
        </p:nvGrpSpPr>
        <p:grpSpPr>
          <a:xfrm>
            <a:off x="9077724" y="1754535"/>
            <a:ext cx="2763720" cy="462240"/>
            <a:chOff x="9077724" y="1754535"/>
            <a:chExt cx="2763720" cy="46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1D7ACBA-8DF7-4DA5-85C0-6D939FBD425D}"/>
                    </a:ext>
                  </a:extLst>
                </p14:cNvPr>
                <p14:cNvContentPartPr/>
                <p14:nvPr/>
              </p14:nvContentPartPr>
              <p14:xfrm>
                <a:off x="9318924" y="1818975"/>
                <a:ext cx="9000" cy="322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1D7ACBA-8DF7-4DA5-85C0-6D939FBD425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310284" y="1810335"/>
                  <a:ext cx="2664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011536D-7604-4126-B335-279E34EEB595}"/>
                    </a:ext>
                  </a:extLst>
                </p14:cNvPr>
                <p14:cNvContentPartPr/>
                <p14:nvPr/>
              </p14:nvContentPartPr>
              <p14:xfrm>
                <a:off x="9077724" y="1790175"/>
                <a:ext cx="741240" cy="392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011536D-7604-4126-B335-279E34EEB59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068724" y="1781535"/>
                  <a:ext cx="75888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B7971FB-7EF5-4B81-B540-BAC59A1794FA}"/>
                    </a:ext>
                  </a:extLst>
                </p14:cNvPr>
                <p14:cNvContentPartPr/>
                <p14:nvPr/>
              </p14:nvContentPartPr>
              <p14:xfrm>
                <a:off x="9863964" y="2014095"/>
                <a:ext cx="326880" cy="202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B7971FB-7EF5-4B81-B540-BAC59A1794F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855324" y="2005455"/>
                  <a:ext cx="3445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800CADD-8EB6-4D7F-B1B4-DCEF2ECDDA0F}"/>
                    </a:ext>
                  </a:extLst>
                </p14:cNvPr>
                <p14:cNvContentPartPr/>
                <p14:nvPr/>
              </p14:nvContentPartPr>
              <p14:xfrm>
                <a:off x="10002564" y="1754535"/>
                <a:ext cx="235080" cy="433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800CADD-8EB6-4D7F-B1B4-DCEF2ECDDA0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993924" y="1745895"/>
                  <a:ext cx="25272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3F029E8-606D-4CE3-9583-87E23E273F2A}"/>
                    </a:ext>
                  </a:extLst>
                </p14:cNvPr>
                <p14:cNvContentPartPr/>
                <p14:nvPr/>
              </p14:nvContentPartPr>
              <p14:xfrm>
                <a:off x="10002564" y="2003655"/>
                <a:ext cx="361440" cy="10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3F029E8-606D-4CE3-9583-87E23E273F2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993924" y="1995015"/>
                  <a:ext cx="3790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33174E2-95F6-4DA5-9DCB-D281B258935D}"/>
                    </a:ext>
                  </a:extLst>
                </p14:cNvPr>
                <p14:cNvContentPartPr/>
                <p14:nvPr/>
              </p14:nvContentPartPr>
              <p14:xfrm>
                <a:off x="10390644" y="2010495"/>
                <a:ext cx="94680" cy="123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33174E2-95F6-4DA5-9DCB-D281B258935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382004" y="2001855"/>
                  <a:ext cx="1123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732AAB4-887F-4D91-8EE7-3B0FE0DBF107}"/>
                    </a:ext>
                  </a:extLst>
                </p14:cNvPr>
                <p14:cNvContentPartPr/>
                <p14:nvPr/>
              </p14:nvContentPartPr>
              <p14:xfrm>
                <a:off x="10584684" y="2015175"/>
                <a:ext cx="70920" cy="71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732AAB4-887F-4D91-8EE7-3B0FE0DBF10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575684" y="2006175"/>
                  <a:ext cx="885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6AFFAE3-3F25-49F6-9AA8-99482F01F5B9}"/>
                    </a:ext>
                  </a:extLst>
                </p14:cNvPr>
                <p14:cNvContentPartPr/>
                <p14:nvPr/>
              </p14:nvContentPartPr>
              <p14:xfrm>
                <a:off x="10769364" y="2022375"/>
                <a:ext cx="177120" cy="86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6AFFAE3-3F25-49F6-9AA8-99482F01F5B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760364" y="2013735"/>
                  <a:ext cx="1947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E81E0C3-0D13-44C1-AFE3-1EC634C6F5F0}"/>
                    </a:ext>
                  </a:extLst>
                </p14:cNvPr>
                <p14:cNvContentPartPr/>
                <p14:nvPr/>
              </p14:nvContentPartPr>
              <p14:xfrm>
                <a:off x="11000484" y="2040735"/>
                <a:ext cx="18360" cy="53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E81E0C3-0D13-44C1-AFE3-1EC634C6F5F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991484" y="2032095"/>
                  <a:ext cx="360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9DD0885-45C9-4D92-8E85-599B5DDC156F}"/>
                    </a:ext>
                  </a:extLst>
                </p14:cNvPr>
                <p14:cNvContentPartPr/>
                <p14:nvPr/>
              </p14:nvContentPartPr>
              <p14:xfrm>
                <a:off x="11018844" y="1893135"/>
                <a:ext cx="36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9DD0885-45C9-4D92-8E85-599B5DDC156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009844" y="188449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2144126-3E16-4FB9-B91C-461F56C9AC60}"/>
                    </a:ext>
                  </a:extLst>
                </p14:cNvPr>
                <p14:cNvContentPartPr/>
                <p14:nvPr/>
              </p14:nvContentPartPr>
              <p14:xfrm>
                <a:off x="11083284" y="1988895"/>
                <a:ext cx="103320" cy="66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2144126-3E16-4FB9-B91C-461F56C9AC6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074644" y="1979895"/>
                  <a:ext cx="1209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1A51FB5-8D0A-41EE-BA36-D99D1A1CA689}"/>
                    </a:ext>
                  </a:extLst>
                </p14:cNvPr>
                <p14:cNvContentPartPr/>
                <p14:nvPr/>
              </p14:nvContentPartPr>
              <p14:xfrm>
                <a:off x="11240604" y="2013375"/>
                <a:ext cx="27720" cy="54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1A51FB5-8D0A-41EE-BA36-D99D1A1CA68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231604" y="2004375"/>
                  <a:ext cx="453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46C401D-1C87-4218-BAE9-B87A06BE0343}"/>
                    </a:ext>
                  </a:extLst>
                </p14:cNvPr>
                <p14:cNvContentPartPr/>
                <p14:nvPr/>
              </p14:nvContentPartPr>
              <p14:xfrm>
                <a:off x="11230884" y="1865415"/>
                <a:ext cx="36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46C401D-1C87-4218-BAE9-B87A06BE034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222244" y="185677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6642188-5E87-4338-996E-AA1C23E2D9AD}"/>
                    </a:ext>
                  </a:extLst>
                </p14:cNvPr>
                <p14:cNvContentPartPr/>
                <p14:nvPr/>
              </p14:nvContentPartPr>
              <p14:xfrm>
                <a:off x="11363364" y="1966935"/>
                <a:ext cx="42840" cy="104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6642188-5E87-4338-996E-AA1C23E2D9A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354364" y="1957935"/>
                  <a:ext cx="604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6A48323-6061-4381-A039-CB61379C822A}"/>
                    </a:ext>
                  </a:extLst>
                </p14:cNvPr>
                <p14:cNvContentPartPr/>
                <p14:nvPr/>
              </p14:nvContentPartPr>
              <p14:xfrm>
                <a:off x="11508084" y="1791615"/>
                <a:ext cx="37800" cy="257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6A48323-6061-4381-A039-CB61379C822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499444" y="1782615"/>
                  <a:ext cx="554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5D367A9-E935-4B97-867A-06ACEFCEA825}"/>
                    </a:ext>
                  </a:extLst>
                </p14:cNvPr>
                <p14:cNvContentPartPr/>
                <p14:nvPr/>
              </p14:nvContentPartPr>
              <p14:xfrm>
                <a:off x="11462004" y="1984575"/>
                <a:ext cx="144360" cy="28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5D367A9-E935-4B97-867A-06ACEFCEA82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453364" y="1975935"/>
                  <a:ext cx="1620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CEDE632-C1D5-42ED-88B0-7C6718780D5C}"/>
                    </a:ext>
                  </a:extLst>
                </p14:cNvPr>
                <p14:cNvContentPartPr/>
                <p14:nvPr/>
              </p14:nvContentPartPr>
              <p14:xfrm>
                <a:off x="11628324" y="2077815"/>
                <a:ext cx="9720" cy="43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CEDE632-C1D5-42ED-88B0-7C6718780D5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619324" y="2068815"/>
                  <a:ext cx="273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9B540C2-9311-48C0-86E2-FCF844EFF044}"/>
                    </a:ext>
                  </a:extLst>
                </p14:cNvPr>
                <p14:cNvContentPartPr/>
                <p14:nvPr/>
              </p14:nvContentPartPr>
              <p14:xfrm>
                <a:off x="11646684" y="1948575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9B540C2-9311-48C0-86E2-FCF844EFF04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638044" y="193993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153EBC1-5D94-423C-AE9F-00A1E2A3199E}"/>
                    </a:ext>
                  </a:extLst>
                </p14:cNvPr>
                <p14:cNvContentPartPr/>
                <p14:nvPr/>
              </p14:nvContentPartPr>
              <p14:xfrm>
                <a:off x="11756844" y="2013375"/>
                <a:ext cx="84600" cy="112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153EBC1-5D94-423C-AE9F-00A1E2A3199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747844" y="2004375"/>
                  <a:ext cx="102240" cy="13032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C542EFD-5427-D579-555D-486396E6F68A}"/>
              </a:ext>
            </a:extLst>
          </p:cNvPr>
          <p:cNvCxnSpPr>
            <a:cxnSpLocks/>
            <a:stCxn id="30" idx="0"/>
            <a:endCxn id="69643" idx="2"/>
          </p:cNvCxnSpPr>
          <p:nvPr/>
        </p:nvCxnSpPr>
        <p:spPr>
          <a:xfrm flipV="1">
            <a:off x="10958903" y="3414023"/>
            <a:ext cx="520351" cy="14087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FADAA93-75FD-8C8A-C777-3B353BC9549E}"/>
              </a:ext>
            </a:extLst>
          </p:cNvPr>
          <p:cNvSpPr txBox="1"/>
          <p:nvPr/>
        </p:nvSpPr>
        <p:spPr>
          <a:xfrm>
            <a:off x="10077598" y="4822790"/>
            <a:ext cx="17626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What types of variables might be part of the error term?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34F1BCC-02E2-027F-559E-E4277DEB8782}"/>
              </a:ext>
            </a:extLst>
          </p:cNvPr>
          <p:cNvCxnSpPr>
            <a:cxnSpLocks/>
            <a:stCxn id="69668" idx="0"/>
            <a:endCxn id="69643" idx="2"/>
          </p:cNvCxnSpPr>
          <p:nvPr/>
        </p:nvCxnSpPr>
        <p:spPr>
          <a:xfrm flipV="1">
            <a:off x="6996646" y="3414023"/>
            <a:ext cx="4482608" cy="19070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0125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9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9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9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9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69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9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9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43" grpId="0" autoUpdateAnimBg="0"/>
      <p:bldP spid="69662" grpId="0" autoUpdateAnimBg="0"/>
      <p:bldP spid="69668" grpId="0" autoUpdateAnimBg="0"/>
      <p:bldP spid="3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3AB8544D-C554-42E4-9EFA-0D06D3EFB9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2900" y="2251075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The first order linear model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  <a:buFontTx/>
              <a:buNone/>
            </a:pPr>
            <a:endParaRPr lang="en-US" altLang="en-US" dirty="0"/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i="1" dirty="0"/>
              <a:t>Y</a:t>
            </a:r>
            <a:r>
              <a:rPr lang="en-US" altLang="en-US" dirty="0"/>
              <a:t> = dependent variable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i="1" dirty="0"/>
              <a:t>X</a:t>
            </a:r>
            <a:r>
              <a:rPr lang="en-US" altLang="en-US" dirty="0"/>
              <a:t> = independent variable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Symbol" panose="05050102010706020507" pitchFamily="18" charset="2"/>
              </a:rPr>
              <a:t>b</a:t>
            </a:r>
            <a:r>
              <a:rPr lang="en-US" altLang="en-US" baseline="-25000" dirty="0"/>
              <a:t>0</a:t>
            </a:r>
            <a:r>
              <a:rPr lang="en-US" altLang="en-US" dirty="0"/>
              <a:t> = </a:t>
            </a:r>
            <a:r>
              <a:rPr lang="en-US" altLang="en-US" i="1" dirty="0"/>
              <a:t>Y</a:t>
            </a:r>
            <a:r>
              <a:rPr lang="en-US" altLang="en-US" dirty="0"/>
              <a:t>-intercept (b)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Symbol" panose="05050102010706020507" pitchFamily="18" charset="2"/>
              </a:rPr>
              <a:t>b</a:t>
            </a:r>
            <a:r>
              <a:rPr lang="en-US" altLang="en-US" baseline="-25000" dirty="0"/>
              <a:t>1</a:t>
            </a:r>
            <a:r>
              <a:rPr lang="en-US" altLang="en-US" dirty="0"/>
              <a:t> = slope of the line (m)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Symbol" panose="05050102010706020507" pitchFamily="18" charset="2"/>
              </a:rPr>
              <a:t>e</a:t>
            </a:r>
            <a:r>
              <a:rPr lang="en-US" altLang="en-US" dirty="0"/>
              <a:t> = error variable</a:t>
            </a:r>
          </a:p>
        </p:txBody>
      </p:sp>
      <p:graphicFrame>
        <p:nvGraphicFramePr>
          <p:cNvPr id="5124" name="Object 4">
            <a:extLst>
              <a:ext uri="{FF2B5EF4-FFF2-40B4-BE49-F238E27FC236}">
                <a16:creationId xmlns:a16="http://schemas.microsoft.com/office/drawing/2014/main" id="{04286BA5-DD75-4597-ADD2-8F1ED8800E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3200712"/>
              </p:ext>
            </p:extLst>
          </p:nvPr>
        </p:nvGraphicFramePr>
        <p:xfrm>
          <a:off x="4541470" y="427120"/>
          <a:ext cx="33686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03300" imgH="177800" progId="Equation.3">
                  <p:embed/>
                </p:oleObj>
              </mc:Choice>
              <mc:Fallback>
                <p:oleObj name="Equation" r:id="rId2" imgW="1003300" imgH="177800" progId="Equation.3">
                  <p:embed/>
                  <p:pic>
                    <p:nvPicPr>
                      <p:cNvPr id="5124" name="Object 4">
                        <a:extLst>
                          <a:ext uri="{FF2B5EF4-FFF2-40B4-BE49-F238E27FC236}">
                            <a16:creationId xmlns:a16="http://schemas.microsoft.com/office/drawing/2014/main" id="{04286BA5-DD75-4597-ADD2-8F1ED8800E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1470" y="427120"/>
                        <a:ext cx="3368675" cy="59690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>
                        <a:noFill/>
                      </a:ln>
                      <a:effectLst>
                        <a:outerShdw dist="117088" dir="18636078" algn="ctr" rotWithShape="0">
                          <a:srgbClr val="2C2CB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39" name="Group 19">
            <a:extLst>
              <a:ext uri="{FF2B5EF4-FFF2-40B4-BE49-F238E27FC236}">
                <a16:creationId xmlns:a16="http://schemas.microsoft.com/office/drawing/2014/main" id="{B2F21EE9-2C77-471D-ABD4-62AF99B3E280}"/>
              </a:ext>
            </a:extLst>
          </p:cNvPr>
          <p:cNvGrpSpPr>
            <a:grpSpLocks/>
          </p:cNvGrpSpPr>
          <p:nvPr/>
        </p:nvGrpSpPr>
        <p:grpSpPr bwMode="auto">
          <a:xfrm>
            <a:off x="5427784" y="3494478"/>
            <a:ext cx="4964723" cy="2366657"/>
            <a:chOff x="3408" y="2496"/>
            <a:chExt cx="1680" cy="1248"/>
          </a:xfrm>
        </p:grpSpPr>
        <p:sp>
          <p:nvSpPr>
            <p:cNvPr id="5125" name="Line 5">
              <a:extLst>
                <a:ext uri="{FF2B5EF4-FFF2-40B4-BE49-F238E27FC236}">
                  <a16:creationId xmlns:a16="http://schemas.microsoft.com/office/drawing/2014/main" id="{843618FE-798D-4F38-953F-A19A27B193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496"/>
              <a:ext cx="0" cy="124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endParaRPr>
            </a:p>
          </p:txBody>
        </p:sp>
        <p:sp>
          <p:nvSpPr>
            <p:cNvPr id="5126" name="Line 6">
              <a:extLst>
                <a:ext uri="{FF2B5EF4-FFF2-40B4-BE49-F238E27FC236}">
                  <a16:creationId xmlns:a16="http://schemas.microsoft.com/office/drawing/2014/main" id="{88CA9C3C-6F99-4006-92CD-2C496EACE2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3744"/>
              <a:ext cx="168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endParaRPr>
            </a:p>
          </p:txBody>
        </p:sp>
      </p:grpSp>
      <p:sp>
        <p:nvSpPr>
          <p:cNvPr id="5127" name="Text Box 7">
            <a:extLst>
              <a:ext uri="{FF2B5EF4-FFF2-40B4-BE49-F238E27FC236}">
                <a16:creationId xmlns:a16="http://schemas.microsoft.com/office/drawing/2014/main" id="{ADBD7636-BA92-4C33-8193-F2755C88A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07810" y="5762012"/>
            <a:ext cx="3658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X</a:t>
            </a:r>
          </a:p>
        </p:txBody>
      </p:sp>
      <p:sp>
        <p:nvSpPr>
          <p:cNvPr id="5128" name="Text Box 8">
            <a:extLst>
              <a:ext uri="{FF2B5EF4-FFF2-40B4-BE49-F238E27FC236}">
                <a16:creationId xmlns:a16="http://schemas.microsoft.com/office/drawing/2014/main" id="{F551C333-5A32-4AE9-9B66-AB8843E7F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6586" y="3239884"/>
            <a:ext cx="3545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Y</a:t>
            </a:r>
          </a:p>
        </p:txBody>
      </p:sp>
      <p:sp>
        <p:nvSpPr>
          <p:cNvPr id="5131" name="Line 11">
            <a:extLst>
              <a:ext uri="{FF2B5EF4-FFF2-40B4-BE49-F238E27FC236}">
                <a16:creationId xmlns:a16="http://schemas.microsoft.com/office/drawing/2014/main" id="{7BE12063-0D72-40E0-826F-E53AA150AD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27783" y="1975592"/>
            <a:ext cx="4507519" cy="2979278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5132" name="Text Box 12">
            <a:extLst>
              <a:ext uri="{FF2B5EF4-FFF2-40B4-BE49-F238E27FC236}">
                <a16:creationId xmlns:a16="http://schemas.microsoft.com/office/drawing/2014/main" id="{B5A56E8F-6C7B-4C09-9C49-58DA87417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9721" y="4690358"/>
            <a:ext cx="3857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b</a:t>
            </a:r>
            <a:r>
              <a:rPr kumimoji="0" lang="en-US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0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133" name="Freeform 13">
            <a:extLst>
              <a:ext uri="{FF2B5EF4-FFF2-40B4-BE49-F238E27FC236}">
                <a16:creationId xmlns:a16="http://schemas.microsoft.com/office/drawing/2014/main" id="{14DF4386-25B6-4D05-9B7F-ABBC016A3464}"/>
              </a:ext>
            </a:extLst>
          </p:cNvPr>
          <p:cNvSpPr>
            <a:spLocks/>
          </p:cNvSpPr>
          <p:nvPr/>
        </p:nvSpPr>
        <p:spPr bwMode="auto">
          <a:xfrm>
            <a:off x="5791207" y="4282098"/>
            <a:ext cx="685800" cy="457200"/>
          </a:xfrm>
          <a:custGeom>
            <a:avLst/>
            <a:gdLst>
              <a:gd name="T0" fmla="*/ 0 w 432"/>
              <a:gd name="T1" fmla="*/ 288 h 288"/>
              <a:gd name="T2" fmla="*/ 432 w 432"/>
              <a:gd name="T3" fmla="*/ 288 h 288"/>
              <a:gd name="T4" fmla="*/ 432 w 432"/>
              <a:gd name="T5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" h="288">
                <a:moveTo>
                  <a:pt x="0" y="288"/>
                </a:moveTo>
                <a:lnTo>
                  <a:pt x="432" y="288"/>
                </a:lnTo>
                <a:lnTo>
                  <a:pt x="432" y="0"/>
                </a:lnTo>
              </a:path>
            </a:pathLst>
          </a:cu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5134" name="Text Box 14">
            <a:extLst>
              <a:ext uri="{FF2B5EF4-FFF2-40B4-BE49-F238E27FC236}">
                <a16:creationId xmlns:a16="http://schemas.microsoft.com/office/drawing/2014/main" id="{510ED92D-47EA-46E0-8CF8-1620F89CF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1010" y="4726001"/>
            <a:ext cx="5822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Run</a:t>
            </a:r>
          </a:p>
        </p:txBody>
      </p:sp>
      <p:sp>
        <p:nvSpPr>
          <p:cNvPr id="5135" name="Text Box 15">
            <a:extLst>
              <a:ext uri="{FF2B5EF4-FFF2-40B4-BE49-F238E27FC236}">
                <a16:creationId xmlns:a16="http://schemas.microsoft.com/office/drawing/2014/main" id="{9570667C-D9CC-4A72-8910-3012E14AB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841" y="4356669"/>
            <a:ext cx="5966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Rise</a:t>
            </a:r>
          </a:p>
        </p:txBody>
      </p:sp>
      <p:sp>
        <p:nvSpPr>
          <p:cNvPr id="5136" name="Text Box 16">
            <a:extLst>
              <a:ext uri="{FF2B5EF4-FFF2-40B4-BE49-F238E27FC236}">
                <a16:creationId xmlns:a16="http://schemas.microsoft.com/office/drawing/2014/main" id="{45030B29-F80D-4506-8FDF-6BFFF30425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0434" y="4339384"/>
            <a:ext cx="15712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b</a:t>
            </a:r>
            <a:r>
              <a:rPr kumimoji="0" lang="en-US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1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= Rise/Run</a:t>
            </a:r>
          </a:p>
        </p:txBody>
      </p:sp>
      <p:sp>
        <p:nvSpPr>
          <p:cNvPr id="5138" name="Text Box 18">
            <a:extLst>
              <a:ext uri="{FF2B5EF4-FFF2-40B4-BE49-F238E27FC236}">
                <a16:creationId xmlns:a16="http://schemas.microsoft.com/office/drawing/2014/main" id="{E334A014-6370-478B-BED6-B83DFB7BE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3055" y="1204185"/>
            <a:ext cx="5195091" cy="646331"/>
          </a:xfrm>
          <a:prstGeom prst="rect">
            <a:avLst/>
          </a:prstGeom>
          <a:noFill/>
          <a:ln w="9525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b</a:t>
            </a:r>
            <a:r>
              <a:rPr kumimoji="0" lang="en-US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0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and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b</a:t>
            </a:r>
            <a:r>
              <a:rPr kumimoji="0" lang="en-US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1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are unknown population parameters, therefore are estimated from the data.</a:t>
            </a:r>
          </a:p>
        </p:txBody>
      </p:sp>
    </p:spTree>
    <p:extLst>
      <p:ext uri="{BB962C8B-B14F-4D97-AF65-F5344CB8AC3E}">
        <p14:creationId xmlns:p14="http://schemas.microsoft.com/office/powerpoint/2010/main" val="656361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8" grpId="0" animBg="1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98E72F4-F025-446E-84A3-F88D6ABA06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Estimating the model parameters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3C7DAE65-B90A-4087-AD06-B7EFBCD111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6508" y="2362199"/>
            <a:ext cx="5052646" cy="4130675"/>
          </a:xfrm>
        </p:spPr>
        <p:txBody>
          <a:bodyPr>
            <a:normAutofit/>
          </a:bodyPr>
          <a:lstStyle/>
          <a:p>
            <a:r>
              <a:rPr lang="en-US" altLang="en-US" dirty="0"/>
              <a:t>The estimates are determined by </a:t>
            </a:r>
          </a:p>
          <a:p>
            <a:pPr lvl="1"/>
            <a:r>
              <a:rPr lang="en-US" altLang="en-US" dirty="0"/>
              <a:t>drawing a sample from the population of interest,</a:t>
            </a:r>
          </a:p>
          <a:p>
            <a:pPr lvl="1"/>
            <a:r>
              <a:rPr lang="en-US" altLang="en-US" dirty="0"/>
              <a:t>calculating sample statistics.</a:t>
            </a:r>
          </a:p>
          <a:p>
            <a:pPr lvl="1"/>
            <a:r>
              <a:rPr lang="en-US" altLang="en-US" dirty="0"/>
              <a:t>producing a straight line that cuts through the data.</a:t>
            </a:r>
          </a:p>
        </p:txBody>
      </p:sp>
      <p:sp>
        <p:nvSpPr>
          <p:cNvPr id="8220" name="Text Box 28">
            <a:extLst>
              <a:ext uri="{FF2B5EF4-FFF2-40B4-BE49-F238E27FC236}">
                <a16:creationId xmlns:a16="http://schemas.microsoft.com/office/drawing/2014/main" id="{28E18FEA-2677-4911-B0DD-9AD084C03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61" y="6099262"/>
            <a:ext cx="7117679" cy="461665"/>
          </a:xfrm>
          <a:prstGeom prst="rect">
            <a:avLst/>
          </a:prstGeom>
          <a:solidFill>
            <a:srgbClr val="D1D1D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Question: What should be considered a good line?</a:t>
            </a:r>
          </a:p>
        </p:txBody>
      </p:sp>
      <p:sp>
        <p:nvSpPr>
          <p:cNvPr id="26" name="Freeform 4">
            <a:extLst>
              <a:ext uri="{FF2B5EF4-FFF2-40B4-BE49-F238E27FC236}">
                <a16:creationId xmlns:a16="http://schemas.microsoft.com/office/drawing/2014/main" id="{A371CDE9-80D0-45BD-9304-F4050E975A08}"/>
              </a:ext>
            </a:extLst>
          </p:cNvPr>
          <p:cNvSpPr>
            <a:spLocks/>
          </p:cNvSpPr>
          <p:nvPr/>
        </p:nvSpPr>
        <p:spPr bwMode="auto">
          <a:xfrm>
            <a:off x="5931878" y="3024922"/>
            <a:ext cx="4335141" cy="2224086"/>
          </a:xfrm>
          <a:custGeom>
            <a:avLst/>
            <a:gdLst>
              <a:gd name="T0" fmla="*/ 0 w 2112"/>
              <a:gd name="T1" fmla="*/ 0 h 1248"/>
              <a:gd name="T2" fmla="*/ 0 w 2112"/>
              <a:gd name="T3" fmla="*/ 1248 h 1248"/>
              <a:gd name="T4" fmla="*/ 2112 w 2112"/>
              <a:gd name="T5" fmla="*/ 1248 h 1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12" h="1248">
                <a:moveTo>
                  <a:pt x="0" y="0"/>
                </a:moveTo>
                <a:lnTo>
                  <a:pt x="0" y="1248"/>
                </a:lnTo>
                <a:lnTo>
                  <a:pt x="2112" y="1248"/>
                </a:lnTo>
              </a:path>
            </a:pathLst>
          </a:custGeom>
          <a:noFill/>
          <a:ln w="9525">
            <a:solidFill>
              <a:schemeClr val="bg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27" name="Text Box 7">
            <a:extLst>
              <a:ext uri="{FF2B5EF4-FFF2-40B4-BE49-F238E27FC236}">
                <a16:creationId xmlns:a16="http://schemas.microsoft.com/office/drawing/2014/main" id="{D4160A6A-9AC2-499A-8D01-28BEC12B8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4603" y="3151921"/>
            <a:ext cx="3159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w</a:t>
            </a:r>
          </a:p>
        </p:txBody>
      </p:sp>
      <p:sp>
        <p:nvSpPr>
          <p:cNvPr id="28" name="Text Box 8">
            <a:extLst>
              <a:ext uri="{FF2B5EF4-FFF2-40B4-BE49-F238E27FC236}">
                <a16:creationId xmlns:a16="http://schemas.microsoft.com/office/drawing/2014/main" id="{E7EE1DAE-8305-4624-919C-AAF6FE091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1803" y="3456721"/>
            <a:ext cx="3159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w</a:t>
            </a:r>
          </a:p>
        </p:txBody>
      </p:sp>
      <p:sp>
        <p:nvSpPr>
          <p:cNvPr id="29" name="Text Box 9">
            <a:extLst>
              <a:ext uri="{FF2B5EF4-FFF2-40B4-BE49-F238E27FC236}">
                <a16:creationId xmlns:a16="http://schemas.microsoft.com/office/drawing/2014/main" id="{5B65F67C-60B1-4F00-9938-2D40ABBCB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1803" y="3913921"/>
            <a:ext cx="3159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w</a:t>
            </a:r>
          </a:p>
        </p:txBody>
      </p:sp>
      <p:sp>
        <p:nvSpPr>
          <p:cNvPr id="30" name="Text Box 10">
            <a:extLst>
              <a:ext uri="{FF2B5EF4-FFF2-40B4-BE49-F238E27FC236}">
                <a16:creationId xmlns:a16="http://schemas.microsoft.com/office/drawing/2014/main" id="{731C1A05-CB93-40D3-BE02-305E118F1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1803" y="4258409"/>
            <a:ext cx="3159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w</a:t>
            </a:r>
          </a:p>
        </p:txBody>
      </p:sp>
      <p:sp>
        <p:nvSpPr>
          <p:cNvPr id="31" name="Text Box 11">
            <a:extLst>
              <a:ext uri="{FF2B5EF4-FFF2-40B4-BE49-F238E27FC236}">
                <a16:creationId xmlns:a16="http://schemas.microsoft.com/office/drawing/2014/main" id="{B2B6E184-EC38-4815-84E6-B8442EE2A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5202" y="4106009"/>
            <a:ext cx="2998788" cy="366713"/>
          </a:xfrm>
          <a:prstGeom prst="rect">
            <a:avLst/>
          </a:prstGeom>
          <a:solidFill>
            <a:schemeClr val="bg1">
              <a:alpha val="9000"/>
            </a:schemeClr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w 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w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 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w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     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w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Wingdings" panose="05000000000000000000" pitchFamily="2" charset="2"/>
              <a:ea typeface="+mn-ea"/>
              <a:cs typeface="+mn-cs"/>
            </a:endParaRPr>
          </a:p>
        </p:txBody>
      </p:sp>
      <p:sp>
        <p:nvSpPr>
          <p:cNvPr id="32" name="Text Box 12">
            <a:extLst>
              <a:ext uri="{FF2B5EF4-FFF2-40B4-BE49-F238E27FC236}">
                <a16:creationId xmlns:a16="http://schemas.microsoft.com/office/drawing/2014/main" id="{0ED642C0-9B4C-42E6-8A76-527D64D48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3528" y="3761521"/>
            <a:ext cx="3159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w</a:t>
            </a:r>
          </a:p>
        </p:txBody>
      </p:sp>
      <p:sp>
        <p:nvSpPr>
          <p:cNvPr id="33" name="Text Box 13">
            <a:extLst>
              <a:ext uri="{FF2B5EF4-FFF2-40B4-BE49-F238E27FC236}">
                <a16:creationId xmlns:a16="http://schemas.microsoft.com/office/drawing/2014/main" id="{51B896FD-620F-4999-955B-C0940954E4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4717" y="4375884"/>
            <a:ext cx="13493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w   w</a:t>
            </a:r>
          </a:p>
        </p:txBody>
      </p:sp>
      <p:sp>
        <p:nvSpPr>
          <p:cNvPr id="34" name="Text Box 14">
            <a:extLst>
              <a:ext uri="{FF2B5EF4-FFF2-40B4-BE49-F238E27FC236}">
                <a16:creationId xmlns:a16="http://schemas.microsoft.com/office/drawing/2014/main" id="{7092A3A7-349C-4EE1-99F4-35BF5D1E4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1003" y="4029809"/>
            <a:ext cx="3159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w</a:t>
            </a:r>
          </a:p>
        </p:txBody>
      </p:sp>
      <p:sp>
        <p:nvSpPr>
          <p:cNvPr id="35" name="Text Box 15">
            <a:extLst>
              <a:ext uri="{FF2B5EF4-FFF2-40B4-BE49-F238E27FC236}">
                <a16:creationId xmlns:a16="http://schemas.microsoft.com/office/drawing/2014/main" id="{C83BC05B-CE2A-4B46-8298-71C0ECE8E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7266" y="4371121"/>
            <a:ext cx="9048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w  w</a:t>
            </a:r>
          </a:p>
        </p:txBody>
      </p:sp>
      <p:sp>
        <p:nvSpPr>
          <p:cNvPr id="36" name="Text Box 16">
            <a:extLst>
              <a:ext uri="{FF2B5EF4-FFF2-40B4-BE49-F238E27FC236}">
                <a16:creationId xmlns:a16="http://schemas.microsoft.com/office/drawing/2014/main" id="{3D7F7799-3353-49F8-8A37-23B7E65DB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3128" y="4675921"/>
            <a:ext cx="3159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w</a:t>
            </a:r>
          </a:p>
        </p:txBody>
      </p:sp>
      <p:sp>
        <p:nvSpPr>
          <p:cNvPr id="37" name="Line 18">
            <a:extLst>
              <a:ext uri="{FF2B5EF4-FFF2-40B4-BE49-F238E27FC236}">
                <a16:creationId xmlns:a16="http://schemas.microsoft.com/office/drawing/2014/main" id="{ECD5F60E-3F94-4EA2-8794-8F8E116F096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9759" y="3640077"/>
            <a:ext cx="0" cy="9144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38" name="Line 19">
            <a:extLst>
              <a:ext uri="{FF2B5EF4-FFF2-40B4-BE49-F238E27FC236}">
                <a16:creationId xmlns:a16="http://schemas.microsoft.com/office/drawing/2014/main" id="{E8A0484B-56BD-4978-9EB6-3E8FAC7B11FB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2840" y="4106008"/>
            <a:ext cx="0" cy="6096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39" name="Line 21">
            <a:extLst>
              <a:ext uri="{FF2B5EF4-FFF2-40B4-BE49-F238E27FC236}">
                <a16:creationId xmlns:a16="http://schemas.microsoft.com/office/drawing/2014/main" id="{78984C38-7875-4473-8087-5EA1FF7C287C}"/>
              </a:ext>
            </a:extLst>
          </p:cNvPr>
          <p:cNvSpPr>
            <a:spLocks noChangeShapeType="1"/>
          </p:cNvSpPr>
          <p:nvPr/>
        </p:nvSpPr>
        <p:spPr bwMode="auto">
          <a:xfrm>
            <a:off x="7861484" y="3875821"/>
            <a:ext cx="0" cy="9906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40" name="Line 22">
            <a:extLst>
              <a:ext uri="{FF2B5EF4-FFF2-40B4-BE49-F238E27FC236}">
                <a16:creationId xmlns:a16="http://schemas.microsoft.com/office/drawing/2014/main" id="{FD6E8F9F-A90C-4052-88FC-34F7BBF474C1}"/>
              </a:ext>
            </a:extLst>
          </p:cNvPr>
          <p:cNvSpPr>
            <a:spLocks noChangeShapeType="1"/>
          </p:cNvSpPr>
          <p:nvPr/>
        </p:nvSpPr>
        <p:spPr bwMode="auto">
          <a:xfrm>
            <a:off x="8471084" y="4166333"/>
            <a:ext cx="0" cy="8382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41" name="Line 23">
            <a:extLst>
              <a:ext uri="{FF2B5EF4-FFF2-40B4-BE49-F238E27FC236}">
                <a16:creationId xmlns:a16="http://schemas.microsoft.com/office/drawing/2014/main" id="{502D5253-E5E3-448E-97AF-90A15205B4C1}"/>
              </a:ext>
            </a:extLst>
          </p:cNvPr>
          <p:cNvSpPr>
            <a:spLocks noChangeShapeType="1"/>
          </p:cNvSpPr>
          <p:nvPr/>
        </p:nvSpPr>
        <p:spPr bwMode="auto">
          <a:xfrm>
            <a:off x="9248959" y="4186788"/>
            <a:ext cx="0" cy="5334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42" name="Line 24">
            <a:extLst>
              <a:ext uri="{FF2B5EF4-FFF2-40B4-BE49-F238E27FC236}">
                <a16:creationId xmlns:a16="http://schemas.microsoft.com/office/drawing/2014/main" id="{5B250964-0826-4928-AA5D-EDA936A2934E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1877" y="3766283"/>
            <a:ext cx="4114800" cy="1066800"/>
          </a:xfrm>
          <a:prstGeom prst="line">
            <a:avLst/>
          </a:prstGeom>
          <a:noFill/>
          <a:ln w="9525">
            <a:solidFill>
              <a:schemeClr val="accent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43" name="Line 25">
            <a:extLst>
              <a:ext uri="{FF2B5EF4-FFF2-40B4-BE49-F238E27FC236}">
                <a16:creationId xmlns:a16="http://schemas.microsoft.com/office/drawing/2014/main" id="{15F6868B-3BE1-4147-BA16-EDBB5360D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1877" y="3267808"/>
            <a:ext cx="4038600" cy="1905000"/>
          </a:xfrm>
          <a:prstGeom prst="line">
            <a:avLst/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44" name="Line 27">
            <a:extLst>
              <a:ext uri="{FF2B5EF4-FFF2-40B4-BE49-F238E27FC236}">
                <a16:creationId xmlns:a16="http://schemas.microsoft.com/office/drawing/2014/main" id="{6BECAD8C-AFCA-4181-B11D-489F40DF9700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1877" y="4029808"/>
            <a:ext cx="4038600" cy="609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45" name="Text Box 29">
            <a:extLst>
              <a:ext uri="{FF2B5EF4-FFF2-40B4-BE49-F238E27FC236}">
                <a16:creationId xmlns:a16="http://schemas.microsoft.com/office/drawing/2014/main" id="{D501DB62-636D-4504-BB4C-377D3D2AA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1008" y="5249008"/>
            <a:ext cx="32092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X</a:t>
            </a:r>
          </a:p>
        </p:txBody>
      </p:sp>
      <p:sp>
        <p:nvSpPr>
          <p:cNvPr id="46" name="Text Box 30">
            <a:extLst>
              <a:ext uri="{FF2B5EF4-FFF2-40B4-BE49-F238E27FC236}">
                <a16:creationId xmlns:a16="http://schemas.microsoft.com/office/drawing/2014/main" id="{3A0B756B-ECE6-496F-95D0-FA70D732C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5335" y="2979081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4189850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20" grpId="0" animBg="1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4C589ADD-B4D9-4709-B8DC-0BF19E6456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4031" y="1033272"/>
            <a:ext cx="10005337" cy="782638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The Least Squares (Regression) Line</a:t>
            </a:r>
          </a:p>
        </p:txBody>
      </p:sp>
      <p:sp>
        <p:nvSpPr>
          <p:cNvPr id="70663" name="Text Box 7">
            <a:extLst>
              <a:ext uri="{FF2B5EF4-FFF2-40B4-BE49-F238E27FC236}">
                <a16:creationId xmlns:a16="http://schemas.microsoft.com/office/drawing/2014/main" id="{ADA6FF94-A1BF-4E68-B685-A2E63D15B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336" y="2531519"/>
            <a:ext cx="10148047" cy="1692771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A good line is one that minimizes the sum of squared differences between the points and the line.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35849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Text Box 3">
            <a:extLst>
              <a:ext uri="{FF2B5EF4-FFF2-40B4-BE49-F238E27FC236}">
                <a16:creationId xmlns:a16="http://schemas.microsoft.com/office/drawing/2014/main" id="{AE3F5BE8-8696-43DA-AFFD-814CB9D20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0175" y="4987925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3</a:t>
            </a:r>
          </a:p>
        </p:txBody>
      </p:sp>
      <p:sp>
        <p:nvSpPr>
          <p:cNvPr id="71684" name="Text Box 4">
            <a:extLst>
              <a:ext uri="{FF2B5EF4-FFF2-40B4-BE49-F238E27FC236}">
                <a16:creationId xmlns:a16="http://schemas.microsoft.com/office/drawing/2014/main" id="{2C7DB27F-1663-410A-B05C-58A2C000C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28194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3</a:t>
            </a:r>
          </a:p>
        </p:txBody>
      </p:sp>
      <p:sp>
        <p:nvSpPr>
          <p:cNvPr id="71685" name="Line 5">
            <a:extLst>
              <a:ext uri="{FF2B5EF4-FFF2-40B4-BE49-F238E27FC236}">
                <a16:creationId xmlns:a16="http://schemas.microsoft.com/office/drawing/2014/main" id="{6B465A7D-9CED-4796-B04A-5EA17B283B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59050" y="3062288"/>
            <a:ext cx="2819400" cy="0"/>
          </a:xfrm>
          <a:prstGeom prst="line">
            <a:avLst/>
          </a:prstGeom>
          <a:noFill/>
          <a:ln w="317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71686" name="Line 6">
            <a:extLst>
              <a:ext uri="{FF2B5EF4-FFF2-40B4-BE49-F238E27FC236}">
                <a16:creationId xmlns:a16="http://schemas.microsoft.com/office/drawing/2014/main" id="{A95F7F05-939D-45C9-AF3F-35C633ACB66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53050" y="3068638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71688" name="Freeform 8">
            <a:extLst>
              <a:ext uri="{FF2B5EF4-FFF2-40B4-BE49-F238E27FC236}">
                <a16:creationId xmlns:a16="http://schemas.microsoft.com/office/drawing/2014/main" id="{2FD4A5DA-42D3-4B9F-8D07-3A25473C3B3B}"/>
              </a:ext>
            </a:extLst>
          </p:cNvPr>
          <p:cNvSpPr>
            <a:spLocks/>
          </p:cNvSpPr>
          <p:nvPr/>
        </p:nvSpPr>
        <p:spPr bwMode="auto">
          <a:xfrm>
            <a:off x="2559050" y="1676400"/>
            <a:ext cx="4724400" cy="3352800"/>
          </a:xfrm>
          <a:custGeom>
            <a:avLst/>
            <a:gdLst>
              <a:gd name="T0" fmla="*/ 0 w 3744"/>
              <a:gd name="T1" fmla="*/ 0 h 2112"/>
              <a:gd name="T2" fmla="*/ 0 w 3744"/>
              <a:gd name="T3" fmla="*/ 2112 h 2112"/>
              <a:gd name="T4" fmla="*/ 3744 w 3744"/>
              <a:gd name="T5" fmla="*/ 2112 h 2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44" h="2112">
                <a:moveTo>
                  <a:pt x="0" y="0"/>
                </a:moveTo>
                <a:lnTo>
                  <a:pt x="0" y="2112"/>
                </a:lnTo>
                <a:lnTo>
                  <a:pt x="3744" y="211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71689" name="Text Box 9">
            <a:extLst>
              <a:ext uri="{FF2B5EF4-FFF2-40B4-BE49-F238E27FC236}">
                <a16:creationId xmlns:a16="http://schemas.microsoft.com/office/drawing/2014/main" id="{DD3BD78C-F0B3-4077-9307-D70868A0B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7538" y="3581401"/>
            <a:ext cx="3159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w</a:t>
            </a:r>
          </a:p>
        </p:txBody>
      </p:sp>
      <p:sp>
        <p:nvSpPr>
          <p:cNvPr id="71690" name="Text Box 10">
            <a:extLst>
              <a:ext uri="{FF2B5EF4-FFF2-40B4-BE49-F238E27FC236}">
                <a16:creationId xmlns:a16="http://schemas.microsoft.com/office/drawing/2014/main" id="{CF0D4E02-ACEF-47E5-8293-A0D17176D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26" y="3844926"/>
            <a:ext cx="3159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w</a:t>
            </a:r>
          </a:p>
        </p:txBody>
      </p:sp>
      <p:sp>
        <p:nvSpPr>
          <p:cNvPr id="71691" name="Text Box 11">
            <a:extLst>
              <a:ext uri="{FF2B5EF4-FFF2-40B4-BE49-F238E27FC236}">
                <a16:creationId xmlns:a16="http://schemas.microsoft.com/office/drawing/2014/main" id="{79FB92BF-0781-454C-9C37-D0C06C272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7976" y="2286001"/>
            <a:ext cx="3159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w</a:t>
            </a:r>
          </a:p>
        </p:txBody>
      </p:sp>
      <p:sp>
        <p:nvSpPr>
          <p:cNvPr id="71692" name="Text Box 12">
            <a:extLst>
              <a:ext uri="{FF2B5EF4-FFF2-40B4-BE49-F238E27FC236}">
                <a16:creationId xmlns:a16="http://schemas.microsoft.com/office/drawing/2014/main" id="{84B36763-F529-400D-8921-4DF5AD1CC5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6651" y="2743201"/>
            <a:ext cx="3159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w</a:t>
            </a:r>
          </a:p>
        </p:txBody>
      </p:sp>
      <p:sp>
        <p:nvSpPr>
          <p:cNvPr id="71693" name="Line 13">
            <a:extLst>
              <a:ext uri="{FF2B5EF4-FFF2-40B4-BE49-F238E27FC236}">
                <a16:creationId xmlns:a16="http://schemas.microsoft.com/office/drawing/2014/main" id="{C1E51FD3-6667-4624-AB22-F167314C0C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59050" y="2432050"/>
            <a:ext cx="3803650" cy="23685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71694" name="Line 14">
            <a:extLst>
              <a:ext uri="{FF2B5EF4-FFF2-40B4-BE49-F238E27FC236}">
                <a16:creationId xmlns:a16="http://schemas.microsoft.com/office/drawing/2014/main" id="{DA2AB780-5D44-40BF-A505-53FF26171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21050" y="3733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71695" name="Line 15">
            <a:extLst>
              <a:ext uri="{FF2B5EF4-FFF2-40B4-BE49-F238E27FC236}">
                <a16:creationId xmlns:a16="http://schemas.microsoft.com/office/drawing/2014/main" id="{62B3E9E0-B3D5-4D45-BC7B-2794CEA31E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70375" y="25146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71696" name="Line 16">
            <a:extLst>
              <a:ext uri="{FF2B5EF4-FFF2-40B4-BE49-F238E27FC236}">
                <a16:creationId xmlns:a16="http://schemas.microsoft.com/office/drawing/2014/main" id="{ACCFCDF2-8C55-4AFC-A3F6-D4952A3B4B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3814" y="2419350"/>
            <a:ext cx="14287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71697" name="Text Box 17">
            <a:extLst>
              <a:ext uri="{FF2B5EF4-FFF2-40B4-BE49-F238E27FC236}">
                <a16:creationId xmlns:a16="http://schemas.microsoft.com/office/drawing/2014/main" id="{5793D703-8336-4567-856D-1AA78E651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6650" y="4987925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4</a:t>
            </a:r>
          </a:p>
        </p:txBody>
      </p:sp>
      <p:grpSp>
        <p:nvGrpSpPr>
          <p:cNvPr id="71698" name="Group 18">
            <a:extLst>
              <a:ext uri="{FF2B5EF4-FFF2-40B4-BE49-F238E27FC236}">
                <a16:creationId xmlns:a16="http://schemas.microsoft.com/office/drawing/2014/main" id="{49F3CFF1-F4FF-450F-86B1-C118B174A642}"/>
              </a:ext>
            </a:extLst>
          </p:cNvPr>
          <p:cNvGrpSpPr>
            <a:grpSpLocks/>
          </p:cNvGrpSpPr>
          <p:nvPr/>
        </p:nvGrpSpPr>
        <p:grpSpPr bwMode="auto">
          <a:xfrm>
            <a:off x="2314576" y="4073525"/>
            <a:ext cx="1163638" cy="1284288"/>
            <a:chOff x="854" y="3382"/>
            <a:chExt cx="733" cy="809"/>
          </a:xfrm>
        </p:grpSpPr>
        <p:sp>
          <p:nvSpPr>
            <p:cNvPr id="71699" name="Text Box 19">
              <a:extLst>
                <a:ext uri="{FF2B5EF4-FFF2-40B4-BE49-F238E27FC236}">
                  <a16:creationId xmlns:a16="http://schemas.microsoft.com/office/drawing/2014/main" id="{F25A7949-E29A-48FA-B062-D3ABE42862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3958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1700" name="Text Box 20">
              <a:extLst>
                <a:ext uri="{FF2B5EF4-FFF2-40B4-BE49-F238E27FC236}">
                  <a16:creationId xmlns:a16="http://schemas.microsoft.com/office/drawing/2014/main" id="{C90D00E5-9F6F-4D16-9B21-1BFB51FEDE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4" y="338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rPr>
                <a:t>1</a:t>
              </a:r>
            </a:p>
          </p:txBody>
        </p:sp>
      </p:grpSp>
      <p:sp>
        <p:nvSpPr>
          <p:cNvPr id="71701" name="Text Box 21">
            <a:extLst>
              <a:ext uri="{FF2B5EF4-FFF2-40B4-BE49-F238E27FC236}">
                <a16:creationId xmlns:a16="http://schemas.microsoft.com/office/drawing/2014/main" id="{E57DF1D1-D6B5-41BC-A125-E26EDBAE9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4575" y="2092325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4</a:t>
            </a:r>
          </a:p>
        </p:txBody>
      </p:sp>
      <p:sp>
        <p:nvSpPr>
          <p:cNvPr id="71702" name="Text Box 22">
            <a:extLst>
              <a:ext uri="{FF2B5EF4-FFF2-40B4-BE49-F238E27FC236}">
                <a16:creationId xmlns:a16="http://schemas.microsoft.com/office/drawing/2014/main" id="{5CBDA142-AE84-4370-BB3B-51C7FE49D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1138" y="3657600"/>
            <a:ext cx="6222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(1,2)</a:t>
            </a:r>
          </a:p>
        </p:txBody>
      </p:sp>
      <p:sp>
        <p:nvSpPr>
          <p:cNvPr id="71703" name="Line 23">
            <a:extLst>
              <a:ext uri="{FF2B5EF4-FFF2-40B4-BE49-F238E27FC236}">
                <a16:creationId xmlns:a16="http://schemas.microsoft.com/office/drawing/2014/main" id="{8F946483-8FFE-442B-AB40-8BF3A0C473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59050" y="4343400"/>
            <a:ext cx="762000" cy="0"/>
          </a:xfrm>
          <a:prstGeom prst="line">
            <a:avLst/>
          </a:prstGeom>
          <a:noFill/>
          <a:ln w="317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71704" name="Text Box 24">
            <a:extLst>
              <a:ext uri="{FF2B5EF4-FFF2-40B4-BE49-F238E27FC236}">
                <a16:creationId xmlns:a16="http://schemas.microsoft.com/office/drawing/2014/main" id="{1BA033F0-8EFE-4960-91D9-00EBD2EA9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9563" y="4987925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2</a:t>
            </a:r>
          </a:p>
        </p:txBody>
      </p:sp>
      <p:sp>
        <p:nvSpPr>
          <p:cNvPr id="71705" name="Text Box 25">
            <a:extLst>
              <a:ext uri="{FF2B5EF4-FFF2-40B4-BE49-F238E27FC236}">
                <a16:creationId xmlns:a16="http://schemas.microsoft.com/office/drawing/2014/main" id="{9FE8C34C-2634-42A8-9E65-46D8A3673A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813" y="3463925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2</a:t>
            </a:r>
          </a:p>
        </p:txBody>
      </p:sp>
      <p:sp>
        <p:nvSpPr>
          <p:cNvPr id="71706" name="Line 26">
            <a:extLst>
              <a:ext uri="{FF2B5EF4-FFF2-40B4-BE49-F238E27FC236}">
                <a16:creationId xmlns:a16="http://schemas.microsoft.com/office/drawing/2014/main" id="{6B6EBD6F-7EE9-402E-8C7E-BE81028083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9526" y="3733800"/>
            <a:ext cx="1719263" cy="0"/>
          </a:xfrm>
          <a:prstGeom prst="line">
            <a:avLst/>
          </a:prstGeom>
          <a:noFill/>
          <a:ln w="317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71707" name="Text Box 27">
            <a:extLst>
              <a:ext uri="{FF2B5EF4-FFF2-40B4-BE49-F238E27FC236}">
                <a16:creationId xmlns:a16="http://schemas.microsoft.com/office/drawing/2014/main" id="{6E8052D4-AE43-45F3-9EE2-736FA4710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3050" y="2057400"/>
            <a:ext cx="6222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(2,4)</a:t>
            </a:r>
          </a:p>
        </p:txBody>
      </p:sp>
      <p:sp>
        <p:nvSpPr>
          <p:cNvPr id="71708" name="Text Box 28">
            <a:extLst>
              <a:ext uri="{FF2B5EF4-FFF2-40B4-BE49-F238E27FC236}">
                <a16:creationId xmlns:a16="http://schemas.microsoft.com/office/drawing/2014/main" id="{0389B1A1-6301-4405-ADA6-B08E1FD23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2576" y="3733800"/>
            <a:ext cx="7970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(3,1.5)</a:t>
            </a:r>
          </a:p>
        </p:txBody>
      </p:sp>
      <p:sp>
        <p:nvSpPr>
          <p:cNvPr id="71709" name="Line 29">
            <a:extLst>
              <a:ext uri="{FF2B5EF4-FFF2-40B4-BE49-F238E27FC236}">
                <a16:creationId xmlns:a16="http://schemas.microsoft.com/office/drawing/2014/main" id="{90A6CE0C-C2E6-4F80-ABB4-9B35AB4CA7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59050" y="2438400"/>
            <a:ext cx="3810000" cy="0"/>
          </a:xfrm>
          <a:prstGeom prst="line">
            <a:avLst/>
          </a:prstGeom>
          <a:noFill/>
          <a:ln w="317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71710" name="Text Box 30">
            <a:extLst>
              <a:ext uri="{FF2B5EF4-FFF2-40B4-BE49-F238E27FC236}">
                <a16:creationId xmlns:a16="http://schemas.microsoft.com/office/drawing/2014/main" id="{F073D92A-2C9F-457E-8B93-F9D437DD2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497" y="272441"/>
            <a:ext cx="337739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Sum of squared differences =</a:t>
            </a:r>
          </a:p>
        </p:txBody>
      </p:sp>
      <p:sp>
        <p:nvSpPr>
          <p:cNvPr id="71711" name="Text Box 31">
            <a:extLst>
              <a:ext uri="{FF2B5EF4-FFF2-40B4-BE49-F238E27FC236}">
                <a16:creationId xmlns:a16="http://schemas.microsoft.com/office/drawing/2014/main" id="{C887CD9A-5A39-4FD1-BBF7-C6A955A223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9370" y="267803"/>
            <a:ext cx="115768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(2 - 1)</a:t>
            </a:r>
            <a:r>
              <a:rPr kumimoji="0" lang="en-US" altLang="en-US" sz="18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2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+</a:t>
            </a:r>
          </a:p>
        </p:txBody>
      </p:sp>
      <p:sp>
        <p:nvSpPr>
          <p:cNvPr id="71712" name="Text Box 32">
            <a:extLst>
              <a:ext uri="{FF2B5EF4-FFF2-40B4-BE49-F238E27FC236}">
                <a16:creationId xmlns:a16="http://schemas.microsoft.com/office/drawing/2014/main" id="{2D0A78F3-D5D4-4CF7-91C9-C8039D3B3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2551" y="278885"/>
            <a:ext cx="11352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(4 - 2)</a:t>
            </a:r>
            <a:r>
              <a:rPr kumimoji="0" lang="en-US" altLang="en-US" sz="18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2 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+</a:t>
            </a:r>
          </a:p>
        </p:txBody>
      </p:sp>
      <p:sp>
        <p:nvSpPr>
          <p:cNvPr id="71713" name="Text Box 33">
            <a:extLst>
              <a:ext uri="{FF2B5EF4-FFF2-40B4-BE49-F238E27FC236}">
                <a16:creationId xmlns:a16="http://schemas.microsoft.com/office/drawing/2014/main" id="{1EC4287E-28C8-4A2F-AA5C-379B6A72A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3372" y="289441"/>
            <a:ext cx="13532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(1.5 - 3)</a:t>
            </a:r>
            <a:r>
              <a:rPr kumimoji="0" lang="en-US" altLang="en-US" sz="18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2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+</a:t>
            </a:r>
          </a:p>
        </p:txBody>
      </p:sp>
      <p:sp>
        <p:nvSpPr>
          <p:cNvPr id="71714" name="Text Box 34">
            <a:extLst>
              <a:ext uri="{FF2B5EF4-FFF2-40B4-BE49-F238E27FC236}">
                <a16:creationId xmlns:a16="http://schemas.microsoft.com/office/drawing/2014/main" id="{98E65E80-1FEA-4CC9-A103-B4C720145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76" y="2701925"/>
            <a:ext cx="7970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(4,3.2)</a:t>
            </a:r>
          </a:p>
        </p:txBody>
      </p:sp>
      <p:sp>
        <p:nvSpPr>
          <p:cNvPr id="71715" name="Text Box 35">
            <a:extLst>
              <a:ext uri="{FF2B5EF4-FFF2-40B4-BE49-F238E27FC236}">
                <a16:creationId xmlns:a16="http://schemas.microsoft.com/office/drawing/2014/main" id="{6261E51C-3F0B-4C34-AD8E-407158E52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4942" y="312443"/>
            <a:ext cx="187904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(3.2 - 4)</a:t>
            </a:r>
            <a:r>
              <a:rPr kumimoji="0" lang="en-US" altLang="en-US" sz="18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2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= 6.89</a:t>
            </a:r>
          </a:p>
        </p:txBody>
      </p:sp>
      <p:sp>
        <p:nvSpPr>
          <p:cNvPr id="71716" name="Line 36">
            <a:extLst>
              <a:ext uri="{FF2B5EF4-FFF2-40B4-BE49-F238E27FC236}">
                <a16:creationId xmlns:a16="http://schemas.microsoft.com/office/drawing/2014/main" id="{3B615F14-F081-492A-B526-EA368D0292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9050" y="3394075"/>
            <a:ext cx="3810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grpSp>
        <p:nvGrpSpPr>
          <p:cNvPr id="71717" name="Group 37">
            <a:extLst>
              <a:ext uri="{FF2B5EF4-FFF2-40B4-BE49-F238E27FC236}">
                <a16:creationId xmlns:a16="http://schemas.microsoft.com/office/drawing/2014/main" id="{878DDCE7-9D00-4708-B51E-0BF8C5E45D6F}"/>
              </a:ext>
            </a:extLst>
          </p:cNvPr>
          <p:cNvGrpSpPr>
            <a:grpSpLocks/>
          </p:cNvGrpSpPr>
          <p:nvPr/>
        </p:nvGrpSpPr>
        <p:grpSpPr bwMode="auto">
          <a:xfrm>
            <a:off x="3302000" y="2514601"/>
            <a:ext cx="3048000" cy="1489075"/>
            <a:chOff x="1488" y="2400"/>
            <a:chExt cx="1920" cy="938"/>
          </a:xfrm>
        </p:grpSpPr>
        <p:sp>
          <p:nvSpPr>
            <p:cNvPr id="71718" name="Line 38">
              <a:extLst>
                <a:ext uri="{FF2B5EF4-FFF2-40B4-BE49-F238E27FC236}">
                  <a16:creationId xmlns:a16="http://schemas.microsoft.com/office/drawing/2014/main" id="{275C9686-5CA0-49DB-87A8-F1AFFF2DED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950"/>
              <a:ext cx="0" cy="24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endParaRPr>
            </a:p>
          </p:txBody>
        </p:sp>
        <p:sp>
          <p:nvSpPr>
            <p:cNvPr id="71719" name="Line 39">
              <a:extLst>
                <a:ext uri="{FF2B5EF4-FFF2-40B4-BE49-F238E27FC236}">
                  <a16:creationId xmlns:a16="http://schemas.microsoft.com/office/drawing/2014/main" id="{89F327EC-0F3A-4C24-B6A7-E88F717E3E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50" y="2400"/>
              <a:ext cx="0" cy="554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endParaRPr>
            </a:p>
          </p:txBody>
        </p:sp>
        <p:sp>
          <p:nvSpPr>
            <p:cNvPr id="71720" name="Line 40">
              <a:extLst>
                <a:ext uri="{FF2B5EF4-FFF2-40B4-BE49-F238E27FC236}">
                  <a16:creationId xmlns:a16="http://schemas.microsoft.com/office/drawing/2014/main" id="{C9C299CB-06A4-4008-A84A-14B767916B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8" y="2666"/>
              <a:ext cx="0" cy="28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endParaRPr>
            </a:p>
          </p:txBody>
        </p:sp>
        <p:sp>
          <p:nvSpPr>
            <p:cNvPr id="71721" name="Line 41">
              <a:extLst>
                <a:ext uri="{FF2B5EF4-FFF2-40B4-BE49-F238E27FC236}">
                  <a16:creationId xmlns:a16="http://schemas.microsoft.com/office/drawing/2014/main" id="{1905D5FB-C3A3-436D-96E4-3AD64D88D6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2" y="2954"/>
              <a:ext cx="0" cy="384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endParaRPr>
            </a:p>
          </p:txBody>
        </p:sp>
      </p:grpSp>
      <p:grpSp>
        <p:nvGrpSpPr>
          <p:cNvPr id="71722" name="Group 42">
            <a:extLst>
              <a:ext uri="{FF2B5EF4-FFF2-40B4-BE49-F238E27FC236}">
                <a16:creationId xmlns:a16="http://schemas.microsoft.com/office/drawing/2014/main" id="{AAC393B5-3731-4E95-923A-D396904CB94C}"/>
              </a:ext>
            </a:extLst>
          </p:cNvPr>
          <p:cNvGrpSpPr>
            <a:grpSpLocks/>
          </p:cNvGrpSpPr>
          <p:nvPr/>
        </p:nvGrpSpPr>
        <p:grpSpPr bwMode="auto">
          <a:xfrm>
            <a:off x="296497" y="586606"/>
            <a:ext cx="9452647" cy="528705"/>
            <a:chOff x="1056" y="1785"/>
            <a:chExt cx="4831" cy="233"/>
          </a:xfrm>
        </p:grpSpPr>
        <p:sp>
          <p:nvSpPr>
            <p:cNvPr id="71723" name="Text Box 43">
              <a:extLst>
                <a:ext uri="{FF2B5EF4-FFF2-40B4-BE49-F238E27FC236}">
                  <a16:creationId xmlns:a16="http://schemas.microsoft.com/office/drawing/2014/main" id="{509B03FE-47B0-402A-B0E4-DDDF94076D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785"/>
              <a:ext cx="21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4CB9"/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rPr>
                <a:t>Sum of squared differences =</a:t>
              </a:r>
            </a:p>
          </p:txBody>
        </p:sp>
        <p:sp>
          <p:nvSpPr>
            <p:cNvPr id="71724" name="Text Box 44">
              <a:extLst>
                <a:ext uri="{FF2B5EF4-FFF2-40B4-BE49-F238E27FC236}">
                  <a16:creationId xmlns:a16="http://schemas.microsoft.com/office/drawing/2014/main" id="{736B1C5C-7AD1-41B8-9F57-FE36859A1D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6" y="1785"/>
              <a:ext cx="81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4CB9"/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rPr>
                <a:t>(2 -2.5)</a:t>
              </a:r>
              <a:r>
                <a:rPr kumimoji="0" lang="en-US" altLang="en-US" sz="1800" b="1" i="0" u="none" strike="noStrike" kern="1200" cap="none" spc="0" normalizeH="0" baseline="30000" noProof="0">
                  <a:ln>
                    <a:noFill/>
                  </a:ln>
                  <a:solidFill>
                    <a:srgbClr val="004CB9"/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rPr>
                <a:t>2</a:t>
              </a: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4CB9"/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rPr>
                <a:t> +</a:t>
              </a:r>
            </a:p>
          </p:txBody>
        </p:sp>
        <p:sp>
          <p:nvSpPr>
            <p:cNvPr id="71725" name="Text Box 45">
              <a:extLst>
                <a:ext uri="{FF2B5EF4-FFF2-40B4-BE49-F238E27FC236}">
                  <a16:creationId xmlns:a16="http://schemas.microsoft.com/office/drawing/2014/main" id="{68F85103-838C-403D-8AB8-1E9A63BADD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9" y="1785"/>
              <a:ext cx="83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4CB9"/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rPr>
                <a:t>(4 - 2.5)</a:t>
              </a:r>
              <a:r>
                <a:rPr kumimoji="0" lang="en-US" altLang="en-US" sz="1800" b="1" i="0" u="none" strike="noStrike" kern="1200" cap="none" spc="0" normalizeH="0" baseline="30000" noProof="0">
                  <a:ln>
                    <a:noFill/>
                  </a:ln>
                  <a:solidFill>
                    <a:srgbClr val="004CB9"/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rPr>
                <a:t>2 </a:t>
              </a: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4CB9"/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71726" name="Text Box 46">
              <a:extLst>
                <a:ext uri="{FF2B5EF4-FFF2-40B4-BE49-F238E27FC236}">
                  <a16:creationId xmlns:a16="http://schemas.microsoft.com/office/drawing/2014/main" id="{2451F8C6-E5CB-4507-93CB-2143A37512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785"/>
              <a:ext cx="97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4CB9"/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rPr>
                <a:t>(1.5 - 2.5)</a:t>
              </a:r>
              <a:r>
                <a:rPr kumimoji="0" lang="en-US" altLang="en-US" sz="1800" b="1" i="0" u="none" strike="noStrike" kern="1200" cap="none" spc="0" normalizeH="0" baseline="30000" noProof="0">
                  <a:ln>
                    <a:noFill/>
                  </a:ln>
                  <a:solidFill>
                    <a:srgbClr val="004CB9"/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rPr>
                <a:t>2</a:t>
              </a: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4CB9"/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rPr>
                <a:t> +</a:t>
              </a:r>
            </a:p>
          </p:txBody>
        </p:sp>
        <p:sp>
          <p:nvSpPr>
            <p:cNvPr id="71727" name="Text Box 47">
              <a:extLst>
                <a:ext uri="{FF2B5EF4-FFF2-40B4-BE49-F238E27FC236}">
                  <a16:creationId xmlns:a16="http://schemas.microsoft.com/office/drawing/2014/main" id="{133E20B9-C6D2-48D2-989F-5735A4F5F8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0" y="1785"/>
              <a:ext cx="130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4CB9"/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rPr>
                <a:t>(3.2 - 2.5)</a:t>
              </a:r>
              <a:r>
                <a:rPr kumimoji="0" lang="en-US" altLang="en-US" sz="1800" b="1" i="0" u="none" strike="noStrike" kern="1200" cap="none" spc="0" normalizeH="0" baseline="30000" noProof="0">
                  <a:ln>
                    <a:noFill/>
                  </a:ln>
                  <a:solidFill>
                    <a:srgbClr val="004CB9"/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rPr>
                <a:t>2</a:t>
              </a: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4CB9"/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rPr>
                <a:t> = 3.99</a:t>
              </a:r>
            </a:p>
          </p:txBody>
        </p:sp>
      </p:grpSp>
      <p:sp>
        <p:nvSpPr>
          <p:cNvPr id="71728" name="Text Box 48">
            <a:extLst>
              <a:ext uri="{FF2B5EF4-FFF2-40B4-BE49-F238E27FC236}">
                <a16:creationId xmlns:a16="http://schemas.microsoft.com/office/drawing/2014/main" id="{C4F8ACBC-70B3-4546-9F15-08F1BB677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2175" y="3159125"/>
            <a:ext cx="4844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2.5</a:t>
            </a:r>
          </a:p>
        </p:txBody>
      </p:sp>
      <p:sp>
        <p:nvSpPr>
          <p:cNvPr id="71731" name="Text Box 51">
            <a:extLst>
              <a:ext uri="{FF2B5EF4-FFF2-40B4-BE49-F238E27FC236}">
                <a16:creationId xmlns:a16="http://schemas.microsoft.com/office/drawing/2014/main" id="{8D8A57A3-3A06-492A-8143-799DC7FBC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6281" y="2936876"/>
            <a:ext cx="3374642" cy="1569660"/>
          </a:xfrm>
          <a:prstGeom prst="rect">
            <a:avLst/>
          </a:prstGeom>
          <a:solidFill>
            <a:srgbClr val="D1D1D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The smaller the sum of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squared differences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the better the fit of the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line to the data.</a:t>
            </a:r>
          </a:p>
        </p:txBody>
      </p:sp>
    </p:spTree>
    <p:extLst>
      <p:ext uri="{BB962C8B-B14F-4D97-AF65-F5344CB8AC3E}">
        <p14:creationId xmlns:p14="http://schemas.microsoft.com/office/powerpoint/2010/main" val="3248506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1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1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71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1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71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7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71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71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1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17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17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71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0" grpId="0" autoUpdateAnimBg="0"/>
      <p:bldP spid="71711" grpId="0" autoUpdateAnimBg="0"/>
      <p:bldP spid="71712" grpId="0" autoUpdateAnimBg="0"/>
      <p:bldP spid="71713" grpId="0" autoUpdateAnimBg="0"/>
      <p:bldP spid="71715" grpId="0" autoUpdateAnimBg="0"/>
      <p:bldP spid="71731" grpId="0" animBg="1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707BE0-129E-8709-64CB-2D6E37212E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49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F097E9-54E9-D42E-9D26-E6F0B491F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statement of the model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053633-8E83-65B1-255F-08EF8AAE3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 rtl="0" eaLnBrk="1" hangingPunct="1">
              <a:lnSpc>
                <a:spcPct val="90000"/>
              </a:lnSpc>
            </a:pPr>
            <a:r>
              <a:rPr lang="en-US" altLang="ar-SA" sz="2000" dirty="0">
                <a:latin typeface="Arial" panose="020B0604020202020204" pitchFamily="34" charset="0"/>
                <a:cs typeface="Arial" panose="020B0604020202020204" pitchFamily="34" charset="0"/>
              </a:rPr>
              <a:t>If the scatter plot of our sample data suggests a linear relationship between two variables i.e. we can summarize the relationship by drawing a straight line on the plot.</a:t>
            </a:r>
          </a:p>
          <a:p>
            <a:pPr algn="l" rtl="0" eaLnBrk="1" hangingPunct="1">
              <a:lnSpc>
                <a:spcPct val="90000"/>
              </a:lnSpc>
            </a:pPr>
            <a:endParaRPr lang="en-US" altLang="ar-SA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The values of the regression </a:t>
            </a:r>
            <a:r>
              <a:rPr kumimoji="0" lang="en-US" alt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parameters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 </a:t>
            </a: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</a:t>
            </a:r>
            <a:r>
              <a:rPr kumimoji="0" lang="en-US" alt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0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, and </a:t>
            </a: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</a:t>
            </a:r>
            <a:r>
              <a:rPr kumimoji="0" lang="en-US" alt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1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are not known. We estimate them from data. </a:t>
            </a:r>
          </a:p>
          <a:p>
            <a: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</a:t>
            </a:r>
            <a:r>
              <a:rPr kumimoji="0" lang="en-US" alt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0 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indicates the intercept of Y</a:t>
            </a:r>
          </a:p>
          <a:p>
            <a: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</a:t>
            </a:r>
            <a:r>
              <a:rPr kumimoji="0" lang="en-US" alt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 indicates the change in the mean response in </a:t>
            </a: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Y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 </a:t>
            </a:r>
            <a:r>
              <a:rPr kumimoji="0" lang="en-US" alt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per unit increase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in X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is a known independent variable</a:t>
            </a:r>
          </a:p>
          <a:p>
            <a:pPr marL="457200" marR="0" lvl="0" indent="-4572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Deviations </a:t>
            </a: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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 are independent N(o, </a:t>
            </a:r>
            <a:r>
              <a:rPr kumimoji="0" lang="en-US" altLang="en-US" sz="20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2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) </a:t>
            </a:r>
          </a:p>
          <a:p>
            <a:pPr algn="l" rtl="0" eaLnBrk="1" hangingPunct="1">
              <a:lnSpc>
                <a:spcPct val="90000"/>
              </a:lnSpc>
            </a:pPr>
            <a:r>
              <a:rPr lang="en-US" altLang="ar-SA" sz="2000" b="1" dirty="0">
                <a:latin typeface="Arial" panose="020B0604020202020204" pitchFamily="34" charset="0"/>
                <a:cs typeface="Arial" panose="020B0604020202020204" pitchFamily="34" charset="0"/>
              </a:rPr>
              <a:t>Least squares </a:t>
            </a:r>
            <a:r>
              <a:rPr lang="en-US" altLang="ar-SA" sz="2000" dirty="0">
                <a:latin typeface="Arial" panose="020B0604020202020204" pitchFamily="34" charset="0"/>
                <a:cs typeface="Arial" panose="020B0604020202020204" pitchFamily="34" charset="0"/>
              </a:rPr>
              <a:t>method give us the “best” estimated line for our set of sample data.</a:t>
            </a:r>
          </a:p>
          <a:p>
            <a:pPr marL="457200" indent="-457200"/>
            <a:endParaRPr lang="en-US" altLang="en-US" sz="2000" dirty="0">
              <a:latin typeface="Times New Roman" pitchFamily="18" charset="0"/>
            </a:endParaRPr>
          </a:p>
          <a:p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162F4CF-7D9D-7A25-3541-6622780921C8}"/>
                  </a:ext>
                </a:extLst>
              </p:cNvPr>
              <p:cNvSpPr txBox="1"/>
              <p:nvPr/>
            </p:nvSpPr>
            <p:spPr>
              <a:xfrm>
                <a:off x="1850840" y="2883947"/>
                <a:ext cx="253056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i="1" dirty="0">
                    <a:solidFill>
                      <a:schemeClr val="bg1"/>
                    </a:solidFill>
                  </a:rPr>
                  <a:t>X</a:t>
                </a:r>
                <a:r>
                  <a:rPr lang="en-US" sz="2800" dirty="0">
                    <a:solidFill>
                      <a:schemeClr val="bg1"/>
                    </a:solidFill>
                  </a:rPr>
                  <a:t>+</a:t>
                </a:r>
                <a:r>
                  <a:rPr lang="el-GR" sz="2800" i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ε</a:t>
                </a:r>
                <a:endParaRPr lang="en-US" sz="2800" i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162F4CF-7D9D-7A25-3541-662278092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0840" y="2883947"/>
                <a:ext cx="2530565" cy="430887"/>
              </a:xfrm>
              <a:prstGeom prst="rect">
                <a:avLst/>
              </a:prstGeom>
              <a:blipFill>
                <a:blip r:embed="rId2"/>
                <a:stretch>
                  <a:fillRect t="-26761" r="-6988" b="-49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42873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85157-A854-C1D4-5826-BA90C14DE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see how this is applied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530E1-5A4B-D263-B76E-8D7D49BB4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592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Multiple Linear Regression Is and How It Works: Characteristics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Two or more predictor variables and one criterion variable</a:t>
            </a:r>
          </a:p>
          <a:p>
            <a:r>
              <a:rPr lang="en-US" dirty="0"/>
              <a:t>Additional variables are incorporated via partial and semipartial correlations</a:t>
            </a:r>
          </a:p>
          <a:p>
            <a:r>
              <a:rPr lang="en-US" dirty="0"/>
              <a:t>Partial correlation:  As a three-variable example, represents the linear relationship between 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 and 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dirty="0"/>
              <a:t> independent of the linear influence of </a:t>
            </a:r>
            <a:r>
              <a:rPr lang="en-US" i="1" dirty="0"/>
              <a:t>X</a:t>
            </a:r>
            <a:r>
              <a:rPr lang="en-US" baseline="-25000" dirty="0"/>
              <a:t>3</a:t>
            </a:r>
          </a:p>
          <a:p>
            <a:r>
              <a:rPr lang="en-US" dirty="0"/>
              <a:t>Semipartial (part) correlation:  Linear relationship between 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 and</a:t>
            </a:r>
            <a:r>
              <a:rPr lang="en-US" i="1" dirty="0"/>
              <a:t> X</a:t>
            </a:r>
            <a:r>
              <a:rPr lang="en-US" baseline="-25000" dirty="0"/>
              <a:t>2</a:t>
            </a:r>
            <a:r>
              <a:rPr lang="en-US" dirty="0"/>
              <a:t> after that portion of 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dirty="0"/>
              <a:t> that can be linearly predicted from </a:t>
            </a:r>
            <a:r>
              <a:rPr lang="en-US" i="1" dirty="0"/>
              <a:t>X</a:t>
            </a:r>
            <a:r>
              <a:rPr lang="en-US" baseline="-25000" dirty="0"/>
              <a:t>3</a:t>
            </a:r>
            <a:r>
              <a:rPr lang="en-US" dirty="0"/>
              <a:t> has been removed from 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6927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Multiple Linear Regression Is and How It Works: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Unstandardized regression model</a:t>
            </a:r>
          </a:p>
          <a:p>
            <a:pPr>
              <a:lnSpc>
                <a:spcPct val="120000"/>
              </a:lnSpc>
            </a:pPr>
            <a:r>
              <a:rPr lang="en-US" dirty="0"/>
              <a:t>Sample multiple linear regression model</a:t>
            </a:r>
          </a:p>
          <a:p>
            <a:pPr lvl="1">
              <a:lnSpc>
                <a:spcPct val="120000"/>
              </a:lnSpc>
            </a:pPr>
            <a:r>
              <a:rPr lang="en-US" i="1" dirty="0"/>
              <a:t>Y</a:t>
            </a:r>
            <a:r>
              <a:rPr lang="en-US" i="1" baseline="-25000" dirty="0"/>
              <a:t>i</a:t>
            </a:r>
            <a:r>
              <a:rPr lang="en-US" dirty="0"/>
              <a:t> = </a:t>
            </a:r>
            <a:r>
              <a:rPr lang="en-US" i="1" dirty="0"/>
              <a:t>b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i="1" baseline="-25000" dirty="0"/>
              <a:t>i</a:t>
            </a:r>
            <a:r>
              <a:rPr lang="en-US" dirty="0"/>
              <a:t> + </a:t>
            </a:r>
            <a:r>
              <a:rPr lang="en-US" i="1" dirty="0"/>
              <a:t>b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i="1" baseline="-25000" dirty="0"/>
              <a:t>i</a:t>
            </a:r>
            <a:r>
              <a:rPr lang="en-US" dirty="0"/>
              <a:t> + ... + </a:t>
            </a:r>
            <a:r>
              <a:rPr lang="en-US" i="1" dirty="0"/>
              <a:t>b</a:t>
            </a:r>
            <a:r>
              <a:rPr lang="en-US" i="1" baseline="-25000" dirty="0"/>
              <a:t>m</a:t>
            </a:r>
            <a:r>
              <a:rPr lang="en-US" i="1" dirty="0"/>
              <a:t> X</a:t>
            </a:r>
            <a:r>
              <a:rPr lang="en-US" i="1" baseline="-25000" dirty="0"/>
              <a:t>mi</a:t>
            </a:r>
            <a:r>
              <a:rPr lang="en-US" dirty="0"/>
              <a:t> + </a:t>
            </a:r>
            <a:r>
              <a:rPr lang="en-US" i="1" dirty="0"/>
              <a:t>a</a:t>
            </a:r>
            <a:r>
              <a:rPr lang="en-US" dirty="0"/>
              <a:t> +</a:t>
            </a:r>
            <a:r>
              <a:rPr lang="en-US" i="1" dirty="0"/>
              <a:t> e</a:t>
            </a:r>
            <a:r>
              <a:rPr lang="en-US" i="1" baseline="-25000" dirty="0"/>
              <a:t>i</a:t>
            </a:r>
          </a:p>
          <a:p>
            <a:pPr lvl="1">
              <a:lnSpc>
                <a:spcPct val="120000"/>
              </a:lnSpc>
            </a:pPr>
            <a:r>
              <a:rPr lang="en-US" i="1" dirty="0"/>
              <a:t>Y</a:t>
            </a:r>
            <a:r>
              <a:rPr lang="en-US" dirty="0"/>
              <a:t> is the criterion variable </a:t>
            </a:r>
          </a:p>
          <a:p>
            <a:pPr lvl="1">
              <a:lnSpc>
                <a:spcPct val="120000"/>
              </a:lnSpc>
            </a:pPr>
            <a:r>
              <a:rPr lang="en-US" i="1" dirty="0"/>
              <a:t>X</a:t>
            </a:r>
            <a:r>
              <a:rPr lang="en-US" i="1" baseline="-25000" dirty="0"/>
              <a:t>k</a:t>
            </a:r>
            <a:r>
              <a:rPr lang="en-US" dirty="0"/>
              <a:t>’s are the predictor (or independent) variables where </a:t>
            </a:r>
            <a:r>
              <a:rPr lang="en-US" i="1" dirty="0"/>
              <a:t>k</a:t>
            </a:r>
            <a:r>
              <a:rPr lang="en-US" dirty="0"/>
              <a:t> = 1, ..., </a:t>
            </a:r>
            <a:r>
              <a:rPr lang="en-US" i="1" dirty="0"/>
              <a:t>m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i="1" dirty="0"/>
              <a:t>b</a:t>
            </a:r>
            <a:r>
              <a:rPr lang="en-US" i="1" baseline="-25000" dirty="0"/>
              <a:t>k</a:t>
            </a:r>
            <a:r>
              <a:rPr lang="en-US" dirty="0"/>
              <a:t> is the sample partial slope of the regression line for </a:t>
            </a:r>
            <a:r>
              <a:rPr lang="en-US" i="1" dirty="0"/>
              <a:t>Y</a:t>
            </a:r>
            <a:r>
              <a:rPr lang="en-US" dirty="0"/>
              <a:t> as predicted by </a:t>
            </a:r>
            <a:r>
              <a:rPr lang="en-US" i="1" dirty="0"/>
              <a:t>X</a:t>
            </a:r>
            <a:r>
              <a:rPr lang="en-US" i="1" baseline="-25000" dirty="0"/>
              <a:t>k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i="1" dirty="0"/>
              <a:t>a</a:t>
            </a:r>
            <a:r>
              <a:rPr lang="en-US" dirty="0"/>
              <a:t> is the sample intercept of the regression line for </a:t>
            </a:r>
            <a:r>
              <a:rPr lang="en-US" i="1" dirty="0"/>
              <a:t>Y</a:t>
            </a:r>
            <a:r>
              <a:rPr lang="en-US" dirty="0"/>
              <a:t> as predicted by the set of </a:t>
            </a:r>
            <a:r>
              <a:rPr lang="en-US" i="1" dirty="0"/>
              <a:t>X</a:t>
            </a:r>
            <a:r>
              <a:rPr lang="en-US" i="1" baseline="-25000" dirty="0"/>
              <a:t>k</a:t>
            </a:r>
            <a:r>
              <a:rPr lang="en-US" dirty="0"/>
              <a:t>’s</a:t>
            </a:r>
          </a:p>
          <a:p>
            <a:pPr lvl="1">
              <a:lnSpc>
                <a:spcPct val="120000"/>
              </a:lnSpc>
            </a:pPr>
            <a:r>
              <a:rPr lang="en-US" i="1" dirty="0"/>
              <a:t>e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n-US" dirty="0"/>
              <a:t>are the residuals or errors of prediction (the part of </a:t>
            </a:r>
            <a:r>
              <a:rPr lang="en-US" i="1" dirty="0"/>
              <a:t>Y</a:t>
            </a:r>
            <a:r>
              <a:rPr lang="en-US" dirty="0"/>
              <a:t> not predictable from the </a:t>
            </a:r>
            <a:r>
              <a:rPr lang="en-US" i="1" dirty="0"/>
              <a:t>X</a:t>
            </a:r>
            <a:r>
              <a:rPr lang="en-US" i="1" baseline="-25000" dirty="0"/>
              <a:t>k</a:t>
            </a:r>
            <a:r>
              <a:rPr lang="en-US" dirty="0"/>
              <a:t>’s)</a:t>
            </a:r>
          </a:p>
          <a:p>
            <a:pPr lvl="1">
              <a:lnSpc>
                <a:spcPct val="120000"/>
              </a:lnSpc>
            </a:pP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represents an index for an individual or object</a:t>
            </a: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DB3AF2F-38B6-40EB-AC66-63E9A9AA205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Sample prediction model is</a:t>
            </a:r>
          </a:p>
          <a:p>
            <a:pPr lvl="1">
              <a:lnSpc>
                <a:spcPct val="120000"/>
              </a:lnSpc>
            </a:pPr>
            <a:r>
              <a:rPr lang="en-US" i="1" dirty="0" err="1"/>
              <a:t>Y</a:t>
            </a:r>
            <a:r>
              <a:rPr lang="en-US" dirty="0" err="1"/>
              <a:t>'</a:t>
            </a:r>
            <a:r>
              <a:rPr lang="en-US" i="1" baseline="-25000" dirty="0" err="1"/>
              <a:t>i</a:t>
            </a:r>
            <a:r>
              <a:rPr lang="en-US" dirty="0"/>
              <a:t> = </a:t>
            </a:r>
            <a:r>
              <a:rPr lang="en-US" i="1" dirty="0"/>
              <a:t>b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i="1" baseline="-25000" dirty="0"/>
              <a:t>i</a:t>
            </a:r>
            <a:r>
              <a:rPr lang="en-US" dirty="0"/>
              <a:t> + </a:t>
            </a:r>
            <a:r>
              <a:rPr lang="en-US" i="1" dirty="0"/>
              <a:t>b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i="1" baseline="-25000" dirty="0"/>
              <a:t>i</a:t>
            </a:r>
            <a:r>
              <a:rPr lang="en-US" dirty="0"/>
              <a:t> + ... + </a:t>
            </a:r>
            <a:r>
              <a:rPr lang="en-US" i="1" dirty="0"/>
              <a:t>b</a:t>
            </a:r>
            <a:r>
              <a:rPr lang="en-US" i="1" baseline="-25000" dirty="0"/>
              <a:t>m</a:t>
            </a:r>
            <a:r>
              <a:rPr lang="en-US" i="1" dirty="0"/>
              <a:t> </a:t>
            </a:r>
            <a:r>
              <a:rPr lang="en-US" i="1" dirty="0" err="1"/>
              <a:t>X</a:t>
            </a:r>
            <a:r>
              <a:rPr lang="en-US" i="1" baseline="-25000" dirty="0" err="1"/>
              <a:t>mi</a:t>
            </a:r>
            <a:r>
              <a:rPr lang="en-US" dirty="0"/>
              <a:t> + </a:t>
            </a:r>
            <a:r>
              <a:rPr lang="en-US" i="1" dirty="0"/>
              <a:t>a</a:t>
            </a:r>
          </a:p>
          <a:p>
            <a:pPr>
              <a:lnSpc>
                <a:spcPct val="120000"/>
              </a:lnSpc>
            </a:pPr>
            <a:r>
              <a:rPr lang="en-US" dirty="0"/>
              <a:t>Difference in the models:  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Regression model explicitly includes prediction error as </a:t>
            </a:r>
            <a:r>
              <a:rPr lang="en-US" i="1" dirty="0" err="1"/>
              <a:t>e</a:t>
            </a:r>
            <a:r>
              <a:rPr lang="en-US" i="1" baseline="-25000" dirty="0" err="1"/>
              <a:t>i</a:t>
            </a:r>
            <a:r>
              <a:rPr lang="en-US" dirty="0"/>
              <a:t> 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Prediction model includes prediction error implicitly as part of the predicted score </a:t>
            </a:r>
            <a:r>
              <a:rPr lang="en-US" i="1" dirty="0" err="1"/>
              <a:t>Y'</a:t>
            </a:r>
            <a:r>
              <a:rPr lang="en-US" i="1" baseline="-25000" dirty="0" err="1"/>
              <a:t>i</a:t>
            </a:r>
            <a:r>
              <a:rPr lang="en-US" dirty="0"/>
              <a:t> (i.e., there is some error in the predicted values)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BA892F0-A136-4F8B-978C-0EDD778A1D63}"/>
                  </a:ext>
                </a:extLst>
              </p14:cNvPr>
              <p14:cNvContentPartPr/>
              <p14:nvPr/>
            </p14:nvContentPartPr>
            <p14:xfrm>
              <a:off x="2309004" y="30105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BA892F0-A136-4F8B-978C-0EDD778A1D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00004" y="30019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85F1003-4600-4B50-9589-C03C89E2B90F}"/>
                  </a:ext>
                </a:extLst>
              </p14:cNvPr>
              <p14:cNvContentPartPr/>
              <p14:nvPr/>
            </p14:nvContentPartPr>
            <p14:xfrm>
              <a:off x="2474964" y="4765575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85F1003-4600-4B50-9589-C03C89E2B90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66324" y="475657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841C5BD-3DF0-42E8-A6FC-85D54939A658}"/>
                  </a:ext>
                </a:extLst>
              </p14:cNvPr>
              <p14:cNvContentPartPr/>
              <p14:nvPr/>
            </p14:nvContentPartPr>
            <p14:xfrm>
              <a:off x="1588284" y="5218095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841C5BD-3DF0-42E8-A6FC-85D54939A6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79644" y="520945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CD37E6A-0E6A-4577-8954-8986EDAFFDE8}"/>
                  </a:ext>
                </a:extLst>
              </p14:cNvPr>
              <p14:cNvContentPartPr/>
              <p14:nvPr/>
            </p14:nvContentPartPr>
            <p14:xfrm>
              <a:off x="3453804" y="4285335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CD37E6A-0E6A-4577-8954-8986EDAFFDE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45164" y="42766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DF07710-1573-42D8-B860-55CB2253C2CE}"/>
                  </a:ext>
                </a:extLst>
              </p14:cNvPr>
              <p14:cNvContentPartPr/>
              <p14:nvPr/>
            </p14:nvContentPartPr>
            <p14:xfrm>
              <a:off x="4894884" y="5957175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DF07710-1573-42D8-B860-55CB2253C2C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86244" y="59485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D80B649-E023-4F58-8EA8-4B312DD0E8D5}"/>
                  </a:ext>
                </a:extLst>
              </p14:cNvPr>
              <p14:cNvContentPartPr/>
              <p14:nvPr/>
            </p14:nvContentPartPr>
            <p14:xfrm>
              <a:off x="4488804" y="5892375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D80B649-E023-4F58-8EA8-4B312DD0E8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79804" y="588337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0A10BE2-1657-4A8C-A89A-95FCB3EE7D61}"/>
                  </a:ext>
                </a:extLst>
              </p14:cNvPr>
              <p14:cNvContentPartPr/>
              <p14:nvPr/>
            </p14:nvContentPartPr>
            <p14:xfrm>
              <a:off x="4488804" y="5772135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0A10BE2-1657-4A8C-A89A-95FCB3EE7D6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79804" y="5763495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20640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Multiple Linear Regression Is and How It Works: Characteristics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Standardized regression model</a:t>
            </a:r>
          </a:p>
          <a:p>
            <a:r>
              <a:rPr lang="en-US" dirty="0"/>
              <a:t>Sample standardized linear prediction model</a:t>
            </a:r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     = sample standardized partial slope  </a:t>
            </a:r>
          </a:p>
          <a:p>
            <a:pPr lvl="1"/>
            <a:r>
              <a:rPr lang="en-US" dirty="0"/>
              <a:t>no intercept term is necessary as the mean of the </a:t>
            </a:r>
            <a:r>
              <a:rPr lang="en-US" i="1" dirty="0"/>
              <a:t>z </a:t>
            </a:r>
            <a:r>
              <a:rPr lang="en-US" dirty="0"/>
              <a:t>scores for all variables is 0</a:t>
            </a:r>
          </a:p>
          <a:p>
            <a:r>
              <a:rPr lang="en-US" dirty="0"/>
              <a:t>Unstandardized or standardized model?  </a:t>
            </a:r>
          </a:p>
          <a:p>
            <a:pPr lvl="1"/>
            <a:r>
              <a:rPr lang="en-US" dirty="0"/>
              <a:t>Standardized model is not stable from sample to sample</a:t>
            </a:r>
          </a:p>
          <a:p>
            <a:pPr lvl="1"/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/>
              <p:cNvSpPr txBox="1"/>
              <p:nvPr/>
            </p:nvSpPr>
            <p:spPr bwMode="auto">
              <a:xfrm>
                <a:off x="3095625" y="3341688"/>
                <a:ext cx="4043363" cy="47466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𝑧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sSubSup>
                        <m:sSubSup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  <m: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′</m:t>
                          </m:r>
                        </m:sup>
                      </m:sSubSup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)=</m:t>
                      </m:r>
                      <m:sSubSup>
                        <m:sSubSup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  <m: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∗</m:t>
                          </m:r>
                        </m:sup>
                      </m:sSubSup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𝑧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bSup>
                        <m:sSubSup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  <m: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∗</m:t>
                          </m:r>
                        </m:sup>
                      </m:sSubSup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𝑧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+...+</m:t>
                      </m:r>
                      <m:sSubSup>
                        <m:sSubSup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</m:sub>
                        <m: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∗</m:t>
                          </m:r>
                        </m:sup>
                      </m:sSubSup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𝑧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𝑚𝑖</m:t>
                          </m:r>
                        </m:sub>
                      </m:sSub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5625" y="3341688"/>
                <a:ext cx="4043363" cy="4746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3357600" y="3666018"/>
          <a:ext cx="4095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3040" imgH="241200" progId="Equation.3">
                  <p:embed/>
                </p:oleObj>
              </mc:Choice>
              <mc:Fallback>
                <p:oleObj name="Equation" r:id="rId3" imgW="203040" imgH="241200" progId="Equation.3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7600" y="3666018"/>
                        <a:ext cx="409575" cy="4730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75678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Multiple Linear Regression Is and How It Works: Characteristics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Coefficient of multiple determination and multiple correlation</a:t>
            </a:r>
          </a:p>
          <a:p>
            <a:pPr lvl="1"/>
            <a:r>
              <a:rPr lang="en-US" dirty="0"/>
              <a:t>Tells the proportion of total variation in the dependent variable </a:t>
            </a:r>
            <a:r>
              <a:rPr lang="en-US" i="1" dirty="0"/>
              <a:t>Y</a:t>
            </a:r>
            <a:r>
              <a:rPr lang="en-US" dirty="0"/>
              <a:t> that is </a:t>
            </a:r>
            <a:r>
              <a:rPr lang="en-US" i="1" dirty="0"/>
              <a:t>explained by </a:t>
            </a:r>
            <a:r>
              <a:rPr lang="en-US" dirty="0"/>
              <a:t>the set of predictor variables </a:t>
            </a:r>
          </a:p>
          <a:p>
            <a:pPr lvl="1"/>
            <a:r>
              <a:rPr lang="en-US" dirty="0"/>
              <a:t>R-squared = .45 </a:t>
            </a:r>
            <a:r>
              <a:rPr lang="en-US" dirty="0">
                <a:sym typeface="Wingdings" panose="05000000000000000000" pitchFamily="2" charset="2"/>
              </a:rPr>
              <a:t> 45% of the variation in Y is explained by </a:t>
            </a:r>
            <a:r>
              <a:rPr lang="en-US" dirty="0" err="1">
                <a:sym typeface="Wingdings" panose="05000000000000000000" pitchFamily="2" charset="2"/>
              </a:rPr>
              <a:t>Xs</a:t>
            </a:r>
            <a:endParaRPr lang="en-US" dirty="0">
              <a:sym typeface="Wingdings" panose="05000000000000000000" pitchFamily="2" charset="2"/>
            </a:endParaRPr>
          </a:p>
          <a:p>
            <a:pPr lvl="2"/>
            <a:r>
              <a:rPr lang="en-US" dirty="0">
                <a:sym typeface="Wingdings" panose="05000000000000000000" pitchFamily="2" charset="2"/>
              </a:rPr>
              <a:t>Example: if we predict GGPA from UGPA and our R-squared is .45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1 – R-squared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6319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Multiple Linear Regression Is and How It Works: Characteristics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Significance tests</a:t>
            </a:r>
          </a:p>
          <a:p>
            <a:pPr lvl="1"/>
            <a:r>
              <a:rPr lang="en-US" dirty="0"/>
              <a:t>Overall: Test of significance of the overall regression model, or alternatively the test of significance of the coefficient of multiple determination</a:t>
            </a:r>
          </a:p>
          <a:p>
            <a:pPr lvl="2"/>
            <a:r>
              <a:rPr lang="en-US" dirty="0"/>
              <a:t>If </a:t>
            </a:r>
            <a:r>
              <a:rPr lang="en-US" i="1" dirty="0"/>
              <a:t>H</a:t>
            </a:r>
            <a:r>
              <a:rPr lang="en-US" baseline="-25000" dirty="0"/>
              <a:t>0</a:t>
            </a:r>
            <a:r>
              <a:rPr lang="en-US" dirty="0"/>
              <a:t> is rejected, then </a:t>
            </a:r>
            <a:r>
              <a:rPr lang="en-US" i="1" dirty="0"/>
              <a:t>one or more of the individual regression coefficients is statistically significantly different from zero </a:t>
            </a:r>
          </a:p>
          <a:p>
            <a:pPr lvl="1"/>
            <a:r>
              <a:rPr lang="en-US" dirty="0"/>
              <a:t>Ceteris paribus: Test of the statistical significance of each individual partial slope or regression coefficient, </a:t>
            </a:r>
            <a:r>
              <a:rPr lang="en-US" i="1" dirty="0"/>
              <a:t>b</a:t>
            </a:r>
            <a:r>
              <a:rPr lang="en-US" i="1" baseline="-25000" dirty="0"/>
              <a:t>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2253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Multiple Linear Regression Is and How It Works: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Methods of entering predictors</a:t>
            </a:r>
          </a:p>
          <a:p>
            <a:pPr lvl="1"/>
            <a:r>
              <a:rPr lang="en-US" dirty="0"/>
              <a:t>Simultaneous</a:t>
            </a:r>
          </a:p>
          <a:p>
            <a:pPr lvl="1"/>
            <a:r>
              <a:rPr lang="en-US" dirty="0"/>
              <a:t>Backward elimination</a:t>
            </a:r>
          </a:p>
          <a:p>
            <a:pPr lvl="2"/>
            <a:r>
              <a:rPr lang="en-US" dirty="0"/>
              <a:t>Forward selection</a:t>
            </a:r>
          </a:p>
          <a:p>
            <a:pPr lvl="2"/>
            <a:r>
              <a:rPr lang="en-US" dirty="0"/>
              <a:t>Stepwise selection</a:t>
            </a:r>
          </a:p>
          <a:p>
            <a:pPr lvl="2"/>
            <a:r>
              <a:rPr lang="en-US" dirty="0"/>
              <a:t>All possible subsets regression</a:t>
            </a:r>
          </a:p>
          <a:p>
            <a:pPr lvl="2"/>
            <a:r>
              <a:rPr lang="en-US" dirty="0"/>
              <a:t>Hierarchical regression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F95452-67F1-4523-A53D-ACC41E271147}"/>
              </a:ext>
            </a:extLst>
          </p:cNvPr>
          <p:cNvCxnSpPr/>
          <p:nvPr/>
        </p:nvCxnSpPr>
        <p:spPr>
          <a:xfrm>
            <a:off x="838200" y="2013527"/>
            <a:ext cx="5091545" cy="3980873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02672B-4CB4-486F-9C8B-4A34C0AD5745}"/>
              </a:ext>
            </a:extLst>
          </p:cNvPr>
          <p:cNvCxnSpPr>
            <a:cxnSpLocks/>
          </p:cNvCxnSpPr>
          <p:nvPr/>
        </p:nvCxnSpPr>
        <p:spPr>
          <a:xfrm flipV="1">
            <a:off x="988291" y="2013527"/>
            <a:ext cx="4461164" cy="4045528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0891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Multiple Linear Regression Is and How It Works: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Nonlinear relationships</a:t>
            </a:r>
          </a:p>
          <a:p>
            <a:pPr lvl="1"/>
            <a:r>
              <a:rPr lang="en-US" dirty="0"/>
              <a:t>Polynomial models</a:t>
            </a:r>
          </a:p>
          <a:p>
            <a:pPr lvl="2"/>
            <a:r>
              <a:rPr lang="en-US" dirty="0"/>
              <a:t>First degree polynomial (simple linear regression)</a:t>
            </a:r>
          </a:p>
          <a:p>
            <a:pPr lvl="2"/>
            <a:r>
              <a:rPr lang="en-US" dirty="0"/>
              <a:t>Second degree polynomial (quadratic)</a:t>
            </a:r>
          </a:p>
          <a:p>
            <a:pPr lvl="2"/>
            <a:r>
              <a:rPr lang="en-US" dirty="0"/>
              <a:t>Third degree polynomial (cubic)</a:t>
            </a:r>
          </a:p>
          <a:p>
            <a:pPr lvl="2"/>
            <a:endParaRPr lang="en-US" dirty="0"/>
          </a:p>
          <a:p>
            <a:pPr lvl="2"/>
            <a:r>
              <a:rPr lang="en-US" u="sng" dirty="0"/>
              <a:t>Example</a:t>
            </a:r>
            <a:r>
              <a:rPr lang="en-US" dirty="0"/>
              <a:t>: entering age (first degree), age-squared (quadratic) or age-cubed (3</a:t>
            </a:r>
            <a:r>
              <a:rPr lang="en-US" baseline="30000" dirty="0"/>
              <a:t>rd</a:t>
            </a:r>
            <a:r>
              <a:rPr lang="en-US" dirty="0"/>
              <a:t> degree)</a:t>
            </a:r>
          </a:p>
        </p:txBody>
      </p:sp>
    </p:spTree>
    <p:extLst>
      <p:ext uri="{BB962C8B-B14F-4D97-AF65-F5344CB8AC3E}">
        <p14:creationId xmlns:p14="http://schemas.microsoft.com/office/powerpoint/2010/main" val="5002284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Multiple Linear Regression Is and How It Works: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Interactions </a:t>
            </a:r>
          </a:p>
          <a:p>
            <a:pPr lvl="1"/>
            <a:r>
              <a:rPr lang="en-US" dirty="0"/>
              <a:t>An interaction can be defined as occurring when the relationship between </a:t>
            </a:r>
            <a:r>
              <a:rPr lang="en-US" i="1" dirty="0"/>
              <a:t>Y</a:t>
            </a:r>
            <a:r>
              <a:rPr lang="en-US" dirty="0"/>
              <a:t> and 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 depends on the level of 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endParaRPr lang="en-US" dirty="0"/>
          </a:p>
          <a:p>
            <a:pPr lvl="2"/>
            <a:r>
              <a:rPr lang="en-US" dirty="0"/>
              <a:t>In other words, 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dirty="0"/>
              <a:t> is a </a:t>
            </a:r>
            <a:r>
              <a:rPr lang="en-US" b="1" dirty="0"/>
              <a:t>moderator variable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7446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Multiple Linear Regression Is and How It Works: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Categorical predictors</a:t>
            </a:r>
          </a:p>
          <a:p>
            <a:pPr lvl="1"/>
            <a:r>
              <a:rPr lang="en-US" dirty="0"/>
              <a:t>Dummy coding</a:t>
            </a:r>
          </a:p>
          <a:p>
            <a:pPr lvl="1"/>
            <a:r>
              <a:rPr lang="en-US" dirty="0"/>
              <a:t>When there are more than two categories to the categorical predictor, multiple dummy coded variables must be created—</a:t>
            </a:r>
            <a:r>
              <a:rPr lang="en-US" i="1" dirty="0"/>
              <a:t>specifically one minus the number of levels or categories of the categorical variable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86204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59787" y="727067"/>
            <a:ext cx="10510754" cy="2281355"/>
          </a:xfrm>
        </p:spPr>
        <p:txBody>
          <a:bodyPr anchor="ctr">
            <a:normAutofit/>
          </a:bodyPr>
          <a:lstStyle/>
          <a:p>
            <a:r>
              <a:rPr lang="en-US" sz="4900" dirty="0"/>
              <a:t>What Multiple Linear Regression Is and How It Works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subTitle" idx="1"/>
          </p:nvPr>
        </p:nvSpPr>
        <p:spPr>
          <a:xfrm>
            <a:off x="770021" y="3773554"/>
            <a:ext cx="10090287" cy="1101897"/>
          </a:xfrm>
        </p:spPr>
        <p:txBody>
          <a:bodyPr>
            <a:normAutofit/>
          </a:bodyPr>
          <a:lstStyle/>
          <a:p>
            <a:r>
              <a:rPr lang="en-US" dirty="0"/>
              <a:t>Sample Size</a:t>
            </a:r>
          </a:p>
        </p:txBody>
      </p:sp>
    </p:spTree>
    <p:extLst>
      <p:ext uri="{BB962C8B-B14F-4D97-AF65-F5344CB8AC3E}">
        <p14:creationId xmlns:p14="http://schemas.microsoft.com/office/powerpoint/2010/main" val="14759081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Multiple Linear Regression Is and How It Works: Sample Size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Sample size considerations differ depending on the research goal—testing a hypothesis test estimating a parameter (</a:t>
            </a:r>
            <a:r>
              <a:rPr lang="en-US" dirty="0" err="1"/>
              <a:t>Algina</a:t>
            </a:r>
            <a:r>
              <a:rPr lang="en-US" dirty="0"/>
              <a:t> &amp; </a:t>
            </a:r>
            <a:r>
              <a:rPr lang="en-US" dirty="0" err="1"/>
              <a:t>Olejnik</a:t>
            </a:r>
            <a:r>
              <a:rPr lang="en-US" dirty="0"/>
              <a:t>, 2000; Maxwell, 2000)</a:t>
            </a:r>
          </a:p>
          <a:p>
            <a:pPr lvl="1"/>
            <a:r>
              <a:rPr lang="en-US" dirty="0"/>
              <a:t>Larger sample sizes needed for estimation (e.g., </a:t>
            </a:r>
            <a:r>
              <a:rPr lang="en-US" dirty="0" err="1"/>
              <a:t>Pedhazur</a:t>
            </a:r>
            <a:r>
              <a:rPr lang="en-US" dirty="0"/>
              <a:t>, 1997)</a:t>
            </a:r>
          </a:p>
          <a:p>
            <a:r>
              <a:rPr lang="en-US" dirty="0"/>
              <a:t>Sample size increases as the squared multiple correlation coefficient diminishes (Knofszynski, 2008)</a:t>
            </a:r>
          </a:p>
          <a:p>
            <a:r>
              <a:rPr lang="en-US" dirty="0"/>
              <a:t>Recommendation:  estimate power using power software and to consult current advances based on simulation research such as Knofszynski (2008)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3269588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/>
          <a:p>
            <a:r>
              <a:rPr lang="en-US" sz="4800" dirty="0"/>
              <a:t>What Multiple Linear Regression Is and How It Works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Power</a:t>
            </a: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14DA335D-276C-4F65-B316-EDE31D6A19C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42725" y="6002338"/>
            <a:ext cx="549275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495E168-DA5E-4888-8D8A-92B118324C14}" type="slidenum">
              <a:rPr kumimoji="0" lang="ru-RU" sz="1400" b="0" i="0" u="none" strike="noStrike" kern="1200" cap="none" spc="0" normalizeH="0" baseline="0" noProof="0" smtClean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ru-RU" sz="1400" b="0" i="0" u="none" strike="noStrike" kern="1200" cap="none" spc="0" normalizeH="0" baseline="0" noProof="0">
              <a:ln>
                <a:noFill/>
              </a:ln>
              <a:solidFill>
                <a:srgbClr val="FFCD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02626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Multiple Linear Regression Is and How It Works: Power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multiple regression, power is a function</a:t>
            </a:r>
          </a:p>
          <a:p>
            <a:pPr lvl="1"/>
            <a:r>
              <a:rPr lang="en-US" dirty="0"/>
              <a:t>sample size</a:t>
            </a:r>
          </a:p>
          <a:p>
            <a:pPr lvl="1"/>
            <a:r>
              <a:rPr lang="en-US" dirty="0"/>
              <a:t>number of predictors</a:t>
            </a:r>
          </a:p>
          <a:p>
            <a:pPr lvl="1"/>
            <a:r>
              <a:rPr lang="en-US" dirty="0"/>
              <a:t>level of significance</a:t>
            </a:r>
          </a:p>
          <a:p>
            <a:pPr lvl="1"/>
            <a:r>
              <a:rPr lang="en-US" dirty="0"/>
              <a:t>size of the population effect</a:t>
            </a:r>
          </a:p>
          <a:p>
            <a:r>
              <a:rPr lang="en-US" dirty="0"/>
              <a:t>Recommendation: consult power table or power software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017326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What Multiple Linear Regression Is and How It Works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Effect Size</a:t>
            </a:r>
          </a:p>
        </p:txBody>
      </p:sp>
    </p:spTree>
    <p:extLst>
      <p:ext uri="{BB962C8B-B14F-4D97-AF65-F5344CB8AC3E}">
        <p14:creationId xmlns:p14="http://schemas.microsoft.com/office/powerpoint/2010/main" val="418831259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Multiple Linear Regression Is and How It Works: Effect Size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Coefficient of multiple determination or multiple correlation coefficient</a:t>
            </a:r>
          </a:p>
          <a:p>
            <a:r>
              <a:rPr lang="en-US" dirty="0"/>
              <a:t>Squared multiple correlation coefficient which can be used to compute a globalized </a:t>
            </a:r>
            <a:r>
              <a:rPr lang="en-US" i="1" dirty="0"/>
              <a:t>f</a:t>
            </a:r>
            <a:r>
              <a:rPr lang="en-US" i="1" baseline="30000" dirty="0"/>
              <a:t>2</a:t>
            </a:r>
            <a:r>
              <a:rPr lang="en-US" i="1" dirty="0"/>
              <a:t> 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2289184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Multiple Linear Regression Is and How It Works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Assumptions</a:t>
            </a:r>
          </a:p>
        </p:txBody>
      </p:sp>
    </p:spTree>
    <p:extLst>
      <p:ext uri="{BB962C8B-B14F-4D97-AF65-F5344CB8AC3E}">
        <p14:creationId xmlns:p14="http://schemas.microsoft.com/office/powerpoint/2010/main" val="403682613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Multiple Linear Regression Is and How It Works: Assumptions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Independence</a:t>
            </a:r>
          </a:p>
          <a:p>
            <a:r>
              <a:rPr lang="en-US" dirty="0"/>
              <a:t>Homoscedasticity</a:t>
            </a:r>
          </a:p>
          <a:p>
            <a:r>
              <a:rPr lang="en-US" dirty="0"/>
              <a:t>Normality</a:t>
            </a:r>
          </a:p>
          <a:p>
            <a:r>
              <a:rPr lang="en-US" dirty="0"/>
              <a:t>Linearity</a:t>
            </a:r>
          </a:p>
          <a:p>
            <a:r>
              <a:rPr lang="en-US" dirty="0"/>
              <a:t>Fixed </a:t>
            </a:r>
            <a:r>
              <a:rPr lang="en-US" i="1" dirty="0"/>
              <a:t>X</a:t>
            </a:r>
            <a:endParaRPr lang="en-US" dirty="0"/>
          </a:p>
          <a:p>
            <a:r>
              <a:rPr lang="en-US" dirty="0"/>
              <a:t>Noncollinearity</a:t>
            </a:r>
            <a:endParaRPr lang="en-US" i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5838332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D6BD8A-5718-4681-9F66-2DA80839F7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95E168-DA5E-4888-8D8A-92B118324C14}" type="slidenum">
              <a:rPr kumimoji="0" lang="ru-RU" sz="1400" b="0" i="0" u="none" strike="noStrike" kern="1200" cap="none" spc="0" normalizeH="0" baseline="0" noProof="0" smtClean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CD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F35B27-EAEF-42DD-AE3C-0DEA0C91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044F6E-5BA1-4C96-A5AB-48D1AC428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Due to sampling scheme</a:t>
            </a:r>
          </a:p>
          <a:p>
            <a:r>
              <a:rPr lang="en-US" dirty="0"/>
              <a:t>Example: I just reviewed a paper that was exploring the impact of county-level correlates and aggregate county-level perceptions of social workers on the outcomes of youth in EFC</a:t>
            </a:r>
          </a:p>
          <a:p>
            <a:r>
              <a:rPr lang="en-US" dirty="0"/>
              <a:t>The authors used OLS</a:t>
            </a:r>
          </a:p>
          <a:p>
            <a:r>
              <a:rPr lang="en-US" dirty="0"/>
              <a:t>This is incorrect, why?</a:t>
            </a:r>
          </a:p>
        </p:txBody>
      </p:sp>
    </p:spTree>
    <p:extLst>
      <p:ext uri="{BB962C8B-B14F-4D97-AF65-F5344CB8AC3E}">
        <p14:creationId xmlns:p14="http://schemas.microsoft.com/office/powerpoint/2010/main" val="247937958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5B206C-E2C2-45ED-93BC-BFC8D97A3C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730162" y="6002372"/>
            <a:ext cx="549442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495E168-DA5E-4888-8D8A-92B118324C14}" type="slidenum">
              <a:rPr kumimoji="0" lang="ru-RU" sz="1400" b="0" i="0" u="none" strike="noStrike" kern="1200" cap="none" spc="0" normalizeH="0" baseline="0" noProof="0" smtClean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ru-RU" sz="1400" b="0" i="0" u="none" strike="noStrike" kern="1200" cap="none" spc="0" normalizeH="0" baseline="0" noProof="0">
              <a:ln>
                <a:noFill/>
              </a:ln>
              <a:solidFill>
                <a:srgbClr val="FFCD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00910B-DB9A-4E79-9816-998E0DF2A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b">
            <a:normAutofit/>
          </a:bodyPr>
          <a:lstStyle/>
          <a:p>
            <a:r>
              <a:rPr lang="en-US" dirty="0"/>
              <a:t>Homoscedasticity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8AC36DB-4913-43DD-A237-2236F981DA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13418"/>
            <a:ext cx="10515600" cy="3627880"/>
          </a:xfrm>
          <a:noFill/>
        </p:spPr>
      </p:pic>
    </p:spTree>
    <p:extLst>
      <p:ext uri="{BB962C8B-B14F-4D97-AF65-F5344CB8AC3E}">
        <p14:creationId xmlns:p14="http://schemas.microsoft.com/office/powerpoint/2010/main" val="22386566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E086D7-B5D7-4BCF-97E0-DB176B56A5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730162" y="6002372"/>
            <a:ext cx="549442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495E168-DA5E-4888-8D8A-92B118324C14}" type="slidenum">
              <a:rPr kumimoji="0" lang="ru-RU" sz="1400" b="0" i="0" u="none" strike="noStrike" kern="1200" cap="none" spc="0" normalizeH="0" baseline="0" noProof="0" smtClean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ru-RU" sz="1400" b="0" i="0" u="none" strike="noStrike" kern="1200" cap="none" spc="0" normalizeH="0" baseline="0" noProof="0">
              <a:ln>
                <a:noFill/>
              </a:ln>
              <a:solidFill>
                <a:srgbClr val="FFCD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E6566B3-6E35-415E-9184-A5F5AD749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b">
            <a:normAutofit/>
          </a:bodyPr>
          <a:lstStyle/>
          <a:p>
            <a:r>
              <a:rPr lang="en-US" dirty="0"/>
              <a:t>Normality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86106F-37F7-4748-9DA6-335789D580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77755"/>
            <a:ext cx="5181600" cy="3899207"/>
          </a:xfrm>
        </p:spPr>
        <p:txBody>
          <a:bodyPr>
            <a:normAutofit/>
          </a:bodyPr>
          <a:lstStyle/>
          <a:p>
            <a:r>
              <a:rPr lang="en-US" dirty="0"/>
              <a:t>Be careful, this assumption is about the prediction errors, not the independent variables</a:t>
            </a:r>
          </a:p>
          <a:p>
            <a:r>
              <a:rPr lang="en-US" dirty="0"/>
              <a:t>May be due to outliers however (which are obviously related to the measurement of the independent variables</a:t>
            </a:r>
          </a:p>
        </p:txBody>
      </p:sp>
      <p:pic>
        <p:nvPicPr>
          <p:cNvPr id="1026" name="Picture 2" descr="Standard deviation - Wikipedia">
            <a:extLst>
              <a:ext uri="{FF2B5EF4-FFF2-40B4-BE49-F238E27FC236}">
                <a16:creationId xmlns:a16="http://schemas.microsoft.com/office/drawing/2014/main" id="{31BD34DE-B555-4BC6-9009-6BA84824C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48046" y="1982389"/>
            <a:ext cx="5181600" cy="2590800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67028682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845C47-BE3F-4163-BE90-8072D94708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730162" y="6002372"/>
            <a:ext cx="549442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495E168-DA5E-4888-8D8A-92B118324C14}" type="slidenum">
              <a:rPr kumimoji="0" lang="ru-RU" sz="1400" b="0" i="0" u="none" strike="noStrike" kern="1200" cap="none" spc="0" normalizeH="0" baseline="0" noProof="0" smtClean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ru-RU" sz="1400" b="0" i="0" u="none" strike="noStrike" kern="1200" cap="none" spc="0" normalizeH="0" baseline="0" noProof="0">
              <a:ln>
                <a:noFill/>
              </a:ln>
              <a:solidFill>
                <a:srgbClr val="FFCD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9F33A4-2162-45C7-87C7-E18EC0AC1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b">
            <a:normAutofit/>
          </a:bodyPr>
          <a:lstStyle/>
          <a:p>
            <a:r>
              <a:rPr lang="en-US" dirty="0"/>
              <a:t>Linearity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E3F2E2-6FD8-4053-A0BF-A9D8D1BD50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77755"/>
            <a:ext cx="5181600" cy="3899207"/>
          </a:xfrm>
        </p:spPr>
        <p:txBody>
          <a:bodyPr>
            <a:normAutofit/>
          </a:bodyPr>
          <a:lstStyle/>
          <a:p>
            <a:r>
              <a:rPr lang="en-US" dirty="0"/>
              <a:t>There is a linear relationship between Y and X</a:t>
            </a:r>
          </a:p>
          <a:p>
            <a:pPr lvl="1"/>
            <a:r>
              <a:rPr lang="en-US" sz="2400"/>
              <a:t>Recall correlation</a:t>
            </a:r>
          </a:p>
          <a:p>
            <a:r>
              <a:rPr lang="en-US" dirty="0"/>
              <a:t>But, we can model nonlinear relationships</a:t>
            </a:r>
          </a:p>
          <a:p>
            <a:r>
              <a:rPr lang="en-US" dirty="0"/>
              <a:t>Why?</a:t>
            </a:r>
          </a:p>
        </p:txBody>
      </p:sp>
      <p:pic>
        <p:nvPicPr>
          <p:cNvPr id="12290" name="Picture 2" descr="Age and Strength – Strongur">
            <a:extLst>
              <a:ext uri="{FF2B5EF4-FFF2-40B4-BE49-F238E27FC236}">
                <a16:creationId xmlns:a16="http://schemas.microsoft.com/office/drawing/2014/main" id="{9164E46E-511D-4D45-A04B-44788298C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1870472"/>
            <a:ext cx="5181600" cy="3117056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5535083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2ECF39-7D78-45F5-B025-914F2EF793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730162" y="6002372"/>
            <a:ext cx="549442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495E168-DA5E-4888-8D8A-92B118324C14}" type="slidenum">
              <a:rPr kumimoji="0" lang="ru-RU" sz="1400" b="0" i="0" u="none" strike="noStrike" kern="1200" cap="none" spc="0" normalizeH="0" baseline="0" noProof="0" smtClean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ru-RU" sz="1400" b="0" i="0" u="none" strike="noStrike" kern="1200" cap="none" spc="0" normalizeH="0" baseline="0" noProof="0">
              <a:ln>
                <a:noFill/>
              </a:ln>
              <a:solidFill>
                <a:srgbClr val="FFCD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294575-31F4-4752-A955-426FB3883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b">
            <a:normAutofit/>
          </a:bodyPr>
          <a:lstStyle/>
          <a:p>
            <a:r>
              <a:rPr lang="en-US" dirty="0"/>
              <a:t>Fixed X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E685CA-E64E-4F05-A2D6-398158A57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4962" y="2277755"/>
            <a:ext cx="5181600" cy="3899207"/>
          </a:xfrm>
        </p:spPr>
        <p:txBody>
          <a:bodyPr>
            <a:norm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1600" dirty="0" err="1"/>
              <a:t>Tatem</a:t>
            </a:r>
            <a:r>
              <a:rPr lang="en-US" sz="1600" dirty="0"/>
              <a:t>, A. J., Guerra, C. A., Atkinson, P. M., &amp; Hay, S. I. (2004). Momentous sprint at the 2156 Olympics?. Nature, 431(7008), 525-525.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1600" dirty="0"/>
              <a:t>Analyzed athletes performance on the 100 m dash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1600" dirty="0"/>
              <a:t>Found an interesting pattern: the time it took to run it decreased steadily, such that males and females were getting faster and faster over the years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1600" dirty="0"/>
              <a:t>Around the year 2156, the lines crossed: sometime mid-century, they predicted, women would outrun men!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1600" dirty="0"/>
              <a:t>Even though the lines LOOK convincing, they are not truly capturing the underlying pattern of the data</a:t>
            </a:r>
            <a:r>
              <a:rPr lang="mr-IN" sz="1600" dirty="0"/>
              <a:t>…</a:t>
            </a:r>
            <a:r>
              <a:rPr lang="en-US" sz="1600" dirty="0"/>
              <a:t> </a:t>
            </a:r>
            <a:r>
              <a:rPr lang="en-US" sz="1600" b="1" dirty="0"/>
              <a:t>why</a:t>
            </a:r>
            <a:r>
              <a:rPr lang="en-US" sz="1600" dirty="0"/>
              <a:t>?</a:t>
            </a:r>
          </a:p>
          <a:p>
            <a:endParaRPr lang="en-US" sz="1700" dirty="0"/>
          </a:p>
        </p:txBody>
      </p:sp>
      <p:pic>
        <p:nvPicPr>
          <p:cNvPr id="13314" name="Picture 2" descr="figure1">
            <a:extLst>
              <a:ext uri="{FF2B5EF4-FFF2-40B4-BE49-F238E27FC236}">
                <a16:creationId xmlns:a16="http://schemas.microsoft.com/office/drawing/2014/main" id="{2D941BF5-B707-4EB2-858F-95681A5BB1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97" b="3"/>
          <a:stretch/>
        </p:blipFill>
        <p:spPr bwMode="auto">
          <a:xfrm>
            <a:off x="6564100" y="2277755"/>
            <a:ext cx="4789700" cy="3604299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4FDDC0C-0E4F-4EBE-90C5-856F09940F58}"/>
              </a:ext>
            </a:extLst>
          </p:cNvPr>
          <p:cNvSpPr txBox="1"/>
          <p:nvPr/>
        </p:nvSpPr>
        <p:spPr>
          <a:xfrm>
            <a:off x="6455019" y="766999"/>
            <a:ext cx="461596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rding"/>
                <a:ea typeface="+mn-ea"/>
                <a:cs typeface="+mn-cs"/>
              </a:rPr>
              <a:t>The regression lines are extrapolated (broken blue and red lines for men and women, respectively) and 95% confidence intervals (dotted black lines) based on the available points are superimposed. The projections intersect just before the 2156 Olympics, when the winning women's 100-metre sprint time of 8.079 s will be faster than the men's at 8.098 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957434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66A1C2-C01B-49FF-ADDD-420007B0C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95E168-DA5E-4888-8D8A-92B118324C14}" type="slidenum">
              <a:rPr kumimoji="0" lang="ru-RU" sz="1400" b="0" i="0" u="none" strike="noStrike" kern="1200" cap="none" spc="0" normalizeH="0" baseline="0" noProof="0" smtClean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CD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B596D6-8A6D-4646-B2CA-94828014B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Noncollinearity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DBB26-D6AF-450C-8E84-8D90385E4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Less is more</a:t>
            </a:r>
          </a:p>
          <a:p>
            <a:r>
              <a:rPr lang="en-US" dirty="0"/>
              <a:t>Always examine correlations – substantial overlap means one should be taken out of the model</a:t>
            </a:r>
          </a:p>
          <a:p>
            <a:r>
              <a:rPr lang="en-US" dirty="0"/>
              <a:t>But be weary – I learned that the forward/backwards elimination is not a good strategy, why?</a:t>
            </a:r>
          </a:p>
          <a:p>
            <a:r>
              <a:rPr lang="en-US" dirty="0"/>
              <a:t>Start with theory </a:t>
            </a:r>
            <a:r>
              <a:rPr lang="en-US" dirty="0">
                <a:sym typeface="Wingdings" panose="05000000000000000000" pitchFamily="2" charset="2"/>
              </a:rPr>
              <a:t> test hypotheses  draw conclusions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83287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77240" y="1033272"/>
            <a:ext cx="9601200" cy="782638"/>
          </a:xfrm>
        </p:spPr>
        <p:txBody>
          <a:bodyPr>
            <a:normAutofit fontScale="90000"/>
          </a:bodyPr>
          <a:lstStyle/>
          <a:p>
            <a:r>
              <a:rPr lang="en-US" dirty="0"/>
              <a:t>Mathematical Introduction Snapshot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777240" y="2225392"/>
            <a:ext cx="10186768" cy="241694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Example: Can I predict your graduate GPA based on your undergraduate GPA &amp; score on the GRE</a:t>
            </a:r>
          </a:p>
          <a:p>
            <a:endParaRPr lang="en-US" dirty="0"/>
          </a:p>
          <a:p>
            <a:r>
              <a:rPr lang="en-US" dirty="0"/>
              <a:t>Note: Be very </a:t>
            </a:r>
            <a:r>
              <a:rPr lang="en-US" dirty="0" err="1"/>
              <a:t>very</a:t>
            </a:r>
            <a:r>
              <a:rPr lang="en-US" dirty="0"/>
              <a:t> careful about what you CLAIM after the analysis. Your conclusions and policy recommendations can be very detrimental particularly to historically marginalized populations!</a:t>
            </a:r>
          </a:p>
          <a:p>
            <a:endParaRPr lang="en-US" dirty="0"/>
          </a:p>
          <a:p>
            <a:r>
              <a:rPr lang="en-US" dirty="0"/>
              <a:t>You should also ask yourself: Who Cares?</a:t>
            </a:r>
          </a:p>
        </p:txBody>
      </p:sp>
    </p:spTree>
    <p:extLst>
      <p:ext uri="{BB962C8B-B14F-4D97-AF65-F5344CB8AC3E}">
        <p14:creationId xmlns:p14="http://schemas.microsoft.com/office/powerpoint/2010/main" val="3686206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F084DDA1-2CEA-4778-A89E-B0FD2855D9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730162" y="6002372"/>
            <a:ext cx="549442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495E168-DA5E-4888-8D8A-92B118324C14}" type="slidenum">
              <a:rPr kumimoji="0" lang="ru-RU" sz="1400" b="0" i="0" u="none" strike="noStrike" kern="1200" cap="none" spc="0" normalizeH="0" baseline="0" noProof="0" smtClean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ru-RU" sz="1400" b="0" i="0" u="none" strike="noStrike" kern="1200" cap="none" spc="0" normalizeH="0" baseline="0" noProof="0">
              <a:ln>
                <a:noFill/>
              </a:ln>
              <a:solidFill>
                <a:srgbClr val="FFCD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56579"/>
            <a:ext cx="10515600" cy="1325563"/>
          </a:xfrm>
        </p:spPr>
        <p:txBody>
          <a:bodyPr anchor="ctr">
            <a:normAutofit/>
          </a:bodyPr>
          <a:lstStyle/>
          <a:p>
            <a:pPr lvl="0"/>
            <a:r>
              <a:rPr lang="en-US" altLang="en-US"/>
              <a:t>GRE-GPA Example Data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type="media" sz="quarter" idx="17"/>
          </p:nvPr>
        </p:nvGraphicFramePr>
        <p:xfrm>
          <a:off x="1489217" y="1497770"/>
          <a:ext cx="9213566" cy="4215384"/>
        </p:xfrm>
        <a:graphic>
          <a:graphicData uri="http://schemas.openxmlformats.org/drawingml/2006/table">
            <a:tbl>
              <a:tblPr firstRow="1" firstCol="1" bandRow="1">
                <a:tableStyleId>{8EC20E35-A176-4012-BC5E-935CFFF8708E}</a:tableStyleId>
              </a:tblPr>
              <a:tblGrid>
                <a:gridCol w="1210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0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9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Student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GRE-Total (X</a:t>
                      </a:r>
                      <a:r>
                        <a:rPr lang="en-US" sz="2000" baseline="-25000" dirty="0">
                          <a:effectLst/>
                        </a:rPr>
                        <a:t>1</a:t>
                      </a:r>
                      <a:r>
                        <a:rPr lang="en-US" sz="2000" dirty="0">
                          <a:effectLst/>
                        </a:rPr>
                        <a:t>)   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Undergraduate GPA (X</a:t>
                      </a:r>
                      <a:r>
                        <a:rPr lang="en-US" sz="2000" baseline="-25000" dirty="0">
                          <a:effectLst/>
                        </a:rPr>
                        <a:t>2</a:t>
                      </a:r>
                      <a:r>
                        <a:rPr lang="en-US" sz="2000" dirty="0">
                          <a:effectLst/>
                        </a:rPr>
                        <a:t>)     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Graduate GPA(Y)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145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3.2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4.0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2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120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3.7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3.9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125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3.6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3.8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4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130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2.9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3.7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5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110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3.5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3.6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6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100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3.3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3.5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7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  95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3.0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3.4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8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115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2.7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3.3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9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105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3.1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3.2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  90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2.8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3.1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105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2.4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3.0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259428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Partial Slope and Intercept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"/>
              <p:cNvSpPr txBox="1"/>
              <p:nvPr/>
            </p:nvSpPr>
            <p:spPr bwMode="auto">
              <a:xfrm>
                <a:off x="2592388" y="2355850"/>
                <a:ext cx="6872287" cy="858838"/>
              </a:xfrm>
              <a:prstGeom prst="rect">
                <a:avLst/>
              </a:prstGeom>
              <a:solidFill>
                <a:schemeClr val="accent6"/>
              </a:solidFill>
            </p:spPr>
            <p:txBody>
              <a:bodyPr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</m:sub>
                          </m:sSub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(1−</m:t>
                          </m:r>
                          <m:sSubSup>
                            <m:sSub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</m:t>
                              </m:r>
                            </m:sub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[.7845−(.7516)(.3011)].3317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(1−.301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)16.3346</m:t>
                          </m:r>
                        </m:den>
                      </m:f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=.0125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92388" y="2355850"/>
                <a:ext cx="6872287" cy="8588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/>
              <p:cNvSpPr txBox="1"/>
              <p:nvPr/>
            </p:nvSpPr>
            <p:spPr bwMode="auto">
              <a:xfrm>
                <a:off x="2341376" y="3536950"/>
                <a:ext cx="6807200" cy="8509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</m:sub>
                          </m:sSub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(1−</m:t>
                          </m:r>
                          <m:sSubSup>
                            <m:sSub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</m:t>
                              </m:r>
                            </m:sub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[.7516−(.7845)(.3011)].3317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(1−.301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).4011</m:t>
                          </m:r>
                        </m:den>
                      </m:f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=.4687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41376" y="3536950"/>
                <a:ext cx="6807200" cy="850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592925" y="21336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592925" y="30480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2592925" y="5521036"/>
            <a:ext cx="1872568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8"/>
              <p:cNvSpPr txBox="1"/>
              <p:nvPr/>
            </p:nvSpPr>
            <p:spPr bwMode="auto">
              <a:xfrm>
                <a:off x="2142331" y="4935471"/>
                <a:ext cx="7907337" cy="449263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acc>
                        <m:accPr>
                          <m:chr m:val="̄"/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</m:acc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=3.5000−(.0125)(112.7273)−(.4687)(3.1091)=.6337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2331" y="4935471"/>
                <a:ext cx="7907337" cy="4492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772865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Multiple Linear Regression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Y</a:t>
            </a:r>
            <a:r>
              <a:rPr lang="en-US" i="1" baseline="-25000" dirty="0"/>
              <a:t>i</a:t>
            </a:r>
            <a:r>
              <a:rPr lang="en-US" dirty="0"/>
              <a:t> = </a:t>
            </a:r>
            <a:r>
              <a:rPr lang="en-US" i="1" dirty="0"/>
              <a:t>b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i="1" baseline="-25000" dirty="0"/>
              <a:t>i</a:t>
            </a:r>
            <a:r>
              <a:rPr lang="en-US" dirty="0"/>
              <a:t> + </a:t>
            </a:r>
            <a:r>
              <a:rPr lang="en-US" i="1" dirty="0"/>
              <a:t>b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i="1" baseline="-25000" dirty="0"/>
              <a:t>i </a:t>
            </a:r>
            <a:r>
              <a:rPr lang="en-US" dirty="0"/>
              <a:t>+ </a:t>
            </a:r>
            <a:r>
              <a:rPr lang="en-US" i="1" dirty="0"/>
              <a:t>a</a:t>
            </a:r>
            <a:r>
              <a:rPr lang="en-US" dirty="0"/>
              <a:t> +</a:t>
            </a:r>
            <a:r>
              <a:rPr lang="en-US" i="1" dirty="0"/>
              <a:t> </a:t>
            </a:r>
            <a:r>
              <a:rPr lang="en-US" i="1" dirty="0" err="1"/>
              <a:t>e</a:t>
            </a:r>
            <a:r>
              <a:rPr lang="en-US" i="1" baseline="-25000" dirty="0" err="1"/>
              <a:t>i</a:t>
            </a:r>
            <a:r>
              <a:rPr lang="en-US" dirty="0"/>
              <a:t> </a:t>
            </a:r>
          </a:p>
          <a:p>
            <a:r>
              <a:rPr lang="en-US" i="1" dirty="0"/>
              <a:t>Y</a:t>
            </a:r>
            <a:r>
              <a:rPr lang="en-US" i="1" baseline="-25000" dirty="0"/>
              <a:t>i</a:t>
            </a:r>
            <a:r>
              <a:rPr lang="en-US" dirty="0"/>
              <a:t> =.0125 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i="1" baseline="-25000" dirty="0"/>
              <a:t>i</a:t>
            </a:r>
            <a:r>
              <a:rPr lang="en-US" dirty="0"/>
              <a:t> + .4687 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i="1" baseline="-25000" dirty="0"/>
              <a:t>i</a:t>
            </a:r>
            <a:r>
              <a:rPr lang="en-US" dirty="0"/>
              <a:t> + .6337 +</a:t>
            </a:r>
            <a:r>
              <a:rPr lang="en-US" i="1" dirty="0"/>
              <a:t> e</a:t>
            </a:r>
            <a:r>
              <a:rPr lang="en-US" i="1" baseline="-25000" dirty="0"/>
              <a:t>i</a:t>
            </a:r>
          </a:p>
          <a:p>
            <a:r>
              <a:rPr lang="en-US" dirty="0"/>
              <a:t>If your score on the GRETOT was 130 and your UGPA was 3.5, then your predicted score on the GGPA would be computed as:</a:t>
            </a:r>
          </a:p>
          <a:p>
            <a:pPr lvl="1"/>
            <a:r>
              <a:rPr lang="en-US" i="1" dirty="0" err="1"/>
              <a:t>Y</a:t>
            </a:r>
            <a:r>
              <a:rPr lang="en-US" dirty="0" err="1"/>
              <a:t>'</a:t>
            </a:r>
            <a:r>
              <a:rPr lang="en-US" i="1" baseline="-25000" dirty="0" err="1"/>
              <a:t>i</a:t>
            </a:r>
            <a:r>
              <a:rPr lang="en-US" dirty="0"/>
              <a:t> = .0125 (130) + .4687 (3.5000) + .6337 = 3.8992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87374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</a:t>
            </a:r>
            <a:r>
              <a:rPr lang="en-US" i="1" dirty="0"/>
              <a:t>F </a:t>
            </a:r>
            <a:r>
              <a:rPr lang="en-US" dirty="0"/>
              <a:t>Test Statistic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8508" y="2133600"/>
            <a:ext cx="8994530" cy="4002203"/>
          </a:xfrm>
        </p:spPr>
        <p:txBody>
          <a:bodyPr>
            <a:normAutofit fontScale="70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The critical value, at the .05 level of significance, is </a:t>
            </a:r>
            <a:r>
              <a:rPr lang="en-US" baseline="-25000" dirty="0"/>
              <a:t>.05</a:t>
            </a:r>
            <a:r>
              <a:rPr lang="en-US" dirty="0"/>
              <a:t> </a:t>
            </a:r>
            <a:r>
              <a:rPr lang="en-US" i="1" dirty="0"/>
              <a:t>F</a:t>
            </a:r>
            <a:r>
              <a:rPr lang="en-US" dirty="0"/>
              <a:t> </a:t>
            </a:r>
            <a:r>
              <a:rPr lang="en-US" baseline="-25000" dirty="0"/>
              <a:t>2,8</a:t>
            </a:r>
            <a:r>
              <a:rPr lang="en-US" dirty="0"/>
              <a:t> = 4.46</a:t>
            </a:r>
          </a:p>
          <a:p>
            <a:pPr>
              <a:lnSpc>
                <a:spcPct val="120000"/>
              </a:lnSpc>
            </a:pPr>
            <a:r>
              <a:rPr lang="en-US" dirty="0"/>
              <a:t>Test statistic exceeds the critical value, so we reject </a:t>
            </a:r>
            <a:r>
              <a:rPr lang="en-US" i="1" dirty="0"/>
              <a:t>H</a:t>
            </a:r>
            <a:r>
              <a:rPr lang="en-US" baseline="-25000" dirty="0"/>
              <a:t>0 </a:t>
            </a:r>
            <a:r>
              <a:rPr lang="en-US" dirty="0"/>
              <a:t>and conclude that all of the partial slopes are not equal to zero at the .05 level of significance </a:t>
            </a:r>
          </a:p>
          <a:p>
            <a:endParaRPr lang="en-US" dirty="0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8"/>
              <p:cNvSpPr txBox="1"/>
              <p:nvPr/>
            </p:nvSpPr>
            <p:spPr bwMode="auto">
              <a:xfrm>
                <a:off x="2589213" y="2309813"/>
                <a:ext cx="5811837" cy="741362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𝑅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/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(1−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𝑅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)/(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−1)</m:t>
                          </m:r>
                        </m:den>
                      </m:f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.9089/2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(1−.9089)/(11−2−1)</m:t>
                          </m:r>
                        </m:den>
                      </m:f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39.9078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89213" y="2309813"/>
                <a:ext cx="5811837" cy="7413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690255" y="268085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0"/>
              <p:cNvSpPr txBox="1"/>
              <p:nvPr/>
            </p:nvSpPr>
            <p:spPr bwMode="auto">
              <a:xfrm>
                <a:off x="2646363" y="4067175"/>
                <a:ext cx="4065587" cy="768350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𝑆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𝑟𝑒𝑔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/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𝑟𝑒𝑔</m:t>
                              </m:r>
                            </m:sub>
                          </m:sSub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𝑆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𝑟𝑒𝑠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/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𝑟𝑒𝑠</m:t>
                              </m:r>
                            </m:sub>
                          </m:sSub>
                        </m:den>
                      </m:f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0.9998/2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.1002/8</m:t>
                          </m:r>
                        </m:den>
                      </m:f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=39.9122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46363" y="4067175"/>
                <a:ext cx="4065587" cy="768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247495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724" y="611242"/>
            <a:ext cx="9096374" cy="782638"/>
          </a:xfrm>
        </p:spPr>
        <p:txBody>
          <a:bodyPr>
            <a:normAutofit/>
          </a:bodyPr>
          <a:lstStyle/>
          <a:p>
            <a:r>
              <a:rPr lang="en-US" dirty="0"/>
              <a:t>Customize this Template</a:t>
            </a:r>
          </a:p>
        </p:txBody>
      </p:sp>
      <p:sp>
        <p:nvSpPr>
          <p:cNvPr id="8" name="TextBox 7">
            <a:hlinkClick r:id="rId2"/>
            <a:extLst>
              <a:ext uri="{FF2B5EF4-FFF2-40B4-BE49-F238E27FC236}">
                <a16:creationId xmlns:a16="http://schemas.microsoft.com/office/drawing/2014/main" id="{5FC6C278-4035-446A-A94B-030E792FDDF5}"/>
              </a:ext>
            </a:extLst>
          </p:cNvPr>
          <p:cNvSpPr txBox="1"/>
          <p:nvPr/>
        </p:nvSpPr>
        <p:spPr>
          <a:xfrm>
            <a:off x="1547813" y="2459504"/>
            <a:ext cx="909637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R code SPSS example and annotated output will be uploaded to Canvas for Week 3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FC0424-40B9-486A-B71B-BA76CD90DD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95E168-DA5E-4888-8D8A-92B118324C14}" type="slidenum">
              <a:rPr kumimoji="0" lang="ru-RU" sz="1400" b="0" i="0" u="none" strike="noStrike" kern="1200" cap="none" spc="0" normalizeH="0" baseline="0" noProof="0" smtClean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CD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58238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25">
      <a:dk1>
        <a:sysClr val="windowText" lastClr="000000"/>
      </a:dk1>
      <a:lt1>
        <a:sysClr val="window" lastClr="FFFFFF"/>
      </a:lt1>
      <a:dk2>
        <a:srgbClr val="FFCD00"/>
      </a:dk2>
      <a:lt2>
        <a:srgbClr val="00AEDE"/>
      </a:lt2>
      <a:accent1>
        <a:srgbClr val="002E62"/>
      </a:accent1>
      <a:accent2>
        <a:srgbClr val="004CB9"/>
      </a:accent2>
      <a:accent3>
        <a:srgbClr val="FF9D00"/>
      </a:accent3>
      <a:accent4>
        <a:srgbClr val="57A773"/>
      </a:accent4>
      <a:accent5>
        <a:srgbClr val="D11149"/>
      </a:accent5>
      <a:accent6>
        <a:srgbClr val="00111F"/>
      </a:accent6>
      <a:hlink>
        <a:srgbClr val="FFFFFF"/>
      </a:hlink>
      <a:folHlink>
        <a:srgbClr val="FFFFFF"/>
      </a:folHlink>
    </a:clrScheme>
    <a:fontScheme name="Custom 22">
      <a:majorFont>
        <a:latin typeface="Verdana"/>
        <a:ea typeface=""/>
        <a:cs typeface=""/>
      </a:majorFont>
      <a:minorFont>
        <a:latin typeface="Lucida Gran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NBPL_GeneralDesign02_MO - v4" id="{6FF23145-4007-4574-94C2-B80E45F46FD9}" vid="{0FB396FC-CF2E-452A-9B17-DA6C73B1359A}"/>
    </a:ext>
  </a:extLst>
</a:theme>
</file>

<file path=ppt/theme/theme2.xml><?xml version="1.0" encoding="utf-8"?>
<a:theme xmlns:a="http://schemas.openxmlformats.org/drawingml/2006/main" name="GradientVTI">
  <a:themeElements>
    <a:clrScheme name="Office">
      <a:dk1>
        <a:srgbClr val="000000"/>
      </a:dk1>
      <a:lt1>
        <a:srgbClr val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Univers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1860</TotalTime>
  <Words>4565</Words>
  <Application>Microsoft Office PowerPoint</Application>
  <PresentationFormat>Widescreen</PresentationFormat>
  <Paragraphs>878</Paragraphs>
  <Slides>79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98" baseType="lpstr">
      <vt:lpstr>ＭＳ Ｐゴシック</vt:lpstr>
      <vt:lpstr>Arial</vt:lpstr>
      <vt:lpstr>Calibri</vt:lpstr>
      <vt:lpstr>Calibri Light</vt:lpstr>
      <vt:lpstr>Cambria Math</vt:lpstr>
      <vt:lpstr>Century</vt:lpstr>
      <vt:lpstr>Consolas</vt:lpstr>
      <vt:lpstr>Gill Sans Nova</vt:lpstr>
      <vt:lpstr>Harding</vt:lpstr>
      <vt:lpstr>Lucida Grande</vt:lpstr>
      <vt:lpstr>Symbol</vt:lpstr>
      <vt:lpstr>Tahoma</vt:lpstr>
      <vt:lpstr>Times New Roman</vt:lpstr>
      <vt:lpstr>Verdana</vt:lpstr>
      <vt:lpstr>Wingdings</vt:lpstr>
      <vt:lpstr>1_Office Theme</vt:lpstr>
      <vt:lpstr>GradientVTI</vt:lpstr>
      <vt:lpstr>Office Theme</vt:lpstr>
      <vt:lpstr>Equation</vt:lpstr>
      <vt:lpstr>Statistical Procedures Covered in this Course</vt:lpstr>
      <vt:lpstr>PowerPoint Presentation</vt:lpstr>
      <vt:lpstr>Fundamental Concepts</vt:lpstr>
      <vt:lpstr>Hypothesis Testing</vt:lpstr>
      <vt:lpstr>Types of Decisions and Errors</vt:lpstr>
      <vt:lpstr>Example</vt:lpstr>
      <vt:lpstr>Statistical versus Practical Significance</vt:lpstr>
      <vt:lpstr>Correlation &amp; Simple Linear Regression</vt:lpstr>
      <vt:lpstr>Basic Statistics for Continuous Variables</vt:lpstr>
      <vt:lpstr>Correlation analysis </vt:lpstr>
      <vt:lpstr>Faulty Analyses</vt:lpstr>
      <vt:lpstr>Confusing Correlation and Causation</vt:lpstr>
      <vt:lpstr>Correlation &amp; Causation, blah blah (use common sense)</vt:lpstr>
      <vt:lpstr>Scatter Plots of Various Correlations</vt:lpstr>
      <vt:lpstr>Scatter Plots of Various Correlations</vt:lpstr>
      <vt:lpstr>Scatter Plots of Various Correlations</vt:lpstr>
      <vt:lpstr>Demonstrating Causation</vt:lpstr>
      <vt:lpstr>Common misinterpretations: where does causation fail?</vt:lpstr>
      <vt:lpstr>PowerPoint Presentation</vt:lpstr>
      <vt:lpstr>Correlation</vt:lpstr>
      <vt:lpstr>Covariance (review &amp; example)</vt:lpstr>
      <vt:lpstr>Correlation = Standardized Covariance</vt:lpstr>
      <vt:lpstr>Simpler calculation formula…</vt:lpstr>
      <vt:lpstr>Yet another…</vt:lpstr>
      <vt:lpstr>Calculating a Correlation Coefficient</vt:lpstr>
      <vt:lpstr>Correlation Coefficient</vt:lpstr>
      <vt:lpstr>Correlation Coefficient</vt:lpstr>
      <vt:lpstr>Correlation Coefficient</vt:lpstr>
      <vt:lpstr>Correlation Coefficient</vt:lpstr>
      <vt:lpstr>Let’s apply</vt:lpstr>
      <vt:lpstr>Correlation in SPSS/JASP</vt:lpstr>
      <vt:lpstr>Compute the Test Statistic</vt:lpstr>
      <vt:lpstr>Compute the Test Statistic</vt:lpstr>
      <vt:lpstr>Compute an Effect Size and Describe it</vt:lpstr>
      <vt:lpstr>Interpreting the results</vt:lpstr>
      <vt:lpstr>Overview of next 3-4 weeks</vt:lpstr>
      <vt:lpstr>Continuous Variables</vt:lpstr>
      <vt:lpstr>Uses of Regression Analysis</vt:lpstr>
      <vt:lpstr>Mechanics</vt:lpstr>
      <vt:lpstr>Introduction: Linear Regression</vt:lpstr>
      <vt:lpstr>Linear regression –Terminology</vt:lpstr>
      <vt:lpstr>Functional Form</vt:lpstr>
      <vt:lpstr>Functional Form</vt:lpstr>
      <vt:lpstr>PowerPoint Presentation</vt:lpstr>
      <vt:lpstr>PowerPoint Presentation</vt:lpstr>
      <vt:lpstr>Estimating the model parameters</vt:lpstr>
      <vt:lpstr>The Least Squares (Regression) Line</vt:lpstr>
      <vt:lpstr>PowerPoint Presentation</vt:lpstr>
      <vt:lpstr>Formal statement of the model</vt:lpstr>
      <vt:lpstr>Let’s see how this is applied</vt:lpstr>
      <vt:lpstr>What Multiple Linear Regression Is and How It Works: Characteristics </vt:lpstr>
      <vt:lpstr>What Multiple Linear Regression Is and How It Works: Characteristics</vt:lpstr>
      <vt:lpstr>What Multiple Linear Regression Is and How It Works: Characteristics </vt:lpstr>
      <vt:lpstr>What Multiple Linear Regression Is and How It Works: Characteristics </vt:lpstr>
      <vt:lpstr>What Multiple Linear Regression Is and How It Works: Characteristics </vt:lpstr>
      <vt:lpstr>What Multiple Linear Regression Is and How It Works: Characteristics</vt:lpstr>
      <vt:lpstr>What Multiple Linear Regression Is and How It Works: Characteristics</vt:lpstr>
      <vt:lpstr>What Multiple Linear Regression Is and How It Works: Characteristics</vt:lpstr>
      <vt:lpstr>What Multiple Linear Regression Is and How It Works: Characteristics</vt:lpstr>
      <vt:lpstr>What Multiple Linear Regression Is and How It Works</vt:lpstr>
      <vt:lpstr>What Multiple Linear Regression Is and How It Works: Sample Size</vt:lpstr>
      <vt:lpstr>What Multiple Linear Regression Is and How It Works</vt:lpstr>
      <vt:lpstr>What Multiple Linear Regression Is and How It Works: Power</vt:lpstr>
      <vt:lpstr>What Multiple Linear Regression Is and How It Works</vt:lpstr>
      <vt:lpstr>What Multiple Linear Regression Is and How It Works: Effect Size</vt:lpstr>
      <vt:lpstr>What Multiple Linear Regression Is and How It Works</vt:lpstr>
      <vt:lpstr>What Multiple Linear Regression Is and How It Works: Assumptions</vt:lpstr>
      <vt:lpstr>Independence</vt:lpstr>
      <vt:lpstr>Homoscedasticity</vt:lpstr>
      <vt:lpstr>Normality</vt:lpstr>
      <vt:lpstr>Linearity</vt:lpstr>
      <vt:lpstr>Fixed X</vt:lpstr>
      <vt:lpstr>Noncollinearity</vt:lpstr>
      <vt:lpstr>Mathematical Introduction Snapshot</vt:lpstr>
      <vt:lpstr>GRE-GPA Example Data</vt:lpstr>
      <vt:lpstr>Sample Partial Slope and Intercept</vt:lpstr>
      <vt:lpstr>Sample Multiple Linear Regression Model</vt:lpstr>
      <vt:lpstr>Overall F Test Statistic </vt:lpstr>
      <vt:lpstr>Customize this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Barboza-Salerno, Gia</dc:creator>
  <cp:lastModifiedBy>Barboza-Salerno, Gia</cp:lastModifiedBy>
  <cp:revision>3</cp:revision>
  <dcterms:created xsi:type="dcterms:W3CDTF">2023-01-17T16:01:51Z</dcterms:created>
  <dcterms:modified xsi:type="dcterms:W3CDTF">2026-01-24T21:01:47Z</dcterms:modified>
</cp:coreProperties>
</file>